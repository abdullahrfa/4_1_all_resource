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11" r:id="rId2"/>
    <p:sldId id="313" r:id="rId3"/>
    <p:sldId id="314" r:id="rId4"/>
    <p:sldId id="325" r:id="rId5"/>
    <p:sldId id="326" r:id="rId6"/>
    <p:sldId id="327" r:id="rId7"/>
    <p:sldId id="341" r:id="rId8"/>
    <p:sldId id="342" r:id="rId9"/>
    <p:sldId id="315" r:id="rId10"/>
    <p:sldId id="316" r:id="rId11"/>
    <p:sldId id="317" r:id="rId12"/>
    <p:sldId id="318" r:id="rId13"/>
    <p:sldId id="336" r:id="rId14"/>
    <p:sldId id="319" r:id="rId15"/>
    <p:sldId id="330" r:id="rId16"/>
    <p:sldId id="333" r:id="rId17"/>
    <p:sldId id="331" r:id="rId18"/>
    <p:sldId id="332" r:id="rId19"/>
    <p:sldId id="334" r:id="rId20"/>
    <p:sldId id="335" r:id="rId21"/>
    <p:sldId id="328" r:id="rId22"/>
    <p:sldId id="339" r:id="rId23"/>
    <p:sldId id="340" r:id="rId24"/>
    <p:sldId id="337" r:id="rId25"/>
    <p:sldId id="321" r:id="rId26"/>
    <p:sldId id="322" r:id="rId27"/>
    <p:sldId id="329" r:id="rId28"/>
    <p:sldId id="324" r:id="rId29"/>
    <p:sldId id="338" r:id="rId30"/>
    <p:sldId id="343" r:id="rId3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CCFF"/>
    <a:srgbClr val="CCECFF"/>
    <a:srgbClr val="CCCC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6"/>
    <p:restoredTop sz="94694"/>
  </p:normalViewPr>
  <p:slideViewPr>
    <p:cSldViewPr>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C60E942F-D0A2-4F82-94FD-358227DBFDFC}" type="datetimeFigureOut">
              <a:rPr lang="en-US"/>
              <a:pPr>
                <a:defRPr/>
              </a:pPr>
              <a:t>10/8/25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D1D1B73A-58D8-4DD3-86ED-C166112E0257}" type="slidenum">
              <a:rPr lang="en-US"/>
              <a:pPr>
                <a:defRPr/>
              </a:pPr>
              <a:t>‹#›</a:t>
            </a:fld>
            <a:endParaRPr lang="en-US"/>
          </a:p>
        </p:txBody>
      </p:sp>
    </p:spTree>
    <p:extLst>
      <p:ext uri="{BB962C8B-B14F-4D97-AF65-F5344CB8AC3E}">
        <p14:creationId xmlns:p14="http://schemas.microsoft.com/office/powerpoint/2010/main" val="6275528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348A036-BAB2-45F7-9DE0-86C3388913A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B0BEB7E-AFC2-4E38-BD01-E9CC7FAE1CE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4414725-9C5C-4BA8-82EF-A237341B270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8FAB1F5-B588-421F-BC60-9921966C6D3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ADDE2A3-29B9-4989-B04D-654D4C541EA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45FA443-F2FC-4A11-A536-81D1F8EC48E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A4DB18A-13D5-41A0-A3FF-656F51E6657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9DB553F-677F-4C59-85F4-393BF618880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89851E9-A348-4AD1-9B5A-36080A0F55A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A541C6D-76D9-426E-AA39-34205D889E2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CC065ED-9E8D-4331-96A1-1D4692A4FD6A}"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EB37EEB9-737F-4C73-9880-E72AD66E65F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DA66AD7-CFB6-480A-9D69-E04D6FA4BBD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Box 3"/>
          <p:cNvSpPr txBox="1">
            <a:spLocks noChangeArrowheads="1"/>
          </p:cNvSpPr>
          <p:nvPr/>
        </p:nvSpPr>
        <p:spPr bwMode="auto">
          <a:xfrm>
            <a:off x="990600" y="1021140"/>
            <a:ext cx="6934200" cy="830263"/>
          </a:xfrm>
          <a:prstGeom prst="rect">
            <a:avLst/>
          </a:prstGeom>
          <a:solidFill>
            <a:srgbClr val="CCECFF"/>
          </a:solidFill>
          <a:ln w="9525">
            <a:noFill/>
            <a:miter lim="800000"/>
            <a:headEnd/>
            <a:tailEnd/>
          </a:ln>
        </p:spPr>
        <p:txBody>
          <a:bodyPr>
            <a:spAutoFit/>
          </a:bodyPr>
          <a:lstStyle/>
          <a:p>
            <a:r>
              <a:rPr lang="en-US" sz="4800" b="1">
                <a:solidFill>
                  <a:schemeClr val="accent2"/>
                </a:solidFill>
              </a:rPr>
              <a:t>Mobile Ad-Hoc Networks</a:t>
            </a:r>
          </a:p>
        </p:txBody>
      </p:sp>
      <p:sp>
        <p:nvSpPr>
          <p:cNvPr id="2051" name="Slide Number Placeholder 2"/>
          <p:cNvSpPr>
            <a:spLocks noGrp="1"/>
          </p:cNvSpPr>
          <p:nvPr>
            <p:ph type="sldNum" sz="quarter" idx="12"/>
          </p:nvPr>
        </p:nvSpPr>
        <p:spPr>
          <a:noFill/>
        </p:spPr>
        <p:txBody>
          <a:bodyPr/>
          <a:lstStyle/>
          <a:p>
            <a:fld id="{0C750C03-38ED-4752-8EC0-7A5014042E59}"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3"/>
          <p:cNvSpPr txBox="1">
            <a:spLocks noChangeArrowheads="1"/>
          </p:cNvSpPr>
          <p:nvPr/>
        </p:nvSpPr>
        <p:spPr bwMode="auto">
          <a:xfrm>
            <a:off x="228600" y="1975603"/>
            <a:ext cx="8686800" cy="3785652"/>
          </a:xfrm>
          <a:prstGeom prst="rect">
            <a:avLst/>
          </a:prstGeom>
          <a:solidFill>
            <a:srgbClr val="CCECFF"/>
          </a:solidFill>
          <a:ln w="9525">
            <a:noFill/>
            <a:miter lim="800000"/>
            <a:headEnd/>
            <a:tailEnd/>
          </a:ln>
        </p:spPr>
        <p:txBody>
          <a:bodyPr>
            <a:spAutoFit/>
          </a:bodyPr>
          <a:lstStyle/>
          <a:p>
            <a:pPr algn="just">
              <a:buFont typeface="Wingdings" pitchFamily="2" charset="2"/>
              <a:buChar char="v"/>
            </a:pPr>
            <a:r>
              <a:rPr lang="en-US" dirty="0"/>
              <a:t>Wireless mobile ad-hoc network (MANET) technology is designed for the establishment of a network anywhere and anytime, without any </a:t>
            </a:r>
            <a:r>
              <a:rPr lang="en-US" dirty="0">
                <a:solidFill>
                  <a:srgbClr val="FF0000"/>
                </a:solidFill>
              </a:rPr>
              <a:t>fixed infrastructure</a:t>
            </a:r>
            <a:r>
              <a:rPr lang="en-US" dirty="0"/>
              <a:t> to support the mobility of the users in the network. </a:t>
            </a:r>
          </a:p>
          <a:p>
            <a:pPr algn="just"/>
            <a:endParaRPr lang="en-US" dirty="0"/>
          </a:p>
          <a:p>
            <a:pPr algn="just">
              <a:buFont typeface="Wingdings" pitchFamily="2" charset="2"/>
              <a:buChar char="v"/>
            </a:pPr>
            <a:r>
              <a:rPr lang="en-US" dirty="0"/>
              <a:t>In other words, a wireless ad-hoc network is a collection of mobile nodes with a dynamic network infrastructure forming a temporary network. Such networks no </a:t>
            </a:r>
            <a:r>
              <a:rPr lang="en-US" dirty="0">
                <a:solidFill>
                  <a:srgbClr val="FF0000"/>
                </a:solidFill>
              </a:rPr>
              <a:t>central server </a:t>
            </a:r>
            <a:r>
              <a:rPr lang="en-US" dirty="0"/>
              <a:t>or</a:t>
            </a:r>
            <a:r>
              <a:rPr lang="en-US" dirty="0">
                <a:solidFill>
                  <a:srgbClr val="FF0000"/>
                </a:solidFill>
              </a:rPr>
              <a:t> base station </a:t>
            </a:r>
            <a:r>
              <a:rPr lang="en-US" dirty="0"/>
              <a:t>for providing connectivity, and all network intelligence must be placed inside the mobile user devices (User Nodes). </a:t>
            </a:r>
          </a:p>
        </p:txBody>
      </p:sp>
      <p:sp>
        <p:nvSpPr>
          <p:cNvPr id="3075" name="Slide Number Placeholder 2"/>
          <p:cNvSpPr>
            <a:spLocks noGrp="1"/>
          </p:cNvSpPr>
          <p:nvPr>
            <p:ph type="sldNum" sz="quarter" idx="12"/>
          </p:nvPr>
        </p:nvSpPr>
        <p:spPr>
          <a:noFill/>
        </p:spPr>
        <p:txBody>
          <a:bodyPr/>
          <a:lstStyle/>
          <a:p>
            <a:fld id="{0685892A-B8B1-44B3-8394-A5510E3D3FF7}" type="slidenum">
              <a:rPr lang="en-US" smtClean="0"/>
              <a:pPr/>
              <a:t>2</a:t>
            </a:fld>
            <a:endParaRPr lang="en-US"/>
          </a:p>
        </p:txBody>
      </p:sp>
      <p:sp>
        <p:nvSpPr>
          <p:cNvPr id="2" name="Rectangle 1"/>
          <p:cNvSpPr/>
          <p:nvPr/>
        </p:nvSpPr>
        <p:spPr>
          <a:xfrm>
            <a:off x="609600" y="762000"/>
            <a:ext cx="8229600" cy="646331"/>
          </a:xfrm>
          <a:prstGeom prst="rect">
            <a:avLst/>
          </a:prstGeom>
        </p:spPr>
        <p:txBody>
          <a:bodyPr wrap="square">
            <a:spAutoFit/>
          </a:bodyPr>
          <a:lstStyle/>
          <a:p>
            <a:pPr algn="ctr"/>
            <a:r>
              <a:rPr lang="en-US" sz="3600" b="1" dirty="0">
                <a:solidFill>
                  <a:srgbClr val="FF0000"/>
                </a:solidFill>
              </a:rPr>
              <a:t>Overview of Wireless Ad-Hoc Networks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ChangeArrowheads="1"/>
          </p:cNvSpPr>
          <p:nvPr/>
        </p:nvSpPr>
        <p:spPr bwMode="auto">
          <a:xfrm>
            <a:off x="1981200" y="5655408"/>
            <a:ext cx="4572000" cy="400050"/>
          </a:xfrm>
          <a:prstGeom prst="rect">
            <a:avLst/>
          </a:prstGeom>
          <a:noFill/>
          <a:ln w="9525">
            <a:noFill/>
            <a:miter lim="800000"/>
            <a:headEnd/>
            <a:tailEnd/>
          </a:ln>
        </p:spPr>
        <p:txBody>
          <a:bodyPr>
            <a:spAutoFit/>
          </a:bodyPr>
          <a:lstStyle/>
          <a:p>
            <a:pPr algn="just"/>
            <a:r>
              <a:rPr lang="en-US" sz="2000" dirty="0"/>
              <a:t>Fig.1 Overview of Ad-Hoc Networks</a:t>
            </a:r>
          </a:p>
        </p:txBody>
      </p:sp>
      <p:sp>
        <p:nvSpPr>
          <p:cNvPr id="4100" name="Rectangle 3"/>
          <p:cNvSpPr>
            <a:spLocks noChangeArrowheads="1"/>
          </p:cNvSpPr>
          <p:nvPr/>
        </p:nvSpPr>
        <p:spPr bwMode="auto">
          <a:xfrm>
            <a:off x="228600" y="228600"/>
            <a:ext cx="8686800" cy="830263"/>
          </a:xfrm>
          <a:prstGeom prst="rect">
            <a:avLst/>
          </a:prstGeom>
          <a:solidFill>
            <a:srgbClr val="CCECFF"/>
          </a:solidFill>
          <a:ln w="9525">
            <a:noFill/>
            <a:miter lim="800000"/>
            <a:headEnd/>
            <a:tailEnd/>
          </a:ln>
        </p:spPr>
        <p:txBody>
          <a:bodyPr>
            <a:spAutoFit/>
          </a:bodyPr>
          <a:lstStyle/>
          <a:p>
            <a:pPr>
              <a:buFont typeface="Wingdings" pitchFamily="2" charset="2"/>
              <a:buChar char="v"/>
            </a:pPr>
            <a:r>
              <a:rPr lang="en-US"/>
              <a:t>Fig.1gives overview of an ad-hoc network, where wireless mobile nodes have formed a network, with one node too far to reach.</a:t>
            </a:r>
          </a:p>
        </p:txBody>
      </p:sp>
      <p:sp>
        <p:nvSpPr>
          <p:cNvPr id="4101" name="Slide Number Placeholder 4"/>
          <p:cNvSpPr>
            <a:spLocks noGrp="1"/>
          </p:cNvSpPr>
          <p:nvPr>
            <p:ph type="sldNum" sz="quarter" idx="12"/>
          </p:nvPr>
        </p:nvSpPr>
        <p:spPr>
          <a:noFill/>
        </p:spPr>
        <p:txBody>
          <a:bodyPr/>
          <a:lstStyle/>
          <a:p>
            <a:fld id="{EF6E14EF-2C5D-4997-9CDF-D9FCE86EDE33}" type="slidenum">
              <a:rPr lang="en-US" smtClean="0"/>
              <a:pPr/>
              <a:t>3</a:t>
            </a:fld>
            <a:endParaRPr lang="en-US"/>
          </a:p>
        </p:txBody>
      </p:sp>
      <p:sp>
        <p:nvSpPr>
          <p:cNvPr id="2" name="TextBox 1">
            <a:extLst>
              <a:ext uri="{FF2B5EF4-FFF2-40B4-BE49-F238E27FC236}">
                <a16:creationId xmlns:a16="http://schemas.microsoft.com/office/drawing/2014/main" id="{D61DCC09-01D6-412F-AE60-0FEC7B54E4FC}"/>
              </a:ext>
            </a:extLst>
          </p:cNvPr>
          <p:cNvSpPr txBox="1"/>
          <p:nvPr/>
        </p:nvSpPr>
        <p:spPr>
          <a:xfrm>
            <a:off x="1066800" y="6185197"/>
            <a:ext cx="6629400" cy="461665"/>
          </a:xfrm>
          <a:prstGeom prst="rect">
            <a:avLst/>
          </a:prstGeom>
          <a:solidFill>
            <a:srgbClr val="FFFF00"/>
          </a:solidFill>
        </p:spPr>
        <p:txBody>
          <a:bodyPr wrap="square" rtlCol="0">
            <a:spAutoFit/>
          </a:bodyPr>
          <a:lstStyle/>
          <a:p>
            <a:r>
              <a:rPr lang="en-US" dirty="0"/>
              <a:t>Minimum number of </a:t>
            </a:r>
            <a:r>
              <a:rPr lang="en-US" dirty="0">
                <a:solidFill>
                  <a:srgbClr val="FF0000"/>
                </a:solidFill>
              </a:rPr>
              <a:t>hop</a:t>
            </a:r>
            <a:r>
              <a:rPr lang="en-US" dirty="0"/>
              <a:t> from source to destination.</a:t>
            </a:r>
          </a:p>
        </p:txBody>
      </p:sp>
      <p:grpSp>
        <p:nvGrpSpPr>
          <p:cNvPr id="38" name="Group 37">
            <a:extLst>
              <a:ext uri="{FF2B5EF4-FFF2-40B4-BE49-F238E27FC236}">
                <a16:creationId xmlns:a16="http://schemas.microsoft.com/office/drawing/2014/main" id="{B37352A6-70D2-4F28-AC71-21AAB8BCAFD2}"/>
              </a:ext>
            </a:extLst>
          </p:cNvPr>
          <p:cNvGrpSpPr/>
          <p:nvPr/>
        </p:nvGrpSpPr>
        <p:grpSpPr>
          <a:xfrm>
            <a:off x="543735" y="1268310"/>
            <a:ext cx="8056530" cy="4177650"/>
            <a:chOff x="1066800" y="1175400"/>
            <a:chExt cx="8056530" cy="4177650"/>
          </a:xfrm>
        </p:grpSpPr>
        <p:sp>
          <p:nvSpPr>
            <p:cNvPr id="3" name="Oval 2">
              <a:extLst>
                <a:ext uri="{FF2B5EF4-FFF2-40B4-BE49-F238E27FC236}">
                  <a16:creationId xmlns:a16="http://schemas.microsoft.com/office/drawing/2014/main" id="{8AE7831C-BAD5-40FA-8036-ECF3265651B8}"/>
                </a:ext>
              </a:extLst>
            </p:cNvPr>
            <p:cNvSpPr/>
            <p:nvPr/>
          </p:nvSpPr>
          <p:spPr>
            <a:xfrm>
              <a:off x="1066800" y="3514725"/>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8" name="Oval 7">
              <a:extLst>
                <a:ext uri="{FF2B5EF4-FFF2-40B4-BE49-F238E27FC236}">
                  <a16:creationId xmlns:a16="http://schemas.microsoft.com/office/drawing/2014/main" id="{03F22EA6-9D32-46BE-BA5D-18FEDD0784C9}"/>
                </a:ext>
              </a:extLst>
            </p:cNvPr>
            <p:cNvSpPr/>
            <p:nvPr/>
          </p:nvSpPr>
          <p:spPr>
            <a:xfrm>
              <a:off x="4000500" y="3031697"/>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9" name="Oval 8">
              <a:extLst>
                <a:ext uri="{FF2B5EF4-FFF2-40B4-BE49-F238E27FC236}">
                  <a16:creationId xmlns:a16="http://schemas.microsoft.com/office/drawing/2014/main" id="{1FB324E1-FB2C-4A51-ADA8-F9A294534C75}"/>
                </a:ext>
              </a:extLst>
            </p:cNvPr>
            <p:cNvSpPr/>
            <p:nvPr/>
          </p:nvSpPr>
          <p:spPr>
            <a:xfrm>
              <a:off x="6210300" y="3800692"/>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10" name="Oval 9">
              <a:extLst>
                <a:ext uri="{FF2B5EF4-FFF2-40B4-BE49-F238E27FC236}">
                  <a16:creationId xmlns:a16="http://schemas.microsoft.com/office/drawing/2014/main" id="{8EC8F9D8-DB48-4089-8698-6173F1C30682}"/>
                </a:ext>
              </a:extLst>
            </p:cNvPr>
            <p:cNvSpPr/>
            <p:nvPr/>
          </p:nvSpPr>
          <p:spPr>
            <a:xfrm>
              <a:off x="4017606" y="1390976"/>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1" name="Oval 10">
              <a:extLst>
                <a:ext uri="{FF2B5EF4-FFF2-40B4-BE49-F238E27FC236}">
                  <a16:creationId xmlns:a16="http://schemas.microsoft.com/office/drawing/2014/main" id="{F1EFE25E-EDAB-4E0A-BFCC-23E8B771749D}"/>
                </a:ext>
              </a:extLst>
            </p:cNvPr>
            <p:cNvSpPr/>
            <p:nvPr/>
          </p:nvSpPr>
          <p:spPr>
            <a:xfrm>
              <a:off x="5715000" y="2229535"/>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cxnSp>
          <p:nvCxnSpPr>
            <p:cNvPr id="5" name="Straight Connector 4">
              <a:extLst>
                <a:ext uri="{FF2B5EF4-FFF2-40B4-BE49-F238E27FC236}">
                  <a16:creationId xmlns:a16="http://schemas.microsoft.com/office/drawing/2014/main" id="{8311F53C-5747-4147-98F1-A119C68783D7}"/>
                </a:ext>
              </a:extLst>
            </p:cNvPr>
            <p:cNvCxnSpPr>
              <a:stCxn id="3" idx="6"/>
            </p:cNvCxnSpPr>
            <p:nvPr/>
          </p:nvCxnSpPr>
          <p:spPr>
            <a:xfrm flipV="1">
              <a:off x="1752600" y="3507432"/>
              <a:ext cx="2265006" cy="345431"/>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CBE55B1-4C7C-498E-8468-47AAA1CA35F1}"/>
                </a:ext>
              </a:extLst>
            </p:cNvPr>
            <p:cNvCxnSpPr>
              <a:cxnSpLocks/>
              <a:endCxn id="9" idx="2"/>
            </p:cNvCxnSpPr>
            <p:nvPr/>
          </p:nvCxnSpPr>
          <p:spPr>
            <a:xfrm>
              <a:off x="4703406" y="3576975"/>
              <a:ext cx="1506894" cy="56185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62BEDE-C760-4E79-9084-1326A7766032}"/>
                </a:ext>
              </a:extLst>
            </p:cNvPr>
            <p:cNvCxnSpPr>
              <a:stCxn id="8" idx="7"/>
            </p:cNvCxnSpPr>
            <p:nvPr/>
          </p:nvCxnSpPr>
          <p:spPr>
            <a:xfrm flipV="1">
              <a:off x="4585867" y="2667000"/>
              <a:ext cx="1129133" cy="463735"/>
            </a:xfrm>
            <a:prstGeom prst="line">
              <a:avLst/>
            </a:prstGeom>
            <a:ln w="38100">
              <a:solidFill>
                <a:schemeClr val="accent2"/>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F45BA6A4-255C-4034-907C-A1B57A2E1281}"/>
                </a:ext>
              </a:extLst>
            </p:cNvPr>
            <p:cNvCxnSpPr>
              <a:stCxn id="11" idx="5"/>
              <a:endCxn id="9" idx="0"/>
            </p:cNvCxnSpPr>
            <p:nvPr/>
          </p:nvCxnSpPr>
          <p:spPr>
            <a:xfrm>
              <a:off x="6300367" y="2806772"/>
              <a:ext cx="252833" cy="99392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5937A7-7F4C-4749-8CFF-9747F8788D68}"/>
                </a:ext>
              </a:extLst>
            </p:cNvPr>
            <p:cNvCxnSpPr>
              <a:endCxn id="10" idx="3"/>
            </p:cNvCxnSpPr>
            <p:nvPr/>
          </p:nvCxnSpPr>
          <p:spPr>
            <a:xfrm flipV="1">
              <a:off x="1524000" y="1968213"/>
              <a:ext cx="2594039" cy="1576695"/>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712EEB6-F9BC-4E78-8E67-291D3F52A0E7}"/>
                </a:ext>
              </a:extLst>
            </p:cNvPr>
            <p:cNvCxnSpPr>
              <a:stCxn id="8" idx="0"/>
              <a:endCxn id="10" idx="4"/>
            </p:cNvCxnSpPr>
            <p:nvPr/>
          </p:nvCxnSpPr>
          <p:spPr>
            <a:xfrm flipV="1">
              <a:off x="4343400" y="2067251"/>
              <a:ext cx="17106" cy="96444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C0CB053-9671-44BB-8F61-67F6AB617275}"/>
                </a:ext>
              </a:extLst>
            </p:cNvPr>
            <p:cNvCxnSpPr>
              <a:stCxn id="10" idx="6"/>
              <a:endCxn id="11" idx="1"/>
            </p:cNvCxnSpPr>
            <p:nvPr/>
          </p:nvCxnSpPr>
          <p:spPr>
            <a:xfrm>
              <a:off x="4703406" y="1729114"/>
              <a:ext cx="1112027" cy="59945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6166D92E-42BA-45FB-909F-6EB27E33D0EB}"/>
                </a:ext>
              </a:extLst>
            </p:cNvPr>
            <p:cNvSpPr/>
            <p:nvPr/>
          </p:nvSpPr>
          <p:spPr>
            <a:xfrm>
              <a:off x="7010400" y="1175400"/>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t>
              </a:r>
            </a:p>
          </p:txBody>
        </p:sp>
        <p:sp>
          <p:nvSpPr>
            <p:cNvPr id="30" name="Oval 29">
              <a:extLst>
                <a:ext uri="{FF2B5EF4-FFF2-40B4-BE49-F238E27FC236}">
                  <a16:creationId xmlns:a16="http://schemas.microsoft.com/office/drawing/2014/main" id="{30F8EFEB-A5AF-4FED-BF2C-93CCDF0A53AA}"/>
                </a:ext>
              </a:extLst>
            </p:cNvPr>
            <p:cNvSpPr/>
            <p:nvPr/>
          </p:nvSpPr>
          <p:spPr>
            <a:xfrm>
              <a:off x="8034177" y="2130497"/>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t>
              </a:r>
            </a:p>
          </p:txBody>
        </p:sp>
        <p:cxnSp>
          <p:nvCxnSpPr>
            <p:cNvPr id="26" name="Straight Connector 25">
              <a:extLst>
                <a:ext uri="{FF2B5EF4-FFF2-40B4-BE49-F238E27FC236}">
                  <a16:creationId xmlns:a16="http://schemas.microsoft.com/office/drawing/2014/main" id="{5803A906-5B6C-4305-BE42-F131FA57E9E6}"/>
                </a:ext>
              </a:extLst>
            </p:cNvPr>
            <p:cNvCxnSpPr>
              <a:stCxn id="11" idx="7"/>
              <a:endCxn id="29" idx="3"/>
            </p:cNvCxnSpPr>
            <p:nvPr/>
          </p:nvCxnSpPr>
          <p:spPr>
            <a:xfrm flipV="1">
              <a:off x="6300367" y="1752637"/>
              <a:ext cx="810466" cy="575936"/>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1BE8FFD-A369-4CB0-9FBF-911723466D60}"/>
                </a:ext>
              </a:extLst>
            </p:cNvPr>
            <p:cNvCxnSpPr>
              <a:stCxn id="29" idx="5"/>
              <a:endCxn id="30" idx="1"/>
            </p:cNvCxnSpPr>
            <p:nvPr/>
          </p:nvCxnSpPr>
          <p:spPr>
            <a:xfrm>
              <a:off x="7595767" y="1752637"/>
              <a:ext cx="538843" cy="47689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58D500-333F-4DC5-AB32-DF8248880AF9}"/>
                </a:ext>
              </a:extLst>
            </p:cNvPr>
            <p:cNvCxnSpPr>
              <a:cxnSpLocks/>
              <a:endCxn id="29" idx="2"/>
            </p:cNvCxnSpPr>
            <p:nvPr/>
          </p:nvCxnSpPr>
          <p:spPr>
            <a:xfrm flipV="1">
              <a:off x="4686300" y="1513538"/>
              <a:ext cx="2324100" cy="85026"/>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C81537E-9843-4646-A279-B859448B8430}"/>
                </a:ext>
              </a:extLst>
            </p:cNvPr>
            <p:cNvCxnSpPr>
              <a:cxnSpLocks/>
            </p:cNvCxnSpPr>
            <p:nvPr/>
          </p:nvCxnSpPr>
          <p:spPr>
            <a:xfrm flipV="1">
              <a:off x="6908541" y="2671907"/>
              <a:ext cx="1312506" cy="1258524"/>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A598977-480A-4038-9625-04F9453BA8AF}"/>
                </a:ext>
              </a:extLst>
            </p:cNvPr>
            <p:cNvCxnSpPr>
              <a:cxnSpLocks/>
              <a:endCxn id="9" idx="3"/>
            </p:cNvCxnSpPr>
            <p:nvPr/>
          </p:nvCxnSpPr>
          <p:spPr>
            <a:xfrm>
              <a:off x="1676400" y="4102478"/>
              <a:ext cx="4634333" cy="275451"/>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76AEBD8-64FE-4F16-BA94-72283D106A54}"/>
                </a:ext>
              </a:extLst>
            </p:cNvPr>
            <p:cNvSpPr/>
            <p:nvPr/>
          </p:nvSpPr>
          <p:spPr>
            <a:xfrm>
              <a:off x="8137720" y="4276725"/>
              <a:ext cx="685800" cy="676275"/>
            </a:xfrm>
            <a:prstGeom prst="ellipse">
              <a:avLst/>
            </a:prstGeom>
            <a:solidFill>
              <a:srgbClr val="CCE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p>
          </p:txBody>
        </p:sp>
        <p:sp>
          <p:nvSpPr>
            <p:cNvPr id="34" name="TextBox 33">
              <a:extLst>
                <a:ext uri="{FF2B5EF4-FFF2-40B4-BE49-F238E27FC236}">
                  <a16:creationId xmlns:a16="http://schemas.microsoft.com/office/drawing/2014/main" id="{C4CD3F0F-2A89-44FF-AAA4-CA4BC6144EDD}"/>
                </a:ext>
              </a:extLst>
            </p:cNvPr>
            <p:cNvSpPr txBox="1"/>
            <p:nvPr/>
          </p:nvSpPr>
          <p:spPr>
            <a:xfrm>
              <a:off x="7318763" y="5045273"/>
              <a:ext cx="1804567" cy="307777"/>
            </a:xfrm>
            <a:prstGeom prst="rect">
              <a:avLst/>
            </a:prstGeom>
            <a:noFill/>
          </p:spPr>
          <p:txBody>
            <a:bodyPr wrap="square" rtlCol="0">
              <a:spAutoFit/>
            </a:bodyPr>
            <a:lstStyle/>
            <a:p>
              <a:r>
                <a:rPr lang="en-US" sz="1400" dirty="0"/>
                <a:t>Node too far to reach</a:t>
              </a:r>
            </a:p>
          </p:txBody>
        </p:sp>
        <p:sp>
          <p:nvSpPr>
            <p:cNvPr id="36" name="TextBox 35">
              <a:extLst>
                <a:ext uri="{FF2B5EF4-FFF2-40B4-BE49-F238E27FC236}">
                  <a16:creationId xmlns:a16="http://schemas.microsoft.com/office/drawing/2014/main" id="{536EBAA2-C2A4-4AB1-9315-53ECB0760A7B}"/>
                </a:ext>
              </a:extLst>
            </p:cNvPr>
            <p:cNvSpPr txBox="1"/>
            <p:nvPr/>
          </p:nvSpPr>
          <p:spPr>
            <a:xfrm rot="19755557">
              <a:off x="1774926" y="2410119"/>
              <a:ext cx="1789373" cy="307777"/>
            </a:xfrm>
            <a:prstGeom prst="rect">
              <a:avLst/>
            </a:prstGeom>
            <a:noFill/>
          </p:spPr>
          <p:txBody>
            <a:bodyPr wrap="square" rtlCol="0">
              <a:spAutoFit/>
            </a:bodyPr>
            <a:lstStyle/>
            <a:p>
              <a:r>
                <a:rPr lang="en-US" sz="1400" dirty="0"/>
                <a:t>Weak signal to reach</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a:spLocks noChangeArrowheads="1"/>
          </p:cNvSpPr>
          <p:nvPr/>
        </p:nvSpPr>
        <p:spPr bwMode="auto">
          <a:xfrm>
            <a:off x="152400" y="53975"/>
            <a:ext cx="8915400" cy="2308225"/>
          </a:xfrm>
          <a:prstGeom prst="rect">
            <a:avLst/>
          </a:prstGeom>
          <a:solidFill>
            <a:srgbClr val="CCECFF"/>
          </a:solidFill>
          <a:ln w="9525">
            <a:noFill/>
            <a:miter lim="800000"/>
            <a:headEnd/>
            <a:tailEnd/>
          </a:ln>
        </p:spPr>
        <p:txBody>
          <a:bodyPr>
            <a:spAutoFit/>
          </a:bodyPr>
          <a:lstStyle/>
          <a:p>
            <a:pPr algn="just">
              <a:spcBef>
                <a:spcPct val="50000"/>
              </a:spcBef>
              <a:buFont typeface="Wingdings" pitchFamily="2" charset="2"/>
              <a:buChar char="v"/>
            </a:pPr>
            <a:r>
              <a:rPr lang="en-US"/>
              <a:t>For example, fig.2 illustrates an ad hoc network with three wireless mobile hosts. Node 3 is not within the range of node 1’s wireless transmitter (indicated by the circle around node 1) and vice versa. If node 1 and node 3 wish to exchange packets, they must enlist the services of node 2 to forward packets for them, since node 2 is within the range overlap between node 1 and node 3. </a:t>
            </a:r>
          </a:p>
        </p:txBody>
      </p:sp>
      <p:sp>
        <p:nvSpPr>
          <p:cNvPr id="5124" name="Rectangle 8"/>
          <p:cNvSpPr>
            <a:spLocks noChangeArrowheads="1"/>
          </p:cNvSpPr>
          <p:nvPr/>
        </p:nvSpPr>
        <p:spPr bwMode="auto">
          <a:xfrm>
            <a:off x="685800" y="6096000"/>
            <a:ext cx="6738938" cy="461963"/>
          </a:xfrm>
          <a:prstGeom prst="rect">
            <a:avLst/>
          </a:prstGeom>
          <a:noFill/>
          <a:ln w="9525">
            <a:noFill/>
            <a:miter lim="800000"/>
            <a:headEnd/>
            <a:tailEnd/>
          </a:ln>
        </p:spPr>
        <p:txBody>
          <a:bodyPr wrap="none" anchor="ctr">
            <a:spAutoFit/>
          </a:bodyPr>
          <a:lstStyle/>
          <a:p>
            <a:pPr eaLnBrk="0" hangingPunct="0"/>
            <a:r>
              <a:rPr lang="en-US" b="1"/>
              <a:t>Fig.2: </a:t>
            </a:r>
            <a:r>
              <a:rPr lang="en-US" i="1"/>
              <a:t>Ad hoc network of three wireless mobile hosts</a:t>
            </a:r>
            <a:r>
              <a:rPr lang="en-US"/>
              <a:t> </a:t>
            </a:r>
          </a:p>
        </p:txBody>
      </p:sp>
      <p:grpSp>
        <p:nvGrpSpPr>
          <p:cNvPr id="8" name="Group 7">
            <a:extLst>
              <a:ext uri="{FF2B5EF4-FFF2-40B4-BE49-F238E27FC236}">
                <a16:creationId xmlns:a16="http://schemas.microsoft.com/office/drawing/2014/main" id="{3C12E758-8FE4-4411-8E2E-72FACFA89CDE}"/>
              </a:ext>
            </a:extLst>
          </p:cNvPr>
          <p:cNvGrpSpPr/>
          <p:nvPr/>
        </p:nvGrpSpPr>
        <p:grpSpPr>
          <a:xfrm>
            <a:off x="1600200" y="2525817"/>
            <a:ext cx="5666028" cy="3406565"/>
            <a:chOff x="2465226" y="2701520"/>
            <a:chExt cx="4087155" cy="2480080"/>
          </a:xfrm>
        </p:grpSpPr>
        <p:sp>
          <p:nvSpPr>
            <p:cNvPr id="2" name="Oval 1">
              <a:extLst>
                <a:ext uri="{FF2B5EF4-FFF2-40B4-BE49-F238E27FC236}">
                  <a16:creationId xmlns:a16="http://schemas.microsoft.com/office/drawing/2014/main" id="{B6D28212-C30C-46BA-BACE-0E5D6FB089A8}"/>
                </a:ext>
              </a:extLst>
            </p:cNvPr>
            <p:cNvSpPr/>
            <p:nvPr/>
          </p:nvSpPr>
          <p:spPr>
            <a:xfrm>
              <a:off x="2465226" y="2743200"/>
              <a:ext cx="2362200" cy="2438400"/>
            </a:xfrm>
            <a:prstGeom prst="ellipse">
              <a:avLst/>
            </a:prstGeom>
            <a:solidFill>
              <a:srgbClr val="FFCCFF"/>
            </a:solidFill>
            <a:ln w="76200">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7" name="Oval 6">
              <a:extLst>
                <a:ext uri="{FF2B5EF4-FFF2-40B4-BE49-F238E27FC236}">
                  <a16:creationId xmlns:a16="http://schemas.microsoft.com/office/drawing/2014/main" id="{7556D407-2FE6-490C-9AEC-670581CAA39B}"/>
                </a:ext>
              </a:extLst>
            </p:cNvPr>
            <p:cNvSpPr/>
            <p:nvPr/>
          </p:nvSpPr>
          <p:spPr>
            <a:xfrm>
              <a:off x="4071300" y="2701520"/>
              <a:ext cx="2481081" cy="2438400"/>
            </a:xfrm>
            <a:prstGeom prst="ellipse">
              <a:avLst/>
            </a:prstGeom>
            <a:solidFill>
              <a:srgbClr val="00B0F0">
                <a:alpha val="18000"/>
              </a:srgbClr>
            </a:solidFill>
            <a:ln w="76200">
              <a:solidFill>
                <a:srgbClr val="FFC000"/>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6" name="Oval 5">
              <a:extLst>
                <a:ext uri="{FF2B5EF4-FFF2-40B4-BE49-F238E27FC236}">
                  <a16:creationId xmlns:a16="http://schemas.microsoft.com/office/drawing/2014/main" id="{130B4D00-EB0A-404C-A097-B19C5E80F370}"/>
                </a:ext>
              </a:extLst>
            </p:cNvPr>
            <p:cNvSpPr/>
            <p:nvPr/>
          </p:nvSpPr>
          <p:spPr>
            <a:xfrm>
              <a:off x="3200400" y="2743200"/>
              <a:ext cx="2854040" cy="2438400"/>
            </a:xfrm>
            <a:prstGeom prst="ellipse">
              <a:avLst/>
            </a:prstGeom>
            <a:noFill/>
            <a:ln w="762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 name="Rectangle 4">
              <a:extLst>
                <a:ext uri="{FF2B5EF4-FFF2-40B4-BE49-F238E27FC236}">
                  <a16:creationId xmlns:a16="http://schemas.microsoft.com/office/drawing/2014/main" id="{0EAD15C0-75D2-4FCD-AD09-238DD2F2D3ED}"/>
                </a:ext>
              </a:extLst>
            </p:cNvPr>
            <p:cNvSpPr/>
            <p:nvPr/>
          </p:nvSpPr>
          <p:spPr>
            <a:xfrm>
              <a:off x="3325197" y="3686369"/>
              <a:ext cx="533400" cy="533400"/>
            </a:xfrm>
            <a:prstGeom prst="rect">
              <a:avLst/>
            </a:prstGeom>
            <a:solidFill>
              <a:schemeClr val="accent1">
                <a:alpha val="21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FF9C9B4-C03A-42C2-82D5-2AAFED56C2FF}"/>
                </a:ext>
              </a:extLst>
            </p:cNvPr>
            <p:cNvSpPr/>
            <p:nvPr/>
          </p:nvSpPr>
          <p:spPr>
            <a:xfrm>
              <a:off x="4196097" y="3654019"/>
              <a:ext cx="533400" cy="533400"/>
            </a:xfrm>
            <a:prstGeom prst="rect">
              <a:avLst/>
            </a:prstGeom>
            <a:solidFill>
              <a:schemeClr val="accent1">
                <a:alpha val="21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12" name="Rectangle 11">
              <a:extLst>
                <a:ext uri="{FF2B5EF4-FFF2-40B4-BE49-F238E27FC236}">
                  <a16:creationId xmlns:a16="http://schemas.microsoft.com/office/drawing/2014/main" id="{E14056D7-744D-4AD0-B6E8-D1EF148A55A1}"/>
                </a:ext>
              </a:extLst>
            </p:cNvPr>
            <p:cNvSpPr/>
            <p:nvPr/>
          </p:nvSpPr>
          <p:spPr>
            <a:xfrm>
              <a:off x="5164926" y="3621540"/>
              <a:ext cx="533400" cy="533400"/>
            </a:xfrm>
            <a:prstGeom prst="rect">
              <a:avLst/>
            </a:prstGeom>
            <a:solidFill>
              <a:schemeClr val="accent1">
                <a:alpha val="21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76200" y="53975"/>
            <a:ext cx="8915400" cy="2308225"/>
          </a:xfrm>
          <a:prstGeom prst="rect">
            <a:avLst/>
          </a:prstGeom>
          <a:solidFill>
            <a:srgbClr val="CCECFF"/>
          </a:solidFill>
          <a:ln w="9525">
            <a:noFill/>
            <a:miter lim="800000"/>
            <a:headEnd/>
            <a:tailEnd/>
          </a:ln>
        </p:spPr>
        <p:txBody>
          <a:bodyPr>
            <a:spAutoFit/>
          </a:bodyPr>
          <a:lstStyle/>
          <a:p>
            <a:pPr algn="just">
              <a:spcBef>
                <a:spcPct val="50000"/>
              </a:spcBef>
              <a:buFont typeface="Wingdings" pitchFamily="2" charset="2"/>
              <a:buChar char="v"/>
            </a:pPr>
            <a:r>
              <a:rPr lang="en-US"/>
              <a:t>The situation in fig. of previous slide becomes more complicated with the addition of more nodes. The addition of just one node, as illustrated in fig.3 below, results in multiple paths existing between nodes 1 and 3; packets may travel the path 1 - 2 - 3, 1 - 4 - 3, or even 1 - 4 - 2 - 3. An ad hoc routing protocol must be able to decide on a single "best" path between any two nodes. </a:t>
            </a:r>
          </a:p>
        </p:txBody>
      </p:sp>
      <p:pic>
        <p:nvPicPr>
          <p:cNvPr id="6147" name="Picture 6" descr="adhoc_1"/>
          <p:cNvPicPr>
            <a:picLocks noGrp="1" noChangeAspect="1" noChangeArrowheads="1"/>
          </p:cNvPicPr>
          <p:nvPr>
            <p:ph/>
          </p:nvPr>
        </p:nvPicPr>
        <p:blipFill>
          <a:blip r:embed="rId2"/>
          <a:srcRect/>
          <a:stretch>
            <a:fillRect/>
          </a:stretch>
        </p:blipFill>
        <p:spPr>
          <a:xfrm>
            <a:off x="1752600" y="2362200"/>
            <a:ext cx="6021388" cy="4114800"/>
          </a:xfrm>
        </p:spPr>
      </p:pic>
      <p:sp>
        <p:nvSpPr>
          <p:cNvPr id="6148" name="Rectangle 8"/>
          <p:cNvSpPr>
            <a:spLocks noChangeArrowheads="1"/>
          </p:cNvSpPr>
          <p:nvPr/>
        </p:nvSpPr>
        <p:spPr bwMode="auto">
          <a:xfrm>
            <a:off x="1219200" y="6396038"/>
            <a:ext cx="6092825" cy="461962"/>
          </a:xfrm>
          <a:prstGeom prst="rect">
            <a:avLst/>
          </a:prstGeom>
          <a:noFill/>
          <a:ln w="9525">
            <a:noFill/>
            <a:miter lim="800000"/>
            <a:headEnd/>
            <a:tailEnd/>
          </a:ln>
        </p:spPr>
        <p:txBody>
          <a:bodyPr wrap="none" anchor="ctr">
            <a:spAutoFit/>
          </a:bodyPr>
          <a:lstStyle/>
          <a:p>
            <a:pPr eaLnBrk="0" hangingPunct="0"/>
            <a:r>
              <a:rPr lang="en-US" b="1"/>
              <a:t>Fig.3: </a:t>
            </a:r>
            <a:r>
              <a:rPr lang="en-US" i="1"/>
              <a:t>Ad hoc network with four wireless nodes</a:t>
            </a:r>
            <a:r>
              <a:rPr lang="en-US"/>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a:spLocks noChangeArrowheads="1"/>
          </p:cNvSpPr>
          <p:nvPr/>
        </p:nvSpPr>
        <p:spPr bwMode="auto">
          <a:xfrm>
            <a:off x="0" y="0"/>
            <a:ext cx="8991600" cy="3416320"/>
          </a:xfrm>
          <a:prstGeom prst="rect">
            <a:avLst/>
          </a:prstGeom>
          <a:solidFill>
            <a:srgbClr val="CCECFF"/>
          </a:solidFill>
          <a:ln w="9525">
            <a:noFill/>
            <a:miter lim="800000"/>
            <a:headEnd/>
            <a:tailEnd/>
          </a:ln>
        </p:spPr>
        <p:txBody>
          <a:bodyPr>
            <a:spAutoFit/>
          </a:bodyPr>
          <a:lstStyle/>
          <a:p>
            <a:r>
              <a:rPr lang="en-US" dirty="0"/>
              <a:t>Another situation unique to wireless networks is illustrated in fig.4 below. In this example, node 1 has a large enough range to transmit packets directly to node 3. </a:t>
            </a:r>
          </a:p>
          <a:p>
            <a:r>
              <a:rPr lang="en-US" dirty="0"/>
              <a:t>However, node 3 has a much smaller range and must enlist the help of node 2 in order to return packets to node 1. </a:t>
            </a:r>
          </a:p>
          <a:p>
            <a:r>
              <a:rPr lang="en-US" dirty="0"/>
              <a:t>This makes the link between node 1 and node 3 appear as a </a:t>
            </a:r>
            <a:r>
              <a:rPr lang="en-US" dirty="0">
                <a:solidFill>
                  <a:srgbClr val="FF0000"/>
                </a:solidFill>
              </a:rPr>
              <a:t>one-way or unidirectional</a:t>
            </a:r>
            <a:r>
              <a:rPr lang="en-US" dirty="0"/>
              <a:t> link. In wired networks, links are almost always bidirectional if node A can send to node B, then B can send back to A. But in wireless ad-hoc networks, this assumption does not always hold:</a:t>
            </a:r>
          </a:p>
        </p:txBody>
      </p:sp>
      <p:sp>
        <p:nvSpPr>
          <p:cNvPr id="7172" name="Rectangle 8"/>
          <p:cNvSpPr>
            <a:spLocks noChangeArrowheads="1"/>
          </p:cNvSpPr>
          <p:nvPr/>
        </p:nvSpPr>
        <p:spPr bwMode="auto">
          <a:xfrm>
            <a:off x="1600200" y="6396038"/>
            <a:ext cx="5521325" cy="461962"/>
          </a:xfrm>
          <a:prstGeom prst="rect">
            <a:avLst/>
          </a:prstGeom>
          <a:noFill/>
          <a:ln w="9525">
            <a:noFill/>
            <a:miter lim="800000"/>
            <a:headEnd/>
            <a:tailEnd/>
          </a:ln>
        </p:spPr>
        <p:txBody>
          <a:bodyPr wrap="none" anchor="ctr">
            <a:spAutoFit/>
          </a:bodyPr>
          <a:lstStyle/>
          <a:p>
            <a:pPr eaLnBrk="0" hangingPunct="0"/>
            <a:r>
              <a:rPr lang="en-US" b="1"/>
              <a:t>Fig.4: </a:t>
            </a:r>
            <a:r>
              <a:rPr lang="en-US" i="1"/>
              <a:t>Ad hoc network with a one-way link</a:t>
            </a:r>
            <a:r>
              <a:rPr lang="en-US"/>
              <a:t> </a:t>
            </a:r>
          </a:p>
        </p:txBody>
      </p:sp>
      <p:grpSp>
        <p:nvGrpSpPr>
          <p:cNvPr id="3" name="Group 2">
            <a:extLst>
              <a:ext uri="{FF2B5EF4-FFF2-40B4-BE49-F238E27FC236}">
                <a16:creationId xmlns:a16="http://schemas.microsoft.com/office/drawing/2014/main" id="{7D87A953-2BBC-4256-B488-46BDEA26DFBC}"/>
              </a:ext>
            </a:extLst>
          </p:cNvPr>
          <p:cNvGrpSpPr/>
          <p:nvPr/>
        </p:nvGrpSpPr>
        <p:grpSpPr>
          <a:xfrm>
            <a:off x="2133600" y="3678692"/>
            <a:ext cx="3886200" cy="2454974"/>
            <a:chOff x="2148225" y="2997758"/>
            <a:chExt cx="4123995" cy="3060017"/>
          </a:xfrm>
        </p:grpSpPr>
        <p:sp>
          <p:nvSpPr>
            <p:cNvPr id="6" name="Oval 5">
              <a:extLst>
                <a:ext uri="{FF2B5EF4-FFF2-40B4-BE49-F238E27FC236}">
                  <a16:creationId xmlns:a16="http://schemas.microsoft.com/office/drawing/2014/main" id="{2D679070-ABB7-4F10-9DF2-9ABE95312C42}"/>
                </a:ext>
              </a:extLst>
            </p:cNvPr>
            <p:cNvSpPr/>
            <p:nvPr/>
          </p:nvSpPr>
          <p:spPr>
            <a:xfrm>
              <a:off x="2148225" y="3048056"/>
              <a:ext cx="3418539" cy="3009719"/>
            </a:xfrm>
            <a:prstGeom prst="ellipse">
              <a:avLst/>
            </a:prstGeom>
            <a:solidFill>
              <a:srgbClr val="FFCCFF"/>
            </a:solidFill>
            <a:ln w="76200">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7" name="Oval 6">
              <a:extLst>
                <a:ext uri="{FF2B5EF4-FFF2-40B4-BE49-F238E27FC236}">
                  <a16:creationId xmlns:a16="http://schemas.microsoft.com/office/drawing/2014/main" id="{5592DAB1-A328-42BB-99C3-E51F32222832}"/>
                </a:ext>
              </a:extLst>
            </p:cNvPr>
            <p:cNvSpPr/>
            <p:nvPr/>
          </p:nvSpPr>
          <p:spPr>
            <a:xfrm>
              <a:off x="4412209" y="3831722"/>
              <a:ext cx="1420680" cy="1395251"/>
            </a:xfrm>
            <a:prstGeom prst="ellipse">
              <a:avLst/>
            </a:prstGeom>
            <a:solidFill>
              <a:srgbClr val="CCECFF">
                <a:alpha val="40000"/>
              </a:srgbClr>
            </a:solidFill>
            <a:ln w="762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8" name="Oval 7">
              <a:extLst>
                <a:ext uri="{FF2B5EF4-FFF2-40B4-BE49-F238E27FC236}">
                  <a16:creationId xmlns:a16="http://schemas.microsoft.com/office/drawing/2014/main" id="{97274968-4C72-4B9A-ACCC-F845B54BB6D5}"/>
                </a:ext>
              </a:extLst>
            </p:cNvPr>
            <p:cNvSpPr/>
            <p:nvPr/>
          </p:nvSpPr>
          <p:spPr>
            <a:xfrm>
              <a:off x="3188156" y="2997758"/>
              <a:ext cx="3084064" cy="3009718"/>
            </a:xfrm>
            <a:prstGeom prst="ellipse">
              <a:avLst/>
            </a:prstGeom>
            <a:solidFill>
              <a:srgbClr val="FFFF00">
                <a:alpha val="13000"/>
              </a:srgbClr>
            </a:solidFill>
            <a:ln w="76200">
              <a:solidFill>
                <a:srgbClr val="FFC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9" name="Rectangle 8">
              <a:extLst>
                <a:ext uri="{FF2B5EF4-FFF2-40B4-BE49-F238E27FC236}">
                  <a16:creationId xmlns:a16="http://schemas.microsoft.com/office/drawing/2014/main" id="{A107BD69-1368-4BBF-802D-6702DD446FC5}"/>
                </a:ext>
              </a:extLst>
            </p:cNvPr>
            <p:cNvSpPr/>
            <p:nvPr/>
          </p:nvSpPr>
          <p:spPr>
            <a:xfrm>
              <a:off x="3517664" y="4267200"/>
              <a:ext cx="383162" cy="438737"/>
            </a:xfrm>
            <a:prstGeom prst="rect">
              <a:avLst/>
            </a:prstGeom>
            <a:solidFill>
              <a:schemeClr val="accent1">
                <a:alpha val="21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10" name="Rectangle 9">
              <a:extLst>
                <a:ext uri="{FF2B5EF4-FFF2-40B4-BE49-F238E27FC236}">
                  <a16:creationId xmlns:a16="http://schemas.microsoft.com/office/drawing/2014/main" id="{FF234674-FFA4-41D6-8F7A-4B28AFF0501C}"/>
                </a:ext>
              </a:extLst>
            </p:cNvPr>
            <p:cNvSpPr/>
            <p:nvPr/>
          </p:nvSpPr>
          <p:spPr>
            <a:xfrm>
              <a:off x="4506686" y="4333548"/>
              <a:ext cx="389619" cy="372389"/>
            </a:xfrm>
            <a:prstGeom prst="rect">
              <a:avLst/>
            </a:prstGeom>
            <a:solidFill>
              <a:schemeClr val="accent1">
                <a:alpha val="21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73EC3DA2-A0CE-464D-A818-4EF4AD62B071}"/>
                </a:ext>
              </a:extLst>
            </p:cNvPr>
            <p:cNvSpPr/>
            <p:nvPr/>
          </p:nvSpPr>
          <p:spPr>
            <a:xfrm>
              <a:off x="5061837" y="4309978"/>
              <a:ext cx="339395" cy="395959"/>
            </a:xfrm>
            <a:prstGeom prst="rect">
              <a:avLst/>
            </a:prstGeom>
            <a:solidFill>
              <a:schemeClr val="accent1">
                <a:alpha val="21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458200" cy="5867400"/>
          </a:xfrm>
          <a:solidFill>
            <a:schemeClr val="accent2">
              <a:lumMod val="40000"/>
              <a:lumOff val="60000"/>
            </a:schemeClr>
          </a:solidFill>
        </p:spPr>
        <p:txBody>
          <a:bodyPr/>
          <a:lstStyle/>
          <a:p>
            <a:pPr marL="0" indent="0">
              <a:buNone/>
            </a:pPr>
            <a:r>
              <a:rPr lang="en-US" sz="2400" b="1" dirty="0"/>
              <a:t>Why This is a Problem</a:t>
            </a:r>
          </a:p>
          <a:p>
            <a:pPr>
              <a:buFont typeface="Arial" panose="020B0604020202020204" pitchFamily="34" charset="0"/>
              <a:buChar char="•"/>
            </a:pPr>
            <a:r>
              <a:rPr lang="en-US" sz="2400" b="1" dirty="0"/>
              <a:t>Most conventional routing protocols</a:t>
            </a:r>
            <a:r>
              <a:rPr lang="en-US" sz="2400" dirty="0"/>
              <a:t> (like RIP, OSPF, and even many MANET protocols like DSDV) assume </a:t>
            </a:r>
            <a:r>
              <a:rPr lang="en-US" sz="2400" b="1" dirty="0"/>
              <a:t>symmetric links</a:t>
            </a:r>
            <a:r>
              <a:rPr lang="en-US" sz="2400" dirty="0"/>
              <a:t>.</a:t>
            </a:r>
          </a:p>
          <a:p>
            <a:pPr>
              <a:buFont typeface="Arial" panose="020B0604020202020204" pitchFamily="34" charset="0"/>
              <a:buChar char="•"/>
            </a:pPr>
            <a:r>
              <a:rPr lang="en-US" sz="2400" dirty="0"/>
              <a:t>Bidirectional communication is often required for:</a:t>
            </a:r>
          </a:p>
          <a:p>
            <a:pPr lvl="1">
              <a:buFont typeface="Arial" panose="020B0604020202020204" pitchFamily="34" charset="0"/>
              <a:buChar char="•"/>
            </a:pPr>
            <a:r>
              <a:rPr lang="en-US" sz="2400" b="1" dirty="0"/>
              <a:t>Route discovery and acknowledgment</a:t>
            </a:r>
            <a:r>
              <a:rPr lang="en-US" sz="2400" dirty="0"/>
              <a:t> (e.g., in AODV/DSR).</a:t>
            </a:r>
          </a:p>
          <a:p>
            <a:pPr lvl="1">
              <a:buFont typeface="Arial" panose="020B0604020202020204" pitchFamily="34" charset="0"/>
              <a:buChar char="•"/>
            </a:pPr>
            <a:r>
              <a:rPr lang="en-US" sz="2400" b="1" dirty="0"/>
              <a:t>Link reliability checks</a:t>
            </a:r>
            <a:r>
              <a:rPr lang="en-US" sz="2400" dirty="0"/>
              <a:t> — protocols often test if a path works both ways.</a:t>
            </a:r>
          </a:p>
          <a:p>
            <a:pPr lvl="1">
              <a:buFont typeface="Arial" panose="020B0604020202020204" pitchFamily="34" charset="0"/>
              <a:buChar char="•"/>
            </a:pPr>
            <a:r>
              <a:rPr lang="en-US" sz="2400" b="1" dirty="0"/>
              <a:t>Loop prevention</a:t>
            </a:r>
            <a:r>
              <a:rPr lang="en-US" sz="2400" dirty="0"/>
              <a:t> — sequence numbers and distance checks assume symmetric behavior.</a:t>
            </a:r>
          </a:p>
          <a:p>
            <a:r>
              <a:rPr lang="en-US" sz="2400" dirty="0"/>
              <a:t>If the protocol assumes bidirectional links but the actual network has unidirectional ones, routing can fail or become unstable.</a:t>
            </a:r>
          </a:p>
          <a:p>
            <a:endParaRPr lang="en-US" sz="2400" dirty="0"/>
          </a:p>
        </p:txBody>
      </p:sp>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7</a:t>
            </a:fld>
            <a:endParaRPr lang="en-US"/>
          </a:p>
        </p:txBody>
      </p:sp>
    </p:spTree>
    <p:extLst>
      <p:ext uri="{BB962C8B-B14F-4D97-AF65-F5344CB8AC3E}">
        <p14:creationId xmlns:p14="http://schemas.microsoft.com/office/powerpoint/2010/main" val="3424901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534400" cy="3200400"/>
          </a:xfrm>
          <a:solidFill>
            <a:schemeClr val="accent6">
              <a:lumMod val="20000"/>
              <a:lumOff val="80000"/>
            </a:schemeClr>
          </a:solidFill>
        </p:spPr>
        <p:txBody>
          <a:bodyPr/>
          <a:lstStyle/>
          <a:p>
            <a:pPr algn="just"/>
            <a:r>
              <a:rPr lang="en-US" sz="2800" dirty="0"/>
              <a:t>Unidirectional links are common in wireless networks due to different transmission powers, environmental conditions, or asymmetric antenna gains. While most traditional routing protocols assume bidirectional links, ad-hoc network protocols need extra mechanisms to detect and properly utilize one-way links.</a:t>
            </a:r>
          </a:p>
        </p:txBody>
      </p:sp>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8</a:t>
            </a:fld>
            <a:endParaRPr lang="en-US"/>
          </a:p>
        </p:txBody>
      </p:sp>
    </p:spTree>
    <p:extLst>
      <p:ext uri="{BB962C8B-B14F-4D97-AF65-F5344CB8AC3E}">
        <p14:creationId xmlns:p14="http://schemas.microsoft.com/office/powerpoint/2010/main" val="1146844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3"/>
          <p:cNvSpPr txBox="1">
            <a:spLocks noChangeArrowheads="1"/>
          </p:cNvSpPr>
          <p:nvPr/>
        </p:nvSpPr>
        <p:spPr bwMode="auto">
          <a:xfrm>
            <a:off x="228600" y="838200"/>
            <a:ext cx="8686800" cy="4893647"/>
          </a:xfrm>
          <a:prstGeom prst="rect">
            <a:avLst/>
          </a:prstGeom>
          <a:solidFill>
            <a:srgbClr val="CCECFF"/>
          </a:solidFill>
          <a:ln w="9525">
            <a:noFill/>
            <a:miter lim="800000"/>
            <a:headEnd/>
            <a:tailEnd/>
          </a:ln>
        </p:spPr>
        <p:txBody>
          <a:bodyPr>
            <a:spAutoFit/>
          </a:bodyPr>
          <a:lstStyle/>
          <a:p>
            <a:pPr algn="just">
              <a:buFont typeface="Wingdings" pitchFamily="2" charset="2"/>
              <a:buChar char="v"/>
            </a:pPr>
            <a:r>
              <a:rPr lang="en-US" dirty="0"/>
              <a:t>In such an environment, each mobile user acts as a </a:t>
            </a:r>
            <a:r>
              <a:rPr lang="en-US" dirty="0">
                <a:solidFill>
                  <a:srgbClr val="FF0000"/>
                </a:solidFill>
              </a:rPr>
              <a:t>routing node</a:t>
            </a:r>
            <a:r>
              <a:rPr lang="en-US" dirty="0"/>
              <a:t>, and a packet is routed from a source to its destination by incorporating of other network users. </a:t>
            </a:r>
          </a:p>
          <a:p>
            <a:pPr algn="just"/>
            <a:endParaRPr lang="en-US" dirty="0"/>
          </a:p>
          <a:p>
            <a:pPr algn="just">
              <a:buFont typeface="Wingdings" pitchFamily="2" charset="2"/>
              <a:buChar char="v"/>
            </a:pPr>
            <a:r>
              <a:rPr lang="en-US" dirty="0"/>
              <a:t>Since the topology of an ad-hoc network can change quickly and unpredictably, it should be adaptable to changes, such as when a link breaks, a node leaves the network, or a new node is attached to the network. </a:t>
            </a:r>
          </a:p>
          <a:p>
            <a:pPr algn="just"/>
            <a:endParaRPr lang="en-US" dirty="0"/>
          </a:p>
          <a:p>
            <a:pPr algn="just">
              <a:buFont typeface="Wingdings" pitchFamily="2" charset="2"/>
              <a:buChar char="v"/>
            </a:pPr>
            <a:r>
              <a:rPr lang="en-US" dirty="0"/>
              <a:t>Thus, unlike routing algorithm for regular networks, if a node leaves an ad-hoc network, all affected nodes can discover new routes. </a:t>
            </a:r>
          </a:p>
          <a:p>
            <a:pPr algn="just">
              <a:buFont typeface="Wingdings" pitchFamily="2" charset="2"/>
              <a:buChar char="v"/>
            </a:pPr>
            <a:endParaRPr lang="en-US" dirty="0"/>
          </a:p>
          <a:p>
            <a:pPr algn="just">
              <a:buFont typeface="Wingdings" pitchFamily="2" charset="2"/>
              <a:buChar char="v"/>
            </a:pPr>
            <a:r>
              <a:rPr lang="en-US" dirty="0"/>
              <a:t>Ad-hoc networks have several types of applications.</a:t>
            </a:r>
          </a:p>
        </p:txBody>
      </p:sp>
      <p:sp>
        <p:nvSpPr>
          <p:cNvPr id="8195" name="Slide Number Placeholder 2"/>
          <p:cNvSpPr>
            <a:spLocks noGrp="1"/>
          </p:cNvSpPr>
          <p:nvPr>
            <p:ph type="sldNum" sz="quarter" idx="12"/>
          </p:nvPr>
        </p:nvSpPr>
        <p:spPr>
          <a:noFill/>
        </p:spPr>
        <p:txBody>
          <a:bodyPr/>
          <a:lstStyle/>
          <a:p>
            <a:fld id="{F94ADDFE-6585-4345-B19F-C16900BB078F}"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3"/>
          <p:cNvSpPr txBox="1">
            <a:spLocks noChangeArrowheads="1"/>
          </p:cNvSpPr>
          <p:nvPr/>
        </p:nvSpPr>
        <p:spPr bwMode="auto">
          <a:xfrm>
            <a:off x="152400" y="457200"/>
            <a:ext cx="8839200" cy="5632450"/>
          </a:xfrm>
          <a:prstGeom prst="rect">
            <a:avLst/>
          </a:prstGeom>
          <a:solidFill>
            <a:srgbClr val="FFCCFF"/>
          </a:solidFill>
          <a:ln w="9525">
            <a:noFill/>
            <a:miter lim="800000"/>
            <a:headEnd/>
            <a:tailEnd/>
          </a:ln>
        </p:spPr>
        <p:txBody>
          <a:bodyPr>
            <a:spAutoFit/>
          </a:bodyPr>
          <a:lstStyle/>
          <a:p>
            <a:pPr algn="just">
              <a:buFont typeface="Wingdings" pitchFamily="2" charset="2"/>
              <a:buChar char="ü"/>
            </a:pPr>
            <a:r>
              <a:rPr lang="en-US" b="1" dirty="0">
                <a:solidFill>
                  <a:schemeClr val="accent2"/>
                </a:solidFill>
              </a:rPr>
              <a:t>Rescue operations</a:t>
            </a:r>
            <a:r>
              <a:rPr lang="en-US" dirty="0"/>
              <a:t>. In an emergency public disaster, such as an earthquake, ad-hoc networks can beset up at a location where no infrastructure is present. Ad-hoc networks can be used to support network connectivity when no fixed network is available.</a:t>
            </a:r>
          </a:p>
          <a:p>
            <a:pPr algn="just">
              <a:buFont typeface="Wingdings" pitchFamily="2" charset="2"/>
              <a:buChar char="ü"/>
            </a:pPr>
            <a:r>
              <a:rPr lang="en-US" b="1" dirty="0">
                <a:solidFill>
                  <a:schemeClr val="accent2"/>
                </a:solidFill>
              </a:rPr>
              <a:t>Military</a:t>
            </a:r>
            <a:r>
              <a:rPr lang="en-US" dirty="0"/>
              <a:t>. Ad-hoc networks can be used in a battle zone, for a military command and mobile units.</a:t>
            </a:r>
          </a:p>
          <a:p>
            <a:pPr algn="just">
              <a:buFont typeface="Wingdings" pitchFamily="2" charset="2"/>
              <a:buChar char="ü"/>
            </a:pPr>
            <a:r>
              <a:rPr lang="en-US" b="1" dirty="0">
                <a:solidFill>
                  <a:schemeClr val="accent2"/>
                </a:solidFill>
              </a:rPr>
              <a:t>Law enforcement and security operations</a:t>
            </a:r>
            <a:r>
              <a:rPr lang="en-US" dirty="0"/>
              <a:t>. An ad-hoc network can be used in a temporary security operation, acting as a mobile surveillance network.</a:t>
            </a:r>
          </a:p>
          <a:p>
            <a:pPr algn="just">
              <a:buFont typeface="Wingdings" pitchFamily="2" charset="2"/>
              <a:buChar char="ü"/>
            </a:pPr>
            <a:r>
              <a:rPr lang="en-US" b="1" dirty="0">
                <a:solidFill>
                  <a:schemeClr val="accent2"/>
                </a:solidFill>
              </a:rPr>
              <a:t>Home networks</a:t>
            </a:r>
            <a:r>
              <a:rPr lang="en-US" dirty="0"/>
              <a:t>. An ad-hoc network can be used to support seamless (continuous) connectivity among various devices.</a:t>
            </a:r>
          </a:p>
          <a:p>
            <a:pPr algn="just">
              <a:buFont typeface="Wingdings" pitchFamily="2" charset="2"/>
              <a:buChar char="ü"/>
            </a:pPr>
            <a:r>
              <a:rPr lang="en-US" b="1" dirty="0">
                <a:solidFill>
                  <a:schemeClr val="accent2"/>
                </a:solidFill>
              </a:rPr>
              <a:t>Conferencing</a:t>
            </a:r>
            <a:r>
              <a:rPr lang="en-US" dirty="0"/>
              <a:t>. Ad-hoc networks can be set up for a presentation. An audience can download a presentation, browse the slides on a portable device, print them on the local printer, or e-mail the presentation to an absent colleague.</a:t>
            </a:r>
          </a:p>
        </p:txBody>
      </p:sp>
      <p:sp>
        <p:nvSpPr>
          <p:cNvPr id="9219" name="Slide Number Placeholder 2"/>
          <p:cNvSpPr>
            <a:spLocks noGrp="1"/>
          </p:cNvSpPr>
          <p:nvPr>
            <p:ph type="sldNum" sz="quarter" idx="12"/>
          </p:nvPr>
        </p:nvSpPr>
        <p:spPr>
          <a:noFill/>
        </p:spPr>
        <p:txBody>
          <a:bodyPr/>
          <a:lstStyle/>
          <a:p>
            <a:fld id="{01B5A8ED-3C2D-4FDA-9901-316C8FFB85A4}"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3"/>
          <p:cNvSpPr txBox="1">
            <a:spLocks noChangeArrowheads="1"/>
          </p:cNvSpPr>
          <p:nvPr/>
        </p:nvSpPr>
        <p:spPr bwMode="auto">
          <a:xfrm>
            <a:off x="228600" y="838200"/>
            <a:ext cx="8763000" cy="4340225"/>
          </a:xfrm>
          <a:prstGeom prst="rect">
            <a:avLst/>
          </a:prstGeom>
          <a:solidFill>
            <a:srgbClr val="CCECFF"/>
          </a:solidFill>
          <a:ln w="9525">
            <a:noFill/>
            <a:miter lim="800000"/>
            <a:headEnd/>
            <a:tailEnd/>
          </a:ln>
        </p:spPr>
        <p:txBody>
          <a:bodyPr>
            <a:spAutoFit/>
          </a:bodyPr>
          <a:lstStyle/>
          <a:p>
            <a:pPr algn="just"/>
            <a:r>
              <a:rPr lang="en-US" sz="3600" b="1">
                <a:solidFill>
                  <a:srgbClr val="FF0000"/>
                </a:solidFill>
              </a:rPr>
              <a:t>Routing in Ad-Hoc Networks</a:t>
            </a:r>
          </a:p>
          <a:p>
            <a:pPr algn="just">
              <a:buFont typeface="Wingdings" pitchFamily="2" charset="2"/>
              <a:buChar char="v"/>
            </a:pPr>
            <a:r>
              <a:rPr lang="en-US"/>
              <a:t>The lack of a backbone infrastructure makes packet routing in ad-hoc networks a challenging task. A routing protocol should be able to automatically recover from any problem in a finite amount of time without human intervention. </a:t>
            </a:r>
          </a:p>
          <a:p>
            <a:pPr algn="just"/>
            <a:endParaRPr lang="en-US"/>
          </a:p>
          <a:p>
            <a:pPr algn="just">
              <a:buFont typeface="Wingdings" pitchFamily="2" charset="2"/>
              <a:buChar char="v"/>
            </a:pPr>
            <a:r>
              <a:rPr lang="en-US"/>
              <a:t>Identification of mobile terminals and correct routing of packets to and from each terminal while moving are certainly challenging. Here we will consider two routing protocols:</a:t>
            </a:r>
          </a:p>
          <a:p>
            <a:pPr algn="just"/>
            <a:r>
              <a:rPr lang="en-US" b="1">
                <a:solidFill>
                  <a:schemeClr val="accent2"/>
                </a:solidFill>
              </a:rPr>
              <a:t>1. Destination-Sequenced Distance Vector (DSDV) Protocol</a:t>
            </a:r>
          </a:p>
          <a:p>
            <a:pPr algn="just"/>
            <a:r>
              <a:rPr lang="en-US" b="1">
                <a:solidFill>
                  <a:schemeClr val="accent2"/>
                </a:solidFill>
              </a:rPr>
              <a:t>2. Cluster-Head Gateway Switch Routing Protocol</a:t>
            </a:r>
            <a:endParaRPr lang="en-US" b="1"/>
          </a:p>
        </p:txBody>
      </p:sp>
      <p:sp>
        <p:nvSpPr>
          <p:cNvPr id="10243" name="Slide Number Placeholder 2"/>
          <p:cNvSpPr>
            <a:spLocks noGrp="1"/>
          </p:cNvSpPr>
          <p:nvPr>
            <p:ph type="sldNum" sz="quarter" idx="12"/>
          </p:nvPr>
        </p:nvSpPr>
        <p:spPr>
          <a:noFill/>
        </p:spPr>
        <p:txBody>
          <a:bodyPr/>
          <a:lstStyle/>
          <a:p>
            <a:fld id="{156692E1-E252-420B-8A50-448E598D4DB9}"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3"/>
          <p:cNvSpPr txBox="1">
            <a:spLocks noChangeArrowheads="1"/>
          </p:cNvSpPr>
          <p:nvPr/>
        </p:nvSpPr>
        <p:spPr bwMode="auto">
          <a:xfrm>
            <a:off x="228600" y="1371600"/>
            <a:ext cx="8686800" cy="4154984"/>
          </a:xfrm>
          <a:prstGeom prst="rect">
            <a:avLst/>
          </a:prstGeom>
          <a:solidFill>
            <a:srgbClr val="CCECFF"/>
          </a:solidFill>
          <a:ln w="9525">
            <a:noFill/>
            <a:miter lim="800000"/>
            <a:headEnd/>
            <a:tailEnd/>
          </a:ln>
        </p:spPr>
        <p:txBody>
          <a:bodyPr>
            <a:spAutoFit/>
          </a:bodyPr>
          <a:lstStyle/>
          <a:p>
            <a:pPr algn="just"/>
            <a:r>
              <a:rPr lang="en-US" b="1" dirty="0">
                <a:solidFill>
                  <a:schemeClr val="accent2"/>
                </a:solidFill>
              </a:rPr>
              <a:t>Routing Tables</a:t>
            </a:r>
          </a:p>
          <a:p>
            <a:pPr algn="just">
              <a:buFont typeface="Wingdings" pitchFamily="2" charset="2"/>
              <a:buChar char="ü"/>
            </a:pPr>
            <a:r>
              <a:rPr lang="en-US" dirty="0"/>
              <a:t>In addition to the </a:t>
            </a:r>
            <a:r>
              <a:rPr lang="en-US" dirty="0">
                <a:solidFill>
                  <a:srgbClr val="FF0000"/>
                </a:solidFill>
              </a:rPr>
              <a:t>destination address </a:t>
            </a:r>
            <a:r>
              <a:rPr lang="en-US" dirty="0"/>
              <a:t>and </a:t>
            </a:r>
            <a:r>
              <a:rPr lang="en-US" dirty="0">
                <a:solidFill>
                  <a:srgbClr val="FF0000"/>
                </a:solidFill>
              </a:rPr>
              <a:t>next hop address</a:t>
            </a:r>
            <a:r>
              <a:rPr lang="en-US" dirty="0"/>
              <a:t>, routing tables maintain the route </a:t>
            </a:r>
            <a:r>
              <a:rPr lang="en-US" i="1" dirty="0">
                <a:solidFill>
                  <a:srgbClr val="FF0000"/>
                </a:solidFill>
              </a:rPr>
              <a:t>metric</a:t>
            </a:r>
            <a:r>
              <a:rPr lang="en-US" i="1" dirty="0"/>
              <a:t> </a:t>
            </a:r>
            <a:r>
              <a:rPr lang="en-US" dirty="0"/>
              <a:t>(for example number of hops)</a:t>
            </a:r>
            <a:r>
              <a:rPr lang="en-US" i="1" dirty="0"/>
              <a:t> </a:t>
            </a:r>
            <a:r>
              <a:rPr lang="en-US" dirty="0"/>
              <a:t> and the route </a:t>
            </a:r>
            <a:r>
              <a:rPr lang="en-US" i="1" dirty="0">
                <a:solidFill>
                  <a:srgbClr val="FF0000"/>
                </a:solidFill>
              </a:rPr>
              <a:t>sequence number</a:t>
            </a:r>
            <a:r>
              <a:rPr lang="en-US" dirty="0"/>
              <a:t>.</a:t>
            </a:r>
          </a:p>
          <a:p>
            <a:pPr algn="just">
              <a:buFont typeface="Wingdings" pitchFamily="2" charset="2"/>
              <a:buChar char="ü"/>
            </a:pPr>
            <a:endParaRPr lang="en-US" dirty="0"/>
          </a:p>
          <a:p>
            <a:pPr algn="just">
              <a:buFont typeface="Wingdings" pitchFamily="2" charset="2"/>
              <a:buChar char="ü"/>
            </a:pPr>
            <a:r>
              <a:rPr lang="en-US" dirty="0"/>
              <a:t>Periodically, or immediately when network topology changes are detected, each node will broadcast a </a:t>
            </a:r>
            <a:r>
              <a:rPr lang="en-US" i="1" dirty="0">
                <a:solidFill>
                  <a:srgbClr val="FF0000"/>
                </a:solidFill>
              </a:rPr>
              <a:t>routing table</a:t>
            </a:r>
            <a:r>
              <a:rPr lang="en-US" dirty="0">
                <a:solidFill>
                  <a:srgbClr val="FF0000"/>
                </a:solidFill>
              </a:rPr>
              <a:t> </a:t>
            </a:r>
            <a:r>
              <a:rPr lang="en-US" i="1" dirty="0">
                <a:solidFill>
                  <a:srgbClr val="FF0000"/>
                </a:solidFill>
              </a:rPr>
              <a:t>update</a:t>
            </a:r>
            <a:r>
              <a:rPr lang="en-US" dirty="0">
                <a:solidFill>
                  <a:srgbClr val="FF0000"/>
                </a:solidFill>
              </a:rPr>
              <a:t> </a:t>
            </a:r>
            <a:r>
              <a:rPr lang="en-US" dirty="0"/>
              <a:t>packet. The update packet starts out with a metric of one. This signifies to each receiving neighbor they are one hop away from the node. The neighbors will increment this metric (in this case, to two) and then retransmit the update packet including its own address. </a:t>
            </a:r>
          </a:p>
        </p:txBody>
      </p:sp>
      <p:sp>
        <p:nvSpPr>
          <p:cNvPr id="11267" name="Slide Number Placeholder 2"/>
          <p:cNvSpPr>
            <a:spLocks noGrp="1"/>
          </p:cNvSpPr>
          <p:nvPr>
            <p:ph type="sldNum" sz="quarter" idx="12"/>
          </p:nvPr>
        </p:nvSpPr>
        <p:spPr>
          <a:noFill/>
        </p:spPr>
        <p:txBody>
          <a:bodyPr/>
          <a:lstStyle/>
          <a:p>
            <a:fld id="{C7216279-1CC7-4394-8706-C10F785CBD9E}" type="slidenum">
              <a:rPr lang="en-US" smtClean="0"/>
              <a:pPr/>
              <a:t>12</a:t>
            </a:fld>
            <a:endParaRPr lang="en-US"/>
          </a:p>
        </p:txBody>
      </p:sp>
      <p:sp>
        <p:nvSpPr>
          <p:cNvPr id="11268" name="Rectangle 3"/>
          <p:cNvSpPr>
            <a:spLocks noChangeArrowheads="1"/>
          </p:cNvSpPr>
          <p:nvPr/>
        </p:nvSpPr>
        <p:spPr bwMode="auto">
          <a:xfrm>
            <a:off x="304800" y="228600"/>
            <a:ext cx="8839200" cy="830263"/>
          </a:xfrm>
          <a:prstGeom prst="rect">
            <a:avLst/>
          </a:prstGeom>
          <a:noFill/>
          <a:ln w="9525">
            <a:noFill/>
            <a:miter lim="800000"/>
            <a:headEnd/>
            <a:tailEnd/>
          </a:ln>
        </p:spPr>
        <p:txBody>
          <a:bodyPr>
            <a:spAutoFit/>
          </a:bodyPr>
          <a:lstStyle/>
          <a:p>
            <a:r>
              <a:rPr lang="en-US" b="1" dirty="0"/>
              <a:t>1.</a:t>
            </a:r>
            <a:r>
              <a:rPr lang="en-US" dirty="0"/>
              <a:t> The </a:t>
            </a:r>
            <a:r>
              <a:rPr lang="en-US" dirty="0">
                <a:solidFill>
                  <a:srgbClr val="FF0000"/>
                </a:solidFill>
              </a:rPr>
              <a:t>Destination-Sequenced Distance Vector (DSDV) </a:t>
            </a:r>
            <a:r>
              <a:rPr lang="en-US" dirty="0"/>
              <a:t>protocol is a table-driven routing protocol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0056A6-F19D-4AB4-ABF9-05D35B084D97}"/>
              </a:ext>
            </a:extLst>
          </p:cNvPr>
          <p:cNvSpPr>
            <a:spLocks noGrp="1"/>
          </p:cNvSpPr>
          <p:nvPr>
            <p:ph type="sldNum" sz="quarter" idx="12"/>
          </p:nvPr>
        </p:nvSpPr>
        <p:spPr/>
        <p:txBody>
          <a:bodyPr/>
          <a:lstStyle/>
          <a:p>
            <a:pPr>
              <a:defRPr/>
            </a:pPr>
            <a:fld id="{1B0BEB7E-AFC2-4E38-BD01-E9CC7FAE1CE2}" type="slidenum">
              <a:rPr lang="en-US" smtClean="0"/>
              <a:pPr>
                <a:defRPr/>
              </a:pPr>
              <a:t>13</a:t>
            </a:fld>
            <a:endParaRPr lang="en-US"/>
          </a:p>
        </p:txBody>
      </p:sp>
      <p:sp>
        <p:nvSpPr>
          <p:cNvPr id="5" name="Rectangle 4">
            <a:extLst>
              <a:ext uri="{FF2B5EF4-FFF2-40B4-BE49-F238E27FC236}">
                <a16:creationId xmlns:a16="http://schemas.microsoft.com/office/drawing/2014/main" id="{88F5EC33-F3B1-4C5A-8CD3-B03BD528567E}"/>
              </a:ext>
            </a:extLst>
          </p:cNvPr>
          <p:cNvSpPr/>
          <p:nvPr/>
        </p:nvSpPr>
        <p:spPr>
          <a:xfrm>
            <a:off x="304800" y="1536174"/>
            <a:ext cx="8382000" cy="1938992"/>
          </a:xfrm>
          <a:prstGeom prst="rect">
            <a:avLst/>
          </a:prstGeom>
          <a:solidFill>
            <a:srgbClr val="CCECFF"/>
          </a:solidFill>
        </p:spPr>
        <p:txBody>
          <a:bodyPr wrap="square">
            <a:spAutoFit/>
          </a:bodyPr>
          <a:lstStyle/>
          <a:p>
            <a:pPr algn="just">
              <a:buFont typeface="Wingdings" pitchFamily="2" charset="2"/>
              <a:buChar char="ü"/>
            </a:pPr>
            <a:r>
              <a:rPr lang="en-US" dirty="0"/>
              <a:t>This process repeats until every node in the network has received a copy of the update packet with a corresponding metric. If a node receives duplicate update packets, the node will only pay attention to the update packet with the smallest metric or larger sequence number otherwise ignore the paging packet.</a:t>
            </a:r>
          </a:p>
        </p:txBody>
      </p:sp>
    </p:spTree>
    <p:extLst>
      <p:ext uri="{BB962C8B-B14F-4D97-AF65-F5344CB8AC3E}">
        <p14:creationId xmlns:p14="http://schemas.microsoft.com/office/powerpoint/2010/main" val="1934555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txBox="1">
            <a:spLocks noChangeArrowheads="1"/>
          </p:cNvSpPr>
          <p:nvPr/>
        </p:nvSpPr>
        <p:spPr bwMode="auto">
          <a:xfrm>
            <a:off x="304800" y="914400"/>
            <a:ext cx="8686800" cy="3046988"/>
          </a:xfrm>
          <a:prstGeom prst="rect">
            <a:avLst/>
          </a:prstGeom>
          <a:solidFill>
            <a:srgbClr val="CCECFF"/>
          </a:solidFill>
          <a:ln w="9525">
            <a:noFill/>
            <a:miter lim="800000"/>
            <a:headEnd/>
            <a:tailEnd/>
          </a:ln>
        </p:spPr>
        <p:txBody>
          <a:bodyPr>
            <a:spAutoFit/>
          </a:bodyPr>
          <a:lstStyle/>
          <a:p>
            <a:pPr algn="just">
              <a:buFont typeface="Wingdings" pitchFamily="2" charset="2"/>
              <a:buChar char="ü"/>
            </a:pPr>
            <a:r>
              <a:rPr lang="en-US" dirty="0"/>
              <a:t>If the new address has a higher sequence number, the node chooses the route with the higher sequence number (higher sequence number reflects the presents topology of the network) and discards the old sequence number.</a:t>
            </a:r>
          </a:p>
          <a:p>
            <a:pPr algn="just"/>
            <a:endParaRPr lang="en-US" dirty="0"/>
          </a:p>
          <a:p>
            <a:pPr algn="just">
              <a:buFont typeface="Wingdings" pitchFamily="2" charset="2"/>
              <a:buChar char="ü"/>
            </a:pPr>
            <a:r>
              <a:rPr lang="en-US" dirty="0"/>
              <a:t>If the incoming sequence number is identical to the one belonging to the existing route, a route with the least cost metric (number of hop) is chosen.</a:t>
            </a:r>
          </a:p>
        </p:txBody>
      </p:sp>
      <p:sp>
        <p:nvSpPr>
          <p:cNvPr id="12291" name="Slide Number Placeholder 2"/>
          <p:cNvSpPr>
            <a:spLocks noGrp="1"/>
          </p:cNvSpPr>
          <p:nvPr>
            <p:ph type="sldNum" sz="quarter" idx="12"/>
          </p:nvPr>
        </p:nvSpPr>
        <p:spPr>
          <a:noFill/>
        </p:spPr>
        <p:txBody>
          <a:bodyPr/>
          <a:lstStyle/>
          <a:p>
            <a:fld id="{958BD1EB-E449-4108-912D-FA0C5B5E464C}"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15</a:t>
            </a:fld>
            <a:endParaRPr lang="en-US"/>
          </a:p>
        </p:txBody>
      </p:sp>
      <p:pic>
        <p:nvPicPr>
          <p:cNvPr id="19" name="Picture 18"/>
          <p:cNvPicPr>
            <a:picLocks noChangeAspect="1"/>
          </p:cNvPicPr>
          <p:nvPr/>
        </p:nvPicPr>
        <p:blipFill>
          <a:blip r:embed="rId2"/>
          <a:stretch>
            <a:fillRect/>
          </a:stretch>
        </p:blipFill>
        <p:spPr>
          <a:xfrm>
            <a:off x="1241279" y="609600"/>
            <a:ext cx="7858090" cy="4848225"/>
          </a:xfrm>
          <a:prstGeom prst="rect">
            <a:avLst/>
          </a:prstGeom>
        </p:spPr>
      </p:pic>
      <p:sp>
        <p:nvSpPr>
          <p:cNvPr id="18" name="TextBox 17"/>
          <p:cNvSpPr txBox="1"/>
          <p:nvPr/>
        </p:nvSpPr>
        <p:spPr>
          <a:xfrm>
            <a:off x="152400" y="2286000"/>
            <a:ext cx="1676400" cy="338554"/>
          </a:xfrm>
          <a:prstGeom prst="rect">
            <a:avLst/>
          </a:prstGeom>
          <a:solidFill>
            <a:srgbClr val="FFCCFF"/>
          </a:solidFill>
        </p:spPr>
        <p:txBody>
          <a:bodyPr wrap="square" rtlCol="0">
            <a:spAutoFit/>
          </a:bodyPr>
          <a:lstStyle/>
          <a:p>
            <a:r>
              <a:rPr lang="en-US" sz="1600" dirty="0"/>
              <a:t>PC0- hop 1- 112</a:t>
            </a:r>
          </a:p>
        </p:txBody>
      </p:sp>
      <p:sp>
        <p:nvSpPr>
          <p:cNvPr id="20" name="TextBox 19"/>
          <p:cNvSpPr txBox="1"/>
          <p:nvPr/>
        </p:nvSpPr>
        <p:spPr>
          <a:xfrm>
            <a:off x="138404" y="5540514"/>
            <a:ext cx="8693020" cy="707886"/>
          </a:xfrm>
          <a:prstGeom prst="rect">
            <a:avLst/>
          </a:prstGeom>
          <a:solidFill>
            <a:srgbClr val="CCECFF"/>
          </a:solidFill>
        </p:spPr>
        <p:txBody>
          <a:bodyPr wrap="square" rtlCol="0">
            <a:spAutoFit/>
          </a:bodyPr>
          <a:lstStyle/>
          <a:p>
            <a:pPr algn="just"/>
            <a:r>
              <a:rPr lang="en-US" sz="2000" dirty="0"/>
              <a:t>PC0 transmits the paging packet with hop 1 and sequence 112. The sequence number gives the nodes an idea, how latest the paging message is. </a:t>
            </a:r>
          </a:p>
        </p:txBody>
      </p:sp>
    </p:spTree>
    <p:extLst>
      <p:ext uri="{BB962C8B-B14F-4D97-AF65-F5344CB8AC3E}">
        <p14:creationId xmlns:p14="http://schemas.microsoft.com/office/powerpoint/2010/main" val="860609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16</a:t>
            </a:fld>
            <a:endParaRPr lang="en-US"/>
          </a:p>
        </p:txBody>
      </p:sp>
      <p:pic>
        <p:nvPicPr>
          <p:cNvPr id="19" name="Picture 18"/>
          <p:cNvPicPr>
            <a:picLocks noChangeAspect="1"/>
          </p:cNvPicPr>
          <p:nvPr/>
        </p:nvPicPr>
        <p:blipFill>
          <a:blip r:embed="rId2"/>
          <a:stretch>
            <a:fillRect/>
          </a:stretch>
        </p:blipFill>
        <p:spPr>
          <a:xfrm>
            <a:off x="762000" y="598607"/>
            <a:ext cx="7858090" cy="4848225"/>
          </a:xfrm>
          <a:prstGeom prst="rect">
            <a:avLst/>
          </a:prstGeom>
        </p:spPr>
      </p:pic>
      <p:sp>
        <p:nvSpPr>
          <p:cNvPr id="18" name="TextBox 17"/>
          <p:cNvSpPr txBox="1"/>
          <p:nvPr/>
        </p:nvSpPr>
        <p:spPr>
          <a:xfrm>
            <a:off x="1474936" y="1314295"/>
            <a:ext cx="1676400" cy="338554"/>
          </a:xfrm>
          <a:prstGeom prst="rect">
            <a:avLst/>
          </a:prstGeom>
          <a:solidFill>
            <a:srgbClr val="FFCCFF"/>
          </a:solidFill>
        </p:spPr>
        <p:txBody>
          <a:bodyPr wrap="square" rtlCol="0">
            <a:spAutoFit/>
          </a:bodyPr>
          <a:lstStyle/>
          <a:p>
            <a:r>
              <a:rPr lang="en-US" sz="1600" dirty="0"/>
              <a:t>PC0- hop 1- 112</a:t>
            </a:r>
          </a:p>
        </p:txBody>
      </p:sp>
      <p:sp>
        <p:nvSpPr>
          <p:cNvPr id="5" name="TextBox 4"/>
          <p:cNvSpPr txBox="1"/>
          <p:nvPr/>
        </p:nvSpPr>
        <p:spPr>
          <a:xfrm>
            <a:off x="865336" y="4971895"/>
            <a:ext cx="1676400" cy="338554"/>
          </a:xfrm>
          <a:prstGeom prst="rect">
            <a:avLst/>
          </a:prstGeom>
          <a:solidFill>
            <a:srgbClr val="FFCCFF"/>
          </a:solidFill>
        </p:spPr>
        <p:txBody>
          <a:bodyPr wrap="square" rtlCol="0">
            <a:spAutoFit/>
          </a:bodyPr>
          <a:lstStyle/>
          <a:p>
            <a:r>
              <a:rPr lang="en-US" sz="1600" dirty="0"/>
              <a:t>PC0- hop 1- 112</a:t>
            </a:r>
          </a:p>
        </p:txBody>
      </p:sp>
      <p:sp>
        <p:nvSpPr>
          <p:cNvPr id="6" name="TextBox 5"/>
          <p:cNvSpPr txBox="1"/>
          <p:nvPr/>
        </p:nvSpPr>
        <p:spPr>
          <a:xfrm>
            <a:off x="760445" y="5634963"/>
            <a:ext cx="7858090" cy="954107"/>
          </a:xfrm>
          <a:prstGeom prst="rect">
            <a:avLst/>
          </a:prstGeom>
          <a:solidFill>
            <a:srgbClr val="CCECFF"/>
          </a:solidFill>
        </p:spPr>
        <p:txBody>
          <a:bodyPr wrap="square" rtlCol="0">
            <a:spAutoFit/>
          </a:bodyPr>
          <a:lstStyle/>
          <a:p>
            <a:r>
              <a:rPr lang="en-US" sz="2800" dirty="0"/>
              <a:t>PC-9 and PC-10 receives the packet and update their routing table as </a:t>
            </a:r>
            <a:r>
              <a:rPr lang="en-US" sz="2800" b="1" dirty="0">
                <a:solidFill>
                  <a:srgbClr val="0033CC"/>
                </a:solidFill>
              </a:rPr>
              <a:t>PC0- hop 1- 112</a:t>
            </a:r>
            <a:r>
              <a:rPr lang="en-US" sz="2800" dirty="0"/>
              <a:t>.</a:t>
            </a:r>
          </a:p>
        </p:txBody>
      </p:sp>
    </p:spTree>
    <p:extLst>
      <p:ext uri="{BB962C8B-B14F-4D97-AF65-F5344CB8AC3E}">
        <p14:creationId xmlns:p14="http://schemas.microsoft.com/office/powerpoint/2010/main" val="4073732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17</a:t>
            </a:fld>
            <a:endParaRPr lang="en-US"/>
          </a:p>
        </p:txBody>
      </p:sp>
      <p:pic>
        <p:nvPicPr>
          <p:cNvPr id="19" name="Picture 18"/>
          <p:cNvPicPr>
            <a:picLocks noChangeAspect="1"/>
          </p:cNvPicPr>
          <p:nvPr/>
        </p:nvPicPr>
        <p:blipFill>
          <a:blip r:embed="rId2"/>
          <a:stretch>
            <a:fillRect/>
          </a:stretch>
        </p:blipFill>
        <p:spPr>
          <a:xfrm>
            <a:off x="990600" y="762000"/>
            <a:ext cx="7858090" cy="4848225"/>
          </a:xfrm>
          <a:prstGeom prst="rect">
            <a:avLst/>
          </a:prstGeom>
        </p:spPr>
      </p:pic>
      <p:sp>
        <p:nvSpPr>
          <p:cNvPr id="18" name="TextBox 17"/>
          <p:cNvSpPr txBox="1"/>
          <p:nvPr/>
        </p:nvSpPr>
        <p:spPr>
          <a:xfrm>
            <a:off x="1093936" y="1401488"/>
            <a:ext cx="2209800" cy="338554"/>
          </a:xfrm>
          <a:prstGeom prst="rect">
            <a:avLst/>
          </a:prstGeom>
          <a:solidFill>
            <a:srgbClr val="FFCCFF"/>
          </a:solidFill>
        </p:spPr>
        <p:txBody>
          <a:bodyPr wrap="square" rtlCol="0">
            <a:spAutoFit/>
          </a:bodyPr>
          <a:lstStyle/>
          <a:p>
            <a:r>
              <a:rPr lang="en-US" sz="1600" dirty="0"/>
              <a:t>PC0- PC10-hop 2- 112</a:t>
            </a:r>
          </a:p>
        </p:txBody>
      </p:sp>
      <p:sp>
        <p:nvSpPr>
          <p:cNvPr id="6" name="TextBox 5"/>
          <p:cNvSpPr txBox="1"/>
          <p:nvPr/>
        </p:nvSpPr>
        <p:spPr>
          <a:xfrm>
            <a:off x="789136" y="5211488"/>
            <a:ext cx="2209800" cy="338554"/>
          </a:xfrm>
          <a:prstGeom prst="rect">
            <a:avLst/>
          </a:prstGeom>
          <a:solidFill>
            <a:srgbClr val="FFCCFF"/>
          </a:solidFill>
        </p:spPr>
        <p:txBody>
          <a:bodyPr wrap="square" rtlCol="0">
            <a:spAutoFit/>
          </a:bodyPr>
          <a:lstStyle/>
          <a:p>
            <a:r>
              <a:rPr lang="en-US" sz="1600" dirty="0"/>
              <a:t>PC0- PC 9-hop 2- 112</a:t>
            </a:r>
          </a:p>
        </p:txBody>
      </p:sp>
      <p:sp>
        <p:nvSpPr>
          <p:cNvPr id="7" name="TextBox 6"/>
          <p:cNvSpPr txBox="1"/>
          <p:nvPr/>
        </p:nvSpPr>
        <p:spPr>
          <a:xfrm>
            <a:off x="76200" y="5711163"/>
            <a:ext cx="8382000" cy="954107"/>
          </a:xfrm>
          <a:prstGeom prst="rect">
            <a:avLst/>
          </a:prstGeom>
          <a:solidFill>
            <a:srgbClr val="CCECFF"/>
          </a:solidFill>
        </p:spPr>
        <p:txBody>
          <a:bodyPr wrap="square" rtlCol="0">
            <a:spAutoFit/>
          </a:bodyPr>
          <a:lstStyle/>
          <a:p>
            <a:r>
              <a:rPr lang="en-US" sz="2800" dirty="0"/>
              <a:t>PC-9 and PC-10 transmits the packet including their own address with hop 2 and same sequence number 112.</a:t>
            </a:r>
          </a:p>
        </p:txBody>
      </p:sp>
    </p:spTree>
    <p:extLst>
      <p:ext uri="{BB962C8B-B14F-4D97-AF65-F5344CB8AC3E}">
        <p14:creationId xmlns:p14="http://schemas.microsoft.com/office/powerpoint/2010/main" val="1750543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18</a:t>
            </a:fld>
            <a:endParaRPr lang="en-US"/>
          </a:p>
        </p:txBody>
      </p:sp>
      <p:pic>
        <p:nvPicPr>
          <p:cNvPr id="19" name="Picture 18"/>
          <p:cNvPicPr>
            <a:picLocks noChangeAspect="1"/>
          </p:cNvPicPr>
          <p:nvPr/>
        </p:nvPicPr>
        <p:blipFill>
          <a:blip r:embed="rId2"/>
          <a:stretch>
            <a:fillRect/>
          </a:stretch>
        </p:blipFill>
        <p:spPr>
          <a:xfrm>
            <a:off x="914400" y="505825"/>
            <a:ext cx="7858090" cy="4848225"/>
          </a:xfrm>
          <a:prstGeom prst="rect">
            <a:avLst/>
          </a:prstGeom>
        </p:spPr>
      </p:pic>
      <p:sp>
        <p:nvSpPr>
          <p:cNvPr id="18" name="TextBox 17"/>
          <p:cNvSpPr txBox="1"/>
          <p:nvPr/>
        </p:nvSpPr>
        <p:spPr>
          <a:xfrm>
            <a:off x="2971800" y="2575658"/>
            <a:ext cx="2209800" cy="338554"/>
          </a:xfrm>
          <a:prstGeom prst="rect">
            <a:avLst/>
          </a:prstGeom>
          <a:solidFill>
            <a:srgbClr val="FFCCFF"/>
          </a:solidFill>
        </p:spPr>
        <p:txBody>
          <a:bodyPr wrap="square" rtlCol="0">
            <a:spAutoFit/>
          </a:bodyPr>
          <a:lstStyle/>
          <a:p>
            <a:r>
              <a:rPr lang="en-US" sz="1600" dirty="0"/>
              <a:t>PC0- PC 10-hop 2- 112</a:t>
            </a:r>
          </a:p>
        </p:txBody>
      </p:sp>
      <p:sp>
        <p:nvSpPr>
          <p:cNvPr id="5" name="TextBox 4"/>
          <p:cNvSpPr txBox="1"/>
          <p:nvPr/>
        </p:nvSpPr>
        <p:spPr>
          <a:xfrm>
            <a:off x="2971800" y="5382019"/>
            <a:ext cx="2057400" cy="338554"/>
          </a:xfrm>
          <a:prstGeom prst="rect">
            <a:avLst/>
          </a:prstGeom>
          <a:solidFill>
            <a:srgbClr val="FFCCFF"/>
          </a:solidFill>
        </p:spPr>
        <p:txBody>
          <a:bodyPr wrap="square" rtlCol="0">
            <a:spAutoFit/>
          </a:bodyPr>
          <a:lstStyle/>
          <a:p>
            <a:r>
              <a:rPr lang="en-US" sz="1600" dirty="0"/>
              <a:t>PC0- PC 9- hop 2- 112</a:t>
            </a:r>
          </a:p>
        </p:txBody>
      </p:sp>
      <p:sp>
        <p:nvSpPr>
          <p:cNvPr id="6" name="TextBox 5"/>
          <p:cNvSpPr txBox="1"/>
          <p:nvPr/>
        </p:nvSpPr>
        <p:spPr>
          <a:xfrm>
            <a:off x="2638457" y="918674"/>
            <a:ext cx="2209800" cy="338554"/>
          </a:xfrm>
          <a:prstGeom prst="rect">
            <a:avLst/>
          </a:prstGeom>
          <a:solidFill>
            <a:srgbClr val="FFCCFF"/>
          </a:solidFill>
        </p:spPr>
        <p:txBody>
          <a:bodyPr wrap="square" rtlCol="0">
            <a:spAutoFit/>
          </a:bodyPr>
          <a:lstStyle/>
          <a:p>
            <a:r>
              <a:rPr lang="en-US" sz="1600" dirty="0"/>
              <a:t>PC0- PC 10-hop 2- 112</a:t>
            </a:r>
          </a:p>
        </p:txBody>
      </p:sp>
      <p:sp>
        <p:nvSpPr>
          <p:cNvPr id="7" name="TextBox 6"/>
          <p:cNvSpPr txBox="1"/>
          <p:nvPr/>
        </p:nvSpPr>
        <p:spPr>
          <a:xfrm>
            <a:off x="685800" y="5771346"/>
            <a:ext cx="7772400" cy="954107"/>
          </a:xfrm>
          <a:prstGeom prst="rect">
            <a:avLst/>
          </a:prstGeom>
          <a:solidFill>
            <a:srgbClr val="CCECFF"/>
          </a:solidFill>
        </p:spPr>
        <p:txBody>
          <a:bodyPr wrap="square" rtlCol="0">
            <a:spAutoFit/>
          </a:bodyPr>
          <a:lstStyle/>
          <a:p>
            <a:pPr algn="just"/>
            <a:r>
              <a:rPr lang="en-US" sz="2800" dirty="0"/>
              <a:t>PC 2, PC 7 and PC 11 receive the packets and update their routing table.</a:t>
            </a:r>
          </a:p>
        </p:txBody>
      </p:sp>
    </p:spTree>
    <p:extLst>
      <p:ext uri="{BB962C8B-B14F-4D97-AF65-F5344CB8AC3E}">
        <p14:creationId xmlns:p14="http://schemas.microsoft.com/office/powerpoint/2010/main" val="402122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19</a:t>
            </a:fld>
            <a:endParaRPr lang="en-US"/>
          </a:p>
        </p:txBody>
      </p:sp>
      <p:pic>
        <p:nvPicPr>
          <p:cNvPr id="19" name="Picture 18"/>
          <p:cNvPicPr>
            <a:picLocks noChangeAspect="1"/>
          </p:cNvPicPr>
          <p:nvPr/>
        </p:nvPicPr>
        <p:blipFill>
          <a:blip r:embed="rId2"/>
          <a:stretch>
            <a:fillRect/>
          </a:stretch>
        </p:blipFill>
        <p:spPr>
          <a:xfrm>
            <a:off x="790610" y="558532"/>
            <a:ext cx="7858090" cy="4848225"/>
          </a:xfrm>
          <a:prstGeom prst="rect">
            <a:avLst/>
          </a:prstGeom>
        </p:spPr>
      </p:pic>
      <p:sp>
        <p:nvSpPr>
          <p:cNvPr id="18" name="TextBox 17"/>
          <p:cNvSpPr txBox="1"/>
          <p:nvPr/>
        </p:nvSpPr>
        <p:spPr>
          <a:xfrm>
            <a:off x="2848010" y="2628365"/>
            <a:ext cx="2209800" cy="338554"/>
          </a:xfrm>
          <a:prstGeom prst="rect">
            <a:avLst/>
          </a:prstGeom>
          <a:solidFill>
            <a:srgbClr val="FFCCFF"/>
          </a:solidFill>
        </p:spPr>
        <p:txBody>
          <a:bodyPr wrap="square" rtlCol="0">
            <a:spAutoFit/>
          </a:bodyPr>
          <a:lstStyle/>
          <a:p>
            <a:r>
              <a:rPr lang="en-US" sz="1600" dirty="0"/>
              <a:t>PC0- PC 11-hop 3- 112</a:t>
            </a:r>
          </a:p>
        </p:txBody>
      </p:sp>
      <p:sp>
        <p:nvSpPr>
          <p:cNvPr id="5" name="TextBox 4"/>
          <p:cNvSpPr txBox="1"/>
          <p:nvPr/>
        </p:nvSpPr>
        <p:spPr>
          <a:xfrm>
            <a:off x="2848010" y="5481052"/>
            <a:ext cx="2057400" cy="338554"/>
          </a:xfrm>
          <a:prstGeom prst="rect">
            <a:avLst/>
          </a:prstGeom>
          <a:solidFill>
            <a:srgbClr val="FFCCFF"/>
          </a:solidFill>
        </p:spPr>
        <p:txBody>
          <a:bodyPr wrap="square" rtlCol="0">
            <a:spAutoFit/>
          </a:bodyPr>
          <a:lstStyle/>
          <a:p>
            <a:r>
              <a:rPr lang="en-US" sz="1600" dirty="0"/>
              <a:t>PC0- PC 7- hop 3- 112</a:t>
            </a:r>
          </a:p>
        </p:txBody>
      </p:sp>
      <p:sp>
        <p:nvSpPr>
          <p:cNvPr id="6" name="TextBox 5"/>
          <p:cNvSpPr txBox="1"/>
          <p:nvPr/>
        </p:nvSpPr>
        <p:spPr>
          <a:xfrm>
            <a:off x="2514667" y="971381"/>
            <a:ext cx="2209800" cy="338554"/>
          </a:xfrm>
          <a:prstGeom prst="rect">
            <a:avLst/>
          </a:prstGeom>
          <a:solidFill>
            <a:srgbClr val="FFCCFF"/>
          </a:solidFill>
        </p:spPr>
        <p:txBody>
          <a:bodyPr wrap="square" rtlCol="0">
            <a:spAutoFit/>
          </a:bodyPr>
          <a:lstStyle/>
          <a:p>
            <a:r>
              <a:rPr lang="en-US" sz="1600" dirty="0"/>
              <a:t>PC0- PC 2-hop 3- 112</a:t>
            </a:r>
          </a:p>
        </p:txBody>
      </p:sp>
      <p:sp>
        <p:nvSpPr>
          <p:cNvPr id="8" name="TextBox 7"/>
          <p:cNvSpPr txBox="1"/>
          <p:nvPr/>
        </p:nvSpPr>
        <p:spPr>
          <a:xfrm>
            <a:off x="252704" y="5814608"/>
            <a:ext cx="8382000" cy="954107"/>
          </a:xfrm>
          <a:prstGeom prst="rect">
            <a:avLst/>
          </a:prstGeom>
          <a:solidFill>
            <a:srgbClr val="CCECFF"/>
          </a:solidFill>
        </p:spPr>
        <p:txBody>
          <a:bodyPr wrap="square" rtlCol="0">
            <a:spAutoFit/>
          </a:bodyPr>
          <a:lstStyle/>
          <a:p>
            <a:r>
              <a:rPr lang="en-US" sz="2800" dirty="0"/>
              <a:t>PC 2, PC 11 and PC 7 transmit the packet including their own address with hop 3 and sequence 112.</a:t>
            </a:r>
          </a:p>
        </p:txBody>
      </p:sp>
    </p:spTree>
    <p:extLst>
      <p:ext uri="{BB962C8B-B14F-4D97-AF65-F5344CB8AC3E}">
        <p14:creationId xmlns:p14="http://schemas.microsoft.com/office/powerpoint/2010/main" val="411657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20</a:t>
            </a:fld>
            <a:endParaRPr lang="en-US"/>
          </a:p>
        </p:txBody>
      </p:sp>
      <p:pic>
        <p:nvPicPr>
          <p:cNvPr id="5" name="Picture 4"/>
          <p:cNvPicPr>
            <a:picLocks noChangeAspect="1"/>
          </p:cNvPicPr>
          <p:nvPr/>
        </p:nvPicPr>
        <p:blipFill>
          <a:blip r:embed="rId2"/>
          <a:stretch>
            <a:fillRect/>
          </a:stretch>
        </p:blipFill>
        <p:spPr>
          <a:xfrm>
            <a:off x="304800" y="1447800"/>
            <a:ext cx="8556171" cy="3352800"/>
          </a:xfrm>
          <a:prstGeom prst="rect">
            <a:avLst/>
          </a:prstGeom>
        </p:spPr>
      </p:pic>
      <p:sp>
        <p:nvSpPr>
          <p:cNvPr id="6" name="TextBox 5"/>
          <p:cNvSpPr txBox="1"/>
          <p:nvPr/>
        </p:nvSpPr>
        <p:spPr>
          <a:xfrm>
            <a:off x="1143000" y="2133600"/>
            <a:ext cx="1676400" cy="338554"/>
          </a:xfrm>
          <a:prstGeom prst="rect">
            <a:avLst/>
          </a:prstGeom>
          <a:solidFill>
            <a:srgbClr val="FFCCFF"/>
          </a:solidFill>
        </p:spPr>
        <p:txBody>
          <a:bodyPr wrap="square" rtlCol="0">
            <a:spAutoFit/>
          </a:bodyPr>
          <a:lstStyle/>
          <a:p>
            <a:r>
              <a:rPr lang="en-US" sz="1600" dirty="0"/>
              <a:t>PC0- hop 1- 112</a:t>
            </a:r>
          </a:p>
        </p:txBody>
      </p:sp>
      <p:sp>
        <p:nvSpPr>
          <p:cNvPr id="7" name="TextBox 6"/>
          <p:cNvSpPr txBox="1"/>
          <p:nvPr/>
        </p:nvSpPr>
        <p:spPr>
          <a:xfrm>
            <a:off x="3352800" y="3276600"/>
            <a:ext cx="2209800" cy="338554"/>
          </a:xfrm>
          <a:prstGeom prst="rect">
            <a:avLst/>
          </a:prstGeom>
          <a:solidFill>
            <a:srgbClr val="FFCCFF"/>
          </a:solidFill>
        </p:spPr>
        <p:txBody>
          <a:bodyPr wrap="square" rtlCol="0">
            <a:spAutoFit/>
          </a:bodyPr>
          <a:lstStyle/>
          <a:p>
            <a:r>
              <a:rPr lang="en-US" sz="1600" dirty="0"/>
              <a:t>PC0- PC10-hop 2- 112</a:t>
            </a:r>
          </a:p>
        </p:txBody>
      </p:sp>
      <p:sp>
        <p:nvSpPr>
          <p:cNvPr id="8" name="TextBox 7"/>
          <p:cNvSpPr txBox="1"/>
          <p:nvPr/>
        </p:nvSpPr>
        <p:spPr>
          <a:xfrm>
            <a:off x="5029200" y="914400"/>
            <a:ext cx="1981200" cy="338554"/>
          </a:xfrm>
          <a:prstGeom prst="rect">
            <a:avLst/>
          </a:prstGeom>
          <a:solidFill>
            <a:srgbClr val="FFCCFF"/>
          </a:solidFill>
        </p:spPr>
        <p:txBody>
          <a:bodyPr wrap="square" rtlCol="0">
            <a:spAutoFit/>
          </a:bodyPr>
          <a:lstStyle/>
          <a:p>
            <a:r>
              <a:rPr lang="en-US" sz="1600" dirty="0"/>
              <a:t>PC0- PC2-hop 3- 112</a:t>
            </a:r>
          </a:p>
        </p:txBody>
      </p:sp>
      <p:sp>
        <p:nvSpPr>
          <p:cNvPr id="9" name="TextBox 8"/>
          <p:cNvSpPr txBox="1"/>
          <p:nvPr/>
        </p:nvSpPr>
        <p:spPr>
          <a:xfrm>
            <a:off x="6705600" y="3733800"/>
            <a:ext cx="1981200" cy="338554"/>
          </a:xfrm>
          <a:prstGeom prst="rect">
            <a:avLst/>
          </a:prstGeom>
          <a:solidFill>
            <a:srgbClr val="FFCCFF"/>
          </a:solidFill>
        </p:spPr>
        <p:txBody>
          <a:bodyPr wrap="square" rtlCol="0">
            <a:spAutoFit/>
          </a:bodyPr>
          <a:lstStyle/>
          <a:p>
            <a:r>
              <a:rPr lang="en-US" sz="1600" dirty="0"/>
              <a:t>PC0- PC5-hop 4- 112</a:t>
            </a:r>
          </a:p>
        </p:txBody>
      </p:sp>
      <p:sp>
        <p:nvSpPr>
          <p:cNvPr id="2" name="TextBox 1">
            <a:extLst>
              <a:ext uri="{FF2B5EF4-FFF2-40B4-BE49-F238E27FC236}">
                <a16:creationId xmlns:a16="http://schemas.microsoft.com/office/drawing/2014/main" id="{49ED8D20-45B5-43B5-BF3E-6255A17866A3}"/>
              </a:ext>
            </a:extLst>
          </p:cNvPr>
          <p:cNvSpPr txBox="1"/>
          <p:nvPr/>
        </p:nvSpPr>
        <p:spPr>
          <a:xfrm>
            <a:off x="1524000" y="4912796"/>
            <a:ext cx="5638800" cy="457200"/>
          </a:xfrm>
          <a:prstGeom prst="rect">
            <a:avLst/>
          </a:prstGeom>
          <a:noFill/>
        </p:spPr>
        <p:txBody>
          <a:bodyPr wrap="square" rtlCol="0">
            <a:spAutoFit/>
          </a:bodyPr>
          <a:lstStyle/>
          <a:p>
            <a:r>
              <a:rPr lang="en-US" dirty="0"/>
              <a:t>Routing table of PC10, PC 2, PC5 and PC 4.</a:t>
            </a:r>
          </a:p>
        </p:txBody>
      </p:sp>
    </p:spTree>
    <p:extLst>
      <p:ext uri="{BB962C8B-B14F-4D97-AF65-F5344CB8AC3E}">
        <p14:creationId xmlns:p14="http://schemas.microsoft.com/office/powerpoint/2010/main" val="1985740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5" descr="adhoc_2"/>
          <p:cNvPicPr>
            <a:picLocks noGrp="1" noChangeAspect="1" noChangeArrowheads="1"/>
          </p:cNvPicPr>
          <p:nvPr>
            <p:ph/>
          </p:nvPr>
        </p:nvPicPr>
        <p:blipFill>
          <a:blip r:embed="rId2"/>
          <a:srcRect/>
          <a:stretch>
            <a:fillRect/>
          </a:stretch>
        </p:blipFill>
        <p:spPr>
          <a:xfrm>
            <a:off x="990600" y="2080888"/>
            <a:ext cx="6477000" cy="4297687"/>
          </a:xfrm>
        </p:spPr>
      </p:pic>
      <p:sp>
        <p:nvSpPr>
          <p:cNvPr id="13315" name="Rectangle 7"/>
          <p:cNvSpPr>
            <a:spLocks noChangeArrowheads="1"/>
          </p:cNvSpPr>
          <p:nvPr/>
        </p:nvSpPr>
        <p:spPr bwMode="auto">
          <a:xfrm>
            <a:off x="1304131" y="6290977"/>
            <a:ext cx="5849938" cy="461963"/>
          </a:xfrm>
          <a:prstGeom prst="rect">
            <a:avLst/>
          </a:prstGeom>
          <a:noFill/>
          <a:ln w="9525">
            <a:noFill/>
            <a:miter lim="800000"/>
            <a:headEnd/>
            <a:tailEnd/>
          </a:ln>
        </p:spPr>
        <p:txBody>
          <a:bodyPr wrap="none" anchor="ctr">
            <a:spAutoFit/>
          </a:bodyPr>
          <a:lstStyle/>
          <a:p>
            <a:pPr eaLnBrk="0" hangingPunct="0"/>
            <a:r>
              <a:rPr lang="en-US" b="1" dirty="0"/>
              <a:t>Fig.5 : </a:t>
            </a:r>
            <a:r>
              <a:rPr lang="en-US" i="1" dirty="0"/>
              <a:t>A node receiving three update packets</a:t>
            </a:r>
            <a:r>
              <a:rPr lang="en-US" dirty="0"/>
              <a:t> </a:t>
            </a:r>
          </a:p>
        </p:txBody>
      </p:sp>
      <p:sp>
        <p:nvSpPr>
          <p:cNvPr id="13316" name="Text Box 8"/>
          <p:cNvSpPr txBox="1">
            <a:spLocks noChangeArrowheads="1"/>
          </p:cNvSpPr>
          <p:nvPr/>
        </p:nvSpPr>
        <p:spPr bwMode="auto">
          <a:xfrm>
            <a:off x="114300" y="152400"/>
            <a:ext cx="8915400" cy="1785104"/>
          </a:xfrm>
          <a:prstGeom prst="rect">
            <a:avLst/>
          </a:prstGeom>
          <a:solidFill>
            <a:srgbClr val="CCECFF"/>
          </a:solidFill>
          <a:ln w="9525">
            <a:noFill/>
            <a:miter lim="800000"/>
            <a:headEnd/>
            <a:tailEnd/>
          </a:ln>
        </p:spPr>
        <p:txBody>
          <a:bodyPr wrap="square">
            <a:spAutoFit/>
          </a:bodyPr>
          <a:lstStyle/>
          <a:p>
            <a:pPr marL="342900" indent="-342900" algn="just">
              <a:spcBef>
                <a:spcPct val="50000"/>
              </a:spcBef>
              <a:buFont typeface="Wingdings" panose="05000000000000000000" pitchFamily="2" charset="2"/>
              <a:buChar char="ü"/>
            </a:pPr>
            <a:r>
              <a:rPr lang="en-US" sz="2000" dirty="0"/>
              <a:t>If a node receives an update packet from another node, the sequence number must be equal to or greater than the sequence number already in the routing table; otherwise the update packet is stale and ignored. </a:t>
            </a:r>
          </a:p>
          <a:p>
            <a:pPr marL="342900" indent="-342900" algn="just">
              <a:spcBef>
                <a:spcPct val="50000"/>
              </a:spcBef>
              <a:buFont typeface="Wingdings" panose="05000000000000000000" pitchFamily="2" charset="2"/>
              <a:buChar char="ü"/>
            </a:pPr>
            <a:r>
              <a:rPr lang="en-US" sz="2000" dirty="0"/>
              <a:t>If the sequence number matches the sequence number in the routing table, then the metric is compared and updated as previously discussed.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solidFill>
            <a:schemeClr val="accent2">
              <a:lumMod val="40000"/>
              <a:lumOff val="60000"/>
            </a:schemeClr>
          </a:solidFill>
        </p:spPr>
        <p:txBody>
          <a:bodyPr/>
          <a:lstStyle/>
          <a:p>
            <a:pPr marL="0" indent="0">
              <a:buNone/>
            </a:pPr>
            <a:r>
              <a:rPr lang="en-US" sz="1800" b="1" dirty="0"/>
              <a:t>(a) Update Packet Sequence Number is Lower</a:t>
            </a:r>
          </a:p>
          <a:p>
            <a:pPr>
              <a:buFont typeface="Arial" panose="020B0604020202020204" pitchFamily="34" charset="0"/>
              <a:buChar char="•"/>
            </a:pPr>
            <a:r>
              <a:rPr lang="en-US" sz="1800" b="1" dirty="0"/>
              <a:t>Update Packet:</a:t>
            </a:r>
            <a:r>
              <a:rPr lang="en-US" sz="1800" dirty="0"/>
              <a:t> Destination = 3, Metric = 6, </a:t>
            </a:r>
            <a:r>
              <a:rPr lang="en-US" sz="1800" dirty="0" err="1"/>
              <a:t>Seq</a:t>
            </a:r>
            <a:r>
              <a:rPr lang="en-US" sz="1800" dirty="0"/>
              <a:t># = 18</a:t>
            </a:r>
          </a:p>
          <a:p>
            <a:pPr>
              <a:buFont typeface="Arial" panose="020B0604020202020204" pitchFamily="34" charset="0"/>
              <a:buChar char="•"/>
            </a:pPr>
            <a:r>
              <a:rPr lang="en-US" sz="1800" b="1" dirty="0"/>
              <a:t>Routing Table:</a:t>
            </a:r>
            <a:r>
              <a:rPr lang="en-US" sz="1800" dirty="0"/>
              <a:t> Already has Destination = 3, Metric = 5, </a:t>
            </a:r>
            <a:r>
              <a:rPr lang="en-US" sz="1800" dirty="0" err="1"/>
              <a:t>Seq</a:t>
            </a:r>
            <a:r>
              <a:rPr lang="en-US" sz="1800" dirty="0"/>
              <a:t># = 19</a:t>
            </a:r>
          </a:p>
          <a:p>
            <a:pPr marL="0" indent="0">
              <a:buNone/>
            </a:pPr>
            <a:r>
              <a:rPr lang="en-US" sz="1800" dirty="0"/>
              <a:t>🔹 Here, the update packet has an </a:t>
            </a:r>
            <a:r>
              <a:rPr lang="en-US" sz="1800" b="1" dirty="0"/>
              <a:t>older sequence number (18)</a:t>
            </a:r>
            <a:r>
              <a:rPr lang="en-US" sz="1800" dirty="0"/>
              <a:t> compared to the table entry (19).</a:t>
            </a:r>
            <a:br>
              <a:rPr lang="en-US" sz="1800" dirty="0"/>
            </a:br>
            <a:r>
              <a:rPr lang="en-US" sz="1800" dirty="0"/>
              <a:t>➡️ Since newer information (</a:t>
            </a:r>
            <a:r>
              <a:rPr lang="en-US" sz="1800" dirty="0" err="1"/>
              <a:t>Seq</a:t>
            </a:r>
            <a:r>
              <a:rPr lang="en-US" sz="1800" dirty="0"/>
              <a:t># 19) is already present, this update is </a:t>
            </a:r>
            <a:r>
              <a:rPr lang="en-US" sz="1800" b="1" dirty="0"/>
              <a:t>ignored</a:t>
            </a:r>
            <a:r>
              <a:rPr lang="en-US" sz="1800" dirty="0"/>
              <a:t>.</a:t>
            </a:r>
          </a:p>
          <a:p>
            <a:pPr marL="0" indent="0">
              <a:buNone/>
            </a:pPr>
            <a:endParaRPr lang="en-US" sz="1800" dirty="0"/>
          </a:p>
          <a:p>
            <a:pPr marL="0" indent="0">
              <a:buNone/>
            </a:pPr>
            <a:r>
              <a:rPr lang="en-US" sz="1800" b="1" dirty="0"/>
              <a:t>(b) Update Packet Sequence Number is Same, but Metric is Worse</a:t>
            </a:r>
          </a:p>
          <a:p>
            <a:pPr>
              <a:buFont typeface="Arial" panose="020B0604020202020204" pitchFamily="34" charset="0"/>
              <a:buChar char="•"/>
            </a:pPr>
            <a:r>
              <a:rPr lang="en-US" sz="1800" b="1" dirty="0"/>
              <a:t>Update Packet:</a:t>
            </a:r>
            <a:r>
              <a:rPr lang="en-US" sz="1800" dirty="0"/>
              <a:t> Destination = 3, Metric = 6, </a:t>
            </a:r>
            <a:r>
              <a:rPr lang="en-US" sz="1800" dirty="0" err="1"/>
              <a:t>Seq</a:t>
            </a:r>
            <a:r>
              <a:rPr lang="en-US" sz="1800" dirty="0"/>
              <a:t># = 19</a:t>
            </a:r>
          </a:p>
          <a:p>
            <a:pPr>
              <a:buFont typeface="Arial" panose="020B0604020202020204" pitchFamily="34" charset="0"/>
              <a:buChar char="•"/>
            </a:pPr>
            <a:r>
              <a:rPr lang="en-US" sz="1800" b="1" dirty="0"/>
              <a:t>Routing Table:</a:t>
            </a:r>
            <a:r>
              <a:rPr lang="en-US" sz="1800" dirty="0"/>
              <a:t> Destination = 3, Metric = 5, </a:t>
            </a:r>
            <a:r>
              <a:rPr lang="en-US" sz="1800" dirty="0" err="1"/>
              <a:t>Seq</a:t>
            </a:r>
            <a:r>
              <a:rPr lang="en-US" sz="1800" dirty="0"/>
              <a:t># = 19</a:t>
            </a:r>
          </a:p>
          <a:p>
            <a:pPr marL="0" indent="0">
              <a:buNone/>
            </a:pPr>
            <a:r>
              <a:rPr lang="en-US" sz="1800" dirty="0"/>
              <a:t>🔹 Sequence numbers are the same, so the decision depends on the </a:t>
            </a:r>
            <a:r>
              <a:rPr lang="en-US" sz="1800" b="1" dirty="0"/>
              <a:t>metric (hop count)</a:t>
            </a:r>
            <a:r>
              <a:rPr lang="en-US" sz="1800" dirty="0"/>
              <a:t>.</a:t>
            </a:r>
          </a:p>
          <a:p>
            <a:pPr>
              <a:buFont typeface="Arial" panose="020B0604020202020204" pitchFamily="34" charset="0"/>
              <a:buChar char="•"/>
            </a:pPr>
            <a:r>
              <a:rPr lang="en-US" sz="1800" dirty="0"/>
              <a:t>Existing route metric = 5 (better, fewer hops)</a:t>
            </a:r>
          </a:p>
          <a:p>
            <a:pPr>
              <a:buFont typeface="Arial" panose="020B0604020202020204" pitchFamily="34" charset="0"/>
              <a:buChar char="•"/>
            </a:pPr>
            <a:r>
              <a:rPr lang="en-US" sz="1800" dirty="0"/>
              <a:t>New update metric = 6 (worse, more hops)</a:t>
            </a:r>
          </a:p>
          <a:p>
            <a:pPr marL="0" indent="0">
              <a:buNone/>
            </a:pPr>
            <a:r>
              <a:rPr lang="en-US" sz="1800" dirty="0"/>
              <a:t>➡️ Since the current route is better, the update is again </a:t>
            </a:r>
            <a:r>
              <a:rPr lang="en-US" sz="1800" b="1" dirty="0"/>
              <a:t>ignored</a:t>
            </a:r>
            <a:r>
              <a:rPr lang="en-US" sz="1800" dirty="0"/>
              <a:t>.</a:t>
            </a:r>
          </a:p>
          <a:p>
            <a:endParaRPr lang="en-US" dirty="0"/>
          </a:p>
        </p:txBody>
      </p:sp>
      <p:sp>
        <p:nvSpPr>
          <p:cNvPr id="3" name="Slide Number Placeholder 2"/>
          <p:cNvSpPr>
            <a:spLocks noGrp="1"/>
          </p:cNvSpPr>
          <p:nvPr>
            <p:ph type="sldNum" sz="quarter" idx="12"/>
          </p:nvPr>
        </p:nvSpPr>
        <p:spPr/>
        <p:txBody>
          <a:bodyPr/>
          <a:lstStyle/>
          <a:p>
            <a:pPr>
              <a:defRPr/>
            </a:pPr>
            <a:fld id="{EB37EEB9-737F-4C73-9880-E72AD66E65FF}" type="slidenum">
              <a:rPr lang="en-US" smtClean="0"/>
              <a:pPr>
                <a:defRPr/>
              </a:pPr>
              <a:t>22</a:t>
            </a:fld>
            <a:endParaRPr lang="en-US" dirty="0"/>
          </a:p>
        </p:txBody>
      </p:sp>
    </p:spTree>
    <p:extLst>
      <p:ext uri="{BB962C8B-B14F-4D97-AF65-F5344CB8AC3E}">
        <p14:creationId xmlns:p14="http://schemas.microsoft.com/office/powerpoint/2010/main" val="3060904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solidFill>
            <a:schemeClr val="accent2">
              <a:lumMod val="40000"/>
              <a:lumOff val="60000"/>
            </a:schemeClr>
          </a:solidFill>
        </p:spPr>
        <p:txBody>
          <a:bodyPr/>
          <a:lstStyle/>
          <a:p>
            <a:pPr marL="0" indent="0">
              <a:buNone/>
            </a:pPr>
            <a:r>
              <a:rPr lang="en-US" sz="2000" b="1" dirty="0"/>
              <a:t>(c) Update Packet Sequence Number is Higher</a:t>
            </a:r>
          </a:p>
          <a:p>
            <a:pPr>
              <a:buFont typeface="Arial" panose="020B0604020202020204" pitchFamily="34" charset="0"/>
              <a:buChar char="•"/>
            </a:pPr>
            <a:r>
              <a:rPr lang="en-US" sz="2000" b="1" dirty="0"/>
              <a:t>Update Packet:</a:t>
            </a:r>
            <a:r>
              <a:rPr lang="en-US" sz="2000" dirty="0"/>
              <a:t> Destination = 3, Metric = 6, </a:t>
            </a:r>
            <a:r>
              <a:rPr lang="en-US" sz="2000" dirty="0" err="1"/>
              <a:t>Seq</a:t>
            </a:r>
            <a:r>
              <a:rPr lang="en-US" sz="2000" dirty="0"/>
              <a:t># = 20</a:t>
            </a:r>
          </a:p>
          <a:p>
            <a:pPr>
              <a:buFont typeface="Arial" panose="020B0604020202020204" pitchFamily="34" charset="0"/>
              <a:buChar char="•"/>
            </a:pPr>
            <a:r>
              <a:rPr lang="en-US" sz="2000" b="1" dirty="0"/>
              <a:t>Routing Table:</a:t>
            </a:r>
            <a:r>
              <a:rPr lang="en-US" sz="2000" dirty="0"/>
              <a:t> Destination = 3, Metric = 5, </a:t>
            </a:r>
            <a:r>
              <a:rPr lang="en-US" sz="2000" dirty="0" err="1"/>
              <a:t>Seq</a:t>
            </a:r>
            <a:r>
              <a:rPr lang="en-US" sz="2000" dirty="0"/>
              <a:t># = 19</a:t>
            </a:r>
          </a:p>
          <a:p>
            <a:pPr marL="0" indent="0">
              <a:buNone/>
            </a:pPr>
            <a:r>
              <a:rPr lang="en-US" sz="2000" dirty="0"/>
              <a:t>🔹 Now the update has a </a:t>
            </a:r>
            <a:r>
              <a:rPr lang="en-US" sz="2000" b="1" dirty="0"/>
              <a:t>newer sequence number (20)</a:t>
            </a:r>
            <a:r>
              <a:rPr lang="en-US" sz="2000" dirty="0"/>
              <a:t> compared to the table’s 19.</a:t>
            </a:r>
            <a:br>
              <a:rPr lang="en-US" sz="2000" dirty="0"/>
            </a:br>
            <a:r>
              <a:rPr lang="en-US" sz="2000" dirty="0"/>
              <a:t>➡️ Routing table entry is updated to: Destination = 3, Metric = 6, </a:t>
            </a:r>
            <a:r>
              <a:rPr lang="en-US" sz="2000" dirty="0" err="1"/>
              <a:t>Seq</a:t>
            </a:r>
            <a:r>
              <a:rPr lang="en-US" sz="2000" dirty="0"/>
              <a:t># = 20.</a:t>
            </a:r>
          </a:p>
          <a:p>
            <a:endParaRPr lang="en-US" sz="1800" b="1" dirty="0"/>
          </a:p>
          <a:p>
            <a:r>
              <a:rPr lang="en-US" sz="1800" b="1" dirty="0"/>
              <a:t>Summary Rule (DSDV Update Logic):</a:t>
            </a:r>
            <a:endParaRPr lang="en-US" sz="1800" dirty="0"/>
          </a:p>
          <a:p>
            <a:pPr>
              <a:buFont typeface="+mj-lt"/>
              <a:buAutoNum type="arabicPeriod"/>
            </a:pPr>
            <a:r>
              <a:rPr lang="en-US" sz="1800" dirty="0"/>
              <a:t>If update has an </a:t>
            </a:r>
            <a:r>
              <a:rPr lang="en-US" sz="1800" b="1" dirty="0"/>
              <a:t>older sequence number</a:t>
            </a:r>
            <a:r>
              <a:rPr lang="en-US" sz="1800" dirty="0"/>
              <a:t> → Ignore.</a:t>
            </a:r>
          </a:p>
          <a:p>
            <a:pPr>
              <a:buFont typeface="+mj-lt"/>
              <a:buAutoNum type="arabicPeriod"/>
            </a:pPr>
            <a:r>
              <a:rPr lang="en-US" sz="1800" dirty="0"/>
              <a:t>If update has the </a:t>
            </a:r>
            <a:r>
              <a:rPr lang="en-US" sz="1800" b="1" dirty="0"/>
              <a:t>same sequence number</a:t>
            </a:r>
            <a:r>
              <a:rPr lang="en-US" sz="1800" dirty="0"/>
              <a:t> but a </a:t>
            </a:r>
            <a:r>
              <a:rPr lang="en-US" sz="1800" b="1" dirty="0"/>
              <a:t>worse metric</a:t>
            </a:r>
            <a:r>
              <a:rPr lang="en-US" sz="1800" dirty="0"/>
              <a:t> → Ignore.</a:t>
            </a:r>
          </a:p>
          <a:p>
            <a:pPr>
              <a:buFont typeface="+mj-lt"/>
              <a:buAutoNum type="arabicPeriod"/>
            </a:pPr>
            <a:r>
              <a:rPr lang="en-US" sz="1800" dirty="0"/>
              <a:t>If update has a </a:t>
            </a:r>
            <a:r>
              <a:rPr lang="en-US" sz="1800" b="1" dirty="0"/>
              <a:t>newer sequence number</a:t>
            </a:r>
            <a:r>
              <a:rPr lang="en-US" sz="1800" dirty="0"/>
              <a:t> → Accept and update the table.</a:t>
            </a:r>
          </a:p>
          <a:p>
            <a:endParaRPr lang="en-US" sz="1800" dirty="0"/>
          </a:p>
        </p:txBody>
      </p:sp>
      <p:sp>
        <p:nvSpPr>
          <p:cNvPr id="3" name="Slide Number Placeholder 2"/>
          <p:cNvSpPr>
            <a:spLocks noGrp="1"/>
          </p:cNvSpPr>
          <p:nvPr>
            <p:ph type="sldNum" sz="quarter" idx="12"/>
          </p:nvPr>
        </p:nvSpPr>
        <p:spPr/>
        <p:txBody>
          <a:bodyPr/>
          <a:lstStyle/>
          <a:p>
            <a:pPr>
              <a:defRPr/>
            </a:pPr>
            <a:fld id="{EB37EEB9-737F-4C73-9880-E72AD66E65FF}" type="slidenum">
              <a:rPr lang="en-US" smtClean="0"/>
              <a:pPr>
                <a:defRPr/>
              </a:pPr>
              <a:t>23</a:t>
            </a:fld>
            <a:endParaRPr lang="en-US"/>
          </a:p>
        </p:txBody>
      </p:sp>
    </p:spTree>
    <p:extLst>
      <p:ext uri="{BB962C8B-B14F-4D97-AF65-F5344CB8AC3E}">
        <p14:creationId xmlns:p14="http://schemas.microsoft.com/office/powerpoint/2010/main" val="762930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24</a:t>
            </a:fld>
            <a:endParaRPr lang="en-US"/>
          </a:p>
        </p:txBody>
      </p:sp>
      <p:graphicFrame>
        <p:nvGraphicFramePr>
          <p:cNvPr id="65" name="Table 64"/>
          <p:cNvGraphicFramePr>
            <a:graphicFrameLocks noGrp="1"/>
          </p:cNvGraphicFramePr>
          <p:nvPr>
            <p:extLst>
              <p:ext uri="{D42A27DB-BD31-4B8C-83A1-F6EECF244321}">
                <p14:modId xmlns:p14="http://schemas.microsoft.com/office/powerpoint/2010/main" val="3108317255"/>
              </p:ext>
            </p:extLst>
          </p:nvPr>
        </p:nvGraphicFramePr>
        <p:xfrm>
          <a:off x="5562600" y="2733883"/>
          <a:ext cx="3581400" cy="35661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731095">
                  <a:extLst>
                    <a:ext uri="{9D8B030D-6E8A-4147-A177-3AD203B41FA5}">
                      <a16:colId xmlns:a16="http://schemas.microsoft.com/office/drawing/2014/main" val="20002"/>
                    </a:ext>
                  </a:extLst>
                </a:gridCol>
                <a:gridCol w="1097705">
                  <a:extLst>
                    <a:ext uri="{9D8B030D-6E8A-4147-A177-3AD203B41FA5}">
                      <a16:colId xmlns:a16="http://schemas.microsoft.com/office/drawing/2014/main" val="20003"/>
                    </a:ext>
                  </a:extLst>
                </a:gridCol>
              </a:tblGrid>
              <a:tr h="152379">
                <a:tc>
                  <a:txBody>
                    <a:bodyPr/>
                    <a:lstStyle/>
                    <a:p>
                      <a:r>
                        <a:rPr lang="en-US" sz="1400" dirty="0">
                          <a:solidFill>
                            <a:schemeClr val="tx1"/>
                          </a:solidFill>
                        </a:rPr>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1400" dirty="0">
                          <a:solidFill>
                            <a:schemeClr val="tx1"/>
                          </a:solidFill>
                        </a:rPr>
                        <a:t>Next hop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1400" dirty="0">
                          <a:solidFill>
                            <a:schemeClr val="tx1"/>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1400" dirty="0">
                          <a:solidFill>
                            <a:schemeClr val="tx1"/>
                          </a:solidFill>
                        </a:rPr>
                        <a:t>Sequence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250764">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2234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50764">
                <a:tc>
                  <a:txBody>
                    <a:bodyPr/>
                    <a:lstStyle/>
                    <a:p>
                      <a:r>
                        <a:rPr lang="en-US" sz="14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3390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50764">
                <a:tc>
                  <a:txBody>
                    <a:bodyPr/>
                    <a:lstStyle/>
                    <a:p>
                      <a:r>
                        <a:rPr lang="en-US" sz="14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4784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50764">
                <a:tc>
                  <a:txBody>
                    <a:bodyPr/>
                    <a:lstStyle/>
                    <a:p>
                      <a:r>
                        <a:rPr lang="en-US" sz="14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2245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50764">
                <a:tc>
                  <a:txBody>
                    <a:bodyPr/>
                    <a:lstStyle/>
                    <a:p>
                      <a:r>
                        <a:rPr lang="en-US" sz="14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1234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50764">
                <a:tc>
                  <a:txBody>
                    <a:bodyPr/>
                    <a:lstStyle/>
                    <a:p>
                      <a:r>
                        <a:rPr lang="en-US" sz="14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4567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50764">
                <a:tc>
                  <a:txBody>
                    <a:bodyPr/>
                    <a:lstStyle/>
                    <a:p>
                      <a:r>
                        <a:rPr lang="en-US" sz="140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2790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50764">
                <a:tc>
                  <a:txBody>
                    <a:bodyPr/>
                    <a:lstStyle/>
                    <a:p>
                      <a:r>
                        <a:rPr lang="en-US" sz="140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2351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74564">
                <a:tc>
                  <a:txBody>
                    <a:bodyPr/>
                    <a:lstStyle/>
                    <a:p>
                      <a:r>
                        <a:rPr lang="en-US" sz="140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2458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50764">
                <a:tc>
                  <a:txBody>
                    <a:bodyPr/>
                    <a:lstStyle/>
                    <a:p>
                      <a:r>
                        <a:rPr lang="en-US" sz="14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INF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5434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69" name="TextBox 5"/>
          <p:cNvSpPr txBox="1">
            <a:spLocks noChangeArrowheads="1"/>
          </p:cNvSpPr>
          <p:nvPr/>
        </p:nvSpPr>
        <p:spPr bwMode="auto">
          <a:xfrm>
            <a:off x="5659894" y="2282440"/>
            <a:ext cx="3547300" cy="400110"/>
          </a:xfrm>
          <a:prstGeom prst="rect">
            <a:avLst/>
          </a:prstGeom>
          <a:noFill/>
          <a:ln w="9525">
            <a:noFill/>
            <a:miter lim="800000"/>
            <a:headEnd/>
            <a:tailEnd/>
          </a:ln>
        </p:spPr>
        <p:txBody>
          <a:bodyPr wrap="square">
            <a:spAutoFit/>
          </a:bodyPr>
          <a:lstStyle/>
          <a:p>
            <a:r>
              <a:rPr lang="en-US" sz="2000" dirty="0"/>
              <a:t>A DSDV routing table of node-2</a:t>
            </a:r>
          </a:p>
        </p:txBody>
      </p:sp>
      <p:sp>
        <p:nvSpPr>
          <p:cNvPr id="70" name="Rectangle 69"/>
          <p:cNvSpPr/>
          <p:nvPr/>
        </p:nvSpPr>
        <p:spPr>
          <a:xfrm>
            <a:off x="76200" y="55159"/>
            <a:ext cx="8867343" cy="1015663"/>
          </a:xfrm>
          <a:prstGeom prst="rect">
            <a:avLst/>
          </a:prstGeom>
        </p:spPr>
        <p:txBody>
          <a:bodyPr wrap="square">
            <a:spAutoFit/>
          </a:bodyPr>
          <a:lstStyle/>
          <a:p>
            <a:pPr algn="just"/>
            <a:r>
              <a:rPr lang="en-US" sz="2000" dirty="0"/>
              <a:t>Fig. below shows a routing table for node 2, whose neighbors are nodes 1, 6, and 7. The dashed lines indicate no communications between any corresponding pair of nodes. Therefore, node 10 has no information about node 8.</a:t>
            </a:r>
          </a:p>
        </p:txBody>
      </p:sp>
      <p:grpSp>
        <p:nvGrpSpPr>
          <p:cNvPr id="73" name="Group 72"/>
          <p:cNvGrpSpPr/>
          <p:nvPr/>
        </p:nvGrpSpPr>
        <p:grpSpPr>
          <a:xfrm>
            <a:off x="152400" y="1219200"/>
            <a:ext cx="6884958" cy="3962400"/>
            <a:chOff x="152400" y="1219200"/>
            <a:chExt cx="6884958" cy="3962400"/>
          </a:xfrm>
        </p:grpSpPr>
        <p:grpSp>
          <p:nvGrpSpPr>
            <p:cNvPr id="66" name="Group 65"/>
            <p:cNvGrpSpPr/>
            <p:nvPr/>
          </p:nvGrpSpPr>
          <p:grpSpPr>
            <a:xfrm>
              <a:off x="152400" y="1219200"/>
              <a:ext cx="6884958" cy="3962400"/>
              <a:chOff x="726598" y="64740"/>
              <a:chExt cx="7950577" cy="5199359"/>
            </a:xfrm>
          </p:grpSpPr>
          <p:pic>
            <p:nvPicPr>
              <p:cNvPr id="5" name="Picture 4"/>
              <p:cNvPicPr>
                <a:picLocks noChangeAspect="1"/>
              </p:cNvPicPr>
              <p:nvPr/>
            </p:nvPicPr>
            <p:blipFill>
              <a:blip r:embed="rId2"/>
              <a:stretch>
                <a:fillRect/>
              </a:stretch>
            </p:blipFill>
            <p:spPr>
              <a:xfrm>
                <a:off x="914399" y="64740"/>
                <a:ext cx="455023" cy="1070640"/>
              </a:xfrm>
              <a:prstGeom prst="rect">
                <a:avLst/>
              </a:prstGeom>
            </p:spPr>
          </p:pic>
          <p:pic>
            <p:nvPicPr>
              <p:cNvPr id="6" name="Picture 5"/>
              <p:cNvPicPr>
                <a:picLocks noChangeAspect="1"/>
              </p:cNvPicPr>
              <p:nvPr/>
            </p:nvPicPr>
            <p:blipFill>
              <a:blip r:embed="rId3"/>
              <a:stretch>
                <a:fillRect/>
              </a:stretch>
            </p:blipFill>
            <p:spPr>
              <a:xfrm>
                <a:off x="2438400" y="708239"/>
                <a:ext cx="821734" cy="739561"/>
              </a:xfrm>
              <a:prstGeom prst="rect">
                <a:avLst/>
              </a:prstGeom>
            </p:spPr>
          </p:pic>
          <p:pic>
            <p:nvPicPr>
              <p:cNvPr id="7" name="Picture 6"/>
              <p:cNvPicPr>
                <a:picLocks noChangeAspect="1"/>
              </p:cNvPicPr>
              <p:nvPr/>
            </p:nvPicPr>
            <p:blipFill>
              <a:blip r:embed="rId4"/>
              <a:stretch>
                <a:fillRect/>
              </a:stretch>
            </p:blipFill>
            <p:spPr>
              <a:xfrm>
                <a:off x="5779089" y="1046637"/>
                <a:ext cx="776288" cy="836985"/>
              </a:xfrm>
              <a:prstGeom prst="rect">
                <a:avLst/>
              </a:prstGeom>
            </p:spPr>
          </p:pic>
          <p:pic>
            <p:nvPicPr>
              <p:cNvPr id="9" name="Picture 8"/>
              <p:cNvPicPr>
                <a:picLocks noChangeAspect="1"/>
              </p:cNvPicPr>
              <p:nvPr/>
            </p:nvPicPr>
            <p:blipFill>
              <a:blip r:embed="rId2"/>
              <a:stretch>
                <a:fillRect/>
              </a:stretch>
            </p:blipFill>
            <p:spPr>
              <a:xfrm>
                <a:off x="914399" y="1851598"/>
                <a:ext cx="426993" cy="1004687"/>
              </a:xfrm>
              <a:prstGeom prst="rect">
                <a:avLst/>
              </a:prstGeom>
            </p:spPr>
          </p:pic>
          <p:pic>
            <p:nvPicPr>
              <p:cNvPr id="11" name="Picture 10"/>
              <p:cNvPicPr>
                <a:picLocks noChangeAspect="1"/>
              </p:cNvPicPr>
              <p:nvPr/>
            </p:nvPicPr>
            <p:blipFill>
              <a:blip r:embed="rId2"/>
              <a:stretch>
                <a:fillRect/>
              </a:stretch>
            </p:blipFill>
            <p:spPr>
              <a:xfrm>
                <a:off x="2649856" y="2187361"/>
                <a:ext cx="441007" cy="1037661"/>
              </a:xfrm>
              <a:prstGeom prst="rect">
                <a:avLst/>
              </a:prstGeom>
            </p:spPr>
          </p:pic>
          <p:pic>
            <p:nvPicPr>
              <p:cNvPr id="12" name="Picture 11"/>
              <p:cNvPicPr>
                <a:picLocks noChangeAspect="1"/>
              </p:cNvPicPr>
              <p:nvPr/>
            </p:nvPicPr>
            <p:blipFill>
              <a:blip r:embed="rId3"/>
              <a:stretch>
                <a:fillRect/>
              </a:stretch>
            </p:blipFill>
            <p:spPr>
              <a:xfrm>
                <a:off x="4102962" y="1760199"/>
                <a:ext cx="621438" cy="559294"/>
              </a:xfrm>
              <a:prstGeom prst="rect">
                <a:avLst/>
              </a:prstGeom>
            </p:spPr>
          </p:pic>
          <p:pic>
            <p:nvPicPr>
              <p:cNvPr id="17" name="Picture 16"/>
              <p:cNvPicPr>
                <a:picLocks noChangeAspect="1"/>
              </p:cNvPicPr>
              <p:nvPr/>
            </p:nvPicPr>
            <p:blipFill>
              <a:blip r:embed="rId4"/>
              <a:stretch>
                <a:fillRect/>
              </a:stretch>
            </p:blipFill>
            <p:spPr>
              <a:xfrm>
                <a:off x="5495924" y="2605243"/>
                <a:ext cx="776288" cy="836985"/>
              </a:xfrm>
              <a:prstGeom prst="rect">
                <a:avLst/>
              </a:prstGeom>
            </p:spPr>
          </p:pic>
          <p:pic>
            <p:nvPicPr>
              <p:cNvPr id="18" name="Picture 17"/>
              <p:cNvPicPr>
                <a:picLocks noChangeAspect="1"/>
              </p:cNvPicPr>
              <p:nvPr/>
            </p:nvPicPr>
            <p:blipFill>
              <a:blip r:embed="rId4"/>
              <a:stretch>
                <a:fillRect/>
              </a:stretch>
            </p:blipFill>
            <p:spPr>
              <a:xfrm>
                <a:off x="726598" y="4013728"/>
                <a:ext cx="776288" cy="836985"/>
              </a:xfrm>
              <a:prstGeom prst="rect">
                <a:avLst/>
              </a:prstGeom>
            </p:spPr>
          </p:pic>
          <p:pic>
            <p:nvPicPr>
              <p:cNvPr id="19" name="Picture 18"/>
              <p:cNvPicPr>
                <a:picLocks noChangeAspect="1"/>
              </p:cNvPicPr>
              <p:nvPr/>
            </p:nvPicPr>
            <p:blipFill>
              <a:blip r:embed="rId4"/>
              <a:stretch>
                <a:fillRect/>
              </a:stretch>
            </p:blipFill>
            <p:spPr>
              <a:xfrm>
                <a:off x="4419600" y="145387"/>
                <a:ext cx="776288" cy="836985"/>
              </a:xfrm>
              <a:prstGeom prst="rect">
                <a:avLst/>
              </a:prstGeom>
            </p:spPr>
          </p:pic>
          <p:pic>
            <p:nvPicPr>
              <p:cNvPr id="20" name="Picture 19"/>
              <p:cNvPicPr>
                <a:picLocks noChangeAspect="1"/>
              </p:cNvPicPr>
              <p:nvPr/>
            </p:nvPicPr>
            <p:blipFill>
              <a:blip r:embed="rId2"/>
              <a:stretch>
                <a:fillRect/>
              </a:stretch>
            </p:blipFill>
            <p:spPr>
              <a:xfrm>
                <a:off x="7848600" y="162859"/>
                <a:ext cx="252209" cy="593432"/>
              </a:xfrm>
              <a:prstGeom prst="rect">
                <a:avLst/>
              </a:prstGeom>
            </p:spPr>
          </p:pic>
          <p:sp>
            <p:nvSpPr>
              <p:cNvPr id="21" name="TextBox 20"/>
              <p:cNvSpPr txBox="1"/>
              <p:nvPr/>
            </p:nvSpPr>
            <p:spPr>
              <a:xfrm>
                <a:off x="928688" y="1075878"/>
                <a:ext cx="457200" cy="461665"/>
              </a:xfrm>
              <a:prstGeom prst="rect">
                <a:avLst/>
              </a:prstGeom>
              <a:noFill/>
            </p:spPr>
            <p:txBody>
              <a:bodyPr wrap="square" rtlCol="0">
                <a:spAutoFit/>
              </a:bodyPr>
              <a:lstStyle/>
              <a:p>
                <a:r>
                  <a:rPr lang="en-US" dirty="0"/>
                  <a:t>1</a:t>
                </a:r>
              </a:p>
            </p:txBody>
          </p:sp>
          <p:sp>
            <p:nvSpPr>
              <p:cNvPr id="22" name="TextBox 21"/>
              <p:cNvSpPr txBox="1"/>
              <p:nvPr/>
            </p:nvSpPr>
            <p:spPr>
              <a:xfrm>
                <a:off x="2599781" y="1447800"/>
                <a:ext cx="457200" cy="461665"/>
              </a:xfrm>
              <a:prstGeom prst="rect">
                <a:avLst/>
              </a:prstGeom>
              <a:noFill/>
            </p:spPr>
            <p:txBody>
              <a:bodyPr wrap="square" rtlCol="0">
                <a:spAutoFit/>
              </a:bodyPr>
              <a:lstStyle/>
              <a:p>
                <a:r>
                  <a:rPr lang="en-US" dirty="0"/>
                  <a:t>2</a:t>
                </a:r>
              </a:p>
            </p:txBody>
          </p:sp>
          <p:sp>
            <p:nvSpPr>
              <p:cNvPr id="23" name="TextBox 22"/>
              <p:cNvSpPr txBox="1"/>
              <p:nvPr/>
            </p:nvSpPr>
            <p:spPr>
              <a:xfrm>
                <a:off x="888822" y="2924991"/>
                <a:ext cx="457200" cy="461665"/>
              </a:xfrm>
              <a:prstGeom prst="rect">
                <a:avLst/>
              </a:prstGeom>
              <a:noFill/>
            </p:spPr>
            <p:txBody>
              <a:bodyPr wrap="square" rtlCol="0">
                <a:spAutoFit/>
              </a:bodyPr>
              <a:lstStyle/>
              <a:p>
                <a:r>
                  <a:rPr lang="en-US" dirty="0"/>
                  <a:t>3</a:t>
                </a:r>
              </a:p>
            </p:txBody>
          </p:sp>
          <p:sp>
            <p:nvSpPr>
              <p:cNvPr id="24" name="TextBox 23"/>
              <p:cNvSpPr txBox="1"/>
              <p:nvPr/>
            </p:nvSpPr>
            <p:spPr>
              <a:xfrm>
                <a:off x="832889" y="4802434"/>
                <a:ext cx="457200" cy="461665"/>
              </a:xfrm>
              <a:prstGeom prst="rect">
                <a:avLst/>
              </a:prstGeom>
              <a:noFill/>
            </p:spPr>
            <p:txBody>
              <a:bodyPr wrap="square" rtlCol="0">
                <a:spAutoFit/>
              </a:bodyPr>
              <a:lstStyle/>
              <a:p>
                <a:r>
                  <a:rPr lang="en-US" dirty="0"/>
                  <a:t>4</a:t>
                </a:r>
              </a:p>
            </p:txBody>
          </p:sp>
          <p:sp>
            <p:nvSpPr>
              <p:cNvPr id="25" name="TextBox 24"/>
              <p:cNvSpPr txBox="1"/>
              <p:nvPr/>
            </p:nvSpPr>
            <p:spPr>
              <a:xfrm>
                <a:off x="4205198" y="2203518"/>
                <a:ext cx="457200" cy="461665"/>
              </a:xfrm>
              <a:prstGeom prst="rect">
                <a:avLst/>
              </a:prstGeom>
              <a:noFill/>
            </p:spPr>
            <p:txBody>
              <a:bodyPr wrap="square" rtlCol="0">
                <a:spAutoFit/>
              </a:bodyPr>
              <a:lstStyle/>
              <a:p>
                <a:r>
                  <a:rPr lang="en-US" dirty="0"/>
                  <a:t>5</a:t>
                </a:r>
              </a:p>
            </p:txBody>
          </p:sp>
          <p:sp>
            <p:nvSpPr>
              <p:cNvPr id="26" name="TextBox 25"/>
              <p:cNvSpPr txBox="1"/>
              <p:nvPr/>
            </p:nvSpPr>
            <p:spPr>
              <a:xfrm>
                <a:off x="2778985" y="3272085"/>
                <a:ext cx="457200" cy="461665"/>
              </a:xfrm>
              <a:prstGeom prst="rect">
                <a:avLst/>
              </a:prstGeom>
              <a:noFill/>
            </p:spPr>
            <p:txBody>
              <a:bodyPr wrap="square" rtlCol="0">
                <a:spAutoFit/>
              </a:bodyPr>
              <a:lstStyle/>
              <a:p>
                <a:r>
                  <a:rPr lang="en-US" dirty="0"/>
                  <a:t>6</a:t>
                </a:r>
              </a:p>
            </p:txBody>
          </p:sp>
          <p:sp>
            <p:nvSpPr>
              <p:cNvPr id="27" name="TextBox 26"/>
              <p:cNvSpPr txBox="1"/>
              <p:nvPr/>
            </p:nvSpPr>
            <p:spPr>
              <a:xfrm>
                <a:off x="4526553" y="1003465"/>
                <a:ext cx="457200" cy="461665"/>
              </a:xfrm>
              <a:prstGeom prst="rect">
                <a:avLst/>
              </a:prstGeom>
              <a:noFill/>
            </p:spPr>
            <p:txBody>
              <a:bodyPr wrap="square" rtlCol="0">
                <a:spAutoFit/>
              </a:bodyPr>
              <a:lstStyle/>
              <a:p>
                <a:r>
                  <a:rPr lang="en-US" dirty="0"/>
                  <a:t>7</a:t>
                </a:r>
              </a:p>
            </p:txBody>
          </p:sp>
          <p:sp>
            <p:nvSpPr>
              <p:cNvPr id="28" name="TextBox 27"/>
              <p:cNvSpPr txBox="1"/>
              <p:nvPr/>
            </p:nvSpPr>
            <p:spPr>
              <a:xfrm>
                <a:off x="6013608" y="1763221"/>
                <a:ext cx="457200" cy="461665"/>
              </a:xfrm>
              <a:prstGeom prst="rect">
                <a:avLst/>
              </a:prstGeom>
              <a:noFill/>
            </p:spPr>
            <p:txBody>
              <a:bodyPr wrap="square" rtlCol="0">
                <a:spAutoFit/>
              </a:bodyPr>
              <a:lstStyle/>
              <a:p>
                <a:r>
                  <a:rPr lang="en-US" dirty="0"/>
                  <a:t>8</a:t>
                </a:r>
              </a:p>
            </p:txBody>
          </p:sp>
          <p:sp>
            <p:nvSpPr>
              <p:cNvPr id="29" name="TextBox 28"/>
              <p:cNvSpPr txBox="1"/>
              <p:nvPr/>
            </p:nvSpPr>
            <p:spPr>
              <a:xfrm>
                <a:off x="5655467" y="3335885"/>
                <a:ext cx="457200" cy="461665"/>
              </a:xfrm>
              <a:prstGeom prst="rect">
                <a:avLst/>
              </a:prstGeom>
              <a:noFill/>
            </p:spPr>
            <p:txBody>
              <a:bodyPr wrap="square" rtlCol="0">
                <a:spAutoFit/>
              </a:bodyPr>
              <a:lstStyle/>
              <a:p>
                <a:r>
                  <a:rPr lang="en-US" dirty="0"/>
                  <a:t>9</a:t>
                </a:r>
              </a:p>
            </p:txBody>
          </p:sp>
          <p:sp>
            <p:nvSpPr>
              <p:cNvPr id="30" name="TextBox 29"/>
              <p:cNvSpPr txBox="1"/>
              <p:nvPr/>
            </p:nvSpPr>
            <p:spPr>
              <a:xfrm>
                <a:off x="7982246" y="139740"/>
                <a:ext cx="694929" cy="605785"/>
              </a:xfrm>
              <a:prstGeom prst="rect">
                <a:avLst/>
              </a:prstGeom>
              <a:noFill/>
            </p:spPr>
            <p:txBody>
              <a:bodyPr wrap="square" rtlCol="0">
                <a:spAutoFit/>
              </a:bodyPr>
              <a:lstStyle/>
              <a:p>
                <a:r>
                  <a:rPr lang="en-US" dirty="0"/>
                  <a:t>10</a:t>
                </a:r>
              </a:p>
            </p:txBody>
          </p:sp>
          <p:cxnSp>
            <p:nvCxnSpPr>
              <p:cNvPr id="32" name="Straight Connector 31"/>
              <p:cNvCxnSpPr>
                <a:stCxn id="5" idx="3"/>
                <a:endCxn id="6" idx="1"/>
              </p:cNvCxnSpPr>
              <p:nvPr/>
            </p:nvCxnSpPr>
            <p:spPr>
              <a:xfrm>
                <a:off x="1369422" y="600060"/>
                <a:ext cx="1068978" cy="4779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2975849" y="1447802"/>
                <a:ext cx="136817" cy="10182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1335812" y="2605243"/>
                <a:ext cx="1318674" cy="2510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8" idx="0"/>
              </p:cNvCxnSpPr>
              <p:nvPr/>
            </p:nvCxnSpPr>
            <p:spPr>
              <a:xfrm flipV="1">
                <a:off x="1114742" y="2799470"/>
                <a:ext cx="110506" cy="121425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3072288" y="2263187"/>
                <a:ext cx="1091838" cy="6569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flipV="1">
                <a:off x="4725320" y="2225231"/>
                <a:ext cx="863532" cy="91103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687436" y="1854443"/>
                <a:ext cx="298912" cy="89647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225751" y="839040"/>
                <a:ext cx="1210315" cy="342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4167355" y="991441"/>
                <a:ext cx="421111" cy="89218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676473" y="1582363"/>
                <a:ext cx="1238550" cy="34030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215856" y="801858"/>
                <a:ext cx="628025" cy="4324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1267142" y="3225022"/>
                <a:ext cx="1391069" cy="941106"/>
              </a:xfrm>
              <a:prstGeom prst="line">
                <a:avLst/>
              </a:prstGeom>
              <a:ln w="38100">
                <a:solidFill>
                  <a:srgbClr val="0033CC"/>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1232027" y="1125946"/>
                <a:ext cx="55685" cy="96060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flipV="1">
                <a:off x="1369881" y="1029590"/>
                <a:ext cx="1300556" cy="1446406"/>
              </a:xfrm>
              <a:prstGeom prst="line">
                <a:avLst/>
              </a:prstGeom>
              <a:ln w="38100">
                <a:solidFill>
                  <a:srgbClr val="0033CC"/>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6386511" y="600060"/>
                <a:ext cx="1462089" cy="581044"/>
              </a:xfrm>
              <a:prstGeom prst="line">
                <a:avLst/>
              </a:prstGeom>
              <a:ln w="38100">
                <a:solidFill>
                  <a:srgbClr val="0033CC"/>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flipV="1">
                <a:off x="3010525" y="3157761"/>
                <a:ext cx="2481674" cy="179522"/>
              </a:xfrm>
              <a:prstGeom prst="line">
                <a:avLst/>
              </a:prstGeom>
              <a:ln w="38100">
                <a:solidFill>
                  <a:srgbClr val="0033CC"/>
                </a:solidFill>
                <a:prstDash val="dash"/>
              </a:ln>
            </p:spPr>
            <p:style>
              <a:lnRef idx="1">
                <a:schemeClr val="accent1"/>
              </a:lnRef>
              <a:fillRef idx="0">
                <a:schemeClr val="accent1"/>
              </a:fillRef>
              <a:effectRef idx="0">
                <a:schemeClr val="accent1"/>
              </a:effectRef>
              <a:fontRef idx="minor">
                <a:schemeClr val="tx1"/>
              </a:fontRef>
            </p:style>
          </p:cxnSp>
        </p:grpSp>
        <p:cxnSp>
          <p:nvCxnSpPr>
            <p:cNvPr id="71" name="Straight Connector 70"/>
            <p:cNvCxnSpPr/>
            <p:nvPr/>
          </p:nvCxnSpPr>
          <p:spPr>
            <a:xfrm flipH="1">
              <a:off x="638308" y="1446911"/>
              <a:ext cx="2706994" cy="27186"/>
            </a:xfrm>
            <a:prstGeom prst="line">
              <a:avLst/>
            </a:prstGeom>
            <a:ln w="38100">
              <a:solidFill>
                <a:srgbClr val="0033CC"/>
              </a:solidFill>
              <a:prstDash val="dash"/>
            </a:ln>
          </p:spPr>
          <p:style>
            <a:lnRef idx="1">
              <a:schemeClr val="accent1"/>
            </a:lnRef>
            <a:fillRef idx="0">
              <a:schemeClr val="accent1"/>
            </a:fillRef>
            <a:effectRef idx="0">
              <a:schemeClr val="accent1"/>
            </a:effectRef>
            <a:fontRef idx="minor">
              <a:schemeClr val="tx1"/>
            </a:fontRef>
          </p:style>
        </p:cxnSp>
      </p:grpSp>
      <p:sp>
        <p:nvSpPr>
          <p:cNvPr id="79" name="TextBox 78"/>
          <p:cNvSpPr txBox="1"/>
          <p:nvPr/>
        </p:nvSpPr>
        <p:spPr>
          <a:xfrm>
            <a:off x="111004" y="6091464"/>
            <a:ext cx="4757541" cy="461665"/>
          </a:xfrm>
          <a:prstGeom prst="rect">
            <a:avLst/>
          </a:prstGeom>
          <a:solidFill>
            <a:srgbClr val="FFCCFF"/>
          </a:solidFill>
        </p:spPr>
        <p:txBody>
          <a:bodyPr wrap="square" rtlCol="0">
            <a:spAutoFit/>
          </a:bodyPr>
          <a:lstStyle/>
          <a:p>
            <a:pPr algn="just"/>
            <a:r>
              <a:rPr lang="en-US" dirty="0"/>
              <a:t>Ex. Draw the routing table of node 5</a:t>
            </a:r>
          </a:p>
        </p:txBody>
      </p:sp>
    </p:spTree>
    <p:extLst>
      <p:ext uri="{BB962C8B-B14F-4D97-AF65-F5344CB8AC3E}">
        <p14:creationId xmlns:p14="http://schemas.microsoft.com/office/powerpoint/2010/main" val="4212574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3"/>
          <p:cNvSpPr txBox="1">
            <a:spLocks noChangeArrowheads="1"/>
          </p:cNvSpPr>
          <p:nvPr/>
        </p:nvSpPr>
        <p:spPr bwMode="auto">
          <a:xfrm>
            <a:off x="228600" y="1600200"/>
            <a:ext cx="8610600" cy="2308225"/>
          </a:xfrm>
          <a:prstGeom prst="rect">
            <a:avLst/>
          </a:prstGeom>
          <a:solidFill>
            <a:srgbClr val="CCCCFF"/>
          </a:solidFill>
          <a:ln w="9525">
            <a:noFill/>
            <a:miter lim="800000"/>
            <a:headEnd/>
            <a:tailEnd/>
          </a:ln>
        </p:spPr>
        <p:txBody>
          <a:bodyPr>
            <a:spAutoFit/>
          </a:bodyPr>
          <a:lstStyle/>
          <a:p>
            <a:pPr algn="just"/>
            <a:r>
              <a:rPr lang="en-US" dirty="0"/>
              <a:t>The packet overhead of the DSDV protocol increases with the total number of nodes in the ad-hoc network. This fact makes DSDV suitable for small networks. In large ad-hoc networks, the mobility rate and therefore the </a:t>
            </a:r>
            <a:r>
              <a:rPr lang="en-US" dirty="0">
                <a:solidFill>
                  <a:srgbClr val="FF0000"/>
                </a:solidFill>
              </a:rPr>
              <a:t>overhead</a:t>
            </a:r>
            <a:r>
              <a:rPr lang="en-US" dirty="0"/>
              <a:t> increase, making the network unstable to the point that updated packets might not reach nodes on time.</a:t>
            </a:r>
          </a:p>
        </p:txBody>
      </p:sp>
      <p:sp>
        <p:nvSpPr>
          <p:cNvPr id="15363" name="Slide Number Placeholder 2"/>
          <p:cNvSpPr>
            <a:spLocks noGrp="1"/>
          </p:cNvSpPr>
          <p:nvPr>
            <p:ph type="sldNum" sz="quarter" idx="12"/>
          </p:nvPr>
        </p:nvSpPr>
        <p:spPr>
          <a:noFill/>
        </p:spPr>
        <p:txBody>
          <a:bodyPr/>
          <a:lstStyle/>
          <a:p>
            <a:fld id="{9135B761-773A-4FAC-9A86-CACEE92C954E}"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3"/>
          <p:cNvSpPr txBox="1">
            <a:spLocks noChangeArrowheads="1"/>
          </p:cNvSpPr>
          <p:nvPr/>
        </p:nvSpPr>
        <p:spPr bwMode="auto">
          <a:xfrm>
            <a:off x="228600" y="304800"/>
            <a:ext cx="8610600" cy="3046988"/>
          </a:xfrm>
          <a:prstGeom prst="rect">
            <a:avLst/>
          </a:prstGeom>
          <a:solidFill>
            <a:srgbClr val="FFCCFF"/>
          </a:solidFill>
          <a:ln w="9525">
            <a:noFill/>
            <a:miter lim="800000"/>
            <a:headEnd/>
            <a:tailEnd/>
          </a:ln>
        </p:spPr>
        <p:txBody>
          <a:bodyPr>
            <a:spAutoFit/>
          </a:bodyPr>
          <a:lstStyle/>
          <a:p>
            <a:pPr algn="just"/>
            <a:r>
              <a:rPr lang="en-US" b="1" dirty="0">
                <a:solidFill>
                  <a:schemeClr val="accent2"/>
                </a:solidFill>
              </a:rPr>
              <a:t>2. Cluster-Head Gateway Switch Routing Protocol</a:t>
            </a:r>
          </a:p>
          <a:p>
            <a:pPr algn="just">
              <a:buFont typeface="Wingdings" pitchFamily="2" charset="2"/>
              <a:buChar char="ü"/>
            </a:pPr>
            <a:r>
              <a:rPr lang="en-US" dirty="0"/>
              <a:t>The Cluster-Head Gateway Switch Routing (CGSR) protocol is a table-driven routing protocol. In a clustering system each predefined number of nodes are formed into a cluster, controlled by a </a:t>
            </a:r>
            <a:r>
              <a:rPr lang="en-US" dirty="0">
                <a:solidFill>
                  <a:srgbClr val="0033CC"/>
                </a:solidFill>
              </a:rPr>
              <a:t>cluster head</a:t>
            </a:r>
            <a:r>
              <a:rPr lang="en-US" dirty="0"/>
              <a:t>. </a:t>
            </a:r>
          </a:p>
          <a:p>
            <a:pPr algn="just">
              <a:buFont typeface="Wingdings" pitchFamily="2" charset="2"/>
              <a:buChar char="ü"/>
            </a:pPr>
            <a:r>
              <a:rPr lang="en-US" dirty="0">
                <a:solidFill>
                  <a:srgbClr val="00B050"/>
                </a:solidFill>
              </a:rPr>
              <a:t>Cluster head can be frequently replaced by another node for two reasons</a:t>
            </a:r>
            <a:r>
              <a:rPr lang="en-US" dirty="0">
                <a:solidFill>
                  <a:srgbClr val="FF0000"/>
                </a:solidFill>
              </a:rPr>
              <a:t>: (</a:t>
            </a:r>
            <a:r>
              <a:rPr lang="en-US" dirty="0" err="1">
                <a:solidFill>
                  <a:srgbClr val="FF0000"/>
                </a:solidFill>
              </a:rPr>
              <a:t>i</a:t>
            </a:r>
            <a:r>
              <a:rPr lang="en-US" dirty="0">
                <a:solidFill>
                  <a:srgbClr val="FF0000"/>
                </a:solidFill>
              </a:rPr>
              <a:t>) lower-level energy left in the node (ii) node moves out of the contact</a:t>
            </a:r>
          </a:p>
        </p:txBody>
      </p:sp>
      <p:sp>
        <p:nvSpPr>
          <p:cNvPr id="16387" name="Slide Number Placeholder 2"/>
          <p:cNvSpPr>
            <a:spLocks noGrp="1"/>
          </p:cNvSpPr>
          <p:nvPr>
            <p:ph type="sldNum" sz="quarter" idx="12"/>
          </p:nvPr>
        </p:nvSpPr>
        <p:spPr>
          <a:noFill/>
        </p:spPr>
        <p:txBody>
          <a:bodyPr/>
          <a:lstStyle/>
          <a:p>
            <a:fld id="{6481EDB6-C00F-43BD-9866-8E9F95C03FE5}" type="slidenum">
              <a:rPr lang="en-US" smtClean="0"/>
              <a:pPr/>
              <a:t>26</a:t>
            </a:fld>
            <a:endParaRPr lang="en-US"/>
          </a:p>
        </p:txBody>
      </p:sp>
      <p:pic>
        <p:nvPicPr>
          <p:cNvPr id="16388" name="Picture 2" descr="441-0e601bcb13"/>
          <p:cNvPicPr>
            <a:picLocks noChangeAspect="1" noChangeArrowheads="1"/>
          </p:cNvPicPr>
          <p:nvPr/>
        </p:nvPicPr>
        <p:blipFill>
          <a:blip r:embed="rId2"/>
          <a:srcRect/>
          <a:stretch>
            <a:fillRect/>
          </a:stretch>
        </p:blipFill>
        <p:spPr bwMode="auto">
          <a:xfrm>
            <a:off x="1447800" y="3527821"/>
            <a:ext cx="5181600" cy="3177779"/>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2"/>
          </p:nvPr>
        </p:nvSpPr>
        <p:spPr>
          <a:noFill/>
        </p:spPr>
        <p:txBody>
          <a:bodyPr/>
          <a:lstStyle/>
          <a:p>
            <a:fld id="{F061DEB9-FCB5-44AA-8E45-45D0FC411171}" type="slidenum">
              <a:rPr lang="en-US" smtClean="0"/>
              <a:pPr/>
              <a:t>27</a:t>
            </a:fld>
            <a:endParaRPr lang="en-US"/>
          </a:p>
        </p:txBody>
      </p:sp>
      <p:pic>
        <p:nvPicPr>
          <p:cNvPr id="17411" name="Picture 2" descr="441-0e601bcb13"/>
          <p:cNvPicPr>
            <a:picLocks noChangeAspect="1" noChangeArrowheads="1"/>
          </p:cNvPicPr>
          <p:nvPr/>
        </p:nvPicPr>
        <p:blipFill>
          <a:blip r:embed="rId2"/>
          <a:srcRect/>
          <a:stretch>
            <a:fillRect/>
          </a:stretch>
        </p:blipFill>
        <p:spPr bwMode="auto">
          <a:xfrm>
            <a:off x="914400" y="2209800"/>
            <a:ext cx="6710363" cy="4114800"/>
          </a:xfrm>
          <a:prstGeom prst="rect">
            <a:avLst/>
          </a:prstGeom>
          <a:noFill/>
          <a:ln w="9525">
            <a:noFill/>
            <a:miter lim="800000"/>
            <a:headEnd/>
            <a:tailEnd/>
          </a:ln>
        </p:spPr>
      </p:pic>
      <p:sp>
        <p:nvSpPr>
          <p:cNvPr id="17412" name="Rectangle 5"/>
          <p:cNvSpPr>
            <a:spLocks noChangeArrowheads="1"/>
          </p:cNvSpPr>
          <p:nvPr/>
        </p:nvSpPr>
        <p:spPr bwMode="auto">
          <a:xfrm>
            <a:off x="152400" y="390436"/>
            <a:ext cx="8763000" cy="1200329"/>
          </a:xfrm>
          <a:prstGeom prst="rect">
            <a:avLst/>
          </a:prstGeom>
          <a:solidFill>
            <a:srgbClr val="FFCCFF"/>
          </a:solidFill>
          <a:ln w="9525">
            <a:noFill/>
            <a:miter lim="800000"/>
            <a:headEnd/>
            <a:tailEnd/>
          </a:ln>
        </p:spPr>
        <p:txBody>
          <a:bodyPr wrap="square">
            <a:spAutoFit/>
          </a:bodyPr>
          <a:lstStyle/>
          <a:p>
            <a:pPr algn="just">
              <a:buFont typeface="Wingdings" pitchFamily="2" charset="2"/>
              <a:buChar char="ü"/>
            </a:pPr>
            <a:r>
              <a:rPr lang="en-US" b="1" dirty="0" err="1">
                <a:solidFill>
                  <a:srgbClr val="0033CC"/>
                </a:solidFill>
              </a:rPr>
              <a:t>Intracluster</a:t>
            </a:r>
            <a:r>
              <a:rPr lang="en-US" b="1" dirty="0">
                <a:solidFill>
                  <a:srgbClr val="0033CC"/>
                </a:solidFill>
              </a:rPr>
              <a:t> Communication</a:t>
            </a:r>
            <a:r>
              <a:rPr lang="en-US" dirty="0">
                <a:solidFill>
                  <a:srgbClr val="00B050"/>
                </a:solidFill>
              </a:rPr>
              <a:t>: If the source and destination are in the same cluster, the data packet can be transmitted directly or relayed by cluster head. </a:t>
            </a:r>
          </a:p>
        </p:txBody>
      </p:sp>
      <p:cxnSp>
        <p:nvCxnSpPr>
          <p:cNvPr id="5" name="Straight Arrow Connector 4"/>
          <p:cNvCxnSpPr/>
          <p:nvPr/>
        </p:nvCxnSpPr>
        <p:spPr>
          <a:xfrm>
            <a:off x="304800" y="4648200"/>
            <a:ext cx="914400" cy="685800"/>
          </a:xfrm>
          <a:prstGeom prst="straightConnector1">
            <a:avLst/>
          </a:prstGeom>
          <a:ln w="254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flipV="1">
            <a:off x="2769326" y="5867400"/>
            <a:ext cx="354874" cy="609600"/>
          </a:xfrm>
          <a:prstGeom prst="straightConnector1">
            <a:avLst/>
          </a:prstGeom>
          <a:ln w="254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441-0e601bcb13"/>
          <p:cNvPicPr>
            <a:picLocks noChangeAspect="1" noChangeArrowheads="1"/>
          </p:cNvPicPr>
          <p:nvPr/>
        </p:nvPicPr>
        <p:blipFill>
          <a:blip r:embed="rId2"/>
          <a:srcRect/>
          <a:stretch>
            <a:fillRect/>
          </a:stretch>
        </p:blipFill>
        <p:spPr bwMode="auto">
          <a:xfrm>
            <a:off x="1219200" y="2362200"/>
            <a:ext cx="6710363" cy="4114800"/>
          </a:xfrm>
          <a:prstGeom prst="rect">
            <a:avLst/>
          </a:prstGeom>
          <a:noFill/>
          <a:ln w="9525">
            <a:noFill/>
            <a:miter lim="800000"/>
            <a:headEnd/>
            <a:tailEnd/>
          </a:ln>
        </p:spPr>
      </p:pic>
      <p:sp>
        <p:nvSpPr>
          <p:cNvPr id="18436" name="Slide Number Placeholder 3"/>
          <p:cNvSpPr>
            <a:spLocks noGrp="1"/>
          </p:cNvSpPr>
          <p:nvPr>
            <p:ph type="sldNum" sz="quarter" idx="12"/>
          </p:nvPr>
        </p:nvSpPr>
        <p:spPr>
          <a:noFill/>
        </p:spPr>
        <p:txBody>
          <a:bodyPr/>
          <a:lstStyle/>
          <a:p>
            <a:fld id="{C292B7E1-44DD-498D-A788-5CAD6AC1A283}" type="slidenum">
              <a:rPr lang="en-US" smtClean="0"/>
              <a:pPr/>
              <a:t>28</a:t>
            </a:fld>
            <a:endParaRPr lang="en-US"/>
          </a:p>
        </p:txBody>
      </p:sp>
      <p:sp>
        <p:nvSpPr>
          <p:cNvPr id="18437" name="Rectangle 4"/>
          <p:cNvSpPr>
            <a:spLocks noChangeArrowheads="1"/>
          </p:cNvSpPr>
          <p:nvPr/>
        </p:nvSpPr>
        <p:spPr bwMode="auto">
          <a:xfrm>
            <a:off x="152400" y="80308"/>
            <a:ext cx="8839200" cy="1938992"/>
          </a:xfrm>
          <a:prstGeom prst="rect">
            <a:avLst/>
          </a:prstGeom>
          <a:solidFill>
            <a:srgbClr val="FFCCFF"/>
          </a:solidFill>
          <a:ln w="9525">
            <a:noFill/>
            <a:miter lim="800000"/>
            <a:headEnd/>
            <a:tailEnd/>
          </a:ln>
        </p:spPr>
        <p:txBody>
          <a:bodyPr wrap="square">
            <a:spAutoFit/>
          </a:bodyPr>
          <a:lstStyle/>
          <a:p>
            <a:pPr algn="just">
              <a:buFont typeface="Wingdings" pitchFamily="2" charset="2"/>
              <a:buChar char="v"/>
            </a:pPr>
            <a:r>
              <a:rPr lang="en-US" sz="2000" b="1" dirty="0" err="1">
                <a:solidFill>
                  <a:srgbClr val="0033CC"/>
                </a:solidFill>
              </a:rPr>
              <a:t>Intercluster</a:t>
            </a:r>
            <a:r>
              <a:rPr lang="en-US" sz="2000" b="1" dirty="0">
                <a:solidFill>
                  <a:srgbClr val="0033CC"/>
                </a:solidFill>
              </a:rPr>
              <a:t> Communication: </a:t>
            </a:r>
            <a:r>
              <a:rPr lang="en-US" sz="2000" dirty="0">
                <a:solidFill>
                  <a:srgbClr val="00B050"/>
                </a:solidFill>
              </a:rPr>
              <a:t>If the source and destination are in the different clusters, the source sends a REQ (request) message to its attached cluster head and then the cluster head will broadcast this REQ to its adjacent cluster head and the process will continue until the REQ arrives at the cluster which belongs to the destination node. Finally, the cluster head including the destination sends a REP (responding) message back along the discovered path.</a:t>
            </a:r>
          </a:p>
        </p:txBody>
      </p:sp>
      <p:cxnSp>
        <p:nvCxnSpPr>
          <p:cNvPr id="7" name="Straight Arrow Connector 6"/>
          <p:cNvCxnSpPr/>
          <p:nvPr/>
        </p:nvCxnSpPr>
        <p:spPr>
          <a:xfrm rot="10800000" flipV="1">
            <a:off x="7243763" y="4442460"/>
            <a:ext cx="1371600" cy="838200"/>
          </a:xfrm>
          <a:prstGeom prst="straightConnector1">
            <a:avLst/>
          </a:prstGeom>
          <a:ln w="254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14363" y="4800600"/>
            <a:ext cx="914400" cy="685800"/>
          </a:xfrm>
          <a:prstGeom prst="straightConnector1">
            <a:avLst/>
          </a:prstGeom>
          <a:ln w="254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29</a:t>
            </a:fld>
            <a:endParaRPr lang="en-US"/>
          </a:p>
        </p:txBody>
      </p:sp>
      <p:grpSp>
        <p:nvGrpSpPr>
          <p:cNvPr id="9" name="Group 8"/>
          <p:cNvGrpSpPr/>
          <p:nvPr/>
        </p:nvGrpSpPr>
        <p:grpSpPr>
          <a:xfrm>
            <a:off x="914401" y="457201"/>
            <a:ext cx="4038599" cy="2895600"/>
            <a:chOff x="914401" y="457200"/>
            <a:chExt cx="4800600" cy="3727329"/>
          </a:xfrm>
        </p:grpSpPr>
        <p:pic>
          <p:nvPicPr>
            <p:cNvPr id="5" name="Picture 4"/>
            <p:cNvPicPr>
              <a:picLocks noChangeAspect="1"/>
            </p:cNvPicPr>
            <p:nvPr/>
          </p:nvPicPr>
          <p:blipFill>
            <a:blip r:embed="rId2"/>
            <a:stretch>
              <a:fillRect/>
            </a:stretch>
          </p:blipFill>
          <p:spPr>
            <a:xfrm>
              <a:off x="914401" y="457200"/>
              <a:ext cx="4800600" cy="3727329"/>
            </a:xfrm>
            <a:prstGeom prst="rect">
              <a:avLst/>
            </a:prstGeom>
          </p:spPr>
        </p:pic>
        <p:sp>
          <p:nvSpPr>
            <p:cNvPr id="6" name="Oval 5"/>
            <p:cNvSpPr/>
            <p:nvPr/>
          </p:nvSpPr>
          <p:spPr>
            <a:xfrm>
              <a:off x="2438400" y="1371600"/>
              <a:ext cx="381000" cy="3810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a:t>
              </a:r>
            </a:p>
          </p:txBody>
        </p:sp>
        <p:sp>
          <p:nvSpPr>
            <p:cNvPr id="7" name="Oval 6"/>
            <p:cNvSpPr/>
            <p:nvPr/>
          </p:nvSpPr>
          <p:spPr>
            <a:xfrm>
              <a:off x="4572000" y="1371600"/>
              <a:ext cx="381000" cy="3810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7</a:t>
              </a:r>
            </a:p>
          </p:txBody>
        </p:sp>
        <p:sp>
          <p:nvSpPr>
            <p:cNvPr id="8" name="Oval 7"/>
            <p:cNvSpPr/>
            <p:nvPr/>
          </p:nvSpPr>
          <p:spPr>
            <a:xfrm>
              <a:off x="1066800" y="3048000"/>
              <a:ext cx="381000" cy="381000"/>
            </a:xfrm>
            <a:prstGeom prst="ellipse">
              <a:avLst/>
            </a:prstGeom>
            <a:solidFill>
              <a:srgbClr val="FF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grpSp>
      <p:sp>
        <p:nvSpPr>
          <p:cNvPr id="10" name="TextBox 9"/>
          <p:cNvSpPr txBox="1"/>
          <p:nvPr/>
        </p:nvSpPr>
        <p:spPr>
          <a:xfrm>
            <a:off x="344424" y="3454885"/>
            <a:ext cx="8458200" cy="3416320"/>
          </a:xfrm>
          <a:prstGeom prst="rect">
            <a:avLst/>
          </a:prstGeom>
          <a:solidFill>
            <a:srgbClr val="FFCCFF"/>
          </a:solidFill>
        </p:spPr>
        <p:txBody>
          <a:bodyPr wrap="square" rtlCol="0">
            <a:spAutoFit/>
          </a:bodyPr>
          <a:lstStyle/>
          <a:p>
            <a:pPr marL="342900" indent="-342900" algn="just">
              <a:buFont typeface="Wingdings" panose="05000000000000000000" pitchFamily="2" charset="2"/>
              <a:buChar char="ü"/>
            </a:pPr>
            <a:r>
              <a:rPr lang="en-US" dirty="0"/>
              <a:t>For example, in above Figure, source node 1 wants to send data to destination 9. It must send a REQ to its attached cluster head 3 firstly and then node 3 sends the message to node 7 through gateway nodes 5 and 6. </a:t>
            </a:r>
          </a:p>
          <a:p>
            <a:pPr marL="342900" indent="-342900" algn="just">
              <a:buFont typeface="Wingdings" panose="05000000000000000000" pitchFamily="2" charset="2"/>
              <a:buChar char="ü"/>
            </a:pPr>
            <a:r>
              <a:rPr lang="en-US" dirty="0"/>
              <a:t>Next, node 9 sends a REP along the discovered path to node 1. Finally, node 1 gets the </a:t>
            </a:r>
            <a:r>
              <a:rPr lang="en-US" b="1" dirty="0">
                <a:solidFill>
                  <a:srgbClr val="0033CC"/>
                </a:solidFill>
              </a:rPr>
              <a:t>shortest route </a:t>
            </a:r>
            <a:r>
              <a:rPr lang="en-US" dirty="0"/>
              <a:t>to node 9 (1→5→6→7→9)</a:t>
            </a:r>
          </a:p>
          <a:p>
            <a:pPr marL="342900" indent="-342900" algn="just">
              <a:buFont typeface="Wingdings" panose="05000000000000000000" pitchFamily="2" charset="2"/>
              <a:buChar char="ü"/>
            </a:pPr>
            <a:r>
              <a:rPr lang="en-US" dirty="0"/>
              <a:t>After the path is established, </a:t>
            </a:r>
            <a:r>
              <a:rPr lang="en-US" b="1" dirty="0"/>
              <a:t>data packets</a:t>
            </a:r>
            <a:r>
              <a:rPr lang="en-US" dirty="0"/>
              <a:t> flow from source (1) to destination (9) along this shortest path.</a:t>
            </a:r>
          </a:p>
        </p:txBody>
      </p:sp>
      <p:sp>
        <p:nvSpPr>
          <p:cNvPr id="11" name="TextBox 10"/>
          <p:cNvSpPr txBox="1"/>
          <p:nvPr/>
        </p:nvSpPr>
        <p:spPr>
          <a:xfrm>
            <a:off x="5029200" y="505839"/>
            <a:ext cx="3810000" cy="1323439"/>
          </a:xfrm>
          <a:prstGeom prst="rect">
            <a:avLst/>
          </a:prstGeom>
          <a:solidFill>
            <a:srgbClr val="CCECFF"/>
          </a:solidFill>
        </p:spPr>
        <p:txBody>
          <a:bodyPr wrap="square" rtlCol="0">
            <a:spAutoFit/>
          </a:bodyPr>
          <a:lstStyle/>
          <a:p>
            <a:pPr algn="just"/>
            <a:r>
              <a:rPr lang="en-US" sz="2000" dirty="0"/>
              <a:t>In practical network each CH is connected to a router. Here CH-3 connected to router 5 and CH-7 is connected to the router 6. </a:t>
            </a:r>
          </a:p>
        </p:txBody>
      </p:sp>
    </p:spTree>
    <p:extLst>
      <p:ext uri="{BB962C8B-B14F-4D97-AF65-F5344CB8AC3E}">
        <p14:creationId xmlns:p14="http://schemas.microsoft.com/office/powerpoint/2010/main" val="49978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0"/>
            <a:ext cx="7772400" cy="4114800"/>
          </a:xfrm>
          <a:solidFill>
            <a:schemeClr val="accent6">
              <a:lumMod val="20000"/>
              <a:lumOff val="80000"/>
            </a:schemeClr>
          </a:solidFill>
        </p:spPr>
        <p:txBody>
          <a:bodyPr/>
          <a:lstStyle/>
          <a:p>
            <a:pPr marL="0" indent="0">
              <a:buNone/>
            </a:pPr>
            <a:r>
              <a:rPr lang="en-US" sz="2000" b="1" dirty="0"/>
              <a:t>This approach reduces overhead because:</a:t>
            </a:r>
          </a:p>
          <a:p>
            <a:pPr>
              <a:buFont typeface="Arial" panose="020B0604020202020204" pitchFamily="34" charset="0"/>
              <a:buChar char="•"/>
            </a:pPr>
            <a:r>
              <a:rPr lang="en-US" sz="2000" dirty="0"/>
              <a:t>Normal nodes don’t flood the network (only CHs communicate across clusters).</a:t>
            </a:r>
          </a:p>
          <a:p>
            <a:pPr>
              <a:buFont typeface="Arial" panose="020B0604020202020204" pitchFamily="34" charset="0"/>
              <a:buChar char="•"/>
            </a:pPr>
            <a:r>
              <a:rPr lang="en-US" sz="2000" dirty="0"/>
              <a:t>It ensures scalability since only </a:t>
            </a:r>
            <a:r>
              <a:rPr lang="en-US" sz="2000" b="1" dirty="0"/>
              <a:t>cluster heads</a:t>
            </a:r>
            <a:r>
              <a:rPr lang="en-US" sz="2000" dirty="0"/>
              <a:t> handle </a:t>
            </a:r>
            <a:r>
              <a:rPr lang="en-US" sz="2000" dirty="0" err="1"/>
              <a:t>intercluster</a:t>
            </a:r>
            <a:r>
              <a:rPr lang="en-US" sz="2000" dirty="0"/>
              <a:t> routing.</a:t>
            </a:r>
          </a:p>
          <a:p>
            <a:pPr marL="0" indent="0">
              <a:buNone/>
            </a:pPr>
            <a:r>
              <a:rPr lang="en-US" sz="2000" dirty="0"/>
              <a:t> </a:t>
            </a:r>
            <a:r>
              <a:rPr lang="en-US" sz="2000" b="1" dirty="0"/>
              <a:t>Limitations:</a:t>
            </a:r>
          </a:p>
          <a:p>
            <a:pPr>
              <a:buFont typeface="Arial" panose="020B0604020202020204" pitchFamily="34" charset="0"/>
              <a:buChar char="•"/>
            </a:pPr>
            <a:r>
              <a:rPr lang="en-US" sz="2000" b="1" dirty="0"/>
              <a:t>Cluster head failure</a:t>
            </a:r>
            <a:r>
              <a:rPr lang="en-US" sz="2000" dirty="0"/>
              <a:t> can break communication.</a:t>
            </a:r>
          </a:p>
          <a:p>
            <a:pPr>
              <a:buFont typeface="Arial" panose="020B0604020202020204" pitchFamily="34" charset="0"/>
              <a:buChar char="•"/>
            </a:pPr>
            <a:r>
              <a:rPr lang="en-US" sz="2000" dirty="0"/>
              <a:t>Delay may increase if clusters are large or the path between cluster heads is long.</a:t>
            </a:r>
          </a:p>
          <a:p>
            <a:endParaRPr lang="en-US" dirty="0"/>
          </a:p>
        </p:txBody>
      </p:sp>
      <p:sp>
        <p:nvSpPr>
          <p:cNvPr id="4" name="Slide Number Placeholder 3"/>
          <p:cNvSpPr>
            <a:spLocks noGrp="1"/>
          </p:cNvSpPr>
          <p:nvPr>
            <p:ph type="sldNum" sz="quarter" idx="12"/>
          </p:nvPr>
        </p:nvSpPr>
        <p:spPr/>
        <p:txBody>
          <a:bodyPr/>
          <a:lstStyle/>
          <a:p>
            <a:pPr>
              <a:defRPr/>
            </a:pPr>
            <a:fld id="{1B0BEB7E-AFC2-4E38-BD01-E9CC7FAE1CE2}" type="slidenum">
              <a:rPr lang="en-US" smtClean="0"/>
              <a:pPr>
                <a:defRPr/>
              </a:pPr>
              <a:t>30</a:t>
            </a:fld>
            <a:endParaRPr lang="en-US"/>
          </a:p>
        </p:txBody>
      </p:sp>
    </p:spTree>
    <p:extLst>
      <p:ext uri="{BB962C8B-B14F-4D97-AF65-F5344CB8AC3E}">
        <p14:creationId xmlns:p14="http://schemas.microsoft.com/office/powerpoint/2010/main" val="349067922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2672</TotalTime>
  <Words>2352</Words>
  <Application>Microsoft Macintosh PowerPoint</Application>
  <PresentationFormat>On-screen Show (4:3)</PresentationFormat>
  <Paragraphs>213</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shakibrybmn@gmail.com</cp:lastModifiedBy>
  <cp:revision>201</cp:revision>
  <dcterms:created xsi:type="dcterms:W3CDTF">1601-01-01T00:00:00Z</dcterms:created>
  <dcterms:modified xsi:type="dcterms:W3CDTF">2025-10-09T13:39:06Z</dcterms:modified>
</cp:coreProperties>
</file>