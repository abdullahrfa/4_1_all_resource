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397" r:id="rId2"/>
    <p:sldId id="385" r:id="rId3"/>
    <p:sldId id="386" r:id="rId4"/>
    <p:sldId id="390" r:id="rId5"/>
    <p:sldId id="498" r:id="rId6"/>
    <p:sldId id="499" r:id="rId7"/>
    <p:sldId id="380" r:id="rId8"/>
    <p:sldId id="381" r:id="rId9"/>
    <p:sldId id="482" r:id="rId10"/>
    <p:sldId id="478" r:id="rId11"/>
    <p:sldId id="382" r:id="rId12"/>
    <p:sldId id="479" r:id="rId13"/>
    <p:sldId id="383" r:id="rId14"/>
    <p:sldId id="405" r:id="rId15"/>
    <p:sldId id="302" r:id="rId16"/>
    <p:sldId id="443" r:id="rId17"/>
    <p:sldId id="402" r:id="rId18"/>
    <p:sldId id="375" r:id="rId19"/>
    <p:sldId id="480" r:id="rId20"/>
    <p:sldId id="481" r:id="rId21"/>
    <p:sldId id="314" r:id="rId22"/>
    <p:sldId id="365" r:id="rId23"/>
    <p:sldId id="476" r:id="rId24"/>
    <p:sldId id="367" r:id="rId25"/>
    <p:sldId id="351" r:id="rId26"/>
    <p:sldId id="352" r:id="rId27"/>
    <p:sldId id="477" r:id="rId28"/>
    <p:sldId id="378" r:id="rId29"/>
    <p:sldId id="376" r:id="rId30"/>
    <p:sldId id="377" r:id="rId31"/>
    <p:sldId id="354" r:id="rId32"/>
    <p:sldId id="356" r:id="rId33"/>
    <p:sldId id="424" r:id="rId34"/>
    <p:sldId id="391" r:id="rId35"/>
    <p:sldId id="393" r:id="rId36"/>
    <p:sldId id="467" r:id="rId37"/>
    <p:sldId id="466" r:id="rId38"/>
    <p:sldId id="468" r:id="rId39"/>
    <p:sldId id="491" r:id="rId40"/>
    <p:sldId id="494" r:id="rId41"/>
    <p:sldId id="432" r:id="rId42"/>
    <p:sldId id="433" r:id="rId43"/>
    <p:sldId id="473" r:id="rId44"/>
    <p:sldId id="497" r:id="rId45"/>
    <p:sldId id="495" r:id="rId46"/>
    <p:sldId id="438" r:id="rId47"/>
    <p:sldId id="439" r:id="rId48"/>
    <p:sldId id="440" r:id="rId49"/>
    <p:sldId id="455" r:id="rId50"/>
    <p:sldId id="471" r:id="rId51"/>
    <p:sldId id="475" r:id="rId52"/>
    <p:sldId id="472" r:id="rId53"/>
    <p:sldId id="396" r:id="rId54"/>
    <p:sldId id="427" r:id="rId55"/>
    <p:sldId id="407" r:id="rId56"/>
    <p:sldId id="442" r:id="rId57"/>
    <p:sldId id="500" r:id="rId58"/>
    <p:sldId id="417" r:id="rId59"/>
    <p:sldId id="501" r:id="rId60"/>
    <p:sldId id="502" r:id="rId61"/>
    <p:sldId id="425" r:id="rId62"/>
    <p:sldId id="503" r:id="rId63"/>
    <p:sldId id="420" r:id="rId64"/>
    <p:sldId id="492" r:id="rId65"/>
    <p:sldId id="345" r:id="rId66"/>
    <p:sldId id="486" r:id="rId67"/>
    <p:sldId id="504" r:id="rId68"/>
    <p:sldId id="484" r:id="rId69"/>
    <p:sldId id="489" r:id="rId70"/>
    <p:sldId id="487" r:id="rId71"/>
    <p:sldId id="493" r:id="rId72"/>
    <p:sldId id="483" r:id="rId73"/>
    <p:sldId id="421" r:id="rId74"/>
    <p:sldId id="428" r:id="rId75"/>
    <p:sldId id="423" r:id="rId76"/>
    <p:sldId id="429" r:id="rId77"/>
    <p:sldId id="426" r:id="rId78"/>
    <p:sldId id="413" r:id="rId79"/>
    <p:sldId id="445" r:id="rId80"/>
    <p:sldId id="414" r:id="rId81"/>
    <p:sldId id="416" r:id="rId82"/>
    <p:sldId id="447" r:id="rId83"/>
    <p:sldId id="441" r:id="rId84"/>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0000FF"/>
    <a:srgbClr val="CCECFF"/>
    <a:srgbClr val="FF66CC"/>
    <a:srgbClr val="FF00FF"/>
    <a:srgbClr val="FF6600"/>
    <a:srgbClr val="3399FF"/>
    <a:srgbClr val="33CCFF"/>
    <a:srgbClr val="FF3399"/>
    <a:srgbClr val="33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43" autoAdjust="0"/>
  </p:normalViewPr>
  <p:slideViewPr>
    <p:cSldViewPr>
      <p:cViewPr varScale="1">
        <p:scale>
          <a:sx n="109" d="100"/>
          <a:sy n="109" d="100"/>
        </p:scale>
        <p:origin x="164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US"/>
          </a:p>
        </p:txBody>
      </p:sp>
      <p:sp>
        <p:nvSpPr>
          <p:cNvPr id="4710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US"/>
          </a:p>
        </p:txBody>
      </p:sp>
      <p:sp>
        <p:nvSpPr>
          <p:cNvPr id="5632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710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711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US"/>
          </a:p>
        </p:txBody>
      </p:sp>
      <p:sp>
        <p:nvSpPr>
          <p:cNvPr id="4711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0C82928A-D6B4-4D5F-BB2C-16741C4FF6E5}" type="slidenum">
              <a:rPr lang="en-US"/>
              <a:pPr>
                <a:defRPr/>
              </a:pPr>
              <a:t>‹#›</a:t>
            </a:fld>
            <a:endParaRPr lang="en-US"/>
          </a:p>
        </p:txBody>
      </p:sp>
    </p:spTree>
    <p:extLst>
      <p:ext uri="{BB962C8B-B14F-4D97-AF65-F5344CB8AC3E}">
        <p14:creationId xmlns:p14="http://schemas.microsoft.com/office/powerpoint/2010/main" val="29105273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A2D08183-50FC-478F-B4D0-1B0A70DD8ADC}" type="slidenum">
              <a:rPr lang="en-US" smtClean="0"/>
              <a:pPr/>
              <a:t>4</a:t>
            </a:fld>
            <a:endParaRPr lang="en-US"/>
          </a:p>
        </p:txBody>
      </p:sp>
      <p:sp>
        <p:nvSpPr>
          <p:cNvPr id="58371" name="Rectangle 7"/>
          <p:cNvSpPr txBox="1">
            <a:spLocks noGrp="1" noChangeArrowheads="1"/>
          </p:cNvSpPr>
          <p:nvPr/>
        </p:nvSpPr>
        <p:spPr bwMode="auto">
          <a:xfrm>
            <a:off x="3914775" y="8672513"/>
            <a:ext cx="2936875" cy="458787"/>
          </a:xfrm>
          <a:prstGeom prst="rect">
            <a:avLst/>
          </a:prstGeom>
          <a:noFill/>
          <a:ln w="9525">
            <a:noFill/>
            <a:miter lim="800000"/>
            <a:headEnd/>
            <a:tailEnd/>
          </a:ln>
        </p:spPr>
        <p:txBody>
          <a:bodyPr lIns="89928" tIns="44963" rIns="89928" bIns="44963" anchor="b"/>
          <a:lstStyle/>
          <a:p>
            <a:pPr algn="r" defTabSz="898525" eaLnBrk="0" hangingPunct="0"/>
            <a:fld id="{77B38B2C-3D27-414D-B31D-52FE7B5A3301}" type="slidenum">
              <a:rPr lang="en-US" altLang="en-US" sz="1200">
                <a:latin typeface="Arial" charset="0"/>
              </a:rPr>
              <a:pPr algn="r" defTabSz="898525" eaLnBrk="0" hangingPunct="0"/>
              <a:t>4</a:t>
            </a:fld>
            <a:endParaRPr lang="en-US" altLang="en-US" sz="1200">
              <a:latin typeface="Arial" charset="0"/>
            </a:endParaRPr>
          </a:p>
        </p:txBody>
      </p:sp>
      <p:sp>
        <p:nvSpPr>
          <p:cNvPr id="58372" name="Rectangle 2"/>
          <p:cNvSpPr>
            <a:spLocks noGrp="1" noRot="1" noChangeAspect="1" noChangeArrowheads="1" noTextEdit="1"/>
          </p:cNvSpPr>
          <p:nvPr>
            <p:ph type="sldImg"/>
          </p:nvPr>
        </p:nvSpPr>
        <p:spPr>
          <a:xfrm>
            <a:off x="1122363" y="690563"/>
            <a:ext cx="4608512" cy="3455987"/>
          </a:xfrm>
          <a:ln/>
        </p:spPr>
      </p:sp>
      <p:sp>
        <p:nvSpPr>
          <p:cNvPr id="58373" name="Rectangle 3"/>
          <p:cNvSpPr>
            <a:spLocks noGrp="1" noChangeArrowheads="1"/>
          </p:cNvSpPr>
          <p:nvPr>
            <p:ph type="body" idx="1"/>
          </p:nvPr>
        </p:nvSpPr>
        <p:spPr>
          <a:xfrm>
            <a:off x="904875" y="4376738"/>
            <a:ext cx="5041900" cy="4060825"/>
          </a:xfrm>
          <a:noFill/>
          <a:ln/>
        </p:spPr>
        <p:txBody>
          <a:bodyPr lIns="89928" tIns="44963" rIns="89928" bIns="44963"/>
          <a:lstStyle/>
          <a:p>
            <a:endParaRPr lang="zh-TW" altLang="zh-TW"/>
          </a:p>
        </p:txBody>
      </p:sp>
    </p:spTree>
    <p:extLst>
      <p:ext uri="{BB962C8B-B14F-4D97-AF65-F5344CB8AC3E}">
        <p14:creationId xmlns:p14="http://schemas.microsoft.com/office/powerpoint/2010/main" val="300834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A47617D1-A800-4626-977B-4CDBC7718870}" type="slidenum">
              <a:rPr lang="en-US" smtClean="0"/>
              <a:pPr/>
              <a:t>15</a:t>
            </a:fld>
            <a:endParaRPr lang="en-US"/>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endParaRPr lang="en-US"/>
          </a:p>
        </p:txBody>
      </p:sp>
    </p:spTree>
    <p:extLst>
      <p:ext uri="{BB962C8B-B14F-4D97-AF65-F5344CB8AC3E}">
        <p14:creationId xmlns:p14="http://schemas.microsoft.com/office/powerpoint/2010/main" val="4054078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C82928A-D6B4-4D5F-BB2C-16741C4FF6E5}" type="slidenum">
              <a:rPr lang="en-US" smtClean="0"/>
              <a:pPr>
                <a:defRPr/>
              </a:pPr>
              <a:t>43</a:t>
            </a:fld>
            <a:endParaRPr lang="en-US"/>
          </a:p>
        </p:txBody>
      </p:sp>
    </p:spTree>
    <p:extLst>
      <p:ext uri="{BB962C8B-B14F-4D97-AF65-F5344CB8AC3E}">
        <p14:creationId xmlns:p14="http://schemas.microsoft.com/office/powerpoint/2010/main" val="3586273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0C82928A-D6B4-4D5F-BB2C-16741C4FF6E5}" type="slidenum">
              <a:rPr lang="en-US" smtClean="0"/>
              <a:pPr>
                <a:defRPr/>
              </a:pPr>
              <a:t>50</a:t>
            </a:fld>
            <a:endParaRPr lang="en-US"/>
          </a:p>
        </p:txBody>
      </p:sp>
    </p:spTree>
    <p:extLst>
      <p:ext uri="{BB962C8B-B14F-4D97-AF65-F5344CB8AC3E}">
        <p14:creationId xmlns:p14="http://schemas.microsoft.com/office/powerpoint/2010/main" val="3714658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9D1CBBA-7630-4CFF-A47A-EC5AD58B2DEA}"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238FF85-7D5F-4211-AF5F-B3F85F4FE64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7726FC1-8ED8-4C73-8951-D0DD0BFDA5ED}"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C16743C-D69A-4EE3-8380-57EA6EE41E6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EA98BA6-D090-413E-9416-A81BDA2180A1}"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1A5DE08-58C7-42F9-9234-8450BDBC454E}"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9FE3154-E4F1-4DBC-AFFE-BDB47B1CC23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09D10B0-4942-447A-8B2E-4F3F9A12CF5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939A0E6C-736E-49D5-A9A1-239D53980386}"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08AA898-0F60-40EE-BC6D-4F633FC015E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4C0286E-4556-44FD-B20C-7538808E378C}"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BDFC585-E65A-4012-B5A5-6FE4A823FFB1}"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E164085-E6EC-4A48-AE40-B707A1B20961}"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9812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114800"/>
            <a:ext cx="381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C2D1CEED-4BE9-4C2D-AB80-5D0385C8FBBA}" type="slidenum">
              <a:rPr lang="en-US"/>
              <a:pPr>
                <a:defRPr/>
              </a:pPr>
              <a:t>‹#›</a:t>
            </a:fld>
            <a:endParaRPr lang="en-US"/>
          </a:p>
        </p:txBody>
      </p:sp>
    </p:spTree>
    <p:extLst>
      <p:ext uri="{BB962C8B-B14F-4D97-AF65-F5344CB8AC3E}">
        <p14:creationId xmlns:p14="http://schemas.microsoft.com/office/powerpoint/2010/main" val="2978430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075"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33C27EBB-4336-4813-8F3D-16D184AAA19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en.wikipedia.org/wiki/ITU-R" TargetMode="Externa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4.bin"/><Relationship Id="rId12"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image" Target="../media/image29.png"/><Relationship Id="rId5" Type="http://schemas.openxmlformats.org/officeDocument/2006/relationships/oleObject" Target="../embeddings/oleObject2.bin"/><Relationship Id="rId10" Type="http://schemas.openxmlformats.org/officeDocument/2006/relationships/image" Target="../media/image28.wmf"/><Relationship Id="rId4" Type="http://schemas.openxmlformats.org/officeDocument/2006/relationships/image" Target="../media/image26.wmf"/><Relationship Id="rId9" Type="http://schemas.openxmlformats.org/officeDocument/2006/relationships/oleObject" Target="../embeddings/oleObject5.bin"/><Relationship Id="rId14" Type="http://schemas.openxmlformats.org/officeDocument/2006/relationships/oleObject" Target="../embeddings/oleObject7.bin"/></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0.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8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2133600"/>
            <a:ext cx="7162800" cy="1470025"/>
          </a:xfrm>
          <a:solidFill>
            <a:srgbClr val="FFC000"/>
          </a:solidFill>
        </p:spPr>
        <p:txBody>
          <a:bodyPr/>
          <a:lstStyle/>
          <a:p>
            <a:pPr>
              <a:defRPr/>
            </a:pPr>
            <a:r>
              <a:rPr lang="en-US" b="1" dirty="0">
                <a:solidFill>
                  <a:schemeClr val="accent6"/>
                </a:solidFill>
              </a:rPr>
              <a:t>4G Mobile Communications (</a:t>
            </a:r>
            <a:r>
              <a:rPr lang="en-US" b="1" dirty="0" err="1">
                <a:solidFill>
                  <a:schemeClr val="accent6"/>
                </a:solidFill>
              </a:rPr>
              <a:t>WiMAX</a:t>
            </a:r>
            <a:r>
              <a:rPr lang="en-US" b="1" dirty="0">
                <a:solidFill>
                  <a:schemeClr val="accent6"/>
                </a:solidFill>
              </a:rPr>
              <a:t> and LTE)</a:t>
            </a:r>
          </a:p>
        </p:txBody>
      </p:sp>
      <p:sp>
        <p:nvSpPr>
          <p:cNvPr id="4099" name="Slide Number Placeholder 3"/>
          <p:cNvSpPr>
            <a:spLocks noGrp="1"/>
          </p:cNvSpPr>
          <p:nvPr>
            <p:ph type="sldNum" sz="quarter" idx="12"/>
          </p:nvPr>
        </p:nvSpPr>
        <p:spPr>
          <a:noFill/>
        </p:spPr>
        <p:txBody>
          <a:bodyPr/>
          <a:lstStyle/>
          <a:p>
            <a:fld id="{0177213E-42D5-43FA-8531-FB49BC2A449B}" type="slidenum">
              <a:rPr lang="en-US" smtClean="0"/>
              <a:pPr/>
              <a:t>1</a:t>
            </a:fld>
            <a:endParaRPr lang="en-US"/>
          </a:p>
        </p:txBody>
      </p:sp>
      <p:sp>
        <p:nvSpPr>
          <p:cNvPr id="4" name="Text Box 4">
            <a:extLst>
              <a:ext uri="{FF2B5EF4-FFF2-40B4-BE49-F238E27FC236}">
                <a16:creationId xmlns:a16="http://schemas.microsoft.com/office/drawing/2014/main" xmlns="" id="{4BFD9A7A-1500-4D0E-AC93-0224B35ACE47}"/>
              </a:ext>
            </a:extLst>
          </p:cNvPr>
          <p:cNvSpPr txBox="1">
            <a:spLocks noChangeArrowheads="1"/>
          </p:cNvSpPr>
          <p:nvPr/>
        </p:nvSpPr>
        <p:spPr bwMode="auto">
          <a:xfrm>
            <a:off x="609600" y="4495800"/>
            <a:ext cx="7924800" cy="1569660"/>
          </a:xfrm>
          <a:prstGeom prst="rect">
            <a:avLst/>
          </a:prstGeom>
          <a:solidFill>
            <a:srgbClr val="FFCCCC"/>
          </a:solidFill>
          <a:ln w="9525">
            <a:noFill/>
            <a:miter lim="800000"/>
            <a:headEnd/>
            <a:tailEnd/>
          </a:ln>
        </p:spPr>
        <p:txBody>
          <a:bodyPr>
            <a:spAutoFit/>
          </a:bodyPr>
          <a:lstStyle/>
          <a:p>
            <a:r>
              <a:rPr lang="en-US" b="1" dirty="0">
                <a:solidFill>
                  <a:schemeClr val="accent2"/>
                </a:solidFill>
                <a:cs typeface="Arial" charset="0"/>
              </a:rPr>
              <a:t>Dr.  Md. </a:t>
            </a:r>
            <a:r>
              <a:rPr lang="en-US" b="1" dirty="0" err="1">
                <a:solidFill>
                  <a:schemeClr val="accent2"/>
                </a:solidFill>
                <a:cs typeface="Arial" charset="0"/>
              </a:rPr>
              <a:t>Imdadul</a:t>
            </a:r>
            <a:r>
              <a:rPr lang="en-US" b="1" dirty="0">
                <a:solidFill>
                  <a:schemeClr val="accent2"/>
                </a:solidFill>
                <a:cs typeface="Arial" charset="0"/>
              </a:rPr>
              <a:t> Islam</a:t>
            </a:r>
            <a:endParaRPr lang="en-US" dirty="0">
              <a:solidFill>
                <a:schemeClr val="accent2"/>
              </a:solidFill>
              <a:cs typeface="Arial" charset="0"/>
            </a:endParaRPr>
          </a:p>
          <a:p>
            <a:r>
              <a:rPr lang="en-US" dirty="0">
                <a:cs typeface="Arial" charset="0"/>
              </a:rPr>
              <a:t>Professor, Department of Computer Science and Engineering</a:t>
            </a:r>
          </a:p>
          <a:p>
            <a:r>
              <a:rPr lang="en-US" dirty="0" err="1">
                <a:cs typeface="Arial" charset="0"/>
              </a:rPr>
              <a:t>Jahangirnagar</a:t>
            </a:r>
            <a:r>
              <a:rPr lang="en-US" dirty="0">
                <a:cs typeface="Arial" charset="0"/>
              </a:rPr>
              <a:t> University </a:t>
            </a:r>
          </a:p>
          <a:p>
            <a:r>
              <a:rPr lang="en-GB" i="1" dirty="0">
                <a:solidFill>
                  <a:srgbClr val="0000FF"/>
                </a:solidFill>
                <a:cs typeface="Times New Roman" pitchFamily="18" charset="0"/>
              </a:rPr>
              <a:t>https://www.juniv.edu/teachers/imdad</a:t>
            </a:r>
            <a:endParaRPr lang="en-US" i="1" dirty="0">
              <a:cs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2"/>
          </p:nvPr>
        </p:nvSpPr>
        <p:spPr>
          <a:noFill/>
        </p:spPr>
        <p:txBody>
          <a:bodyPr/>
          <a:lstStyle/>
          <a:p>
            <a:fld id="{DAC4F202-EEA1-4753-84E6-58DE466E0323}" type="slidenum">
              <a:rPr lang="en-US" smtClean="0"/>
              <a:pPr/>
              <a:t>2</a:t>
            </a:fld>
            <a:endParaRPr lang="en-US"/>
          </a:p>
        </p:txBody>
      </p:sp>
      <p:sp>
        <p:nvSpPr>
          <p:cNvPr id="8195" name="TextBox 4"/>
          <p:cNvSpPr txBox="1">
            <a:spLocks noChangeArrowheads="1"/>
          </p:cNvSpPr>
          <p:nvPr/>
        </p:nvSpPr>
        <p:spPr bwMode="auto">
          <a:xfrm>
            <a:off x="26709" y="1214021"/>
            <a:ext cx="5157216" cy="5262979"/>
          </a:xfrm>
          <a:prstGeom prst="rect">
            <a:avLst/>
          </a:prstGeom>
          <a:solidFill>
            <a:srgbClr val="CCECFF"/>
          </a:solidFill>
          <a:ln w="9525">
            <a:noFill/>
            <a:miter lim="800000"/>
            <a:headEnd/>
            <a:tailEnd/>
          </a:ln>
        </p:spPr>
        <p:txBody>
          <a:bodyPr wrap="square">
            <a:spAutoFit/>
          </a:bodyPr>
          <a:lstStyle/>
          <a:p>
            <a:pPr algn="just">
              <a:buFont typeface="Wingdings" pitchFamily="2" charset="2"/>
              <a:buChar char="ü"/>
            </a:pPr>
            <a:r>
              <a:rPr lang="en-US" dirty="0"/>
              <a:t>In March 2008, the </a:t>
            </a:r>
            <a:r>
              <a:rPr lang="en-US" dirty="0">
                <a:solidFill>
                  <a:srgbClr val="FF0000"/>
                </a:solidFill>
              </a:rPr>
              <a:t>International</a:t>
            </a:r>
            <a:r>
              <a:rPr lang="en-US" dirty="0">
                <a:hlinkClick r:id="rId2" tooltip="ITU-R"/>
              </a:rPr>
              <a:t> </a:t>
            </a:r>
            <a:r>
              <a:rPr lang="en-US" dirty="0">
                <a:solidFill>
                  <a:srgbClr val="FF0000"/>
                </a:solidFill>
              </a:rPr>
              <a:t>Telecommunications Union-Radio communications  </a:t>
            </a:r>
            <a:r>
              <a:rPr lang="en-US" dirty="0"/>
              <a:t>(ITU-R) specified a set of requirements for 4G standards, named the </a:t>
            </a:r>
            <a:r>
              <a:rPr lang="en-US" dirty="0">
                <a:solidFill>
                  <a:srgbClr val="FF0000"/>
                </a:solidFill>
              </a:rPr>
              <a:t>International Mobile Telecommunications Advanced</a:t>
            </a:r>
            <a:r>
              <a:rPr lang="en-US" dirty="0"/>
              <a:t> (IMT-Advanced).</a:t>
            </a:r>
          </a:p>
          <a:p>
            <a:pPr algn="just">
              <a:buFont typeface="Wingdings" pitchFamily="2" charset="2"/>
              <a:buChar char="ü"/>
            </a:pPr>
            <a:endParaRPr lang="en-US" dirty="0"/>
          </a:p>
          <a:p>
            <a:pPr algn="just">
              <a:buFont typeface="Wingdings" pitchFamily="2" charset="2"/>
              <a:buChar char="ü"/>
            </a:pPr>
            <a:r>
              <a:rPr lang="en-US" dirty="0"/>
              <a:t> IMT-Advanced requires peak speed of 300 Mbit/s for high mobility communication (such as from trains and cars) and 1Gbit/s for low mobility communication (such as pedestrians and stationary users).</a:t>
            </a:r>
          </a:p>
        </p:txBody>
      </p:sp>
      <p:sp>
        <p:nvSpPr>
          <p:cNvPr id="8196" name="TextBox 5"/>
          <p:cNvSpPr txBox="1">
            <a:spLocks noChangeArrowheads="1"/>
          </p:cNvSpPr>
          <p:nvPr/>
        </p:nvSpPr>
        <p:spPr bwMode="auto">
          <a:xfrm>
            <a:off x="152400" y="396600"/>
            <a:ext cx="2590800" cy="769938"/>
          </a:xfrm>
          <a:prstGeom prst="rect">
            <a:avLst/>
          </a:prstGeom>
          <a:noFill/>
          <a:ln w="9525">
            <a:noFill/>
            <a:miter lim="800000"/>
            <a:headEnd/>
            <a:tailEnd/>
          </a:ln>
        </p:spPr>
        <p:txBody>
          <a:bodyPr>
            <a:spAutoFit/>
          </a:bodyPr>
          <a:lstStyle/>
          <a:p>
            <a:r>
              <a:rPr lang="en-US" sz="4400" b="1" dirty="0"/>
              <a:t>History</a:t>
            </a:r>
          </a:p>
        </p:txBody>
      </p:sp>
      <p:pic>
        <p:nvPicPr>
          <p:cNvPr id="83972" name="Picture 4" descr="Exterior of the ITU building in Geneva, Switzerland">
            <a:extLst>
              <a:ext uri="{FF2B5EF4-FFF2-40B4-BE49-F238E27FC236}">
                <a16:creationId xmlns:a16="http://schemas.microsoft.com/office/drawing/2014/main" xmlns="" id="{4EAADB73-C3E8-473C-B8DC-73971589BB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79010" y="101532"/>
            <a:ext cx="3594755" cy="2689201"/>
          </a:xfrm>
          <a:prstGeom prst="rect">
            <a:avLst/>
          </a:prstGeom>
          <a:noFill/>
          <a:extLst>
            <a:ext uri="{909E8E84-426E-40DD-AFC4-6F175D3DCCD1}">
              <a14:hiddenFill xmlns:a14="http://schemas.microsoft.com/office/drawing/2010/main">
                <a:solidFill>
                  <a:srgbClr val="FFFFFF"/>
                </a:solidFill>
              </a14:hiddenFill>
            </a:ext>
          </a:extLst>
        </p:spPr>
      </p:pic>
      <p:pic>
        <p:nvPicPr>
          <p:cNvPr id="83974" name="Picture 6" descr="ITU Regional Standardization Forum for Asia Pacific region">
            <a:extLst>
              <a:ext uri="{FF2B5EF4-FFF2-40B4-BE49-F238E27FC236}">
                <a16:creationId xmlns:a16="http://schemas.microsoft.com/office/drawing/2014/main" xmlns="" id="{250406F7-0DC6-4148-8BC1-BF381E7FD6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0256" y="2902179"/>
            <a:ext cx="2714165" cy="110617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xmlns="" id="{DD29997D-5AFA-42C8-8276-E18F555D834D}"/>
              </a:ext>
            </a:extLst>
          </p:cNvPr>
          <p:cNvSpPr txBox="1"/>
          <p:nvPr/>
        </p:nvSpPr>
        <p:spPr>
          <a:xfrm>
            <a:off x="5295476" y="4119796"/>
            <a:ext cx="3758184" cy="1938992"/>
          </a:xfrm>
          <a:prstGeom prst="rect">
            <a:avLst/>
          </a:prstGeom>
          <a:solidFill>
            <a:srgbClr val="FFCCFF"/>
          </a:solidFill>
        </p:spPr>
        <p:txBody>
          <a:bodyPr wrap="square" rtlCol="0">
            <a:spAutoFit/>
          </a:bodyPr>
          <a:lstStyle/>
          <a:p>
            <a:pPr algn="just"/>
            <a:r>
              <a:rPr lang="en-US" sz="2000" dirty="0"/>
              <a:t>IMT is standard/template proposed by ITU for broadband mobile service against a generation.</a:t>
            </a:r>
          </a:p>
          <a:p>
            <a:pPr algn="just"/>
            <a:r>
              <a:rPr lang="en-US" sz="2000" dirty="0"/>
              <a:t>IMT-2000 (3G)</a:t>
            </a:r>
          </a:p>
          <a:p>
            <a:pPr algn="just"/>
            <a:r>
              <a:rPr lang="en-US" sz="2000" dirty="0"/>
              <a:t>IMT-Advanced (4G)</a:t>
            </a:r>
          </a:p>
          <a:p>
            <a:pPr algn="just"/>
            <a:r>
              <a:rPr lang="en-US" sz="2000"/>
              <a:t>IMT-2020 </a:t>
            </a:r>
            <a:r>
              <a:rPr lang="en-US" sz="2000" dirty="0"/>
              <a:t>(</a:t>
            </a:r>
            <a:r>
              <a:rPr lang="en-US" sz="2000"/>
              <a:t>5G</a:t>
            </a:r>
            <a:r>
              <a:rPr lang="en-US" sz="2000" dirty="0"/>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3"/>
          <p:cNvSpPr>
            <a:spLocks noGrp="1"/>
          </p:cNvSpPr>
          <p:nvPr>
            <p:ph type="sldNum" sz="quarter" idx="12"/>
          </p:nvPr>
        </p:nvSpPr>
        <p:spPr>
          <a:noFill/>
        </p:spPr>
        <p:txBody>
          <a:bodyPr/>
          <a:lstStyle/>
          <a:p>
            <a:fld id="{6C399ECF-E033-4CFA-B9D3-B2C09587D2C8}" type="slidenum">
              <a:rPr lang="en-US" smtClean="0"/>
              <a:pPr/>
              <a:t>3</a:t>
            </a:fld>
            <a:endParaRPr lang="en-US"/>
          </a:p>
        </p:txBody>
      </p:sp>
      <p:sp>
        <p:nvSpPr>
          <p:cNvPr id="9219" name="TextBox 4"/>
          <p:cNvSpPr txBox="1">
            <a:spLocks noChangeArrowheads="1"/>
          </p:cNvSpPr>
          <p:nvPr/>
        </p:nvSpPr>
        <p:spPr bwMode="auto">
          <a:xfrm>
            <a:off x="190500" y="428178"/>
            <a:ext cx="8763000" cy="6001643"/>
          </a:xfrm>
          <a:prstGeom prst="rect">
            <a:avLst/>
          </a:prstGeom>
          <a:solidFill>
            <a:srgbClr val="CCECFF"/>
          </a:solidFill>
          <a:ln w="9525">
            <a:noFill/>
            <a:miter lim="800000"/>
            <a:headEnd/>
            <a:tailEnd/>
          </a:ln>
        </p:spPr>
        <p:txBody>
          <a:bodyPr>
            <a:spAutoFit/>
          </a:bodyPr>
          <a:lstStyle/>
          <a:p>
            <a:pPr algn="just">
              <a:buFont typeface="Wingdings" pitchFamily="2" charset="2"/>
              <a:buChar char="ü"/>
            </a:pPr>
            <a:r>
              <a:rPr lang="en-US" dirty="0">
                <a:solidFill>
                  <a:schemeClr val="accent2"/>
                </a:solidFill>
              </a:rPr>
              <a:t>Mobile WiMAX </a:t>
            </a:r>
            <a:r>
              <a:rPr lang="en-US" dirty="0"/>
              <a:t>(first used in South Korea in 2007) and </a:t>
            </a:r>
            <a:r>
              <a:rPr lang="en-US" dirty="0">
                <a:solidFill>
                  <a:schemeClr val="accent2"/>
                </a:solidFill>
              </a:rPr>
              <a:t>LTE</a:t>
            </a:r>
            <a:r>
              <a:rPr lang="en-US" dirty="0"/>
              <a:t> (in Oslo, Norway and Stockholm, Sweden since 2009) support much less than 1 Gbit/s peak bit rate, they are not fully </a:t>
            </a:r>
            <a:r>
              <a:rPr lang="en-US" dirty="0">
                <a:solidFill>
                  <a:srgbClr val="FF0000"/>
                </a:solidFill>
              </a:rPr>
              <a:t>IMT-Advanced</a:t>
            </a:r>
            <a:r>
              <a:rPr lang="en-US" dirty="0"/>
              <a:t> compliant, but are often branded 4G by service providers. </a:t>
            </a:r>
          </a:p>
          <a:p>
            <a:pPr algn="just">
              <a:buFont typeface="Wingdings" pitchFamily="2" charset="2"/>
              <a:buChar char="ü"/>
            </a:pPr>
            <a:endParaRPr lang="en-US" dirty="0"/>
          </a:p>
          <a:p>
            <a:pPr algn="just">
              <a:buFont typeface="Wingdings" pitchFamily="2" charset="2"/>
              <a:buChar char="ü"/>
            </a:pPr>
            <a:r>
              <a:rPr lang="en-US" dirty="0"/>
              <a:t>On December 6, 2010, ITU-R recognized that these two technologies, as well as other beyond-3G technologies that do not fulfill the IMT-Advanced requirements, could nevertheless be considered "4G", provided they represent forerunners to </a:t>
            </a:r>
            <a:r>
              <a:rPr lang="en-US" dirty="0">
                <a:solidFill>
                  <a:srgbClr val="FF0000"/>
                </a:solidFill>
              </a:rPr>
              <a:t>IMT-Advanced</a:t>
            </a:r>
            <a:r>
              <a:rPr lang="en-US" dirty="0"/>
              <a:t> compliant versions.</a:t>
            </a:r>
          </a:p>
          <a:p>
            <a:pPr algn="just">
              <a:buFont typeface="Wingdings" pitchFamily="2" charset="2"/>
              <a:buChar char="ü"/>
            </a:pPr>
            <a:endParaRPr lang="en-US" dirty="0"/>
          </a:p>
          <a:p>
            <a:pPr algn="just">
              <a:buFont typeface="Wingdings" pitchFamily="2" charset="2"/>
              <a:buChar char="ü"/>
            </a:pPr>
            <a:r>
              <a:rPr lang="en-US" dirty="0"/>
              <a:t>During the spring 2011 above two system provide their advanced version as:  </a:t>
            </a:r>
            <a:r>
              <a:rPr lang="en-US" dirty="0">
                <a:solidFill>
                  <a:schemeClr val="accent2"/>
                </a:solidFill>
              </a:rPr>
              <a:t>Mobile WiMAX Release 2</a:t>
            </a:r>
            <a:r>
              <a:rPr lang="en-US" dirty="0"/>
              <a:t> (also known as </a:t>
            </a:r>
            <a:r>
              <a:rPr lang="en-US" i="1" dirty="0"/>
              <a:t>Wireless MAN-Advanced</a:t>
            </a:r>
            <a:r>
              <a:rPr lang="en-US" dirty="0"/>
              <a:t> or </a:t>
            </a:r>
            <a:r>
              <a:rPr lang="en-US" i="1" dirty="0"/>
              <a:t>IEEE 802.16m'</a:t>
            </a:r>
            <a:r>
              <a:rPr lang="en-US" dirty="0"/>
              <a:t>) and </a:t>
            </a:r>
            <a:r>
              <a:rPr lang="en-US" dirty="0">
                <a:solidFill>
                  <a:schemeClr val="accent2"/>
                </a:solidFill>
              </a:rPr>
              <a:t>LTE Advanced </a:t>
            </a:r>
            <a:r>
              <a:rPr lang="en-US" dirty="0"/>
              <a:t>(LTE-A, </a:t>
            </a:r>
            <a:r>
              <a:rPr lang="en-US" altLang="zh-CN" dirty="0">
                <a:ea typeface="SimSun" pitchFamily="2" charset="-122"/>
              </a:rPr>
              <a:t>Based on UMTS 3G technology</a:t>
            </a:r>
            <a:r>
              <a:rPr lang="en-US" dirty="0"/>
              <a:t>) and promising speeds in the order of 1 Gbit/s in 2013.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2"/>
          </p:nvPr>
        </p:nvSpPr>
        <p:spPr>
          <a:noFill/>
        </p:spPr>
        <p:txBody>
          <a:bodyPr/>
          <a:lstStyle/>
          <a:p>
            <a:fld id="{818BEE93-DBEF-4759-BADC-DBD5C54B1A7F}" type="slidenum">
              <a:rPr lang="en-US" smtClean="0"/>
              <a:pPr/>
              <a:t>4</a:t>
            </a:fld>
            <a:endParaRPr lang="en-US"/>
          </a:p>
        </p:txBody>
      </p:sp>
      <p:sp>
        <p:nvSpPr>
          <p:cNvPr id="713730" name="Rectangle 2"/>
          <p:cNvSpPr>
            <a:spLocks noGrp="1" noChangeArrowheads="1"/>
          </p:cNvSpPr>
          <p:nvPr>
            <p:ph type="title" idx="4294967295"/>
          </p:nvPr>
        </p:nvSpPr>
        <p:spPr>
          <a:xfrm>
            <a:off x="1790700" y="15551"/>
            <a:ext cx="5562600" cy="685800"/>
          </a:xfrm>
          <a:solidFill>
            <a:srgbClr val="CCCCFF"/>
          </a:solidFill>
        </p:spPr>
        <p:txBody>
          <a:bodyPr/>
          <a:lstStyle/>
          <a:p>
            <a:pPr eaLnBrk="1" hangingPunct="1">
              <a:defRPr/>
            </a:pPr>
            <a:r>
              <a:rPr lang="en-US" altLang="zh-TW" sz="4000" dirty="0">
                <a:effectLst>
                  <a:outerShdw blurRad="38100" dist="38100" dir="2700000" algn="tl">
                    <a:srgbClr val="FFFFFF"/>
                  </a:outerShdw>
                </a:effectLst>
                <a:ea typeface="新細明體" pitchFamily="18" charset="-120"/>
              </a:rPr>
              <a:t>Some Key Challenges</a:t>
            </a:r>
          </a:p>
        </p:txBody>
      </p:sp>
      <p:sp>
        <p:nvSpPr>
          <p:cNvPr id="11268" name="Rectangle 3"/>
          <p:cNvSpPr>
            <a:spLocks noGrp="1" noChangeArrowheads="1"/>
          </p:cNvSpPr>
          <p:nvPr>
            <p:ph type="body" idx="4294967295"/>
          </p:nvPr>
        </p:nvSpPr>
        <p:spPr>
          <a:xfrm>
            <a:off x="76200" y="2476722"/>
            <a:ext cx="8991600" cy="4263490"/>
          </a:xfrm>
          <a:solidFill>
            <a:srgbClr val="FFCCCC"/>
          </a:solidFill>
        </p:spPr>
        <p:txBody>
          <a:bodyPr/>
          <a:lstStyle/>
          <a:p>
            <a:pPr algn="just" eaLnBrk="1" hangingPunct="1"/>
            <a:r>
              <a:rPr lang="en-US" altLang="zh-TW" sz="2000" b="1" i="1" dirty="0">
                <a:solidFill>
                  <a:schemeClr val="accent2"/>
                </a:solidFill>
                <a:ea typeface="新細明體" pitchFamily="18" charset="-120"/>
              </a:rPr>
              <a:t>Coverage</a:t>
            </a:r>
            <a:r>
              <a:rPr lang="en-US" altLang="zh-TW" sz="2000" dirty="0">
                <a:ea typeface="新細明體" pitchFamily="18" charset="-120"/>
              </a:rPr>
              <a:t> </a:t>
            </a:r>
          </a:p>
          <a:p>
            <a:pPr marL="0" indent="0" algn="just" eaLnBrk="1" hangingPunct="1">
              <a:buNone/>
            </a:pPr>
            <a:r>
              <a:rPr lang="en-US" altLang="zh-TW" sz="2000" dirty="0">
                <a:ea typeface="新細明體" pitchFamily="18" charset="-120"/>
              </a:rPr>
              <a:t>To increase the coverage area the transmit power needs to be increased. High transmit power will create interference with surroundings at the same time fading affect increases due to longer length of wireless link, hence limits the </a:t>
            </a:r>
            <a:r>
              <a:rPr lang="en-US" altLang="zh-TW" sz="2000" b="1" dirty="0">
                <a:solidFill>
                  <a:srgbClr val="FF0000"/>
                </a:solidFill>
                <a:ea typeface="新細明體" pitchFamily="18" charset="-120"/>
              </a:rPr>
              <a:t>capacity</a:t>
            </a:r>
            <a:r>
              <a:rPr lang="en-US" altLang="zh-TW" sz="2000" dirty="0">
                <a:ea typeface="新細明體" pitchFamily="18" charset="-120"/>
              </a:rPr>
              <a:t> of the network. </a:t>
            </a:r>
          </a:p>
          <a:p>
            <a:pPr algn="just" eaLnBrk="1" hangingPunct="1">
              <a:buFont typeface="Arial" panose="020B0604020202020204" pitchFamily="34" charset="0"/>
              <a:buChar char="•"/>
            </a:pPr>
            <a:r>
              <a:rPr lang="en-US" altLang="zh-TW" sz="2000" b="1" i="1" dirty="0">
                <a:solidFill>
                  <a:schemeClr val="accent2"/>
                </a:solidFill>
                <a:ea typeface="新細明體" pitchFamily="18" charset="-120"/>
              </a:rPr>
              <a:t>Capacity</a:t>
            </a:r>
            <a:r>
              <a:rPr lang="en-US" altLang="zh-TW" sz="2000" b="1" dirty="0">
                <a:solidFill>
                  <a:schemeClr val="accent2"/>
                </a:solidFill>
                <a:ea typeface="新細明體" pitchFamily="18" charset="-120"/>
              </a:rPr>
              <a:t> </a:t>
            </a:r>
          </a:p>
          <a:p>
            <a:pPr marL="0" indent="0" algn="just" eaLnBrk="1" hangingPunct="1">
              <a:buNone/>
            </a:pPr>
            <a:r>
              <a:rPr lang="en-US" altLang="zh-TW" sz="2000" dirty="0">
                <a:ea typeface="新細明體" pitchFamily="18" charset="-120"/>
              </a:rPr>
              <a:t>Because of huge interferences and fading the wireless link has limited peak data rate. To enhance capacity the length wireless link need to be reduced i.e. </a:t>
            </a:r>
            <a:r>
              <a:rPr lang="en-US" altLang="zh-TW" sz="2000" b="1" dirty="0">
                <a:solidFill>
                  <a:srgbClr val="FF0000"/>
                </a:solidFill>
                <a:ea typeface="新細明體" pitchFamily="18" charset="-120"/>
              </a:rPr>
              <a:t>coverage</a:t>
            </a:r>
            <a:r>
              <a:rPr lang="en-US" altLang="zh-TW" sz="2000" dirty="0">
                <a:ea typeface="新細明體" pitchFamily="18" charset="-120"/>
              </a:rPr>
              <a:t> of cell should be reduced again. </a:t>
            </a:r>
          </a:p>
          <a:p>
            <a:pPr algn="just" eaLnBrk="1" hangingPunct="1"/>
            <a:r>
              <a:rPr lang="en-US" altLang="zh-TW" sz="2000" b="1" i="1" dirty="0">
                <a:solidFill>
                  <a:schemeClr val="accent2"/>
                </a:solidFill>
                <a:ea typeface="新細明體" pitchFamily="18" charset="-120"/>
              </a:rPr>
              <a:t>Spectrum</a:t>
            </a:r>
          </a:p>
          <a:p>
            <a:pPr marL="0" indent="0" algn="just" eaLnBrk="1" hangingPunct="1">
              <a:buNone/>
            </a:pPr>
            <a:r>
              <a:rPr lang="en-US" altLang="zh-TW" sz="2000" dirty="0">
                <a:ea typeface="新細明體" pitchFamily="18" charset="-120"/>
              </a:rPr>
              <a:t>Lower carrier frequencies (&lt; 5 GHz) are best for wide-area coverage and mobility. The higher frequency carrier (spectrum of high frequency) experiences heavy path loss and scattering hence limits the cell size (</a:t>
            </a:r>
            <a:r>
              <a:rPr lang="en-US" altLang="zh-TW" sz="2000" b="1" dirty="0">
                <a:solidFill>
                  <a:srgbClr val="FF0000"/>
                </a:solidFill>
                <a:ea typeface="新細明體" pitchFamily="18" charset="-120"/>
              </a:rPr>
              <a:t>coverage</a:t>
            </a:r>
            <a:r>
              <a:rPr lang="en-US" altLang="zh-TW" sz="2000" dirty="0">
                <a:ea typeface="新細明體" pitchFamily="18" charset="-120"/>
              </a:rPr>
              <a:t>). </a:t>
            </a:r>
          </a:p>
        </p:txBody>
      </p:sp>
      <p:grpSp>
        <p:nvGrpSpPr>
          <p:cNvPr id="9" name="Group 8">
            <a:extLst>
              <a:ext uri="{FF2B5EF4-FFF2-40B4-BE49-F238E27FC236}">
                <a16:creationId xmlns:a16="http://schemas.microsoft.com/office/drawing/2014/main" xmlns="" id="{03C1B3FE-EE4A-4958-9086-24B3EFB28579}"/>
              </a:ext>
            </a:extLst>
          </p:cNvPr>
          <p:cNvGrpSpPr/>
          <p:nvPr/>
        </p:nvGrpSpPr>
        <p:grpSpPr>
          <a:xfrm>
            <a:off x="1790700" y="679157"/>
            <a:ext cx="4980991" cy="1675322"/>
            <a:chOff x="1877005" y="527857"/>
            <a:chExt cx="4980991" cy="1675322"/>
          </a:xfrm>
        </p:grpSpPr>
        <p:cxnSp>
          <p:nvCxnSpPr>
            <p:cNvPr id="3" name="Straight Arrow Connector 2">
              <a:extLst>
                <a:ext uri="{FF2B5EF4-FFF2-40B4-BE49-F238E27FC236}">
                  <a16:creationId xmlns:a16="http://schemas.microsoft.com/office/drawing/2014/main" xmlns="" id="{86FAF70F-58F6-46CD-9867-33ED30288174}"/>
                </a:ext>
              </a:extLst>
            </p:cNvPr>
            <p:cNvCxnSpPr/>
            <p:nvPr/>
          </p:nvCxnSpPr>
          <p:spPr>
            <a:xfrm flipV="1">
              <a:off x="4114800" y="701351"/>
              <a:ext cx="0" cy="898849"/>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xmlns="" id="{2C871C1C-E737-4F0B-A260-B22487C161DB}"/>
                </a:ext>
              </a:extLst>
            </p:cNvPr>
            <p:cNvCxnSpPr/>
            <p:nvPr/>
          </p:nvCxnSpPr>
          <p:spPr>
            <a:xfrm flipH="1">
              <a:off x="3124200" y="1600200"/>
              <a:ext cx="990600" cy="45720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xmlns="" id="{46DAFC27-CE4F-44EC-818B-7D9327AA2325}"/>
                </a:ext>
              </a:extLst>
            </p:cNvPr>
            <p:cNvCxnSpPr/>
            <p:nvPr/>
          </p:nvCxnSpPr>
          <p:spPr>
            <a:xfrm>
              <a:off x="4114800" y="1600200"/>
              <a:ext cx="1143000" cy="38100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xmlns="" id="{A886BBC2-451C-4AA5-837F-3B9ACD8E2444}"/>
                </a:ext>
              </a:extLst>
            </p:cNvPr>
            <p:cNvSpPr txBox="1"/>
            <p:nvPr/>
          </p:nvSpPr>
          <p:spPr>
            <a:xfrm>
              <a:off x="4201106" y="527857"/>
              <a:ext cx="1447796" cy="461665"/>
            </a:xfrm>
            <a:prstGeom prst="rect">
              <a:avLst/>
            </a:prstGeom>
            <a:noFill/>
          </p:spPr>
          <p:txBody>
            <a:bodyPr wrap="square" rtlCol="0">
              <a:spAutoFit/>
            </a:bodyPr>
            <a:lstStyle/>
            <a:p>
              <a:r>
                <a:rPr lang="en-US" b="1" dirty="0">
                  <a:solidFill>
                    <a:srgbClr val="FFC000"/>
                  </a:solidFill>
                </a:rPr>
                <a:t>Coverage</a:t>
              </a:r>
            </a:p>
          </p:txBody>
        </p:sp>
        <p:sp>
          <p:nvSpPr>
            <p:cNvPr id="12" name="TextBox 11">
              <a:extLst>
                <a:ext uri="{FF2B5EF4-FFF2-40B4-BE49-F238E27FC236}">
                  <a16:creationId xmlns:a16="http://schemas.microsoft.com/office/drawing/2014/main" xmlns="" id="{C1713D8E-128C-4B56-98A5-0F43036FB6DD}"/>
                </a:ext>
              </a:extLst>
            </p:cNvPr>
            <p:cNvSpPr txBox="1"/>
            <p:nvPr/>
          </p:nvSpPr>
          <p:spPr>
            <a:xfrm>
              <a:off x="5410200" y="1741514"/>
              <a:ext cx="1447796" cy="461665"/>
            </a:xfrm>
            <a:prstGeom prst="rect">
              <a:avLst/>
            </a:prstGeom>
            <a:noFill/>
          </p:spPr>
          <p:txBody>
            <a:bodyPr wrap="square" rtlCol="0">
              <a:spAutoFit/>
            </a:bodyPr>
            <a:lstStyle/>
            <a:p>
              <a:r>
                <a:rPr lang="en-US" b="1" dirty="0">
                  <a:solidFill>
                    <a:srgbClr val="3399FF"/>
                  </a:solidFill>
                </a:rPr>
                <a:t>Capacity</a:t>
              </a:r>
            </a:p>
          </p:txBody>
        </p:sp>
        <p:sp>
          <p:nvSpPr>
            <p:cNvPr id="13" name="TextBox 12">
              <a:extLst>
                <a:ext uri="{FF2B5EF4-FFF2-40B4-BE49-F238E27FC236}">
                  <a16:creationId xmlns:a16="http://schemas.microsoft.com/office/drawing/2014/main" xmlns="" id="{B6D08929-C63F-4BF4-9EB3-2147B765BAE6}"/>
                </a:ext>
              </a:extLst>
            </p:cNvPr>
            <p:cNvSpPr txBox="1"/>
            <p:nvPr/>
          </p:nvSpPr>
          <p:spPr>
            <a:xfrm>
              <a:off x="1877005" y="1603510"/>
              <a:ext cx="1485897" cy="461665"/>
            </a:xfrm>
            <a:prstGeom prst="rect">
              <a:avLst/>
            </a:prstGeom>
            <a:noFill/>
          </p:spPr>
          <p:txBody>
            <a:bodyPr wrap="square" rtlCol="0">
              <a:spAutoFit/>
            </a:bodyPr>
            <a:lstStyle/>
            <a:p>
              <a:r>
                <a:rPr lang="en-US" b="1" dirty="0">
                  <a:solidFill>
                    <a:srgbClr val="339933"/>
                  </a:solidFill>
                </a:rPr>
                <a:t>Spectrum</a:t>
              </a:r>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p:spPr>
        <p:txBody>
          <a:bodyPr/>
          <a:lstStyle/>
          <a:p>
            <a:fld id="{B99A9ADA-86F6-4751-ACFC-1AE13649F765}" type="slidenum">
              <a:rPr lang="en-US" smtClean="0"/>
              <a:pPr/>
              <a:t>5</a:t>
            </a:fld>
            <a:endParaRPr lang="en-US"/>
          </a:p>
        </p:txBody>
      </p:sp>
      <p:sp>
        <p:nvSpPr>
          <p:cNvPr id="13316" name="Text Box 3"/>
          <p:cNvSpPr txBox="1">
            <a:spLocks noChangeArrowheads="1"/>
          </p:cNvSpPr>
          <p:nvPr/>
        </p:nvSpPr>
        <p:spPr bwMode="auto">
          <a:xfrm>
            <a:off x="2316480" y="2057400"/>
            <a:ext cx="4267200" cy="1323439"/>
          </a:xfrm>
          <a:prstGeom prst="rect">
            <a:avLst/>
          </a:prstGeom>
          <a:solidFill>
            <a:schemeClr val="accent2"/>
          </a:solidFill>
          <a:ln w="9525">
            <a:noFill/>
            <a:miter lim="800000"/>
            <a:headEnd/>
            <a:tailEnd/>
          </a:ln>
        </p:spPr>
        <p:txBody>
          <a:bodyPr wrap="square">
            <a:spAutoFit/>
          </a:bodyPr>
          <a:lstStyle/>
          <a:p>
            <a:pPr>
              <a:spcBef>
                <a:spcPct val="50000"/>
              </a:spcBef>
            </a:pPr>
            <a:r>
              <a:rPr lang="en-US" sz="8000" b="1" dirty="0" err="1">
                <a:solidFill>
                  <a:schemeClr val="bg1"/>
                </a:solidFill>
              </a:rPr>
              <a:t>WiMAX</a:t>
            </a:r>
            <a:endParaRPr lang="en-US" sz="8000" b="1" dirty="0">
              <a:solidFill>
                <a:schemeClr val="bg1"/>
              </a:solidFill>
            </a:endParaRPr>
          </a:p>
        </p:txBody>
      </p:sp>
    </p:spTree>
    <p:extLst>
      <p:ext uri="{BB962C8B-B14F-4D97-AF65-F5344CB8AC3E}">
        <p14:creationId xmlns:p14="http://schemas.microsoft.com/office/powerpoint/2010/main" val="1070024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6"/>
          <p:cNvSpPr>
            <a:spLocks noGrp="1"/>
          </p:cNvSpPr>
          <p:nvPr>
            <p:ph type="sldNum" sz="quarter" idx="12"/>
          </p:nvPr>
        </p:nvSpPr>
        <p:spPr>
          <a:noFill/>
        </p:spPr>
        <p:txBody>
          <a:bodyPr/>
          <a:lstStyle/>
          <a:p>
            <a:fld id="{A76F8B30-48DA-4640-A4A0-203A656C9EF9}" type="slidenum">
              <a:rPr lang="en-US" smtClean="0"/>
              <a:pPr/>
              <a:t>6</a:t>
            </a:fld>
            <a:endParaRPr lang="en-US"/>
          </a:p>
        </p:txBody>
      </p:sp>
      <p:sp>
        <p:nvSpPr>
          <p:cNvPr id="99330" name="Rectangle 2"/>
          <p:cNvSpPr>
            <a:spLocks noGrp="1" noChangeArrowheads="1"/>
          </p:cNvSpPr>
          <p:nvPr>
            <p:ph type="title"/>
          </p:nvPr>
        </p:nvSpPr>
        <p:spPr>
          <a:xfrm>
            <a:off x="2672443" y="94473"/>
            <a:ext cx="3048000" cy="762000"/>
          </a:xfrm>
          <a:solidFill>
            <a:srgbClr val="FFCCFF"/>
          </a:solidFill>
        </p:spPr>
        <p:txBody>
          <a:bodyPr/>
          <a:lstStyle/>
          <a:p>
            <a:pPr eaLnBrk="1" hangingPunct="1">
              <a:defRPr/>
            </a:pPr>
            <a:r>
              <a:rPr lang="en-US" b="1" dirty="0" err="1">
                <a:solidFill>
                  <a:srgbClr val="FF6600"/>
                </a:solidFill>
                <a:effectLst>
                  <a:outerShdw blurRad="38100" dist="38100" dir="2700000" algn="tl">
                    <a:srgbClr val="000000"/>
                  </a:outerShdw>
                </a:effectLst>
                <a:latin typeface="Comic Sans MS" pitchFamily="66" charset="0"/>
              </a:rPr>
              <a:t>WiMAX</a:t>
            </a:r>
            <a:endParaRPr lang="en-US" b="1" dirty="0">
              <a:solidFill>
                <a:srgbClr val="FF6600"/>
              </a:solidFill>
              <a:effectLst>
                <a:outerShdw blurRad="38100" dist="38100" dir="2700000" algn="tl">
                  <a:srgbClr val="000000"/>
                </a:outerShdw>
              </a:effectLst>
              <a:latin typeface="Comic Sans MS" pitchFamily="66" charset="0"/>
            </a:endParaRPr>
          </a:p>
        </p:txBody>
      </p:sp>
      <p:sp>
        <p:nvSpPr>
          <p:cNvPr id="1029" name="Rectangle 3"/>
          <p:cNvSpPr>
            <a:spLocks noGrp="1" noChangeArrowheads="1"/>
          </p:cNvSpPr>
          <p:nvPr>
            <p:ph type="body" sz="half" idx="1"/>
          </p:nvPr>
        </p:nvSpPr>
        <p:spPr>
          <a:xfrm>
            <a:off x="152400" y="939282"/>
            <a:ext cx="8610600" cy="1219200"/>
          </a:xfrm>
        </p:spPr>
        <p:txBody>
          <a:bodyPr/>
          <a:lstStyle/>
          <a:p>
            <a:pPr marL="0" indent="0" algn="just" eaLnBrk="1" hangingPunct="1">
              <a:lnSpc>
                <a:spcPct val="120000"/>
              </a:lnSpc>
              <a:buNone/>
            </a:pPr>
            <a:r>
              <a:rPr lang="en-US" sz="2000" b="1" dirty="0"/>
              <a:t>Wi-MAX</a:t>
            </a:r>
            <a:r>
              <a:rPr lang="en-US" sz="1800" b="1" dirty="0"/>
              <a:t> </a:t>
            </a:r>
            <a:r>
              <a:rPr lang="en-US" sz="1800" dirty="0"/>
              <a:t>: </a:t>
            </a:r>
            <a:r>
              <a:rPr lang="en-US" sz="2200" dirty="0"/>
              <a:t>The </a:t>
            </a:r>
            <a:r>
              <a:rPr lang="en-US" sz="2200" b="1" dirty="0">
                <a:solidFill>
                  <a:srgbClr val="FF6600"/>
                </a:solidFill>
              </a:rPr>
              <a:t>Worldwide Interoperability for Microwave Access</a:t>
            </a:r>
            <a:r>
              <a:rPr lang="en-US" sz="2200" dirty="0"/>
              <a:t>, is a technology aimed at providing wireless data over long distances. It is based on the </a:t>
            </a:r>
            <a:r>
              <a:rPr lang="en-US" sz="2200" b="1" dirty="0"/>
              <a:t>IEEE 802.16</a:t>
            </a:r>
            <a:r>
              <a:rPr lang="en-US" sz="2200" dirty="0"/>
              <a:t> standard.</a:t>
            </a:r>
          </a:p>
        </p:txBody>
      </p:sp>
      <p:sp>
        <p:nvSpPr>
          <p:cNvPr id="1030" name="Text Box 5"/>
          <p:cNvSpPr txBox="1">
            <a:spLocks noChangeArrowheads="1"/>
          </p:cNvSpPr>
          <p:nvPr/>
        </p:nvSpPr>
        <p:spPr bwMode="auto">
          <a:xfrm>
            <a:off x="3886200" y="6248400"/>
            <a:ext cx="914400" cy="457200"/>
          </a:xfrm>
          <a:prstGeom prst="rect">
            <a:avLst/>
          </a:prstGeom>
          <a:noFill/>
          <a:ln w="9525">
            <a:noFill/>
            <a:miter lim="800000"/>
            <a:headEnd/>
            <a:tailEnd/>
          </a:ln>
        </p:spPr>
        <p:txBody>
          <a:bodyPr>
            <a:spAutoFit/>
          </a:bodyPr>
          <a:lstStyle/>
          <a:p>
            <a:pPr>
              <a:spcBef>
                <a:spcPct val="50000"/>
              </a:spcBef>
            </a:pPr>
            <a:r>
              <a:rPr lang="en-US"/>
              <a:t>Fig.1</a:t>
            </a:r>
          </a:p>
        </p:txBody>
      </p:sp>
      <p:pic>
        <p:nvPicPr>
          <p:cNvPr id="75954" name="Picture 178" descr="How WiMAX Works - WiMAX Wireless Technologies">
            <a:extLst>
              <a:ext uri="{FF2B5EF4-FFF2-40B4-BE49-F238E27FC236}">
                <a16:creationId xmlns:a16="http://schemas.microsoft.com/office/drawing/2014/main" xmlns="" id="{B2D6FD64-DCFA-4912-8570-96828DF4B1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41291"/>
            <a:ext cx="6259286" cy="392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3147"/>
      </p:ext>
    </p:extLst>
  </p:cSld>
  <p:clrMapOvr>
    <a:masterClrMapping/>
  </p:clrMapOvr>
  <p:transition advClick="0" advTm="3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2"/>
          </p:nvPr>
        </p:nvSpPr>
        <p:spPr>
          <a:noFill/>
        </p:spPr>
        <p:txBody>
          <a:bodyPr/>
          <a:lstStyle/>
          <a:p>
            <a:fld id="{28445570-35F5-4875-9284-83C541381520}" type="slidenum">
              <a:rPr lang="en-US" smtClean="0"/>
              <a:pPr/>
              <a:t>7</a:t>
            </a:fld>
            <a:endParaRPr lang="en-US"/>
          </a:p>
        </p:txBody>
      </p:sp>
      <p:sp>
        <p:nvSpPr>
          <p:cNvPr id="15363" name="TextBox 4"/>
          <p:cNvSpPr txBox="1">
            <a:spLocks noChangeArrowheads="1"/>
          </p:cNvSpPr>
          <p:nvPr/>
        </p:nvSpPr>
        <p:spPr bwMode="auto">
          <a:xfrm>
            <a:off x="152400" y="685800"/>
            <a:ext cx="8686800" cy="5324535"/>
          </a:xfrm>
          <a:prstGeom prst="rect">
            <a:avLst/>
          </a:prstGeom>
          <a:solidFill>
            <a:srgbClr val="FFCCFF"/>
          </a:solidFill>
          <a:ln w="9525">
            <a:noFill/>
            <a:miter lim="800000"/>
            <a:headEnd/>
            <a:tailEnd/>
          </a:ln>
        </p:spPr>
        <p:txBody>
          <a:bodyPr>
            <a:spAutoFit/>
          </a:bodyPr>
          <a:lstStyle/>
          <a:p>
            <a:pPr algn="ctr"/>
            <a:r>
              <a:rPr lang="en-US" sz="4000" b="1" dirty="0">
                <a:solidFill>
                  <a:srgbClr val="FF0000"/>
                </a:solidFill>
              </a:rPr>
              <a:t>Some important features of </a:t>
            </a:r>
            <a:r>
              <a:rPr lang="en-US" sz="4000" b="1" dirty="0" err="1">
                <a:solidFill>
                  <a:srgbClr val="FF0000"/>
                </a:solidFill>
              </a:rPr>
              <a:t>WiMAX</a:t>
            </a:r>
            <a:r>
              <a:rPr lang="en-US" sz="3600" b="1" dirty="0"/>
              <a:t> </a:t>
            </a:r>
          </a:p>
          <a:p>
            <a:pPr algn="just"/>
            <a:endParaRPr lang="en-US" sz="3600" b="1" dirty="0"/>
          </a:p>
          <a:p>
            <a:pPr algn="just"/>
            <a:r>
              <a:rPr lang="en-US" b="1" dirty="0"/>
              <a:t>OFDM in physical layer</a:t>
            </a:r>
            <a:r>
              <a:rPr lang="en-US" dirty="0"/>
              <a:t>: The access technique used in physical layer of </a:t>
            </a:r>
            <a:r>
              <a:rPr lang="en-US" dirty="0" err="1"/>
              <a:t>WiMAX</a:t>
            </a:r>
            <a:r>
              <a:rPr lang="en-US" dirty="0"/>
              <a:t> is OFDM; where the high speed serial data is converted to low rate parallel streams and each stream is modulated by separate carrier each one is known as subcarrier. Subcarriers are mutually orthogonal and deals with low data rate hence can protect ISI resulting from multipath propagation. </a:t>
            </a:r>
          </a:p>
          <a:p>
            <a:pPr algn="just"/>
            <a:r>
              <a:rPr lang="en-US" dirty="0"/>
              <a:t> </a:t>
            </a:r>
          </a:p>
          <a:p>
            <a:pPr algn="just"/>
            <a:r>
              <a:rPr lang="en-US" b="1" dirty="0"/>
              <a:t>Very high peak data rates:</a:t>
            </a:r>
            <a:r>
              <a:rPr lang="en-US" dirty="0"/>
              <a:t> The data rate of WMAX is 70Mbps under the channel of bandwidth of 20 </a:t>
            </a:r>
            <a:r>
              <a:rPr lang="en-US" dirty="0" err="1"/>
              <a:t>MHz.</a:t>
            </a:r>
            <a:r>
              <a:rPr lang="en-US" dirty="0"/>
              <a:t> The rate can be further increased using space division multiplexing i.e. incorporation of multiple antennas.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2"/>
          </p:nvPr>
        </p:nvSpPr>
        <p:spPr>
          <a:xfrm>
            <a:off x="7114259" y="6249610"/>
            <a:ext cx="1905000" cy="457200"/>
          </a:xfrm>
          <a:noFill/>
        </p:spPr>
        <p:txBody>
          <a:bodyPr/>
          <a:lstStyle/>
          <a:p>
            <a:fld id="{E0AE0F13-5A66-424F-BFBC-DF588E1FDE5A}" type="slidenum">
              <a:rPr lang="en-US" smtClean="0"/>
              <a:pPr/>
              <a:t>8</a:t>
            </a:fld>
            <a:endParaRPr lang="en-US" dirty="0"/>
          </a:p>
        </p:txBody>
      </p:sp>
      <p:sp>
        <p:nvSpPr>
          <p:cNvPr id="16387" name="TextBox 4"/>
          <p:cNvSpPr txBox="1">
            <a:spLocks noChangeArrowheads="1"/>
          </p:cNvSpPr>
          <p:nvPr/>
        </p:nvSpPr>
        <p:spPr bwMode="auto">
          <a:xfrm>
            <a:off x="68464" y="180310"/>
            <a:ext cx="6048108" cy="2862322"/>
          </a:xfrm>
          <a:prstGeom prst="rect">
            <a:avLst/>
          </a:prstGeom>
          <a:solidFill>
            <a:srgbClr val="FFCCFF"/>
          </a:solidFill>
          <a:ln w="9525">
            <a:noFill/>
            <a:miter lim="800000"/>
            <a:headEnd/>
            <a:tailEnd/>
          </a:ln>
        </p:spPr>
        <p:txBody>
          <a:bodyPr wrap="square">
            <a:spAutoFit/>
          </a:bodyPr>
          <a:lstStyle/>
          <a:p>
            <a:pPr algn="just"/>
            <a:r>
              <a:rPr lang="en-US" sz="2000" b="1" dirty="0"/>
              <a:t>Adaptive Modulation and Coding</a:t>
            </a:r>
            <a:r>
              <a:rPr lang="en-US" sz="2000" i="1" dirty="0"/>
              <a:t>: </a:t>
            </a:r>
            <a:r>
              <a:rPr lang="en-US" sz="2000" dirty="0"/>
              <a:t>The IEEE 802.16e standard changes </a:t>
            </a:r>
            <a:r>
              <a:rPr lang="en-US" sz="2000" b="1" dirty="0">
                <a:solidFill>
                  <a:srgbClr val="0000FF"/>
                </a:solidFill>
              </a:rPr>
              <a:t>modulation</a:t>
            </a:r>
            <a:r>
              <a:rPr lang="en-US" sz="2000" dirty="0"/>
              <a:t> and </a:t>
            </a:r>
            <a:r>
              <a:rPr lang="en-US" sz="2000" b="1" dirty="0">
                <a:solidFill>
                  <a:srgbClr val="0000FF"/>
                </a:solidFill>
              </a:rPr>
              <a:t>channel coding </a:t>
            </a:r>
            <a:r>
              <a:rPr lang="en-US" sz="2000" dirty="0"/>
              <a:t>scheme based on received SNR. For example  a SS (Subscriber Station) close to the BS can use a high modulation scheme (more bits per symbol) i.e. the system can get more capacity but when the SS is at the cell boarder the system permits lower modulation scheme (increased signal space on orthogonal basis function coordinate system) to avoid huge symbol error rate. </a:t>
            </a:r>
          </a:p>
        </p:txBody>
      </p:sp>
      <p:grpSp>
        <p:nvGrpSpPr>
          <p:cNvPr id="2" name="Group 1">
            <a:extLst>
              <a:ext uri="{FF2B5EF4-FFF2-40B4-BE49-F238E27FC236}">
                <a16:creationId xmlns:a16="http://schemas.microsoft.com/office/drawing/2014/main" xmlns="" id="{42F8A06F-E549-4D8F-A20F-9045F9747AAB}"/>
              </a:ext>
            </a:extLst>
          </p:cNvPr>
          <p:cNvGrpSpPr/>
          <p:nvPr/>
        </p:nvGrpSpPr>
        <p:grpSpPr>
          <a:xfrm>
            <a:off x="301655" y="3109343"/>
            <a:ext cx="4281182" cy="2555834"/>
            <a:chOff x="304800" y="3226500"/>
            <a:chExt cx="4281182" cy="2555834"/>
          </a:xfrm>
        </p:grpSpPr>
        <p:cxnSp>
          <p:nvCxnSpPr>
            <p:cNvPr id="3" name="Straight Arrow Connector 2">
              <a:extLst>
                <a:ext uri="{FF2B5EF4-FFF2-40B4-BE49-F238E27FC236}">
                  <a16:creationId xmlns:a16="http://schemas.microsoft.com/office/drawing/2014/main" xmlns="" id="{5C3A7276-FC84-4A99-8244-155874017F3B}"/>
                </a:ext>
              </a:extLst>
            </p:cNvPr>
            <p:cNvCxnSpPr>
              <a:cxnSpLocks/>
            </p:cNvCxnSpPr>
            <p:nvPr/>
          </p:nvCxnSpPr>
          <p:spPr>
            <a:xfrm flipV="1">
              <a:off x="1676400" y="3657600"/>
              <a:ext cx="0" cy="209934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xmlns="" id="{7DB83C0D-25E2-47B2-9E27-487D6605C8BE}"/>
                </a:ext>
              </a:extLst>
            </p:cNvPr>
            <p:cNvCxnSpPr/>
            <p:nvPr/>
          </p:nvCxnSpPr>
          <p:spPr>
            <a:xfrm>
              <a:off x="304800" y="4958397"/>
              <a:ext cx="3352800"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E02FFE43-2E53-420D-84BE-D6C9A0222932}"/>
                </a:ext>
              </a:extLst>
            </p:cNvPr>
            <p:cNvSpPr txBox="1"/>
            <p:nvPr/>
          </p:nvSpPr>
          <p:spPr>
            <a:xfrm>
              <a:off x="3657609" y="4729797"/>
              <a:ext cx="928373" cy="457200"/>
            </a:xfrm>
            <a:prstGeom prst="rect">
              <a:avLst/>
            </a:prstGeom>
            <a:noFill/>
          </p:spPr>
          <p:txBody>
            <a:bodyPr wrap="square" rtlCol="0">
              <a:spAutoFit/>
            </a:bodyPr>
            <a:lstStyle/>
            <a:p>
              <a:r>
                <a:rPr lang="el-GR" i="1" dirty="0"/>
                <a:t>Ψ</a:t>
              </a:r>
              <a:r>
                <a:rPr lang="en-US" baseline="-25000" dirty="0"/>
                <a:t>1</a:t>
              </a:r>
              <a:r>
                <a:rPr lang="en-US" dirty="0"/>
                <a:t>(</a:t>
              </a:r>
              <a:r>
                <a:rPr lang="en-US" i="1" dirty="0"/>
                <a:t>t</a:t>
              </a:r>
              <a:r>
                <a:rPr lang="en-US" dirty="0"/>
                <a:t>)</a:t>
              </a:r>
            </a:p>
          </p:txBody>
        </p:sp>
        <p:sp>
          <p:nvSpPr>
            <p:cNvPr id="10" name="TextBox 9">
              <a:extLst>
                <a:ext uri="{FF2B5EF4-FFF2-40B4-BE49-F238E27FC236}">
                  <a16:creationId xmlns:a16="http://schemas.microsoft.com/office/drawing/2014/main" xmlns="" id="{EDC324E0-C457-42A7-9242-0B8792BBBCB7}"/>
                </a:ext>
              </a:extLst>
            </p:cNvPr>
            <p:cNvSpPr txBox="1"/>
            <p:nvPr/>
          </p:nvSpPr>
          <p:spPr>
            <a:xfrm>
              <a:off x="1317953" y="3226500"/>
              <a:ext cx="914396" cy="457200"/>
            </a:xfrm>
            <a:prstGeom prst="rect">
              <a:avLst/>
            </a:prstGeom>
            <a:noFill/>
          </p:spPr>
          <p:txBody>
            <a:bodyPr wrap="square" rtlCol="0">
              <a:spAutoFit/>
            </a:bodyPr>
            <a:lstStyle/>
            <a:p>
              <a:r>
                <a:rPr lang="el-GR" i="1" dirty="0"/>
                <a:t>Ψ</a:t>
              </a:r>
              <a:r>
                <a:rPr lang="en-US" baseline="-25000" dirty="0"/>
                <a:t>2</a:t>
              </a:r>
              <a:r>
                <a:rPr lang="en-US" dirty="0"/>
                <a:t>(</a:t>
              </a:r>
              <a:r>
                <a:rPr lang="en-US" i="1" dirty="0"/>
                <a:t>t</a:t>
              </a:r>
              <a:r>
                <a:rPr lang="en-US" dirty="0"/>
                <a:t>)</a:t>
              </a:r>
            </a:p>
          </p:txBody>
        </p:sp>
        <p:sp>
          <p:nvSpPr>
            <p:cNvPr id="8" name="Oval 7">
              <a:extLst>
                <a:ext uri="{FF2B5EF4-FFF2-40B4-BE49-F238E27FC236}">
                  <a16:creationId xmlns:a16="http://schemas.microsoft.com/office/drawing/2014/main" xmlns="" id="{E9E3C9B7-F268-498B-8D7D-368DECDF5C46}"/>
                </a:ext>
              </a:extLst>
            </p:cNvPr>
            <p:cNvSpPr/>
            <p:nvPr/>
          </p:nvSpPr>
          <p:spPr>
            <a:xfrm>
              <a:off x="937727" y="4134461"/>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xmlns="" id="{2593433C-B258-450C-8777-9154D6A50E88}"/>
                </a:ext>
              </a:extLst>
            </p:cNvPr>
            <p:cNvSpPr/>
            <p:nvPr/>
          </p:nvSpPr>
          <p:spPr>
            <a:xfrm>
              <a:off x="2232349" y="4126636"/>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xmlns="" id="{712B2E65-9C51-4E3D-9654-9BAEF53ACC20}"/>
                </a:ext>
              </a:extLst>
            </p:cNvPr>
            <p:cNvSpPr/>
            <p:nvPr/>
          </p:nvSpPr>
          <p:spPr>
            <a:xfrm>
              <a:off x="952501" y="5629934"/>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xmlns="" id="{389CA5D2-AF99-4217-ABE0-993149941588}"/>
                </a:ext>
              </a:extLst>
            </p:cNvPr>
            <p:cNvSpPr/>
            <p:nvPr/>
          </p:nvSpPr>
          <p:spPr>
            <a:xfrm>
              <a:off x="2247900" y="5604542"/>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xmlns="" id="{274AFA52-AFA4-4DAF-B094-38F0AE8B2F26}"/>
                </a:ext>
              </a:extLst>
            </p:cNvPr>
            <p:cNvSpPr txBox="1"/>
            <p:nvPr/>
          </p:nvSpPr>
          <p:spPr>
            <a:xfrm>
              <a:off x="2561250" y="3539126"/>
              <a:ext cx="1143000" cy="461665"/>
            </a:xfrm>
            <a:prstGeom prst="rect">
              <a:avLst/>
            </a:prstGeom>
            <a:noFill/>
          </p:spPr>
          <p:txBody>
            <a:bodyPr wrap="square" rtlCol="0">
              <a:spAutoFit/>
            </a:bodyPr>
            <a:lstStyle/>
            <a:p>
              <a:r>
                <a:rPr lang="en-US" dirty="0"/>
                <a:t>QPSK</a:t>
              </a:r>
            </a:p>
          </p:txBody>
        </p:sp>
      </p:grpSp>
      <p:pic>
        <p:nvPicPr>
          <p:cNvPr id="16" name="Picture 15" descr="adaptiive_modulation">
            <a:extLst>
              <a:ext uri="{FF2B5EF4-FFF2-40B4-BE49-F238E27FC236}">
                <a16:creationId xmlns:a16="http://schemas.microsoft.com/office/drawing/2014/main" xmlns="" id="{B3B05934-D845-4513-85F8-F862FAD361F3}"/>
              </a:ext>
            </a:extLst>
          </p:cNvPr>
          <p:cNvPicPr>
            <a:picLocks noChangeAspect="1" noChangeArrowheads="1"/>
          </p:cNvPicPr>
          <p:nvPr/>
        </p:nvPicPr>
        <p:blipFill>
          <a:blip r:embed="rId2"/>
          <a:srcRect/>
          <a:stretch>
            <a:fillRect/>
          </a:stretch>
        </p:blipFill>
        <p:spPr bwMode="auto">
          <a:xfrm>
            <a:off x="6125944" y="749958"/>
            <a:ext cx="2844509" cy="2245913"/>
          </a:xfrm>
          <a:prstGeom prst="rect">
            <a:avLst/>
          </a:prstGeom>
          <a:noFill/>
          <a:ln w="9525">
            <a:noFill/>
            <a:miter lim="800000"/>
            <a:headEnd/>
            <a:tailEnd/>
          </a:ln>
        </p:spPr>
      </p:pic>
      <p:grpSp>
        <p:nvGrpSpPr>
          <p:cNvPr id="4" name="Group 3">
            <a:extLst>
              <a:ext uri="{FF2B5EF4-FFF2-40B4-BE49-F238E27FC236}">
                <a16:creationId xmlns:a16="http://schemas.microsoft.com/office/drawing/2014/main" xmlns="" id="{16DDB2BC-70C5-477A-8DAB-1D9CD178B725}"/>
              </a:ext>
            </a:extLst>
          </p:cNvPr>
          <p:cNvGrpSpPr/>
          <p:nvPr/>
        </p:nvGrpSpPr>
        <p:grpSpPr>
          <a:xfrm>
            <a:off x="5182918" y="2970231"/>
            <a:ext cx="3836342" cy="2699410"/>
            <a:chOff x="4887339" y="3791365"/>
            <a:chExt cx="4281182" cy="2852661"/>
          </a:xfrm>
        </p:grpSpPr>
        <p:grpSp>
          <p:nvGrpSpPr>
            <p:cNvPr id="15" name="Group 14">
              <a:extLst>
                <a:ext uri="{FF2B5EF4-FFF2-40B4-BE49-F238E27FC236}">
                  <a16:creationId xmlns:a16="http://schemas.microsoft.com/office/drawing/2014/main" xmlns="" id="{82AF3577-DF07-4DE4-936E-02BAE5D612F6}"/>
                </a:ext>
              </a:extLst>
            </p:cNvPr>
            <p:cNvGrpSpPr/>
            <p:nvPr/>
          </p:nvGrpSpPr>
          <p:grpSpPr>
            <a:xfrm>
              <a:off x="4887339" y="3791365"/>
              <a:ext cx="4281182" cy="2852661"/>
              <a:chOff x="304800" y="3167139"/>
              <a:chExt cx="4281182" cy="2852661"/>
            </a:xfrm>
          </p:grpSpPr>
          <p:cxnSp>
            <p:nvCxnSpPr>
              <p:cNvPr id="17" name="Straight Arrow Connector 16">
                <a:extLst>
                  <a:ext uri="{FF2B5EF4-FFF2-40B4-BE49-F238E27FC236}">
                    <a16:creationId xmlns:a16="http://schemas.microsoft.com/office/drawing/2014/main" xmlns="" id="{CE94588F-E46A-4623-B0A4-2F5BBF4938F0}"/>
                  </a:ext>
                </a:extLst>
              </p:cNvPr>
              <p:cNvCxnSpPr/>
              <p:nvPr/>
            </p:nvCxnSpPr>
            <p:spPr>
              <a:xfrm flipV="1">
                <a:off x="1676400" y="3657600"/>
                <a:ext cx="0" cy="236220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A84A2B29-4822-473F-89C1-D84188789F12}"/>
                  </a:ext>
                </a:extLst>
              </p:cNvPr>
              <p:cNvCxnSpPr/>
              <p:nvPr/>
            </p:nvCxnSpPr>
            <p:spPr>
              <a:xfrm>
                <a:off x="304800" y="4958397"/>
                <a:ext cx="3352800"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48C02EAD-D170-4C8B-B7B8-0883FEB5C8AE}"/>
                  </a:ext>
                </a:extLst>
              </p:cNvPr>
              <p:cNvSpPr txBox="1"/>
              <p:nvPr/>
            </p:nvSpPr>
            <p:spPr>
              <a:xfrm>
                <a:off x="3657609" y="4729797"/>
                <a:ext cx="928373" cy="457200"/>
              </a:xfrm>
              <a:prstGeom prst="rect">
                <a:avLst/>
              </a:prstGeom>
              <a:noFill/>
            </p:spPr>
            <p:txBody>
              <a:bodyPr wrap="square" rtlCol="0">
                <a:spAutoFit/>
              </a:bodyPr>
              <a:lstStyle/>
              <a:p>
                <a:r>
                  <a:rPr lang="el-GR" i="1" dirty="0"/>
                  <a:t>Ψ</a:t>
                </a:r>
                <a:r>
                  <a:rPr lang="en-US" baseline="-25000" dirty="0"/>
                  <a:t>1</a:t>
                </a:r>
                <a:r>
                  <a:rPr lang="en-US" dirty="0"/>
                  <a:t>(</a:t>
                </a:r>
                <a:r>
                  <a:rPr lang="en-US" i="1" dirty="0"/>
                  <a:t>t</a:t>
                </a:r>
                <a:r>
                  <a:rPr lang="en-US" dirty="0"/>
                  <a:t>)</a:t>
                </a:r>
              </a:p>
            </p:txBody>
          </p:sp>
          <p:sp>
            <p:nvSpPr>
              <p:cNvPr id="20" name="TextBox 19">
                <a:extLst>
                  <a:ext uri="{FF2B5EF4-FFF2-40B4-BE49-F238E27FC236}">
                    <a16:creationId xmlns:a16="http://schemas.microsoft.com/office/drawing/2014/main" xmlns="" id="{BEFB605E-FE6B-40AE-A96F-F315F37532F6}"/>
                  </a:ext>
                </a:extLst>
              </p:cNvPr>
              <p:cNvSpPr txBox="1"/>
              <p:nvPr/>
            </p:nvSpPr>
            <p:spPr>
              <a:xfrm>
                <a:off x="1342435" y="3167139"/>
                <a:ext cx="914396" cy="457200"/>
              </a:xfrm>
              <a:prstGeom prst="rect">
                <a:avLst/>
              </a:prstGeom>
              <a:noFill/>
            </p:spPr>
            <p:txBody>
              <a:bodyPr wrap="square" rtlCol="0">
                <a:spAutoFit/>
              </a:bodyPr>
              <a:lstStyle/>
              <a:p>
                <a:r>
                  <a:rPr lang="el-GR" i="1" dirty="0"/>
                  <a:t>Ψ</a:t>
                </a:r>
                <a:r>
                  <a:rPr lang="en-US" baseline="-25000" dirty="0"/>
                  <a:t>2</a:t>
                </a:r>
                <a:r>
                  <a:rPr lang="en-US" dirty="0"/>
                  <a:t>(</a:t>
                </a:r>
                <a:r>
                  <a:rPr lang="en-US" i="1" dirty="0"/>
                  <a:t>t</a:t>
                </a:r>
                <a:r>
                  <a:rPr lang="en-US" dirty="0"/>
                  <a:t>)</a:t>
                </a:r>
              </a:p>
            </p:txBody>
          </p:sp>
          <p:sp>
            <p:nvSpPr>
              <p:cNvPr id="25" name="TextBox 24">
                <a:extLst>
                  <a:ext uri="{FF2B5EF4-FFF2-40B4-BE49-F238E27FC236}">
                    <a16:creationId xmlns:a16="http://schemas.microsoft.com/office/drawing/2014/main" xmlns="" id="{F1B92006-A187-436C-9097-4818DAA98CA2}"/>
                  </a:ext>
                </a:extLst>
              </p:cNvPr>
              <p:cNvSpPr txBox="1"/>
              <p:nvPr/>
            </p:nvSpPr>
            <p:spPr>
              <a:xfrm>
                <a:off x="2561249" y="3539126"/>
                <a:ext cx="1466811" cy="461665"/>
              </a:xfrm>
              <a:prstGeom prst="rect">
                <a:avLst/>
              </a:prstGeom>
              <a:noFill/>
            </p:spPr>
            <p:txBody>
              <a:bodyPr wrap="square" rtlCol="0">
                <a:spAutoFit/>
              </a:bodyPr>
              <a:lstStyle/>
              <a:p>
                <a:r>
                  <a:rPr lang="en-US" dirty="0"/>
                  <a:t>16-QAM</a:t>
                </a:r>
              </a:p>
            </p:txBody>
          </p:sp>
        </p:grpSp>
        <p:sp>
          <p:nvSpPr>
            <p:cNvPr id="26" name="Oval 25">
              <a:extLst>
                <a:ext uri="{FF2B5EF4-FFF2-40B4-BE49-F238E27FC236}">
                  <a16:creationId xmlns:a16="http://schemas.microsoft.com/office/drawing/2014/main" xmlns="" id="{7ED57970-41DA-444D-8D6E-9B580367D643}"/>
                </a:ext>
              </a:extLst>
            </p:cNvPr>
            <p:cNvSpPr/>
            <p:nvPr/>
          </p:nvSpPr>
          <p:spPr>
            <a:xfrm>
              <a:off x="5723980" y="5237705"/>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xmlns="" id="{29A59AD2-B7CC-4597-BA1A-026ADDFE1215}"/>
                </a:ext>
              </a:extLst>
            </p:cNvPr>
            <p:cNvSpPr/>
            <p:nvPr/>
          </p:nvSpPr>
          <p:spPr>
            <a:xfrm>
              <a:off x="6531079" y="5199605"/>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xmlns="" id="{190EDE52-CEAC-4E5C-9AF6-0DBA741AC197}"/>
                </a:ext>
              </a:extLst>
            </p:cNvPr>
            <p:cNvSpPr/>
            <p:nvPr/>
          </p:nvSpPr>
          <p:spPr>
            <a:xfrm>
              <a:off x="7307264" y="5176400"/>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xmlns="" id="{E094145E-1C88-4333-8718-9AB17FFC9514}"/>
                </a:ext>
              </a:extLst>
            </p:cNvPr>
            <p:cNvSpPr/>
            <p:nvPr/>
          </p:nvSpPr>
          <p:spPr>
            <a:xfrm>
              <a:off x="5000081" y="5274467"/>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xmlns="" id="{F2A64AA0-AABA-4379-90EE-AAC17FB2F22F}"/>
                </a:ext>
              </a:extLst>
            </p:cNvPr>
            <p:cNvSpPr/>
            <p:nvPr/>
          </p:nvSpPr>
          <p:spPr>
            <a:xfrm>
              <a:off x="5687788" y="4727997"/>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xmlns="" id="{6369AEDA-B8A2-42E0-9FF4-E0DB21C27FE4}"/>
                </a:ext>
              </a:extLst>
            </p:cNvPr>
            <p:cNvSpPr/>
            <p:nvPr/>
          </p:nvSpPr>
          <p:spPr>
            <a:xfrm>
              <a:off x="6494887" y="4689897"/>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xmlns="" id="{ECA5571B-961E-48F1-981C-B8EE45F7A888}"/>
                </a:ext>
              </a:extLst>
            </p:cNvPr>
            <p:cNvSpPr/>
            <p:nvPr/>
          </p:nvSpPr>
          <p:spPr>
            <a:xfrm>
              <a:off x="7271072" y="4666692"/>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xmlns="" id="{B73ABE43-8E71-448A-9F46-E95BF6B0D33E}"/>
                </a:ext>
              </a:extLst>
            </p:cNvPr>
            <p:cNvSpPr/>
            <p:nvPr/>
          </p:nvSpPr>
          <p:spPr>
            <a:xfrm>
              <a:off x="4963889" y="4764759"/>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xmlns="" id="{A233A428-6CF6-4D6B-8888-1CB5FB03B15F}"/>
                </a:ext>
              </a:extLst>
            </p:cNvPr>
            <p:cNvSpPr/>
            <p:nvPr/>
          </p:nvSpPr>
          <p:spPr>
            <a:xfrm>
              <a:off x="5791200" y="5881155"/>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xmlns="" id="{F6EA6B57-10E0-4257-ADB2-9A13975847A3}"/>
                </a:ext>
              </a:extLst>
            </p:cNvPr>
            <p:cNvSpPr/>
            <p:nvPr/>
          </p:nvSpPr>
          <p:spPr>
            <a:xfrm>
              <a:off x="6598299" y="5843055"/>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xmlns="" id="{5ABF6524-5035-416E-8158-1AB690F82481}"/>
                </a:ext>
              </a:extLst>
            </p:cNvPr>
            <p:cNvSpPr/>
            <p:nvPr/>
          </p:nvSpPr>
          <p:spPr>
            <a:xfrm>
              <a:off x="7374484" y="5819850"/>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xmlns="" id="{85D7BC6F-8033-4273-B6C2-1B2D020C5354}"/>
                </a:ext>
              </a:extLst>
            </p:cNvPr>
            <p:cNvSpPr/>
            <p:nvPr/>
          </p:nvSpPr>
          <p:spPr>
            <a:xfrm>
              <a:off x="5067301" y="5917917"/>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xmlns="" id="{E1B66E3E-8DD1-4DDD-813A-85BB8079C7BC}"/>
                </a:ext>
              </a:extLst>
            </p:cNvPr>
            <p:cNvSpPr/>
            <p:nvPr/>
          </p:nvSpPr>
          <p:spPr>
            <a:xfrm>
              <a:off x="5791200" y="6405708"/>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xmlns="" id="{3EF36985-7242-4841-B12C-22A719895210}"/>
                </a:ext>
              </a:extLst>
            </p:cNvPr>
            <p:cNvSpPr/>
            <p:nvPr/>
          </p:nvSpPr>
          <p:spPr>
            <a:xfrm>
              <a:off x="6598299" y="6367608"/>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xmlns="" id="{C6971728-1720-4FB8-A880-7500FD1CD8E3}"/>
                </a:ext>
              </a:extLst>
            </p:cNvPr>
            <p:cNvSpPr/>
            <p:nvPr/>
          </p:nvSpPr>
          <p:spPr>
            <a:xfrm>
              <a:off x="7374484" y="6344403"/>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xmlns="" id="{C201ED05-517C-4047-BADF-B15C66B9D1AF}"/>
                </a:ext>
              </a:extLst>
            </p:cNvPr>
            <p:cNvSpPr/>
            <p:nvPr/>
          </p:nvSpPr>
          <p:spPr>
            <a:xfrm>
              <a:off x="5067301" y="6442470"/>
              <a:ext cx="152400" cy="15240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extBox 4">
            <a:extLst>
              <a:ext uri="{FF2B5EF4-FFF2-40B4-BE49-F238E27FC236}">
                <a16:creationId xmlns:a16="http://schemas.microsoft.com/office/drawing/2014/main" xmlns="" id="{E8BA9BDF-46BF-4ACA-87ED-3DD368E97D0A}"/>
              </a:ext>
            </a:extLst>
          </p:cNvPr>
          <p:cNvSpPr txBox="1"/>
          <p:nvPr/>
        </p:nvSpPr>
        <p:spPr>
          <a:xfrm>
            <a:off x="5022292" y="5815062"/>
            <a:ext cx="3028486" cy="707886"/>
          </a:xfrm>
          <a:prstGeom prst="rect">
            <a:avLst/>
          </a:prstGeom>
          <a:solidFill>
            <a:srgbClr val="CCECFF"/>
          </a:solidFill>
        </p:spPr>
        <p:txBody>
          <a:bodyPr wrap="square" rtlCol="0">
            <a:spAutoFit/>
          </a:bodyPr>
          <a:lstStyle/>
          <a:p>
            <a:pPr algn="ctr"/>
            <a:r>
              <a:rPr lang="en-US" sz="2000" dirty="0"/>
              <a:t>Upper Modulation Scheme</a:t>
            </a:r>
          </a:p>
          <a:p>
            <a:pPr algn="ctr"/>
            <a:r>
              <a:rPr lang="en-US" sz="2000" dirty="0"/>
              <a:t>(4 bits/symbol)</a:t>
            </a:r>
          </a:p>
        </p:txBody>
      </p:sp>
      <p:sp>
        <p:nvSpPr>
          <p:cNvPr id="39" name="TextBox 38">
            <a:extLst>
              <a:ext uri="{FF2B5EF4-FFF2-40B4-BE49-F238E27FC236}">
                <a16:creationId xmlns:a16="http://schemas.microsoft.com/office/drawing/2014/main" xmlns="" id="{1530DB6F-633A-4EDD-8DE3-837FF0C46E87}"/>
              </a:ext>
            </a:extLst>
          </p:cNvPr>
          <p:cNvSpPr txBox="1"/>
          <p:nvPr/>
        </p:nvSpPr>
        <p:spPr>
          <a:xfrm>
            <a:off x="282568" y="5766394"/>
            <a:ext cx="3540275" cy="830997"/>
          </a:xfrm>
          <a:prstGeom prst="rect">
            <a:avLst/>
          </a:prstGeom>
          <a:solidFill>
            <a:srgbClr val="CCECFF"/>
          </a:solidFill>
        </p:spPr>
        <p:txBody>
          <a:bodyPr wrap="square" rtlCol="0">
            <a:spAutoFit/>
          </a:bodyPr>
          <a:lstStyle/>
          <a:p>
            <a:pPr algn="ctr"/>
            <a:r>
              <a:rPr lang="en-US" dirty="0"/>
              <a:t>Lower Modulation Scheme</a:t>
            </a:r>
          </a:p>
          <a:p>
            <a:pPr algn="ctr"/>
            <a:r>
              <a:rPr lang="en-US" dirty="0"/>
              <a:t>(2 bits/symbol)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96A3CCF5-DA0F-4D13-90ED-9B141D761D97}"/>
              </a:ext>
            </a:extLst>
          </p:cNvPr>
          <p:cNvSpPr>
            <a:spLocks noGrp="1"/>
          </p:cNvSpPr>
          <p:nvPr>
            <p:ph type="sldNum" sz="quarter" idx="12"/>
          </p:nvPr>
        </p:nvSpPr>
        <p:spPr/>
        <p:txBody>
          <a:bodyPr/>
          <a:lstStyle/>
          <a:p>
            <a:pPr>
              <a:defRPr/>
            </a:pPr>
            <a:fld id="{4238FF85-7D5F-4211-AF5F-B3F85F4FE643}" type="slidenum">
              <a:rPr lang="en-US" smtClean="0"/>
              <a:pPr>
                <a:defRPr/>
              </a:pPr>
              <a:t>9</a:t>
            </a:fld>
            <a:endParaRPr lang="en-US"/>
          </a:p>
        </p:txBody>
      </p:sp>
      <p:pic>
        <p:nvPicPr>
          <p:cNvPr id="5" name="Picture 4" descr="adaptiive_modulation">
            <a:extLst>
              <a:ext uri="{FF2B5EF4-FFF2-40B4-BE49-F238E27FC236}">
                <a16:creationId xmlns:a16="http://schemas.microsoft.com/office/drawing/2014/main" xmlns="" id="{224A6F8A-9CDD-4E9D-9BF4-A44834E014C4}"/>
              </a:ext>
            </a:extLst>
          </p:cNvPr>
          <p:cNvPicPr>
            <a:picLocks noChangeAspect="1" noChangeArrowheads="1"/>
          </p:cNvPicPr>
          <p:nvPr/>
        </p:nvPicPr>
        <p:blipFill>
          <a:blip r:embed="rId2"/>
          <a:srcRect/>
          <a:stretch>
            <a:fillRect/>
          </a:stretch>
        </p:blipFill>
        <p:spPr bwMode="auto">
          <a:xfrm>
            <a:off x="3352800" y="2133875"/>
            <a:ext cx="5211155" cy="4114525"/>
          </a:xfrm>
          <a:prstGeom prst="rect">
            <a:avLst/>
          </a:prstGeom>
          <a:noFill/>
          <a:ln w="9525">
            <a:noFill/>
            <a:miter lim="800000"/>
            <a:headEnd/>
            <a:tailEnd/>
          </a:ln>
        </p:spPr>
      </p:pic>
      <p:sp>
        <p:nvSpPr>
          <p:cNvPr id="6" name="Rectangle 5">
            <a:extLst>
              <a:ext uri="{FF2B5EF4-FFF2-40B4-BE49-F238E27FC236}">
                <a16:creationId xmlns:a16="http://schemas.microsoft.com/office/drawing/2014/main" xmlns="" id="{E3DD27EB-7E66-4E31-BE84-7DD55D765F64}"/>
              </a:ext>
            </a:extLst>
          </p:cNvPr>
          <p:cNvSpPr/>
          <p:nvPr/>
        </p:nvSpPr>
        <p:spPr>
          <a:xfrm>
            <a:off x="152400" y="228600"/>
            <a:ext cx="8610600" cy="1569660"/>
          </a:xfrm>
          <a:prstGeom prst="rect">
            <a:avLst/>
          </a:prstGeom>
          <a:solidFill>
            <a:srgbClr val="FFCCFF"/>
          </a:solidFill>
        </p:spPr>
        <p:txBody>
          <a:bodyPr wrap="square">
            <a:spAutoFit/>
          </a:bodyPr>
          <a:lstStyle/>
          <a:p>
            <a:pPr marL="342900" indent="-342900" algn="just">
              <a:buFont typeface="Wingdings" panose="05000000000000000000" pitchFamily="2" charset="2"/>
              <a:buChar char="ü"/>
            </a:pPr>
            <a:r>
              <a:rPr lang="en-US" dirty="0"/>
              <a:t>The system can overcome the time selective fading (the channel condition is better at some instant than other) using </a:t>
            </a:r>
            <a:r>
              <a:rPr lang="en-US" b="1" dirty="0">
                <a:solidFill>
                  <a:srgbClr val="0000FF"/>
                </a:solidFill>
              </a:rPr>
              <a:t>adaptive modulation scheme</a:t>
            </a:r>
            <a:r>
              <a:rPr lang="en-US" dirty="0"/>
              <a:t>. To reduce BER at cell boundary, a complex </a:t>
            </a:r>
            <a:r>
              <a:rPr lang="en-US" b="1" dirty="0">
                <a:solidFill>
                  <a:srgbClr val="0000FF"/>
                </a:solidFill>
              </a:rPr>
              <a:t>channel coding </a:t>
            </a:r>
            <a:r>
              <a:rPr lang="en-US" dirty="0"/>
              <a:t>is used to detect or correct erroneous symbols. </a:t>
            </a:r>
          </a:p>
        </p:txBody>
      </p:sp>
      <p:sp>
        <p:nvSpPr>
          <p:cNvPr id="2" name="TextBox 1">
            <a:extLst>
              <a:ext uri="{FF2B5EF4-FFF2-40B4-BE49-F238E27FC236}">
                <a16:creationId xmlns:a16="http://schemas.microsoft.com/office/drawing/2014/main" xmlns="" id="{24DF19F8-DEF6-43F5-A23E-64E025D71191}"/>
              </a:ext>
            </a:extLst>
          </p:cNvPr>
          <p:cNvSpPr txBox="1"/>
          <p:nvPr/>
        </p:nvSpPr>
        <p:spPr>
          <a:xfrm>
            <a:off x="304800" y="3423165"/>
            <a:ext cx="2590800" cy="1569660"/>
          </a:xfrm>
          <a:prstGeom prst="rect">
            <a:avLst/>
          </a:prstGeom>
          <a:solidFill>
            <a:srgbClr val="33CCFF"/>
          </a:solidFill>
        </p:spPr>
        <p:txBody>
          <a:bodyPr wrap="square" rtlCol="0">
            <a:spAutoFit/>
          </a:bodyPr>
          <a:lstStyle/>
          <a:p>
            <a:r>
              <a:rPr lang="en-US" dirty="0"/>
              <a:t>Linear block code</a:t>
            </a:r>
          </a:p>
          <a:p>
            <a:r>
              <a:rPr lang="en-US" dirty="0"/>
              <a:t>Convolutional code</a:t>
            </a:r>
          </a:p>
          <a:p>
            <a:r>
              <a:rPr lang="en-US" dirty="0"/>
              <a:t>R-S Code</a:t>
            </a:r>
          </a:p>
          <a:p>
            <a:r>
              <a:rPr lang="en-US" dirty="0"/>
              <a:t>CRC code</a:t>
            </a:r>
          </a:p>
        </p:txBody>
      </p:sp>
    </p:spTree>
    <p:extLst>
      <p:ext uri="{BB962C8B-B14F-4D97-AF65-F5344CB8AC3E}">
        <p14:creationId xmlns:p14="http://schemas.microsoft.com/office/powerpoint/2010/main" val="1326745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10</a:t>
            </a:fld>
            <a:endParaRPr lang="en-US"/>
          </a:p>
        </p:txBody>
      </p:sp>
      <p:sp>
        <p:nvSpPr>
          <p:cNvPr id="5" name="TextBox 4"/>
          <p:cNvSpPr txBox="1"/>
          <p:nvPr/>
        </p:nvSpPr>
        <p:spPr>
          <a:xfrm>
            <a:off x="190500" y="1053499"/>
            <a:ext cx="8610600" cy="1569660"/>
          </a:xfrm>
          <a:prstGeom prst="rect">
            <a:avLst/>
          </a:prstGeom>
          <a:solidFill>
            <a:srgbClr val="FFCCFF"/>
          </a:solidFill>
        </p:spPr>
        <p:txBody>
          <a:bodyPr wrap="square" rtlCol="0">
            <a:spAutoFit/>
          </a:bodyPr>
          <a:lstStyle/>
          <a:p>
            <a:pPr marL="342900" indent="-342900" algn="just">
              <a:buFont typeface="Wingdings" panose="05000000000000000000" pitchFamily="2" charset="2"/>
              <a:buChar char="ü"/>
            </a:pPr>
            <a:r>
              <a:rPr lang="en-US" b="1" dirty="0"/>
              <a:t>Error Correction/Detection Techniques: </a:t>
            </a:r>
            <a:r>
              <a:rPr lang="en-US" dirty="0"/>
              <a:t>WiMAX incorporates two types of strong error correction techniques: </a:t>
            </a:r>
            <a:r>
              <a:rPr lang="en-US" b="1" dirty="0">
                <a:solidFill>
                  <a:schemeClr val="accent2"/>
                </a:solidFill>
              </a:rPr>
              <a:t>FEC (Forward Error Correction) </a:t>
            </a:r>
            <a:r>
              <a:rPr lang="en-US" dirty="0"/>
              <a:t>for multimedia traffic and </a:t>
            </a:r>
            <a:r>
              <a:rPr lang="en-US" b="1" dirty="0">
                <a:solidFill>
                  <a:schemeClr val="accent2"/>
                </a:solidFill>
              </a:rPr>
              <a:t>ARQ (Automatic Repeat Request) </a:t>
            </a:r>
            <a:r>
              <a:rPr lang="en-US" dirty="0"/>
              <a:t>for data traffic to improve throughput. </a:t>
            </a:r>
          </a:p>
        </p:txBody>
      </p:sp>
      <p:sp>
        <p:nvSpPr>
          <p:cNvPr id="6" name="TextBox 5">
            <a:extLst>
              <a:ext uri="{FF2B5EF4-FFF2-40B4-BE49-F238E27FC236}">
                <a16:creationId xmlns:a16="http://schemas.microsoft.com/office/drawing/2014/main" xmlns="" id="{58A16331-1F23-4E38-AA6C-9F94B0BDC16F}"/>
              </a:ext>
            </a:extLst>
          </p:cNvPr>
          <p:cNvSpPr txBox="1"/>
          <p:nvPr/>
        </p:nvSpPr>
        <p:spPr>
          <a:xfrm>
            <a:off x="990600" y="3429000"/>
            <a:ext cx="2743200" cy="1200329"/>
          </a:xfrm>
          <a:prstGeom prst="rect">
            <a:avLst/>
          </a:prstGeom>
          <a:solidFill>
            <a:srgbClr val="CCECFF"/>
          </a:solidFill>
        </p:spPr>
        <p:txBody>
          <a:bodyPr wrap="square" rtlCol="0">
            <a:spAutoFit/>
          </a:bodyPr>
          <a:lstStyle/>
          <a:p>
            <a:r>
              <a:rPr lang="en-US" b="1" dirty="0">
                <a:solidFill>
                  <a:srgbClr val="FF0000"/>
                </a:solidFill>
              </a:rPr>
              <a:t>Linear block code</a:t>
            </a:r>
          </a:p>
          <a:p>
            <a:r>
              <a:rPr lang="en-US" b="1" dirty="0">
                <a:solidFill>
                  <a:srgbClr val="FF0000"/>
                </a:solidFill>
              </a:rPr>
              <a:t>Convolutional code</a:t>
            </a:r>
          </a:p>
          <a:p>
            <a:r>
              <a:rPr lang="en-US" b="1" dirty="0">
                <a:solidFill>
                  <a:srgbClr val="FF0000"/>
                </a:solidFill>
              </a:rPr>
              <a:t>R-S Code</a:t>
            </a:r>
          </a:p>
        </p:txBody>
      </p:sp>
      <p:sp>
        <p:nvSpPr>
          <p:cNvPr id="2" name="Rectangle 1">
            <a:extLst>
              <a:ext uri="{FF2B5EF4-FFF2-40B4-BE49-F238E27FC236}">
                <a16:creationId xmlns:a16="http://schemas.microsoft.com/office/drawing/2014/main" xmlns="" id="{514369BE-7695-4BBF-9949-7B7F3775AEBB}"/>
              </a:ext>
            </a:extLst>
          </p:cNvPr>
          <p:cNvSpPr/>
          <p:nvPr/>
        </p:nvSpPr>
        <p:spPr>
          <a:xfrm>
            <a:off x="966247" y="4810036"/>
            <a:ext cx="1527982" cy="461665"/>
          </a:xfrm>
          <a:prstGeom prst="rect">
            <a:avLst/>
          </a:prstGeom>
          <a:solidFill>
            <a:srgbClr val="CCECFF"/>
          </a:solidFill>
        </p:spPr>
        <p:txBody>
          <a:bodyPr wrap="none">
            <a:spAutoFit/>
          </a:bodyPr>
          <a:lstStyle/>
          <a:p>
            <a:r>
              <a:rPr lang="en-US" b="1" dirty="0">
                <a:solidFill>
                  <a:srgbClr val="0000FF"/>
                </a:solidFill>
              </a:rPr>
              <a:t>CRC code</a:t>
            </a:r>
          </a:p>
        </p:txBody>
      </p:sp>
      <p:cxnSp>
        <p:nvCxnSpPr>
          <p:cNvPr id="7" name="Straight Arrow Connector 6">
            <a:extLst>
              <a:ext uri="{FF2B5EF4-FFF2-40B4-BE49-F238E27FC236}">
                <a16:creationId xmlns:a16="http://schemas.microsoft.com/office/drawing/2014/main" xmlns="" id="{B9DE8D3C-5CCC-4103-B531-D635B9AFC4E8}"/>
              </a:ext>
            </a:extLst>
          </p:cNvPr>
          <p:cNvCxnSpPr>
            <a:stCxn id="6" idx="3"/>
          </p:cNvCxnSpPr>
          <p:nvPr/>
        </p:nvCxnSpPr>
        <p:spPr>
          <a:xfrm flipV="1">
            <a:off x="3733800" y="3810000"/>
            <a:ext cx="1524000" cy="21916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xmlns="" id="{37FFA554-EB30-4174-84CD-E18E8E829514}"/>
              </a:ext>
            </a:extLst>
          </p:cNvPr>
          <p:cNvCxnSpPr/>
          <p:nvPr/>
        </p:nvCxnSpPr>
        <p:spPr>
          <a:xfrm flipV="1">
            <a:off x="2494229" y="4900746"/>
            <a:ext cx="1524000" cy="21916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xmlns="" id="{CB3518EB-5939-45E8-A9F2-0F62A30ABFBA}"/>
              </a:ext>
            </a:extLst>
          </p:cNvPr>
          <p:cNvSpPr/>
          <p:nvPr/>
        </p:nvSpPr>
        <p:spPr>
          <a:xfrm>
            <a:off x="5181600" y="3567499"/>
            <a:ext cx="800219" cy="461665"/>
          </a:xfrm>
          <a:prstGeom prst="rect">
            <a:avLst/>
          </a:prstGeom>
        </p:spPr>
        <p:txBody>
          <a:bodyPr wrap="none">
            <a:spAutoFit/>
          </a:bodyPr>
          <a:lstStyle/>
          <a:p>
            <a:r>
              <a:rPr lang="en-US" b="1" dirty="0">
                <a:solidFill>
                  <a:schemeClr val="accent2"/>
                </a:solidFill>
              </a:rPr>
              <a:t>FEC</a:t>
            </a:r>
            <a:endParaRPr lang="en-US" dirty="0"/>
          </a:p>
        </p:txBody>
      </p:sp>
      <p:sp>
        <p:nvSpPr>
          <p:cNvPr id="10" name="Rectangle 9">
            <a:extLst>
              <a:ext uri="{FF2B5EF4-FFF2-40B4-BE49-F238E27FC236}">
                <a16:creationId xmlns:a16="http://schemas.microsoft.com/office/drawing/2014/main" xmlns="" id="{37F195DF-8137-47E5-812E-29102BC89024}"/>
              </a:ext>
            </a:extLst>
          </p:cNvPr>
          <p:cNvSpPr/>
          <p:nvPr/>
        </p:nvSpPr>
        <p:spPr>
          <a:xfrm>
            <a:off x="3962400" y="4669913"/>
            <a:ext cx="869149" cy="461665"/>
          </a:xfrm>
          <a:prstGeom prst="rect">
            <a:avLst/>
          </a:prstGeom>
        </p:spPr>
        <p:txBody>
          <a:bodyPr wrap="none">
            <a:spAutoFit/>
          </a:bodyPr>
          <a:lstStyle/>
          <a:p>
            <a:r>
              <a:rPr lang="en-US" b="1" dirty="0">
                <a:solidFill>
                  <a:schemeClr val="accent2"/>
                </a:solidFill>
              </a:rPr>
              <a:t>ARQ</a:t>
            </a:r>
            <a:endParaRPr lang="en-US" dirty="0"/>
          </a:p>
        </p:txBody>
      </p:sp>
    </p:spTree>
    <p:extLst>
      <p:ext uri="{BB962C8B-B14F-4D97-AF65-F5344CB8AC3E}">
        <p14:creationId xmlns:p14="http://schemas.microsoft.com/office/powerpoint/2010/main" val="3067200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2"/>
          </p:nvPr>
        </p:nvSpPr>
        <p:spPr>
          <a:noFill/>
        </p:spPr>
        <p:txBody>
          <a:bodyPr/>
          <a:lstStyle/>
          <a:p>
            <a:fld id="{C54B17D0-E3EF-4D40-928A-9F1CCCE6F739}" type="slidenum">
              <a:rPr lang="en-US" smtClean="0"/>
              <a:pPr/>
              <a:t>11</a:t>
            </a:fld>
            <a:endParaRPr lang="en-US"/>
          </a:p>
        </p:txBody>
      </p:sp>
      <p:sp>
        <p:nvSpPr>
          <p:cNvPr id="17411" name="TextBox 4"/>
          <p:cNvSpPr txBox="1">
            <a:spLocks noChangeArrowheads="1"/>
          </p:cNvSpPr>
          <p:nvPr/>
        </p:nvSpPr>
        <p:spPr bwMode="auto">
          <a:xfrm>
            <a:off x="228600" y="304800"/>
            <a:ext cx="8763000" cy="2308324"/>
          </a:xfrm>
          <a:prstGeom prst="rect">
            <a:avLst/>
          </a:prstGeom>
          <a:solidFill>
            <a:srgbClr val="FFCCFF"/>
          </a:solidFill>
          <a:ln w="9525">
            <a:noFill/>
            <a:miter lim="800000"/>
            <a:headEnd/>
            <a:tailEnd/>
          </a:ln>
        </p:spPr>
        <p:txBody>
          <a:bodyPr>
            <a:spAutoFit/>
          </a:bodyPr>
          <a:lstStyle/>
          <a:p>
            <a:pPr marL="342900" indent="-342900" algn="just">
              <a:buFont typeface="Wingdings" panose="05000000000000000000" pitchFamily="2" charset="2"/>
              <a:buChar char="ü"/>
            </a:pPr>
            <a:r>
              <a:rPr lang="en-US" b="1" dirty="0"/>
              <a:t>Support for TDD and FDD:</a:t>
            </a:r>
            <a:r>
              <a:rPr lang="en-US" dirty="0"/>
              <a:t> Like mobile cellular communication it supports both FDD (Frequency division duplexing) and TDD (Time division duplexing), as well as a half-duplex FDD. Above features provide the flexibility of using same or different carriers for up and down link.</a:t>
            </a:r>
          </a:p>
          <a:p>
            <a:pPr algn="just"/>
            <a:endParaRPr lang="en-US" dirty="0"/>
          </a:p>
        </p:txBody>
      </p:sp>
      <p:sp>
        <p:nvSpPr>
          <p:cNvPr id="4" name="Text Box 4"/>
          <p:cNvSpPr txBox="1">
            <a:spLocks noChangeArrowheads="1"/>
          </p:cNvSpPr>
          <p:nvPr/>
        </p:nvSpPr>
        <p:spPr bwMode="auto">
          <a:xfrm>
            <a:off x="228600" y="3048000"/>
            <a:ext cx="8763000" cy="3416320"/>
          </a:xfrm>
          <a:prstGeom prst="rect">
            <a:avLst/>
          </a:prstGeom>
          <a:solidFill>
            <a:srgbClr val="FFCC66"/>
          </a:solidFill>
          <a:ln w="9525">
            <a:noFill/>
            <a:miter lim="800000"/>
            <a:headEnd/>
            <a:tailEnd/>
          </a:ln>
        </p:spPr>
        <p:txBody>
          <a:bodyPr wrap="square">
            <a:spAutoFit/>
          </a:bodyPr>
          <a:lstStyle/>
          <a:p>
            <a:pPr algn="just"/>
            <a:r>
              <a:rPr lang="en-US" b="1" i="1" dirty="0">
                <a:solidFill>
                  <a:srgbClr val="FF0000"/>
                </a:solidFill>
              </a:rPr>
              <a:t>Time Division Duplexing</a:t>
            </a:r>
          </a:p>
          <a:p>
            <a:pPr algn="just"/>
            <a:r>
              <a:rPr lang="en-US" dirty="0"/>
              <a:t>Time division duplexing (TDD) refers to transmission and reception of data on the same carrier frequency. A common frequency is shared between the upstream and downstream, but different time slot is allocated for them. </a:t>
            </a:r>
          </a:p>
          <a:p>
            <a:pPr algn="just"/>
            <a:r>
              <a:rPr lang="en-US" b="1" i="1" dirty="0">
                <a:solidFill>
                  <a:srgbClr val="FF0000"/>
                </a:solidFill>
              </a:rPr>
              <a:t>Frequency Division Duplexing</a:t>
            </a:r>
          </a:p>
          <a:p>
            <a:pPr algn="just"/>
            <a:r>
              <a:rPr lang="en-US" dirty="0"/>
              <a:t>Frequency division duplexing (FDD) refers to the simultaneous transmission and reception of data over separate carrier frequencies, allowing for bidirectional full-duplex communications.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12</a:t>
            </a:fld>
            <a:endParaRPr lang="en-US"/>
          </a:p>
        </p:txBody>
      </p:sp>
      <p:sp>
        <p:nvSpPr>
          <p:cNvPr id="6" name="TextBox 5"/>
          <p:cNvSpPr txBox="1"/>
          <p:nvPr/>
        </p:nvSpPr>
        <p:spPr>
          <a:xfrm>
            <a:off x="228600" y="838200"/>
            <a:ext cx="8686800" cy="3416320"/>
          </a:xfrm>
          <a:prstGeom prst="rect">
            <a:avLst/>
          </a:prstGeom>
          <a:solidFill>
            <a:srgbClr val="FFCCFF"/>
          </a:solidFill>
        </p:spPr>
        <p:txBody>
          <a:bodyPr wrap="square" rtlCol="0">
            <a:spAutoFit/>
          </a:bodyPr>
          <a:lstStyle/>
          <a:p>
            <a:pPr algn="just"/>
            <a:r>
              <a:rPr lang="en-US" b="1" dirty="0"/>
              <a:t>Three common types of BW allocation</a:t>
            </a:r>
            <a:r>
              <a:rPr lang="en-US" dirty="0"/>
              <a:t> algorithms are:</a:t>
            </a:r>
            <a:r>
              <a:rPr lang="en-US" i="1" dirty="0"/>
              <a:t> </a:t>
            </a:r>
            <a:r>
              <a:rPr lang="en-US" dirty="0">
                <a:solidFill>
                  <a:srgbClr val="FF0000"/>
                </a:solidFill>
              </a:rPr>
              <a:t>Dedicated Resource Allocation (Unsolicited Grand Service known as UGS Algorithm)</a:t>
            </a:r>
            <a:r>
              <a:rPr lang="en-US" dirty="0"/>
              <a:t> where fixed amount of BW is allocated to each user hence possibility of waste of BW when a user needs to data send data at low rate; </a:t>
            </a:r>
            <a:r>
              <a:rPr lang="en-US" dirty="0">
                <a:solidFill>
                  <a:srgbClr val="FF0000"/>
                </a:solidFill>
              </a:rPr>
              <a:t>Polling-Based Resource Allocation (Real-Time Polling Service called </a:t>
            </a:r>
            <a:r>
              <a:rPr lang="en-US" dirty="0" err="1">
                <a:solidFill>
                  <a:srgbClr val="FF0000"/>
                </a:solidFill>
              </a:rPr>
              <a:t>rtPS</a:t>
            </a:r>
            <a:r>
              <a:rPr lang="en-US" dirty="0">
                <a:solidFill>
                  <a:srgbClr val="FF0000"/>
                </a:solidFill>
              </a:rPr>
              <a:t> Algorithm)</a:t>
            </a:r>
            <a:r>
              <a:rPr lang="en-US" dirty="0"/>
              <a:t> where BS allocates the BW dynamically therefore incurs some protocol overhead and delay; </a:t>
            </a:r>
            <a:r>
              <a:rPr lang="en-US" dirty="0">
                <a:solidFill>
                  <a:srgbClr val="FF0000"/>
                </a:solidFill>
              </a:rPr>
              <a:t>Hybrid Resource Allocation Algorithm </a:t>
            </a:r>
            <a:r>
              <a:rPr lang="en-US" dirty="0"/>
              <a:t>is the combination of above two.</a:t>
            </a:r>
          </a:p>
        </p:txBody>
      </p:sp>
    </p:spTree>
    <p:extLst>
      <p:ext uri="{BB962C8B-B14F-4D97-AF65-F5344CB8AC3E}">
        <p14:creationId xmlns:p14="http://schemas.microsoft.com/office/powerpoint/2010/main" val="3968716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2"/>
          </p:nvPr>
        </p:nvSpPr>
        <p:spPr>
          <a:noFill/>
        </p:spPr>
        <p:txBody>
          <a:bodyPr/>
          <a:lstStyle/>
          <a:p>
            <a:fld id="{B6F65171-F180-44D8-8B86-74DAE6DFDF59}" type="slidenum">
              <a:rPr lang="en-US" smtClean="0"/>
              <a:pPr/>
              <a:t>13</a:t>
            </a:fld>
            <a:endParaRPr lang="en-US"/>
          </a:p>
        </p:txBody>
      </p:sp>
      <p:pic>
        <p:nvPicPr>
          <p:cNvPr id="18435" name="Picture 4"/>
          <p:cNvPicPr>
            <a:picLocks noChangeAspect="1" noChangeArrowheads="1"/>
          </p:cNvPicPr>
          <p:nvPr/>
        </p:nvPicPr>
        <p:blipFill>
          <a:blip r:embed="rId2"/>
          <a:srcRect/>
          <a:stretch>
            <a:fillRect/>
          </a:stretch>
        </p:blipFill>
        <p:spPr bwMode="auto">
          <a:xfrm>
            <a:off x="304800" y="381000"/>
            <a:ext cx="8305800" cy="4495800"/>
          </a:xfrm>
          <a:prstGeom prst="rect">
            <a:avLst/>
          </a:prstGeom>
          <a:noFill/>
          <a:ln w="9525">
            <a:noFill/>
            <a:miter lim="800000"/>
            <a:headEnd/>
            <a:tailEnd/>
          </a:ln>
        </p:spPr>
      </p:pic>
      <p:sp>
        <p:nvSpPr>
          <p:cNvPr id="18436" name="Rectangle 5"/>
          <p:cNvSpPr>
            <a:spLocks noChangeArrowheads="1"/>
          </p:cNvSpPr>
          <p:nvPr/>
        </p:nvSpPr>
        <p:spPr bwMode="auto">
          <a:xfrm>
            <a:off x="2286000" y="5410200"/>
            <a:ext cx="4357688" cy="461963"/>
          </a:xfrm>
          <a:prstGeom prst="rect">
            <a:avLst/>
          </a:prstGeom>
          <a:noFill/>
          <a:ln w="9525">
            <a:noFill/>
            <a:miter lim="800000"/>
            <a:headEnd/>
            <a:tailEnd/>
          </a:ln>
        </p:spPr>
        <p:txBody>
          <a:bodyPr wrap="none">
            <a:spAutoFit/>
          </a:bodyPr>
          <a:lstStyle/>
          <a:p>
            <a:r>
              <a:rPr lang="en-US"/>
              <a:t>IEEE 802.16 general architecture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2"/>
          </p:nvPr>
        </p:nvSpPr>
        <p:spPr>
          <a:noFill/>
        </p:spPr>
        <p:txBody>
          <a:bodyPr/>
          <a:lstStyle/>
          <a:p>
            <a:fld id="{BCB71ECE-5C17-4052-A43A-F630D84C829C}" type="slidenum">
              <a:rPr lang="en-US" smtClean="0"/>
              <a:pPr/>
              <a:t>14</a:t>
            </a:fld>
            <a:endParaRPr lang="en-US"/>
          </a:p>
        </p:txBody>
      </p:sp>
      <p:pic>
        <p:nvPicPr>
          <p:cNvPr id="19459" name="Picture 3"/>
          <p:cNvPicPr>
            <a:picLocks noChangeAspect="1" noChangeArrowheads="1"/>
          </p:cNvPicPr>
          <p:nvPr/>
        </p:nvPicPr>
        <p:blipFill>
          <a:blip r:embed="rId2"/>
          <a:srcRect/>
          <a:stretch>
            <a:fillRect/>
          </a:stretch>
        </p:blipFill>
        <p:spPr bwMode="auto">
          <a:xfrm>
            <a:off x="228600" y="457200"/>
            <a:ext cx="8502650" cy="6019800"/>
          </a:xfrm>
          <a:prstGeom prst="rect">
            <a:avLst/>
          </a:prstGeom>
          <a:noFill/>
          <a:ln w="9525">
            <a:noFill/>
            <a:miter lim="800000"/>
            <a:headEnd/>
            <a:tailEnd/>
          </a:ln>
        </p:spPr>
      </p:pic>
      <p:sp>
        <p:nvSpPr>
          <p:cNvPr id="19460" name="Rectangle 6"/>
          <p:cNvSpPr>
            <a:spLocks noChangeArrowheads="1"/>
          </p:cNvSpPr>
          <p:nvPr/>
        </p:nvSpPr>
        <p:spPr bwMode="auto">
          <a:xfrm>
            <a:off x="0" y="0"/>
            <a:ext cx="4503738" cy="461963"/>
          </a:xfrm>
          <a:prstGeom prst="rect">
            <a:avLst/>
          </a:prstGeom>
          <a:noFill/>
          <a:ln w="9525">
            <a:noFill/>
            <a:miter lim="800000"/>
            <a:headEnd/>
            <a:tailEnd/>
          </a:ln>
        </p:spPr>
        <p:txBody>
          <a:bodyPr wrap="none">
            <a:spAutoFit/>
          </a:bodyPr>
          <a:lstStyle/>
          <a:p>
            <a:r>
              <a:rPr lang="en-US"/>
              <a:t>WiMAX applications and missions</a:t>
            </a:r>
          </a:p>
        </p:txBody>
      </p:sp>
      <p:sp>
        <p:nvSpPr>
          <p:cNvPr id="19461" name="Rectangle 7"/>
          <p:cNvSpPr>
            <a:spLocks noChangeArrowheads="1"/>
          </p:cNvSpPr>
          <p:nvPr/>
        </p:nvSpPr>
        <p:spPr bwMode="auto">
          <a:xfrm>
            <a:off x="4419600" y="6396038"/>
            <a:ext cx="4549775" cy="461962"/>
          </a:xfrm>
          <a:prstGeom prst="rect">
            <a:avLst/>
          </a:prstGeom>
          <a:noFill/>
          <a:ln w="9525">
            <a:noFill/>
            <a:miter lim="800000"/>
            <a:headEnd/>
            <a:tailEnd/>
          </a:ln>
        </p:spPr>
        <p:txBody>
          <a:bodyPr wrap="none">
            <a:spAutoFit/>
          </a:bodyPr>
          <a:lstStyle/>
          <a:p>
            <a:r>
              <a:rPr lang="en-US"/>
              <a:t>BWA (Broadband Wireless Access)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p>
            <a:fld id="{141D67EE-11A9-48FC-9BC6-F650C05F550E}" type="slidenum">
              <a:rPr lang="en-US" smtClean="0"/>
              <a:pPr/>
              <a:t>15</a:t>
            </a:fld>
            <a:endParaRPr lang="en-US"/>
          </a:p>
        </p:txBody>
      </p:sp>
      <p:sp>
        <p:nvSpPr>
          <p:cNvPr id="23557" name="Rectangle 4"/>
          <p:cNvSpPr>
            <a:spLocks noGrp="1" noChangeArrowheads="1"/>
          </p:cNvSpPr>
          <p:nvPr>
            <p:ph type="title"/>
          </p:nvPr>
        </p:nvSpPr>
        <p:spPr>
          <a:xfrm>
            <a:off x="708025" y="65088"/>
            <a:ext cx="7772400" cy="647700"/>
          </a:xfrm>
        </p:spPr>
        <p:txBody>
          <a:bodyPr/>
          <a:lstStyle/>
          <a:p>
            <a:pPr eaLnBrk="1" hangingPunct="1"/>
            <a:r>
              <a:rPr lang="en-US" sz="3600" dirty="0"/>
              <a:t>Wireless Technology Evolution to 3.9G</a:t>
            </a:r>
          </a:p>
        </p:txBody>
      </p:sp>
      <p:sp>
        <p:nvSpPr>
          <p:cNvPr id="23558" name="AutoShape 5"/>
          <p:cNvSpPr>
            <a:spLocks noChangeAspect="1" noChangeArrowheads="1"/>
          </p:cNvSpPr>
          <p:nvPr/>
        </p:nvSpPr>
        <p:spPr bwMode="auto">
          <a:xfrm>
            <a:off x="914400" y="2514600"/>
            <a:ext cx="7588250" cy="3821113"/>
          </a:xfrm>
          <a:prstGeom prst="rect">
            <a:avLst/>
          </a:prstGeom>
          <a:noFill/>
          <a:ln w="9525">
            <a:noFill/>
            <a:miter lim="800000"/>
            <a:headEnd/>
            <a:tailEnd/>
          </a:ln>
        </p:spPr>
        <p:txBody>
          <a:bodyPr/>
          <a:lstStyle/>
          <a:p>
            <a:endParaRPr lang="en-US"/>
          </a:p>
        </p:txBody>
      </p:sp>
      <p:grpSp>
        <p:nvGrpSpPr>
          <p:cNvPr id="56" name="Group 55"/>
          <p:cNvGrpSpPr/>
          <p:nvPr/>
        </p:nvGrpSpPr>
        <p:grpSpPr>
          <a:xfrm>
            <a:off x="812800" y="762000"/>
            <a:ext cx="7815263" cy="4384675"/>
            <a:chOff x="812800" y="1524000"/>
            <a:chExt cx="7815263" cy="4384675"/>
          </a:xfrm>
        </p:grpSpPr>
        <p:sp>
          <p:nvSpPr>
            <p:cNvPr id="23555" name="Rectangle 2"/>
            <p:cNvSpPr>
              <a:spLocks noChangeArrowheads="1"/>
            </p:cNvSpPr>
            <p:nvPr/>
          </p:nvSpPr>
          <p:spPr bwMode="blackWhite">
            <a:xfrm>
              <a:off x="5368925" y="1919288"/>
              <a:ext cx="2087563" cy="3989387"/>
            </a:xfrm>
            <a:prstGeom prst="rect">
              <a:avLst/>
            </a:prstGeom>
            <a:solidFill>
              <a:srgbClr val="99CC00"/>
            </a:solidFill>
            <a:ln w="12700" algn="ctr">
              <a:noFill/>
              <a:miter lim="800000"/>
              <a:headEnd/>
              <a:tailEnd/>
            </a:ln>
          </p:spPr>
          <p:txBody>
            <a:bodyPr wrap="none" anchor="ctr"/>
            <a:lstStyle/>
            <a:p>
              <a:endParaRPr lang="en-US"/>
            </a:p>
          </p:txBody>
        </p:sp>
        <p:sp>
          <p:nvSpPr>
            <p:cNvPr id="23556" name="Rectangle 3"/>
            <p:cNvSpPr>
              <a:spLocks noChangeArrowheads="1"/>
            </p:cNvSpPr>
            <p:nvPr/>
          </p:nvSpPr>
          <p:spPr bwMode="blackWhite">
            <a:xfrm>
              <a:off x="1255713" y="1919288"/>
              <a:ext cx="1147762" cy="3962400"/>
            </a:xfrm>
            <a:prstGeom prst="rect">
              <a:avLst/>
            </a:prstGeom>
            <a:solidFill>
              <a:srgbClr val="99CC00"/>
            </a:solidFill>
            <a:ln w="12700" algn="ctr">
              <a:noFill/>
              <a:miter lim="800000"/>
              <a:headEnd/>
              <a:tailEnd/>
            </a:ln>
          </p:spPr>
          <p:txBody>
            <a:bodyPr wrap="none" anchor="ctr"/>
            <a:lstStyle/>
            <a:p>
              <a:endParaRPr lang="en-US"/>
            </a:p>
          </p:txBody>
        </p:sp>
        <p:sp>
          <p:nvSpPr>
            <p:cNvPr id="23559" name="Line 6"/>
            <p:cNvSpPr>
              <a:spLocks noChangeShapeType="1"/>
            </p:cNvSpPr>
            <p:nvPr/>
          </p:nvSpPr>
          <p:spPr bwMode="auto">
            <a:xfrm>
              <a:off x="3314700" y="3825875"/>
              <a:ext cx="257175" cy="1588"/>
            </a:xfrm>
            <a:prstGeom prst="line">
              <a:avLst/>
            </a:prstGeom>
            <a:noFill/>
            <a:ln w="38100">
              <a:solidFill>
                <a:srgbClr val="000000"/>
              </a:solidFill>
              <a:round/>
              <a:headEnd/>
              <a:tailEnd type="triangle" w="med" len="med"/>
            </a:ln>
          </p:spPr>
          <p:txBody>
            <a:bodyPr/>
            <a:lstStyle/>
            <a:p>
              <a:endParaRPr lang="en-US"/>
            </a:p>
          </p:txBody>
        </p:sp>
        <p:sp>
          <p:nvSpPr>
            <p:cNvPr id="23560" name="Line 7"/>
            <p:cNvSpPr>
              <a:spLocks noChangeShapeType="1"/>
            </p:cNvSpPr>
            <p:nvPr/>
          </p:nvSpPr>
          <p:spPr bwMode="auto">
            <a:xfrm flipH="1">
              <a:off x="7920038" y="2608263"/>
              <a:ext cx="19050" cy="2625725"/>
            </a:xfrm>
            <a:prstGeom prst="line">
              <a:avLst/>
            </a:prstGeom>
            <a:noFill/>
            <a:ln w="38100">
              <a:solidFill>
                <a:srgbClr val="000000"/>
              </a:solidFill>
              <a:round/>
              <a:headEnd/>
              <a:tailEnd type="triangle" w="med" len="med"/>
            </a:ln>
          </p:spPr>
          <p:txBody>
            <a:bodyPr/>
            <a:lstStyle/>
            <a:p>
              <a:endParaRPr lang="en-US"/>
            </a:p>
          </p:txBody>
        </p:sp>
        <p:sp>
          <p:nvSpPr>
            <p:cNvPr id="23561" name="Line 8"/>
            <p:cNvSpPr>
              <a:spLocks noChangeShapeType="1"/>
            </p:cNvSpPr>
            <p:nvPr/>
          </p:nvSpPr>
          <p:spPr bwMode="auto">
            <a:xfrm>
              <a:off x="6853238" y="4949825"/>
              <a:ext cx="0" cy="255588"/>
            </a:xfrm>
            <a:prstGeom prst="line">
              <a:avLst/>
            </a:prstGeom>
            <a:noFill/>
            <a:ln w="38100">
              <a:solidFill>
                <a:srgbClr val="000000"/>
              </a:solidFill>
              <a:round/>
              <a:headEnd/>
              <a:tailEnd type="triangle" w="med" len="med"/>
            </a:ln>
          </p:spPr>
          <p:txBody>
            <a:bodyPr/>
            <a:lstStyle/>
            <a:p>
              <a:endParaRPr lang="en-US"/>
            </a:p>
          </p:txBody>
        </p:sp>
        <p:sp>
          <p:nvSpPr>
            <p:cNvPr id="23562" name="Line 9"/>
            <p:cNvSpPr>
              <a:spLocks noChangeShapeType="1"/>
            </p:cNvSpPr>
            <p:nvPr/>
          </p:nvSpPr>
          <p:spPr bwMode="auto">
            <a:xfrm flipH="1">
              <a:off x="6134100" y="2598738"/>
              <a:ext cx="17463" cy="2625725"/>
            </a:xfrm>
            <a:prstGeom prst="line">
              <a:avLst/>
            </a:prstGeom>
            <a:noFill/>
            <a:ln w="38100">
              <a:solidFill>
                <a:srgbClr val="000000"/>
              </a:solidFill>
              <a:round/>
              <a:headEnd/>
              <a:tailEnd type="triangle" w="med" len="med"/>
            </a:ln>
          </p:spPr>
          <p:txBody>
            <a:bodyPr/>
            <a:lstStyle/>
            <a:p>
              <a:endParaRPr lang="en-US"/>
            </a:p>
          </p:txBody>
        </p:sp>
        <p:sp>
          <p:nvSpPr>
            <p:cNvPr id="23563" name="Line 10"/>
            <p:cNvSpPr>
              <a:spLocks noChangeShapeType="1"/>
            </p:cNvSpPr>
            <p:nvPr/>
          </p:nvSpPr>
          <p:spPr bwMode="auto">
            <a:xfrm flipH="1">
              <a:off x="3678238" y="4176713"/>
              <a:ext cx="1063625" cy="223837"/>
            </a:xfrm>
            <a:prstGeom prst="line">
              <a:avLst/>
            </a:prstGeom>
            <a:noFill/>
            <a:ln w="38100">
              <a:solidFill>
                <a:srgbClr val="000000"/>
              </a:solidFill>
              <a:round/>
              <a:headEnd/>
              <a:tailEnd type="triangle" w="med" len="med"/>
            </a:ln>
          </p:spPr>
          <p:txBody>
            <a:bodyPr/>
            <a:lstStyle/>
            <a:p>
              <a:endParaRPr lang="en-US"/>
            </a:p>
          </p:txBody>
        </p:sp>
        <p:sp>
          <p:nvSpPr>
            <p:cNvPr id="23564" name="Line 11"/>
            <p:cNvSpPr>
              <a:spLocks noChangeShapeType="1"/>
            </p:cNvSpPr>
            <p:nvPr/>
          </p:nvSpPr>
          <p:spPr bwMode="auto">
            <a:xfrm flipH="1">
              <a:off x="2935288" y="2647950"/>
              <a:ext cx="20637" cy="1714500"/>
            </a:xfrm>
            <a:prstGeom prst="line">
              <a:avLst/>
            </a:prstGeom>
            <a:noFill/>
            <a:ln w="38100">
              <a:solidFill>
                <a:srgbClr val="000000"/>
              </a:solidFill>
              <a:round/>
              <a:headEnd/>
              <a:tailEnd type="triangle" w="med" len="med"/>
            </a:ln>
          </p:spPr>
          <p:txBody>
            <a:bodyPr/>
            <a:lstStyle/>
            <a:p>
              <a:endParaRPr lang="en-US"/>
            </a:p>
          </p:txBody>
        </p:sp>
        <p:sp>
          <p:nvSpPr>
            <p:cNvPr id="23565" name="Line 12"/>
            <p:cNvSpPr>
              <a:spLocks noChangeShapeType="1"/>
            </p:cNvSpPr>
            <p:nvPr/>
          </p:nvSpPr>
          <p:spPr bwMode="auto">
            <a:xfrm flipH="1">
              <a:off x="1846263" y="2589213"/>
              <a:ext cx="19050" cy="2625725"/>
            </a:xfrm>
            <a:prstGeom prst="line">
              <a:avLst/>
            </a:prstGeom>
            <a:noFill/>
            <a:ln w="38100">
              <a:solidFill>
                <a:srgbClr val="000000"/>
              </a:solidFill>
              <a:round/>
              <a:headEnd/>
              <a:tailEnd type="triangle" w="med" len="med"/>
            </a:ln>
          </p:spPr>
          <p:txBody>
            <a:bodyPr/>
            <a:lstStyle/>
            <a:p>
              <a:endParaRPr lang="en-US"/>
            </a:p>
          </p:txBody>
        </p:sp>
        <p:sp>
          <p:nvSpPr>
            <p:cNvPr id="23566" name="AutoShape 13"/>
            <p:cNvSpPr>
              <a:spLocks noChangeArrowheads="1"/>
            </p:cNvSpPr>
            <p:nvPr/>
          </p:nvSpPr>
          <p:spPr bwMode="auto">
            <a:xfrm>
              <a:off x="1404938" y="2032000"/>
              <a:ext cx="901700" cy="606425"/>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CDMA</a:t>
              </a:r>
            </a:p>
            <a:p>
              <a:pPr algn="ctr"/>
              <a:r>
                <a:rPr lang="en-US" sz="1200" b="1">
                  <a:solidFill>
                    <a:srgbClr val="000000"/>
                  </a:solidFill>
                  <a:latin typeface="Arial" charset="0"/>
                </a:rPr>
                <a:t>(IS-95A)</a:t>
              </a:r>
              <a:endParaRPr lang="en-US" sz="3200" b="1">
                <a:latin typeface="Tahoma" pitchFamily="34" charset="0"/>
              </a:endParaRPr>
            </a:p>
          </p:txBody>
        </p:sp>
        <p:sp>
          <p:nvSpPr>
            <p:cNvPr id="23567" name="AutoShape 14"/>
            <p:cNvSpPr>
              <a:spLocks noChangeArrowheads="1"/>
            </p:cNvSpPr>
            <p:nvPr/>
          </p:nvSpPr>
          <p:spPr bwMode="auto">
            <a:xfrm>
              <a:off x="2460625" y="2032000"/>
              <a:ext cx="901700" cy="606425"/>
            </a:xfrm>
            <a:prstGeom prst="roundRect">
              <a:avLst>
                <a:gd name="adj" fmla="val 16667"/>
              </a:avLst>
            </a:prstGeom>
            <a:solidFill>
              <a:srgbClr val="FFC000"/>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GSM</a:t>
              </a:r>
              <a:endParaRPr lang="en-US" sz="3200" b="1">
                <a:latin typeface="Tahoma" pitchFamily="34" charset="0"/>
              </a:endParaRPr>
            </a:p>
          </p:txBody>
        </p:sp>
        <p:sp>
          <p:nvSpPr>
            <p:cNvPr id="23568" name="AutoShape 15"/>
            <p:cNvSpPr>
              <a:spLocks noChangeArrowheads="1"/>
            </p:cNvSpPr>
            <p:nvPr/>
          </p:nvSpPr>
          <p:spPr bwMode="auto">
            <a:xfrm>
              <a:off x="1404938" y="2852738"/>
              <a:ext cx="901700" cy="608012"/>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CDMA</a:t>
              </a:r>
            </a:p>
            <a:p>
              <a:pPr algn="ctr"/>
              <a:r>
                <a:rPr lang="en-US" sz="1200" b="1">
                  <a:solidFill>
                    <a:srgbClr val="000000"/>
                  </a:solidFill>
                  <a:latin typeface="Arial" charset="0"/>
                </a:rPr>
                <a:t>(IS-95B)</a:t>
              </a:r>
              <a:endParaRPr lang="en-US" sz="3200" b="1">
                <a:latin typeface="Tahoma" pitchFamily="34" charset="0"/>
              </a:endParaRPr>
            </a:p>
          </p:txBody>
        </p:sp>
        <p:sp>
          <p:nvSpPr>
            <p:cNvPr id="23569" name="AutoShape 16"/>
            <p:cNvSpPr>
              <a:spLocks noChangeArrowheads="1"/>
            </p:cNvSpPr>
            <p:nvPr/>
          </p:nvSpPr>
          <p:spPr bwMode="auto">
            <a:xfrm>
              <a:off x="1404938" y="3568700"/>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cdma</a:t>
              </a:r>
            </a:p>
            <a:p>
              <a:pPr algn="ctr"/>
              <a:r>
                <a:rPr lang="en-US" sz="1200" b="1">
                  <a:solidFill>
                    <a:srgbClr val="000000"/>
                  </a:solidFill>
                  <a:latin typeface="Arial" charset="0"/>
                </a:rPr>
                <a:t>2000</a:t>
              </a:r>
              <a:endParaRPr lang="en-US" sz="3200" b="1">
                <a:latin typeface="Tahoma" pitchFamily="34" charset="0"/>
              </a:endParaRPr>
            </a:p>
          </p:txBody>
        </p:sp>
        <p:sp>
          <p:nvSpPr>
            <p:cNvPr id="23570" name="AutoShape 17"/>
            <p:cNvSpPr>
              <a:spLocks noChangeArrowheads="1"/>
            </p:cNvSpPr>
            <p:nvPr/>
          </p:nvSpPr>
          <p:spPr bwMode="auto">
            <a:xfrm>
              <a:off x="1363663" y="4333875"/>
              <a:ext cx="97155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1xEV-DO</a:t>
              </a:r>
            </a:p>
            <a:p>
              <a:pPr algn="ctr"/>
              <a:r>
                <a:rPr lang="en-US" sz="1200" b="1">
                  <a:solidFill>
                    <a:srgbClr val="000000"/>
                  </a:solidFill>
                  <a:latin typeface="Arial" charset="0"/>
                </a:rPr>
                <a:t>Rev 0/A/B</a:t>
              </a:r>
              <a:endParaRPr lang="en-US" sz="3200" b="1">
                <a:latin typeface="Tahoma" pitchFamily="34" charset="0"/>
              </a:endParaRPr>
            </a:p>
          </p:txBody>
        </p:sp>
        <p:sp>
          <p:nvSpPr>
            <p:cNvPr id="23571" name="AutoShape 18"/>
            <p:cNvSpPr>
              <a:spLocks noChangeArrowheads="1"/>
            </p:cNvSpPr>
            <p:nvPr/>
          </p:nvSpPr>
          <p:spPr bwMode="auto">
            <a:xfrm>
              <a:off x="1404938" y="5207000"/>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UMB</a:t>
              </a:r>
            </a:p>
            <a:p>
              <a:pPr algn="ctr"/>
              <a:r>
                <a:rPr lang="en-US" sz="1200" b="1">
                  <a:solidFill>
                    <a:srgbClr val="000000"/>
                  </a:solidFill>
                  <a:latin typeface="Arial" charset="0"/>
                </a:rPr>
                <a:t>802.20</a:t>
              </a:r>
              <a:endParaRPr lang="en-US" sz="3200" b="1">
                <a:latin typeface="Tahoma" pitchFamily="34" charset="0"/>
              </a:endParaRPr>
            </a:p>
          </p:txBody>
        </p:sp>
        <p:sp>
          <p:nvSpPr>
            <p:cNvPr id="23572" name="Text Box 19"/>
            <p:cNvSpPr txBox="1">
              <a:spLocks noChangeArrowheads="1"/>
            </p:cNvSpPr>
            <p:nvPr/>
          </p:nvSpPr>
          <p:spPr bwMode="auto">
            <a:xfrm>
              <a:off x="812800" y="2212975"/>
              <a:ext cx="500063" cy="360363"/>
            </a:xfrm>
            <a:prstGeom prst="rect">
              <a:avLst/>
            </a:prstGeom>
            <a:noFill/>
            <a:ln w="9525">
              <a:noFill/>
              <a:miter lim="800000"/>
              <a:headEnd/>
              <a:tailEnd/>
            </a:ln>
          </p:spPr>
          <p:txBody>
            <a:bodyPr lIns="83344" tIns="41672" rIns="83344" bIns="41672"/>
            <a:lstStyle/>
            <a:p>
              <a:r>
                <a:rPr lang="en-US" sz="1200" b="1">
                  <a:solidFill>
                    <a:srgbClr val="000000"/>
                  </a:solidFill>
                  <a:latin typeface="Arial" charset="0"/>
                </a:rPr>
                <a:t>2G</a:t>
              </a:r>
              <a:endParaRPr lang="en-US" sz="3200" b="1">
                <a:latin typeface="Tahoma" pitchFamily="34" charset="0"/>
              </a:endParaRPr>
            </a:p>
          </p:txBody>
        </p:sp>
        <p:sp>
          <p:nvSpPr>
            <p:cNvPr id="23573" name="Text Box 20"/>
            <p:cNvSpPr txBox="1">
              <a:spLocks noChangeArrowheads="1"/>
            </p:cNvSpPr>
            <p:nvPr/>
          </p:nvSpPr>
          <p:spPr bwMode="auto">
            <a:xfrm>
              <a:off x="812800" y="3035300"/>
              <a:ext cx="673100" cy="360363"/>
            </a:xfrm>
            <a:prstGeom prst="rect">
              <a:avLst/>
            </a:prstGeom>
            <a:noFill/>
            <a:ln w="9525">
              <a:noFill/>
              <a:miter lim="800000"/>
              <a:headEnd/>
              <a:tailEnd/>
            </a:ln>
          </p:spPr>
          <p:txBody>
            <a:bodyPr lIns="83344" tIns="41672" rIns="83344" bIns="41672"/>
            <a:lstStyle/>
            <a:p>
              <a:r>
                <a:rPr lang="en-US" sz="1200" b="1">
                  <a:solidFill>
                    <a:srgbClr val="000000"/>
                  </a:solidFill>
                  <a:latin typeface="Arial" charset="0"/>
                </a:rPr>
                <a:t>2.5G</a:t>
              </a:r>
              <a:endParaRPr lang="en-US" sz="3200" b="1">
                <a:latin typeface="Tahoma" pitchFamily="34" charset="0"/>
              </a:endParaRPr>
            </a:p>
          </p:txBody>
        </p:sp>
        <p:sp>
          <p:nvSpPr>
            <p:cNvPr id="23574" name="Text Box 21"/>
            <p:cNvSpPr txBox="1">
              <a:spLocks noChangeArrowheads="1"/>
            </p:cNvSpPr>
            <p:nvPr/>
          </p:nvSpPr>
          <p:spPr bwMode="auto">
            <a:xfrm>
              <a:off x="812800" y="3798888"/>
              <a:ext cx="500063" cy="360362"/>
            </a:xfrm>
            <a:prstGeom prst="rect">
              <a:avLst/>
            </a:prstGeom>
            <a:noFill/>
            <a:ln w="9525">
              <a:noFill/>
              <a:miter lim="800000"/>
              <a:headEnd/>
              <a:tailEnd/>
            </a:ln>
          </p:spPr>
          <p:txBody>
            <a:bodyPr lIns="83344" tIns="41672" rIns="83344" bIns="41672"/>
            <a:lstStyle/>
            <a:p>
              <a:r>
                <a:rPr lang="en-US" sz="1200" b="1">
                  <a:solidFill>
                    <a:srgbClr val="000000"/>
                  </a:solidFill>
                  <a:latin typeface="Arial" charset="0"/>
                </a:rPr>
                <a:t>3G</a:t>
              </a:r>
              <a:endParaRPr lang="en-US" sz="3200" b="1">
                <a:latin typeface="Tahoma" pitchFamily="34" charset="0"/>
              </a:endParaRPr>
            </a:p>
          </p:txBody>
        </p:sp>
        <p:sp>
          <p:nvSpPr>
            <p:cNvPr id="23575" name="Text Box 22"/>
            <p:cNvSpPr txBox="1">
              <a:spLocks noChangeArrowheads="1"/>
            </p:cNvSpPr>
            <p:nvPr/>
          </p:nvSpPr>
          <p:spPr bwMode="auto">
            <a:xfrm>
              <a:off x="812800" y="4367213"/>
              <a:ext cx="673100" cy="360362"/>
            </a:xfrm>
            <a:prstGeom prst="rect">
              <a:avLst/>
            </a:prstGeom>
            <a:noFill/>
            <a:ln w="9525">
              <a:noFill/>
              <a:miter lim="800000"/>
              <a:headEnd/>
              <a:tailEnd/>
            </a:ln>
          </p:spPr>
          <p:txBody>
            <a:bodyPr lIns="83344" tIns="41672" rIns="83344" bIns="41672"/>
            <a:lstStyle/>
            <a:p>
              <a:r>
                <a:rPr lang="en-US" sz="1200" b="1">
                  <a:solidFill>
                    <a:srgbClr val="000000"/>
                  </a:solidFill>
                  <a:latin typeface="Arial" charset="0"/>
                </a:rPr>
                <a:t>3.5G</a:t>
              </a:r>
              <a:endParaRPr lang="en-US" sz="3200" b="1">
                <a:latin typeface="Tahoma" pitchFamily="34" charset="0"/>
              </a:endParaRPr>
            </a:p>
          </p:txBody>
        </p:sp>
        <p:sp>
          <p:nvSpPr>
            <p:cNvPr id="23576" name="Text Box 23"/>
            <p:cNvSpPr txBox="1">
              <a:spLocks noChangeArrowheads="1"/>
            </p:cNvSpPr>
            <p:nvPr/>
          </p:nvSpPr>
          <p:spPr bwMode="auto">
            <a:xfrm>
              <a:off x="812800" y="5349875"/>
              <a:ext cx="673100" cy="358775"/>
            </a:xfrm>
            <a:prstGeom prst="rect">
              <a:avLst/>
            </a:prstGeom>
            <a:noFill/>
            <a:ln w="9525">
              <a:noFill/>
              <a:miter lim="800000"/>
              <a:headEnd/>
              <a:tailEnd/>
            </a:ln>
          </p:spPr>
          <p:txBody>
            <a:bodyPr lIns="83344" tIns="41672" rIns="83344" bIns="41672"/>
            <a:lstStyle/>
            <a:p>
              <a:r>
                <a:rPr lang="en-US" sz="1200" b="1">
                  <a:solidFill>
                    <a:srgbClr val="000000"/>
                  </a:solidFill>
                  <a:latin typeface="Arial" charset="0"/>
                </a:rPr>
                <a:t>3.9G</a:t>
              </a:r>
              <a:endParaRPr lang="en-US" sz="3200" b="1">
                <a:latin typeface="Tahoma" pitchFamily="34" charset="0"/>
              </a:endParaRPr>
            </a:p>
          </p:txBody>
        </p:sp>
        <p:sp>
          <p:nvSpPr>
            <p:cNvPr id="23577" name="AutoShape 24"/>
            <p:cNvSpPr>
              <a:spLocks noChangeArrowheads="1"/>
            </p:cNvSpPr>
            <p:nvPr/>
          </p:nvSpPr>
          <p:spPr bwMode="auto">
            <a:xfrm>
              <a:off x="2460625" y="2852738"/>
              <a:ext cx="901700" cy="608012"/>
            </a:xfrm>
            <a:prstGeom prst="roundRect">
              <a:avLst>
                <a:gd name="adj" fmla="val 16667"/>
              </a:avLst>
            </a:prstGeom>
            <a:solidFill>
              <a:srgbClr val="FFC000"/>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GPRS</a:t>
              </a:r>
              <a:endParaRPr lang="en-US" sz="3200" b="1">
                <a:latin typeface="Tahoma" pitchFamily="34" charset="0"/>
              </a:endParaRPr>
            </a:p>
          </p:txBody>
        </p:sp>
        <p:sp>
          <p:nvSpPr>
            <p:cNvPr id="23578" name="AutoShape 25"/>
            <p:cNvSpPr>
              <a:spLocks noChangeArrowheads="1"/>
            </p:cNvSpPr>
            <p:nvPr/>
          </p:nvSpPr>
          <p:spPr bwMode="auto">
            <a:xfrm>
              <a:off x="2460625" y="3568700"/>
              <a:ext cx="901700" cy="608013"/>
            </a:xfrm>
            <a:prstGeom prst="roundRect">
              <a:avLst>
                <a:gd name="adj" fmla="val 16667"/>
              </a:avLst>
            </a:prstGeom>
            <a:solidFill>
              <a:srgbClr val="FFC000"/>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E-GPRS</a:t>
              </a:r>
            </a:p>
            <a:p>
              <a:pPr algn="ctr"/>
              <a:r>
                <a:rPr lang="en-US" sz="1200" b="1">
                  <a:solidFill>
                    <a:srgbClr val="000000"/>
                  </a:solidFill>
                  <a:latin typeface="Arial" charset="0"/>
                </a:rPr>
                <a:t>EDGE</a:t>
              </a:r>
              <a:endParaRPr lang="en-US" sz="3200" b="1">
                <a:latin typeface="Tahoma" pitchFamily="34" charset="0"/>
              </a:endParaRPr>
            </a:p>
          </p:txBody>
        </p:sp>
        <p:sp>
          <p:nvSpPr>
            <p:cNvPr id="23579" name="AutoShape 26"/>
            <p:cNvSpPr>
              <a:spLocks noChangeArrowheads="1"/>
            </p:cNvSpPr>
            <p:nvPr/>
          </p:nvSpPr>
          <p:spPr bwMode="auto">
            <a:xfrm>
              <a:off x="2794000" y="4333875"/>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dirty="0">
                  <a:solidFill>
                    <a:srgbClr val="000000"/>
                  </a:solidFill>
                  <a:latin typeface="Arial" charset="0"/>
                </a:rPr>
                <a:t>HSDPA</a:t>
              </a:r>
            </a:p>
            <a:p>
              <a:pPr algn="ctr"/>
              <a:r>
                <a:rPr lang="en-US" sz="1200" b="1" dirty="0">
                  <a:solidFill>
                    <a:srgbClr val="000000"/>
                  </a:solidFill>
                  <a:latin typeface="Arial" charset="0"/>
                </a:rPr>
                <a:t>FDD/TDD</a:t>
              </a:r>
              <a:endParaRPr lang="en-US" sz="3200" b="1" dirty="0">
                <a:latin typeface="Tahoma" pitchFamily="34" charset="0"/>
              </a:endParaRPr>
            </a:p>
          </p:txBody>
        </p:sp>
        <p:sp>
          <p:nvSpPr>
            <p:cNvPr id="23580" name="AutoShape 27"/>
            <p:cNvSpPr>
              <a:spLocks noChangeArrowheads="1"/>
            </p:cNvSpPr>
            <p:nvPr/>
          </p:nvSpPr>
          <p:spPr bwMode="auto">
            <a:xfrm>
              <a:off x="3516313" y="2032000"/>
              <a:ext cx="901700" cy="606425"/>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TDMA</a:t>
              </a:r>
            </a:p>
            <a:p>
              <a:pPr algn="ctr"/>
              <a:r>
                <a:rPr lang="en-US" sz="1200" b="1">
                  <a:solidFill>
                    <a:srgbClr val="000000"/>
                  </a:solidFill>
                  <a:latin typeface="Arial" charset="0"/>
                </a:rPr>
                <a:t>IS-136</a:t>
              </a:r>
              <a:endParaRPr lang="en-US" sz="3200" b="1">
                <a:latin typeface="Tahoma" pitchFamily="34" charset="0"/>
              </a:endParaRPr>
            </a:p>
          </p:txBody>
        </p:sp>
        <p:sp>
          <p:nvSpPr>
            <p:cNvPr id="23581" name="Line 28"/>
            <p:cNvSpPr>
              <a:spLocks noChangeShapeType="1"/>
            </p:cNvSpPr>
            <p:nvPr/>
          </p:nvSpPr>
          <p:spPr bwMode="auto">
            <a:xfrm flipH="1">
              <a:off x="3335338" y="2638425"/>
              <a:ext cx="628650" cy="960438"/>
            </a:xfrm>
            <a:prstGeom prst="line">
              <a:avLst/>
            </a:prstGeom>
            <a:noFill/>
            <a:ln w="38100">
              <a:solidFill>
                <a:srgbClr val="000000"/>
              </a:solidFill>
              <a:round/>
              <a:headEnd/>
              <a:tailEnd type="triangle" w="med" len="med"/>
            </a:ln>
          </p:spPr>
          <p:txBody>
            <a:bodyPr/>
            <a:lstStyle/>
            <a:p>
              <a:endParaRPr lang="en-US"/>
            </a:p>
          </p:txBody>
        </p:sp>
        <p:sp>
          <p:nvSpPr>
            <p:cNvPr id="23582" name="AutoShape 29"/>
            <p:cNvSpPr>
              <a:spLocks noChangeArrowheads="1"/>
            </p:cNvSpPr>
            <p:nvPr/>
          </p:nvSpPr>
          <p:spPr bwMode="auto">
            <a:xfrm>
              <a:off x="3602038" y="3568700"/>
              <a:ext cx="901700" cy="608013"/>
            </a:xfrm>
            <a:prstGeom prst="roundRect">
              <a:avLst>
                <a:gd name="adj" fmla="val 16667"/>
              </a:avLst>
            </a:prstGeom>
            <a:solidFill>
              <a:srgbClr val="FFC000"/>
            </a:solidFill>
            <a:ln w="9525">
              <a:solidFill>
                <a:srgbClr val="000000"/>
              </a:solidFill>
              <a:round/>
              <a:headEnd/>
              <a:tailEnd/>
            </a:ln>
          </p:spPr>
          <p:txBody>
            <a:bodyPr lIns="83344" tIns="41672" rIns="83344" bIns="41672" anchor="ctr"/>
            <a:lstStyle/>
            <a:p>
              <a:pPr algn="ctr"/>
              <a:r>
                <a:rPr lang="en-US" sz="1200" b="1" dirty="0">
                  <a:solidFill>
                    <a:srgbClr val="000000"/>
                  </a:solidFill>
                  <a:latin typeface="Arial" charset="0"/>
                </a:rPr>
                <a:t>WCDMA</a:t>
              </a:r>
            </a:p>
            <a:p>
              <a:pPr algn="ctr"/>
              <a:r>
                <a:rPr lang="en-US" sz="1200" b="1" dirty="0">
                  <a:solidFill>
                    <a:srgbClr val="000000"/>
                  </a:solidFill>
                  <a:latin typeface="Arial" charset="0"/>
                </a:rPr>
                <a:t>FDD/TDD</a:t>
              </a:r>
              <a:endParaRPr lang="en-US" sz="3200" b="1" dirty="0">
                <a:latin typeface="Tahoma" pitchFamily="34" charset="0"/>
              </a:endParaRPr>
            </a:p>
          </p:txBody>
        </p:sp>
        <p:sp>
          <p:nvSpPr>
            <p:cNvPr id="23583" name="AutoShape 30"/>
            <p:cNvSpPr>
              <a:spLocks noChangeArrowheads="1"/>
            </p:cNvSpPr>
            <p:nvPr/>
          </p:nvSpPr>
          <p:spPr bwMode="auto">
            <a:xfrm>
              <a:off x="4570413" y="3568700"/>
              <a:ext cx="968375"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dirty="0">
                  <a:solidFill>
                    <a:srgbClr val="000000"/>
                  </a:solidFill>
                  <a:latin typeface="Arial" charset="0"/>
                </a:rPr>
                <a:t>TD-SCDMA</a:t>
              </a:r>
            </a:p>
            <a:p>
              <a:pPr algn="ctr"/>
              <a:r>
                <a:rPr lang="en-US" sz="1200" b="1" dirty="0">
                  <a:solidFill>
                    <a:srgbClr val="000000"/>
                  </a:solidFill>
                  <a:latin typeface="Arial" charset="0"/>
                </a:rPr>
                <a:t>LCR-TDD</a:t>
              </a:r>
              <a:endParaRPr lang="en-US" sz="3200" b="1" dirty="0">
                <a:latin typeface="Tahoma" pitchFamily="34" charset="0"/>
              </a:endParaRPr>
            </a:p>
          </p:txBody>
        </p:sp>
        <p:sp>
          <p:nvSpPr>
            <p:cNvPr id="23584" name="Line 31"/>
            <p:cNvSpPr>
              <a:spLocks noChangeShapeType="1"/>
            </p:cNvSpPr>
            <p:nvPr/>
          </p:nvSpPr>
          <p:spPr bwMode="auto">
            <a:xfrm flipH="1">
              <a:off x="3373438" y="4156075"/>
              <a:ext cx="266700" cy="187325"/>
            </a:xfrm>
            <a:prstGeom prst="line">
              <a:avLst/>
            </a:prstGeom>
            <a:noFill/>
            <a:ln w="38100">
              <a:solidFill>
                <a:srgbClr val="000000"/>
              </a:solidFill>
              <a:round/>
              <a:headEnd/>
              <a:tailEnd type="triangle" w="med" len="med"/>
            </a:ln>
          </p:spPr>
          <p:txBody>
            <a:bodyPr/>
            <a:lstStyle/>
            <a:p>
              <a:endParaRPr lang="en-US"/>
            </a:p>
          </p:txBody>
        </p:sp>
        <p:sp>
          <p:nvSpPr>
            <p:cNvPr id="23585" name="AutoShape 32"/>
            <p:cNvSpPr>
              <a:spLocks noChangeArrowheads="1"/>
            </p:cNvSpPr>
            <p:nvPr/>
          </p:nvSpPr>
          <p:spPr bwMode="auto">
            <a:xfrm>
              <a:off x="4133850" y="4333875"/>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HSUPA</a:t>
              </a:r>
            </a:p>
            <a:p>
              <a:pPr algn="ctr"/>
              <a:r>
                <a:rPr lang="en-US" sz="1200" b="1">
                  <a:solidFill>
                    <a:srgbClr val="000000"/>
                  </a:solidFill>
                  <a:latin typeface="Arial" charset="0"/>
                </a:rPr>
                <a:t>FDD/TDD</a:t>
              </a:r>
              <a:endParaRPr lang="en-US" sz="3200" b="1">
                <a:latin typeface="Tahoma" pitchFamily="34" charset="0"/>
              </a:endParaRPr>
            </a:p>
          </p:txBody>
        </p:sp>
        <p:sp>
          <p:nvSpPr>
            <p:cNvPr id="23586" name="AutoShape 33"/>
            <p:cNvSpPr>
              <a:spLocks noChangeArrowheads="1"/>
            </p:cNvSpPr>
            <p:nvPr/>
          </p:nvSpPr>
          <p:spPr bwMode="auto">
            <a:xfrm>
              <a:off x="4143375" y="5207000"/>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HSPA+</a:t>
              </a:r>
              <a:endParaRPr lang="en-US" sz="3200" b="1">
                <a:latin typeface="Tahoma" pitchFamily="34" charset="0"/>
              </a:endParaRPr>
            </a:p>
          </p:txBody>
        </p:sp>
        <p:sp>
          <p:nvSpPr>
            <p:cNvPr id="23587" name="Line 34"/>
            <p:cNvSpPr>
              <a:spLocks noChangeShapeType="1"/>
            </p:cNvSpPr>
            <p:nvPr/>
          </p:nvSpPr>
          <p:spPr bwMode="auto">
            <a:xfrm>
              <a:off x="3697288" y="4657725"/>
              <a:ext cx="427037" cy="0"/>
            </a:xfrm>
            <a:prstGeom prst="line">
              <a:avLst/>
            </a:prstGeom>
            <a:noFill/>
            <a:ln w="38100">
              <a:solidFill>
                <a:srgbClr val="000000"/>
              </a:solidFill>
              <a:round/>
              <a:headEnd/>
              <a:tailEnd type="triangle" w="med" len="med"/>
            </a:ln>
          </p:spPr>
          <p:txBody>
            <a:bodyPr/>
            <a:lstStyle/>
            <a:p>
              <a:endParaRPr lang="en-US"/>
            </a:p>
          </p:txBody>
        </p:sp>
        <p:sp>
          <p:nvSpPr>
            <p:cNvPr id="23588" name="Line 35"/>
            <p:cNvSpPr>
              <a:spLocks noChangeShapeType="1"/>
            </p:cNvSpPr>
            <p:nvPr/>
          </p:nvSpPr>
          <p:spPr bwMode="auto">
            <a:xfrm>
              <a:off x="3657600" y="4930775"/>
              <a:ext cx="495300" cy="303213"/>
            </a:xfrm>
            <a:prstGeom prst="line">
              <a:avLst/>
            </a:prstGeom>
            <a:noFill/>
            <a:ln w="38100">
              <a:solidFill>
                <a:srgbClr val="000000"/>
              </a:solidFill>
              <a:round/>
              <a:headEnd/>
              <a:tailEnd type="triangle" w="med" len="med"/>
            </a:ln>
          </p:spPr>
          <p:txBody>
            <a:bodyPr/>
            <a:lstStyle/>
            <a:p>
              <a:endParaRPr lang="en-US"/>
            </a:p>
          </p:txBody>
        </p:sp>
        <p:sp>
          <p:nvSpPr>
            <p:cNvPr id="23589" name="Line 36"/>
            <p:cNvSpPr>
              <a:spLocks noChangeShapeType="1"/>
            </p:cNvSpPr>
            <p:nvPr/>
          </p:nvSpPr>
          <p:spPr bwMode="auto">
            <a:xfrm>
              <a:off x="4552950" y="4949825"/>
              <a:ext cx="0" cy="255588"/>
            </a:xfrm>
            <a:prstGeom prst="line">
              <a:avLst/>
            </a:prstGeom>
            <a:noFill/>
            <a:ln w="38100">
              <a:solidFill>
                <a:srgbClr val="000000"/>
              </a:solidFill>
              <a:round/>
              <a:headEnd/>
              <a:tailEnd type="triangle" w="med" len="med"/>
            </a:ln>
          </p:spPr>
          <p:txBody>
            <a:bodyPr/>
            <a:lstStyle/>
            <a:p>
              <a:endParaRPr lang="en-US"/>
            </a:p>
          </p:txBody>
        </p:sp>
        <p:sp>
          <p:nvSpPr>
            <p:cNvPr id="23590" name="Text Box 37"/>
            <p:cNvSpPr txBox="1">
              <a:spLocks noChangeArrowheads="1"/>
            </p:cNvSpPr>
            <p:nvPr/>
          </p:nvSpPr>
          <p:spPr bwMode="auto">
            <a:xfrm>
              <a:off x="2662238" y="5240338"/>
              <a:ext cx="1003300" cy="612775"/>
            </a:xfrm>
            <a:prstGeom prst="rect">
              <a:avLst/>
            </a:prstGeom>
            <a:solidFill>
              <a:srgbClr val="3399FF"/>
            </a:solidFill>
            <a:ln w="9525">
              <a:solidFill>
                <a:schemeClr val="tx1"/>
              </a:solidFill>
              <a:miter lim="800000"/>
              <a:headEnd/>
              <a:tailEnd/>
            </a:ln>
          </p:spPr>
          <p:txBody>
            <a:bodyPr lIns="83344" tIns="41672" rIns="83344" bIns="41672"/>
            <a:lstStyle/>
            <a:p>
              <a:pPr algn="ctr"/>
              <a:r>
                <a:rPr lang="en-US" sz="1200" b="1" dirty="0">
                  <a:solidFill>
                    <a:srgbClr val="000000"/>
                  </a:solidFill>
                  <a:latin typeface="Arial" charset="0"/>
                </a:rPr>
                <a:t>LTE</a:t>
              </a:r>
            </a:p>
            <a:p>
              <a:pPr algn="ctr"/>
              <a:r>
                <a:rPr lang="en-US" sz="1200" b="1" dirty="0">
                  <a:solidFill>
                    <a:srgbClr val="000000"/>
                  </a:solidFill>
                  <a:latin typeface="Arial" charset="0"/>
                </a:rPr>
                <a:t>E-UTRA</a:t>
              </a:r>
              <a:endParaRPr lang="en-US" sz="3200" b="1" dirty="0">
                <a:latin typeface="Tahoma" pitchFamily="34" charset="0"/>
              </a:endParaRPr>
            </a:p>
          </p:txBody>
        </p:sp>
        <p:sp>
          <p:nvSpPr>
            <p:cNvPr id="23591" name="AutoShape 38"/>
            <p:cNvSpPr>
              <a:spLocks noChangeArrowheads="1"/>
            </p:cNvSpPr>
            <p:nvPr/>
          </p:nvSpPr>
          <p:spPr bwMode="auto">
            <a:xfrm>
              <a:off x="5675313" y="2032000"/>
              <a:ext cx="900112" cy="606425"/>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IEEE</a:t>
              </a:r>
            </a:p>
            <a:p>
              <a:pPr algn="ctr"/>
              <a:r>
                <a:rPr lang="en-US" sz="1200" b="1">
                  <a:solidFill>
                    <a:srgbClr val="000000"/>
                  </a:solidFill>
                  <a:latin typeface="Arial" charset="0"/>
                </a:rPr>
                <a:t>802.16</a:t>
              </a:r>
              <a:endParaRPr lang="en-US" sz="3200" b="1">
                <a:latin typeface="Tahoma" pitchFamily="34" charset="0"/>
              </a:endParaRPr>
            </a:p>
          </p:txBody>
        </p:sp>
        <p:sp>
          <p:nvSpPr>
            <p:cNvPr id="23592" name="AutoShape 39"/>
            <p:cNvSpPr>
              <a:spLocks noChangeArrowheads="1"/>
            </p:cNvSpPr>
            <p:nvPr/>
          </p:nvSpPr>
          <p:spPr bwMode="auto">
            <a:xfrm>
              <a:off x="5368925" y="4333875"/>
              <a:ext cx="11684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Fixed WiMAX</a:t>
              </a:r>
            </a:p>
            <a:p>
              <a:pPr algn="ctr"/>
              <a:r>
                <a:rPr lang="en-US" sz="1200" b="1">
                  <a:solidFill>
                    <a:srgbClr val="000000"/>
                  </a:solidFill>
                  <a:latin typeface="Arial" charset="0"/>
                </a:rPr>
                <a:t>802.16d</a:t>
              </a:r>
              <a:endParaRPr lang="en-US" sz="3200" b="1">
                <a:latin typeface="Tahoma" pitchFamily="34" charset="0"/>
              </a:endParaRPr>
            </a:p>
          </p:txBody>
        </p:sp>
        <p:sp>
          <p:nvSpPr>
            <p:cNvPr id="23593" name="AutoShape 40"/>
            <p:cNvSpPr>
              <a:spLocks noChangeArrowheads="1"/>
            </p:cNvSpPr>
            <p:nvPr/>
          </p:nvSpPr>
          <p:spPr bwMode="auto">
            <a:xfrm>
              <a:off x="5835650" y="5207000"/>
              <a:ext cx="1252538"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Mobile WiMAX</a:t>
              </a:r>
            </a:p>
            <a:p>
              <a:pPr algn="ctr"/>
              <a:r>
                <a:rPr lang="en-US" sz="1200" b="1">
                  <a:solidFill>
                    <a:srgbClr val="000000"/>
                  </a:solidFill>
                  <a:latin typeface="Arial" charset="0"/>
                </a:rPr>
                <a:t>802.16e</a:t>
              </a:r>
              <a:endParaRPr lang="en-US" sz="3200" b="1">
                <a:latin typeface="Tahoma" pitchFamily="34" charset="0"/>
              </a:endParaRPr>
            </a:p>
          </p:txBody>
        </p:sp>
        <p:sp>
          <p:nvSpPr>
            <p:cNvPr id="23594" name="AutoShape 41"/>
            <p:cNvSpPr>
              <a:spLocks noChangeArrowheads="1"/>
            </p:cNvSpPr>
            <p:nvPr/>
          </p:nvSpPr>
          <p:spPr bwMode="auto">
            <a:xfrm>
              <a:off x="6629400" y="4333875"/>
              <a:ext cx="827088" cy="62706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WiBRO</a:t>
              </a:r>
              <a:endParaRPr lang="en-US" sz="3200" b="1">
                <a:latin typeface="Tahoma" pitchFamily="34" charset="0"/>
              </a:endParaRPr>
            </a:p>
          </p:txBody>
        </p:sp>
        <p:sp>
          <p:nvSpPr>
            <p:cNvPr id="23595" name="AutoShape 42"/>
            <p:cNvSpPr>
              <a:spLocks noChangeArrowheads="1"/>
            </p:cNvSpPr>
            <p:nvPr/>
          </p:nvSpPr>
          <p:spPr bwMode="auto">
            <a:xfrm>
              <a:off x="7499350" y="2032000"/>
              <a:ext cx="901700" cy="606425"/>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IEEE</a:t>
              </a:r>
            </a:p>
            <a:p>
              <a:pPr algn="ctr"/>
              <a:r>
                <a:rPr lang="en-US" sz="1200" b="1">
                  <a:solidFill>
                    <a:srgbClr val="000000"/>
                  </a:solidFill>
                  <a:latin typeface="Arial" charset="0"/>
                </a:rPr>
                <a:t>802.11</a:t>
              </a:r>
              <a:endParaRPr lang="en-US" sz="3200" b="1">
                <a:latin typeface="Tahoma" pitchFamily="34" charset="0"/>
              </a:endParaRPr>
            </a:p>
          </p:txBody>
        </p:sp>
        <p:sp>
          <p:nvSpPr>
            <p:cNvPr id="23596" name="AutoShape 43"/>
            <p:cNvSpPr>
              <a:spLocks noChangeArrowheads="1"/>
            </p:cNvSpPr>
            <p:nvPr/>
          </p:nvSpPr>
          <p:spPr bwMode="auto">
            <a:xfrm>
              <a:off x="7499350" y="2852738"/>
              <a:ext cx="901700" cy="608012"/>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802.11g</a:t>
              </a:r>
              <a:endParaRPr lang="en-US" sz="3200" b="1">
                <a:latin typeface="Tahoma" pitchFamily="34" charset="0"/>
              </a:endParaRPr>
            </a:p>
          </p:txBody>
        </p:sp>
        <p:sp>
          <p:nvSpPr>
            <p:cNvPr id="23597" name="AutoShape 44"/>
            <p:cNvSpPr>
              <a:spLocks noChangeArrowheads="1"/>
            </p:cNvSpPr>
            <p:nvPr/>
          </p:nvSpPr>
          <p:spPr bwMode="auto">
            <a:xfrm>
              <a:off x="7499350" y="3568700"/>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802.11a</a:t>
              </a:r>
              <a:endParaRPr lang="en-US" sz="3200" b="1">
                <a:latin typeface="Tahoma" pitchFamily="34" charset="0"/>
              </a:endParaRPr>
            </a:p>
          </p:txBody>
        </p:sp>
        <p:sp>
          <p:nvSpPr>
            <p:cNvPr id="23598" name="AutoShape 45"/>
            <p:cNvSpPr>
              <a:spLocks noChangeArrowheads="1"/>
            </p:cNvSpPr>
            <p:nvPr/>
          </p:nvSpPr>
          <p:spPr bwMode="auto">
            <a:xfrm>
              <a:off x="7499350" y="4333875"/>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802.11g</a:t>
              </a:r>
              <a:endParaRPr lang="en-US" sz="3200" b="1">
                <a:latin typeface="Tahoma" pitchFamily="34" charset="0"/>
              </a:endParaRPr>
            </a:p>
          </p:txBody>
        </p:sp>
        <p:sp>
          <p:nvSpPr>
            <p:cNvPr id="23599" name="AutoShape 46"/>
            <p:cNvSpPr>
              <a:spLocks noChangeArrowheads="1"/>
            </p:cNvSpPr>
            <p:nvPr/>
          </p:nvSpPr>
          <p:spPr bwMode="auto">
            <a:xfrm>
              <a:off x="7499350" y="5207000"/>
              <a:ext cx="901700" cy="608013"/>
            </a:xfrm>
            <a:prstGeom prst="roundRect">
              <a:avLst>
                <a:gd name="adj" fmla="val 16667"/>
              </a:avLst>
            </a:prstGeom>
            <a:solidFill>
              <a:srgbClr val="BBE0E3"/>
            </a:solidFill>
            <a:ln w="9525">
              <a:solidFill>
                <a:srgbClr val="000000"/>
              </a:solidFill>
              <a:round/>
              <a:headEnd/>
              <a:tailEnd/>
            </a:ln>
          </p:spPr>
          <p:txBody>
            <a:bodyPr lIns="83344" tIns="41672" rIns="83344" bIns="41672" anchor="ctr"/>
            <a:lstStyle/>
            <a:p>
              <a:pPr algn="ctr"/>
              <a:r>
                <a:rPr lang="en-US" sz="1200" b="1">
                  <a:solidFill>
                    <a:srgbClr val="000000"/>
                  </a:solidFill>
                  <a:latin typeface="Arial" charset="0"/>
                </a:rPr>
                <a:t>802.11n</a:t>
              </a:r>
              <a:endParaRPr lang="en-US" sz="3200" b="1">
                <a:latin typeface="Tahoma" pitchFamily="34" charset="0"/>
              </a:endParaRPr>
            </a:p>
          </p:txBody>
        </p:sp>
        <p:sp>
          <p:nvSpPr>
            <p:cNvPr id="23600" name="Text Box 47"/>
            <p:cNvSpPr txBox="1">
              <a:spLocks noChangeArrowheads="1"/>
            </p:cNvSpPr>
            <p:nvPr/>
          </p:nvSpPr>
          <p:spPr bwMode="blackWhite">
            <a:xfrm>
              <a:off x="1295400" y="1524000"/>
              <a:ext cx="871538" cy="366713"/>
            </a:xfrm>
            <a:prstGeom prst="rect">
              <a:avLst/>
            </a:prstGeom>
            <a:noFill/>
            <a:ln w="12700" algn="ctr">
              <a:noFill/>
              <a:miter lim="800000"/>
              <a:headEnd/>
              <a:tailEnd/>
            </a:ln>
          </p:spPr>
          <p:txBody>
            <a:bodyPr wrap="none">
              <a:spAutoFit/>
            </a:bodyPr>
            <a:lstStyle/>
            <a:p>
              <a:pPr algn="ctr"/>
              <a:r>
                <a:rPr lang="en-US" sz="1800" b="1">
                  <a:solidFill>
                    <a:schemeClr val="bg2"/>
                  </a:solidFill>
                  <a:latin typeface="Tahoma" pitchFamily="34" charset="0"/>
                </a:rPr>
                <a:t>CDMA</a:t>
              </a:r>
            </a:p>
          </p:txBody>
        </p:sp>
        <p:sp>
          <p:nvSpPr>
            <p:cNvPr id="23601" name="Text Box 48"/>
            <p:cNvSpPr txBox="1">
              <a:spLocks noChangeArrowheads="1"/>
            </p:cNvSpPr>
            <p:nvPr/>
          </p:nvSpPr>
          <p:spPr bwMode="blackWhite">
            <a:xfrm>
              <a:off x="2743200" y="1600200"/>
              <a:ext cx="1492250" cy="366713"/>
            </a:xfrm>
            <a:prstGeom prst="rect">
              <a:avLst/>
            </a:prstGeom>
            <a:noFill/>
            <a:ln w="12700" algn="ctr">
              <a:noFill/>
              <a:miter lim="800000"/>
              <a:headEnd/>
              <a:tailEnd/>
            </a:ln>
          </p:spPr>
          <p:txBody>
            <a:bodyPr wrap="none">
              <a:spAutoFit/>
            </a:bodyPr>
            <a:lstStyle/>
            <a:p>
              <a:pPr algn="ctr"/>
              <a:r>
                <a:rPr lang="en-US" sz="1800" b="1">
                  <a:solidFill>
                    <a:schemeClr val="bg2"/>
                  </a:solidFill>
                  <a:latin typeface="Tahoma" pitchFamily="34" charset="0"/>
                </a:rPr>
                <a:t>GSM/UMTS</a:t>
              </a:r>
            </a:p>
          </p:txBody>
        </p:sp>
        <p:sp>
          <p:nvSpPr>
            <p:cNvPr id="23602" name="Text Box 49"/>
            <p:cNvSpPr txBox="1">
              <a:spLocks noChangeArrowheads="1"/>
            </p:cNvSpPr>
            <p:nvPr/>
          </p:nvSpPr>
          <p:spPr bwMode="blackWhite">
            <a:xfrm>
              <a:off x="5334000" y="1524000"/>
              <a:ext cx="1917700" cy="366713"/>
            </a:xfrm>
            <a:prstGeom prst="rect">
              <a:avLst/>
            </a:prstGeom>
            <a:noFill/>
            <a:ln w="12700" algn="ctr">
              <a:noFill/>
              <a:miter lim="800000"/>
              <a:headEnd/>
              <a:tailEnd/>
            </a:ln>
          </p:spPr>
          <p:txBody>
            <a:bodyPr>
              <a:spAutoFit/>
            </a:bodyPr>
            <a:lstStyle/>
            <a:p>
              <a:pPr algn="ctr"/>
              <a:r>
                <a:rPr lang="en-US" sz="1800" b="1">
                  <a:solidFill>
                    <a:schemeClr val="bg2"/>
                  </a:solidFill>
                  <a:latin typeface="Tahoma" pitchFamily="34" charset="0"/>
                </a:rPr>
                <a:t>IEEE Cellular</a:t>
              </a:r>
            </a:p>
          </p:txBody>
        </p:sp>
        <p:sp>
          <p:nvSpPr>
            <p:cNvPr id="23603" name="Text Box 50"/>
            <p:cNvSpPr txBox="1">
              <a:spLocks noChangeArrowheads="1"/>
            </p:cNvSpPr>
            <p:nvPr/>
          </p:nvSpPr>
          <p:spPr bwMode="blackWhite">
            <a:xfrm>
              <a:off x="7315200" y="1524000"/>
              <a:ext cx="1312863" cy="366713"/>
            </a:xfrm>
            <a:prstGeom prst="rect">
              <a:avLst/>
            </a:prstGeom>
            <a:noFill/>
            <a:ln w="12700" algn="ctr">
              <a:noFill/>
              <a:miter lim="800000"/>
              <a:headEnd/>
              <a:tailEnd/>
            </a:ln>
          </p:spPr>
          <p:txBody>
            <a:bodyPr>
              <a:spAutoFit/>
            </a:bodyPr>
            <a:lstStyle/>
            <a:p>
              <a:pPr algn="ctr"/>
              <a:r>
                <a:rPr lang="en-US" sz="1800" b="1">
                  <a:solidFill>
                    <a:schemeClr val="bg2"/>
                  </a:solidFill>
                  <a:latin typeface="Tahoma" pitchFamily="34" charset="0"/>
                </a:rPr>
                <a:t>IEEE LAN</a:t>
              </a:r>
            </a:p>
          </p:txBody>
        </p:sp>
        <p:sp>
          <p:nvSpPr>
            <p:cNvPr id="23604" name="Line 51"/>
            <p:cNvSpPr>
              <a:spLocks noChangeShapeType="1"/>
            </p:cNvSpPr>
            <p:nvPr/>
          </p:nvSpPr>
          <p:spPr bwMode="auto">
            <a:xfrm>
              <a:off x="5116513" y="4176713"/>
              <a:ext cx="0" cy="1638300"/>
            </a:xfrm>
            <a:prstGeom prst="line">
              <a:avLst/>
            </a:prstGeom>
            <a:noFill/>
            <a:ln w="38100">
              <a:solidFill>
                <a:srgbClr val="000000"/>
              </a:solidFill>
              <a:prstDash val="sysDot"/>
              <a:round/>
              <a:headEnd/>
              <a:tailEnd type="triangle" w="med" len="med"/>
            </a:ln>
          </p:spPr>
          <p:txBody>
            <a:bodyPr/>
            <a:lstStyle/>
            <a:p>
              <a:endParaRPr lang="en-US"/>
            </a:p>
          </p:txBody>
        </p:sp>
      </p:grpSp>
      <p:sp>
        <p:nvSpPr>
          <p:cNvPr id="55" name="TextBox 54"/>
          <p:cNvSpPr txBox="1"/>
          <p:nvPr/>
        </p:nvSpPr>
        <p:spPr>
          <a:xfrm>
            <a:off x="228600" y="5380672"/>
            <a:ext cx="8763000" cy="1477328"/>
          </a:xfrm>
          <a:prstGeom prst="rect">
            <a:avLst/>
          </a:prstGeom>
          <a:noFill/>
        </p:spPr>
        <p:txBody>
          <a:bodyPr wrap="square" rtlCol="0">
            <a:spAutoFit/>
          </a:bodyPr>
          <a:lstStyle/>
          <a:p>
            <a:pPr algn="just"/>
            <a:r>
              <a:rPr lang="en-US" sz="1800" b="1" dirty="0"/>
              <a:t>UMB (Ultra Mobile Broadband)</a:t>
            </a:r>
            <a:r>
              <a:rPr lang="en-US" sz="1800" dirty="0"/>
              <a:t> was the brand name for a project within 3GPP2 to improve the CDMA 2000 mobile phone standard for next generation applications and requirements. No carrier had announced plans to adopt UMB, and most CDMA carriers in Australia, USA, Canada, China, Japan and South Korea have already announced plans to adopt either </a:t>
            </a:r>
            <a:r>
              <a:rPr lang="en-US" sz="1800" dirty="0" err="1"/>
              <a:t>WiMAX</a:t>
            </a:r>
            <a:r>
              <a:rPr lang="en-US" sz="1800" dirty="0"/>
              <a:t> or LTE as their 4G technology.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3"/>
          <p:cNvSpPr>
            <a:spLocks noGrp="1"/>
          </p:cNvSpPr>
          <p:nvPr>
            <p:ph type="sldNum" sz="quarter" idx="12"/>
          </p:nvPr>
        </p:nvSpPr>
        <p:spPr>
          <a:noFill/>
        </p:spPr>
        <p:txBody>
          <a:bodyPr/>
          <a:lstStyle/>
          <a:p>
            <a:fld id="{434995B2-854F-4F8C-AF3C-BB44BC567EF8}" type="slidenum">
              <a:rPr lang="en-US" smtClean="0"/>
              <a:pPr/>
              <a:t>16</a:t>
            </a:fld>
            <a:endParaRPr lang="en-US"/>
          </a:p>
        </p:txBody>
      </p:sp>
      <p:pic>
        <p:nvPicPr>
          <p:cNvPr id="68611" name="Picture 4"/>
          <p:cNvPicPr>
            <a:picLocks noChangeAspect="1" noChangeArrowheads="1"/>
          </p:cNvPicPr>
          <p:nvPr/>
        </p:nvPicPr>
        <p:blipFill>
          <a:blip r:embed="rId2"/>
          <a:srcRect/>
          <a:stretch>
            <a:fillRect/>
          </a:stretch>
        </p:blipFill>
        <p:spPr bwMode="auto">
          <a:xfrm>
            <a:off x="228600" y="609600"/>
            <a:ext cx="8001000" cy="5818188"/>
          </a:xfrm>
          <a:prstGeom prst="rect">
            <a:avLst/>
          </a:prstGeom>
          <a:noFill/>
          <a:ln w="9525">
            <a:noFill/>
            <a:miter lim="800000"/>
            <a:headEnd/>
            <a:tailEnd/>
          </a:ln>
        </p:spPr>
      </p:pic>
      <p:sp>
        <p:nvSpPr>
          <p:cNvPr id="68612" name="Rectangle 7"/>
          <p:cNvSpPr>
            <a:spLocks noChangeArrowheads="1"/>
          </p:cNvSpPr>
          <p:nvPr/>
        </p:nvSpPr>
        <p:spPr bwMode="auto">
          <a:xfrm>
            <a:off x="228600" y="0"/>
            <a:ext cx="6400800" cy="461963"/>
          </a:xfrm>
          <a:prstGeom prst="rect">
            <a:avLst/>
          </a:prstGeom>
          <a:noFill/>
          <a:ln w="9525">
            <a:noFill/>
            <a:miter lim="800000"/>
            <a:headEnd/>
            <a:tailEnd/>
          </a:ln>
        </p:spPr>
        <p:txBody>
          <a:bodyPr>
            <a:spAutoFit/>
          </a:bodyPr>
          <a:lstStyle/>
          <a:p>
            <a:r>
              <a:rPr lang="en-US"/>
              <a:t>The progress tree for communication technology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ChangeArrowheads="1"/>
          </p:cNvSpPr>
          <p:nvPr/>
        </p:nvSpPr>
        <p:spPr bwMode="auto">
          <a:xfrm>
            <a:off x="0" y="0"/>
            <a:ext cx="5257800" cy="609600"/>
          </a:xfrm>
          <a:prstGeom prst="rect">
            <a:avLst/>
          </a:prstGeom>
          <a:solidFill>
            <a:srgbClr val="66CCFF"/>
          </a:solidFill>
          <a:ln w="9525">
            <a:noFill/>
            <a:miter lim="800000"/>
            <a:headEnd/>
            <a:tailEnd/>
          </a:ln>
        </p:spPr>
        <p:txBody>
          <a:bodyPr anchor="ctr"/>
          <a:lstStyle/>
          <a:p>
            <a:pPr algn="ctr"/>
            <a:r>
              <a:rPr lang="en-US" sz="3600">
                <a:solidFill>
                  <a:schemeClr val="tx2"/>
                </a:solidFill>
              </a:rPr>
              <a:t>The 802.16 Protocol Stack</a:t>
            </a:r>
          </a:p>
        </p:txBody>
      </p:sp>
      <p:pic>
        <p:nvPicPr>
          <p:cNvPr id="28676" name="Picture 4" descr="4-31"/>
          <p:cNvPicPr>
            <a:picLocks noGrp="1" noChangeAspect="1" noChangeArrowheads="1"/>
          </p:cNvPicPr>
          <p:nvPr>
            <p:ph/>
          </p:nvPr>
        </p:nvPicPr>
        <p:blipFill>
          <a:blip r:embed="rId2"/>
          <a:srcRect/>
          <a:stretch>
            <a:fillRect/>
          </a:stretch>
        </p:blipFill>
        <p:spPr>
          <a:xfrm>
            <a:off x="152400" y="1676400"/>
            <a:ext cx="8674573" cy="3211788"/>
          </a:xfrm>
        </p:spPr>
      </p:pic>
      <p:sp>
        <p:nvSpPr>
          <p:cNvPr id="28677" name="Rectangle 9"/>
          <p:cNvSpPr>
            <a:spLocks noChangeArrowheads="1"/>
          </p:cNvSpPr>
          <p:nvPr/>
        </p:nvSpPr>
        <p:spPr bwMode="auto">
          <a:xfrm>
            <a:off x="3200400" y="5257800"/>
            <a:ext cx="3363913" cy="457200"/>
          </a:xfrm>
          <a:prstGeom prst="rect">
            <a:avLst/>
          </a:prstGeom>
          <a:noFill/>
          <a:ln w="9525">
            <a:noFill/>
            <a:miter lim="800000"/>
            <a:headEnd/>
            <a:tailEnd/>
          </a:ln>
        </p:spPr>
        <p:txBody>
          <a:bodyPr wrap="none">
            <a:spAutoFit/>
          </a:bodyPr>
          <a:lstStyle/>
          <a:p>
            <a:r>
              <a:rPr lang="en-US" dirty="0"/>
              <a:t>The 802.16 protocol stack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3AA7681B-CF66-4FBB-8895-AF7B9E7682CF}" type="slidenum">
              <a:rPr lang="en-US" smtClean="0"/>
              <a:pPr/>
              <a:t>18</a:t>
            </a:fld>
            <a:endParaRPr lang="en-US"/>
          </a:p>
        </p:txBody>
      </p:sp>
      <p:grpSp>
        <p:nvGrpSpPr>
          <p:cNvPr id="29699" name="Group 12"/>
          <p:cNvGrpSpPr>
            <a:grpSpLocks/>
          </p:cNvGrpSpPr>
          <p:nvPr/>
        </p:nvGrpSpPr>
        <p:grpSpPr bwMode="auto">
          <a:xfrm>
            <a:off x="228600" y="1219200"/>
            <a:ext cx="5181600" cy="4572000"/>
            <a:chOff x="1008" y="1056"/>
            <a:chExt cx="3264" cy="2880"/>
          </a:xfrm>
        </p:grpSpPr>
        <p:sp>
          <p:nvSpPr>
            <p:cNvPr id="29706" name="Rectangle 4"/>
            <p:cNvSpPr>
              <a:spLocks noChangeArrowheads="1"/>
            </p:cNvSpPr>
            <p:nvPr/>
          </p:nvSpPr>
          <p:spPr bwMode="auto">
            <a:xfrm>
              <a:off x="1008" y="1056"/>
              <a:ext cx="3264" cy="480"/>
            </a:xfrm>
            <a:prstGeom prst="rect">
              <a:avLst/>
            </a:prstGeom>
            <a:solidFill>
              <a:srgbClr val="FFCC66"/>
            </a:solidFill>
            <a:ln w="9525">
              <a:solidFill>
                <a:schemeClr val="tx1"/>
              </a:solidFill>
              <a:miter lim="800000"/>
              <a:headEnd/>
              <a:tailEnd/>
            </a:ln>
          </p:spPr>
          <p:txBody>
            <a:bodyPr wrap="none" anchor="ctr"/>
            <a:lstStyle/>
            <a:p>
              <a:pPr algn="ctr"/>
              <a:r>
                <a:rPr lang="en-US"/>
                <a:t>Upper layers</a:t>
              </a:r>
            </a:p>
          </p:txBody>
        </p:sp>
        <p:sp>
          <p:nvSpPr>
            <p:cNvPr id="29707" name="Rectangle 5"/>
            <p:cNvSpPr>
              <a:spLocks noChangeArrowheads="1"/>
            </p:cNvSpPr>
            <p:nvPr/>
          </p:nvSpPr>
          <p:spPr bwMode="auto">
            <a:xfrm>
              <a:off x="1008" y="1536"/>
              <a:ext cx="3264" cy="480"/>
            </a:xfrm>
            <a:prstGeom prst="rect">
              <a:avLst/>
            </a:prstGeom>
            <a:solidFill>
              <a:srgbClr val="009900"/>
            </a:solidFill>
            <a:ln w="9525">
              <a:solidFill>
                <a:schemeClr val="tx1"/>
              </a:solidFill>
              <a:miter lim="800000"/>
              <a:headEnd/>
              <a:tailEnd/>
            </a:ln>
          </p:spPr>
          <p:txBody>
            <a:bodyPr wrap="none" anchor="ctr"/>
            <a:lstStyle/>
            <a:p>
              <a:pPr algn="ctr"/>
              <a:r>
                <a:rPr lang="en-US"/>
                <a:t>Service specific convergence layer</a:t>
              </a:r>
            </a:p>
          </p:txBody>
        </p:sp>
        <p:sp>
          <p:nvSpPr>
            <p:cNvPr id="29708" name="Rectangle 6"/>
            <p:cNvSpPr>
              <a:spLocks noChangeArrowheads="1"/>
            </p:cNvSpPr>
            <p:nvPr/>
          </p:nvSpPr>
          <p:spPr bwMode="auto">
            <a:xfrm>
              <a:off x="1008" y="2016"/>
              <a:ext cx="3264" cy="480"/>
            </a:xfrm>
            <a:prstGeom prst="rect">
              <a:avLst/>
            </a:prstGeom>
            <a:solidFill>
              <a:srgbClr val="009900"/>
            </a:solidFill>
            <a:ln w="9525">
              <a:solidFill>
                <a:schemeClr val="tx1"/>
              </a:solidFill>
              <a:miter lim="800000"/>
              <a:headEnd/>
              <a:tailEnd/>
            </a:ln>
          </p:spPr>
          <p:txBody>
            <a:bodyPr wrap="none" anchor="ctr"/>
            <a:lstStyle/>
            <a:p>
              <a:pPr algn="ctr"/>
              <a:r>
                <a:rPr lang="en-US"/>
                <a:t>MAC sub-layer</a:t>
              </a:r>
            </a:p>
          </p:txBody>
        </p:sp>
        <p:sp>
          <p:nvSpPr>
            <p:cNvPr id="29709" name="Rectangle 7"/>
            <p:cNvSpPr>
              <a:spLocks noChangeArrowheads="1"/>
            </p:cNvSpPr>
            <p:nvPr/>
          </p:nvSpPr>
          <p:spPr bwMode="auto">
            <a:xfrm>
              <a:off x="1008" y="2496"/>
              <a:ext cx="3264" cy="480"/>
            </a:xfrm>
            <a:prstGeom prst="rect">
              <a:avLst/>
            </a:prstGeom>
            <a:solidFill>
              <a:srgbClr val="009900"/>
            </a:solidFill>
            <a:ln w="9525">
              <a:solidFill>
                <a:schemeClr val="tx1"/>
              </a:solidFill>
              <a:miter lim="800000"/>
              <a:headEnd/>
              <a:tailEnd/>
            </a:ln>
          </p:spPr>
          <p:txBody>
            <a:bodyPr wrap="none" anchor="ctr"/>
            <a:lstStyle/>
            <a:p>
              <a:pPr algn="ctr"/>
              <a:r>
                <a:rPr lang="en-US"/>
                <a:t>Security sub-layer</a:t>
              </a:r>
            </a:p>
          </p:txBody>
        </p:sp>
        <p:sp>
          <p:nvSpPr>
            <p:cNvPr id="29710" name="Rectangle 8"/>
            <p:cNvSpPr>
              <a:spLocks noChangeArrowheads="1"/>
            </p:cNvSpPr>
            <p:nvPr/>
          </p:nvSpPr>
          <p:spPr bwMode="auto">
            <a:xfrm>
              <a:off x="1008" y="2976"/>
              <a:ext cx="3264" cy="480"/>
            </a:xfrm>
            <a:prstGeom prst="rect">
              <a:avLst/>
            </a:prstGeom>
            <a:solidFill>
              <a:schemeClr val="accent1"/>
            </a:solidFill>
            <a:ln w="9525">
              <a:solidFill>
                <a:schemeClr val="tx1"/>
              </a:solidFill>
              <a:miter lim="800000"/>
              <a:headEnd/>
              <a:tailEnd/>
            </a:ln>
          </p:spPr>
          <p:txBody>
            <a:bodyPr wrap="none" anchor="ctr"/>
            <a:lstStyle/>
            <a:p>
              <a:pPr algn="ctr"/>
              <a:r>
                <a:rPr lang="en-US" dirty="0"/>
                <a:t>Transmission convergence sub-layer</a:t>
              </a:r>
            </a:p>
          </p:txBody>
        </p:sp>
        <p:sp>
          <p:nvSpPr>
            <p:cNvPr id="29711" name="Rectangle 9"/>
            <p:cNvSpPr>
              <a:spLocks noChangeArrowheads="1"/>
            </p:cNvSpPr>
            <p:nvPr/>
          </p:nvSpPr>
          <p:spPr bwMode="auto">
            <a:xfrm>
              <a:off x="1008" y="3456"/>
              <a:ext cx="768" cy="480"/>
            </a:xfrm>
            <a:prstGeom prst="rect">
              <a:avLst/>
            </a:prstGeom>
            <a:solidFill>
              <a:schemeClr val="accent1"/>
            </a:solidFill>
            <a:ln w="9525">
              <a:solidFill>
                <a:schemeClr val="tx1"/>
              </a:solidFill>
              <a:miter lim="800000"/>
              <a:headEnd/>
              <a:tailEnd/>
            </a:ln>
          </p:spPr>
          <p:txBody>
            <a:bodyPr wrap="none" anchor="ctr"/>
            <a:lstStyle/>
            <a:p>
              <a:pPr algn="ctr"/>
              <a:r>
                <a:rPr lang="en-US"/>
                <a:t>QPSK</a:t>
              </a:r>
            </a:p>
          </p:txBody>
        </p:sp>
        <p:sp>
          <p:nvSpPr>
            <p:cNvPr id="29712" name="Rectangle 10"/>
            <p:cNvSpPr>
              <a:spLocks noChangeArrowheads="1"/>
            </p:cNvSpPr>
            <p:nvPr/>
          </p:nvSpPr>
          <p:spPr bwMode="auto">
            <a:xfrm>
              <a:off x="1776" y="3456"/>
              <a:ext cx="1536" cy="480"/>
            </a:xfrm>
            <a:prstGeom prst="rect">
              <a:avLst/>
            </a:prstGeom>
            <a:solidFill>
              <a:schemeClr val="accent1"/>
            </a:solidFill>
            <a:ln w="9525">
              <a:solidFill>
                <a:schemeClr val="tx1"/>
              </a:solidFill>
              <a:miter lim="800000"/>
              <a:headEnd/>
              <a:tailEnd/>
            </a:ln>
          </p:spPr>
          <p:txBody>
            <a:bodyPr wrap="none" anchor="ctr"/>
            <a:lstStyle/>
            <a:p>
              <a:pPr algn="ctr"/>
              <a:r>
                <a:rPr lang="en-US"/>
                <a:t>16-QAM</a:t>
              </a:r>
            </a:p>
          </p:txBody>
        </p:sp>
        <p:sp>
          <p:nvSpPr>
            <p:cNvPr id="29713" name="Rectangle 11"/>
            <p:cNvSpPr>
              <a:spLocks noChangeArrowheads="1"/>
            </p:cNvSpPr>
            <p:nvPr/>
          </p:nvSpPr>
          <p:spPr bwMode="auto">
            <a:xfrm>
              <a:off x="3312" y="3456"/>
              <a:ext cx="960" cy="480"/>
            </a:xfrm>
            <a:prstGeom prst="rect">
              <a:avLst/>
            </a:prstGeom>
            <a:solidFill>
              <a:schemeClr val="accent1"/>
            </a:solidFill>
            <a:ln w="9525">
              <a:solidFill>
                <a:schemeClr val="tx1"/>
              </a:solidFill>
              <a:miter lim="800000"/>
              <a:headEnd/>
              <a:tailEnd/>
            </a:ln>
          </p:spPr>
          <p:txBody>
            <a:bodyPr wrap="none" anchor="ctr"/>
            <a:lstStyle/>
            <a:p>
              <a:pPr algn="ctr"/>
              <a:r>
                <a:rPr lang="en-US"/>
                <a:t>64-QAM</a:t>
              </a:r>
            </a:p>
          </p:txBody>
        </p:sp>
      </p:grpSp>
      <p:sp>
        <p:nvSpPr>
          <p:cNvPr id="29700" name="Rectangle 13"/>
          <p:cNvSpPr>
            <a:spLocks noChangeArrowheads="1"/>
          </p:cNvSpPr>
          <p:nvPr/>
        </p:nvSpPr>
        <p:spPr bwMode="auto">
          <a:xfrm>
            <a:off x="6019800" y="1219200"/>
            <a:ext cx="609600" cy="533400"/>
          </a:xfrm>
          <a:prstGeom prst="rect">
            <a:avLst/>
          </a:prstGeom>
          <a:solidFill>
            <a:srgbClr val="009900"/>
          </a:solidFill>
          <a:ln w="9525">
            <a:solidFill>
              <a:schemeClr val="tx1"/>
            </a:solidFill>
            <a:miter lim="800000"/>
            <a:headEnd/>
            <a:tailEnd/>
          </a:ln>
        </p:spPr>
        <p:txBody>
          <a:bodyPr wrap="none" anchor="ctr"/>
          <a:lstStyle/>
          <a:p>
            <a:endParaRPr lang="en-US"/>
          </a:p>
        </p:txBody>
      </p:sp>
      <p:sp>
        <p:nvSpPr>
          <p:cNvPr id="29701" name="Text Box 14"/>
          <p:cNvSpPr txBox="1">
            <a:spLocks noChangeArrowheads="1"/>
          </p:cNvSpPr>
          <p:nvPr/>
        </p:nvSpPr>
        <p:spPr bwMode="auto">
          <a:xfrm>
            <a:off x="6858000" y="1219200"/>
            <a:ext cx="1981200" cy="396875"/>
          </a:xfrm>
          <a:prstGeom prst="rect">
            <a:avLst/>
          </a:prstGeom>
          <a:noFill/>
          <a:ln w="9525">
            <a:noFill/>
            <a:miter lim="800000"/>
            <a:headEnd/>
            <a:tailEnd/>
          </a:ln>
        </p:spPr>
        <p:txBody>
          <a:bodyPr>
            <a:spAutoFit/>
          </a:bodyPr>
          <a:lstStyle/>
          <a:p>
            <a:pPr>
              <a:spcBef>
                <a:spcPct val="50000"/>
              </a:spcBef>
            </a:pPr>
            <a:r>
              <a:rPr lang="en-US" sz="2000"/>
              <a:t>Data link layer</a:t>
            </a:r>
          </a:p>
        </p:txBody>
      </p:sp>
      <p:sp>
        <p:nvSpPr>
          <p:cNvPr id="29702" name="Rectangle 15"/>
          <p:cNvSpPr>
            <a:spLocks noChangeArrowheads="1"/>
          </p:cNvSpPr>
          <p:nvPr/>
        </p:nvSpPr>
        <p:spPr bwMode="auto">
          <a:xfrm>
            <a:off x="6019800" y="2133600"/>
            <a:ext cx="609600" cy="5334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9703" name="Text Box 16"/>
          <p:cNvSpPr txBox="1">
            <a:spLocks noChangeArrowheads="1"/>
          </p:cNvSpPr>
          <p:nvPr/>
        </p:nvSpPr>
        <p:spPr bwMode="auto">
          <a:xfrm>
            <a:off x="6858000" y="2209800"/>
            <a:ext cx="1981200" cy="396875"/>
          </a:xfrm>
          <a:prstGeom prst="rect">
            <a:avLst/>
          </a:prstGeom>
          <a:noFill/>
          <a:ln w="9525">
            <a:noFill/>
            <a:miter lim="800000"/>
            <a:headEnd/>
            <a:tailEnd/>
          </a:ln>
        </p:spPr>
        <p:txBody>
          <a:bodyPr>
            <a:spAutoFit/>
          </a:bodyPr>
          <a:lstStyle/>
          <a:p>
            <a:pPr>
              <a:spcBef>
                <a:spcPct val="50000"/>
              </a:spcBef>
            </a:pPr>
            <a:r>
              <a:rPr lang="en-US" sz="2000"/>
              <a:t>Physical layer</a:t>
            </a:r>
          </a:p>
        </p:txBody>
      </p:sp>
      <p:sp>
        <p:nvSpPr>
          <p:cNvPr id="29704" name="Text Box 17"/>
          <p:cNvSpPr txBox="1">
            <a:spLocks noChangeArrowheads="1"/>
          </p:cNvSpPr>
          <p:nvPr/>
        </p:nvSpPr>
        <p:spPr bwMode="auto">
          <a:xfrm>
            <a:off x="685800" y="6096000"/>
            <a:ext cx="4648200" cy="457200"/>
          </a:xfrm>
          <a:prstGeom prst="rect">
            <a:avLst/>
          </a:prstGeom>
          <a:noFill/>
          <a:ln w="9525">
            <a:noFill/>
            <a:miter lim="800000"/>
            <a:headEnd/>
            <a:tailEnd/>
          </a:ln>
        </p:spPr>
        <p:txBody>
          <a:bodyPr>
            <a:spAutoFit/>
          </a:bodyPr>
          <a:lstStyle/>
          <a:p>
            <a:pPr>
              <a:spcBef>
                <a:spcPct val="50000"/>
              </a:spcBef>
            </a:pPr>
            <a:r>
              <a:rPr lang="en-US"/>
              <a:t>Fig.5 The 802.16 protocol stack</a:t>
            </a:r>
          </a:p>
        </p:txBody>
      </p:sp>
      <p:sp>
        <p:nvSpPr>
          <p:cNvPr id="29705" name="Rectangle 2"/>
          <p:cNvSpPr>
            <a:spLocks noGrp="1" noChangeArrowheads="1"/>
          </p:cNvSpPr>
          <p:nvPr>
            <p:ph type="title"/>
          </p:nvPr>
        </p:nvSpPr>
        <p:spPr>
          <a:xfrm>
            <a:off x="2057400" y="228600"/>
            <a:ext cx="4419600" cy="685800"/>
          </a:xfrm>
          <a:solidFill>
            <a:srgbClr val="FFCC66"/>
          </a:solidFill>
        </p:spPr>
        <p:txBody>
          <a:bodyPr/>
          <a:lstStyle/>
          <a:p>
            <a:pPr eaLnBrk="1" hangingPunct="1"/>
            <a:r>
              <a:rPr lang="en-US" sz="4000"/>
              <a:t>Layers of WiMAX</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p:spPr>
        <p:txBody>
          <a:bodyPr/>
          <a:lstStyle/>
          <a:p>
            <a:fld id="{1B613C47-69C0-478F-A879-FC6A49F5D433}" type="slidenum">
              <a:rPr lang="en-US" smtClean="0"/>
              <a:pPr/>
              <a:t>19</a:t>
            </a:fld>
            <a:endParaRPr lang="en-US"/>
          </a:p>
        </p:txBody>
      </p:sp>
      <p:sp>
        <p:nvSpPr>
          <p:cNvPr id="30723" name="Rectangle 2"/>
          <p:cNvSpPr>
            <a:spLocks noGrp="1" noChangeArrowheads="1"/>
          </p:cNvSpPr>
          <p:nvPr>
            <p:ph type="title"/>
          </p:nvPr>
        </p:nvSpPr>
        <p:spPr>
          <a:xfrm>
            <a:off x="2286000" y="16844"/>
            <a:ext cx="3886200" cy="914400"/>
          </a:xfrm>
          <a:solidFill>
            <a:srgbClr val="FF6600"/>
          </a:solidFill>
        </p:spPr>
        <p:txBody>
          <a:bodyPr/>
          <a:lstStyle/>
          <a:p>
            <a:pPr eaLnBrk="1" hangingPunct="1"/>
            <a:r>
              <a:rPr lang="en-US"/>
              <a:t>802.16 PHY</a:t>
            </a:r>
          </a:p>
        </p:txBody>
      </p:sp>
      <p:sp>
        <p:nvSpPr>
          <p:cNvPr id="30724" name="Text Box 3"/>
          <p:cNvSpPr txBox="1">
            <a:spLocks noChangeArrowheads="1"/>
          </p:cNvSpPr>
          <p:nvPr/>
        </p:nvSpPr>
        <p:spPr bwMode="auto">
          <a:xfrm>
            <a:off x="304800" y="1066800"/>
            <a:ext cx="8686800" cy="5262979"/>
          </a:xfrm>
          <a:prstGeom prst="rect">
            <a:avLst/>
          </a:prstGeom>
          <a:solidFill>
            <a:srgbClr val="CCECFF"/>
          </a:solidFill>
          <a:ln w="9525">
            <a:noFill/>
            <a:miter lim="800000"/>
            <a:headEnd/>
            <a:tailEnd/>
          </a:ln>
        </p:spPr>
        <p:txBody>
          <a:bodyPr wrap="square">
            <a:spAutoFit/>
          </a:bodyPr>
          <a:lstStyle/>
          <a:p>
            <a:pPr marL="342900" indent="-342900" algn="just">
              <a:buFont typeface="Wingdings" panose="05000000000000000000" pitchFamily="2" charset="2"/>
              <a:buChar char="v"/>
            </a:pPr>
            <a:r>
              <a:rPr lang="en-US" dirty="0"/>
              <a:t>Physical layer of </a:t>
            </a:r>
            <a:r>
              <a:rPr lang="en-US" dirty="0" err="1"/>
              <a:t>WiMAX</a:t>
            </a:r>
            <a:r>
              <a:rPr lang="en-US" dirty="0"/>
              <a:t> supports Adaptive Modulation and Coding scheme.</a:t>
            </a:r>
          </a:p>
          <a:p>
            <a:r>
              <a:rPr lang="en-US" b="1" dirty="0"/>
              <a:t>     Modulation</a:t>
            </a:r>
            <a:r>
              <a:rPr lang="en-US" dirty="0"/>
              <a:t> QPSK, 16-QAM, 64-QAM</a:t>
            </a:r>
          </a:p>
          <a:p>
            <a:pPr algn="just"/>
            <a:endParaRPr lang="en-US" dirty="0"/>
          </a:p>
          <a:p>
            <a:pPr marL="342900" indent="-342900" algn="just">
              <a:buFont typeface="Wingdings" panose="05000000000000000000" pitchFamily="2" charset="2"/>
              <a:buChar char="v"/>
            </a:pPr>
            <a:r>
              <a:rPr lang="en-US" dirty="0"/>
              <a:t>The IEEE 802.16e supports both time division duplexing (TDD) and frequency division duplexing (FDD) modes.</a:t>
            </a:r>
          </a:p>
          <a:p>
            <a:pPr algn="just"/>
            <a:endParaRPr lang="en-US" dirty="0"/>
          </a:p>
          <a:p>
            <a:pPr marL="342900" indent="-342900" algn="just">
              <a:buFont typeface="Wingdings" panose="05000000000000000000" pitchFamily="2" charset="2"/>
              <a:buChar char="v"/>
            </a:pPr>
            <a:r>
              <a:rPr lang="en-US" dirty="0"/>
              <a:t>It enables dynamic allocation of downlink (DL) and uplink (UL) radio resources to effectively support asymmetric DL/UL traffic that is common in Internet applications.</a:t>
            </a:r>
          </a:p>
          <a:p>
            <a:pPr algn="just"/>
            <a:endParaRPr lang="en-US" dirty="0"/>
          </a:p>
          <a:p>
            <a:pPr marL="342900" indent="-342900" algn="just">
              <a:buFont typeface="Wingdings" panose="05000000000000000000" pitchFamily="2" charset="2"/>
              <a:buChar char="v"/>
            </a:pPr>
            <a:r>
              <a:rPr lang="en-US" dirty="0"/>
              <a:t> It supports link adaptation, multi-input-multi-output (MIMO) techniques, and closed loop advanced antenna technique such as beam-forming.</a:t>
            </a:r>
          </a:p>
        </p:txBody>
      </p:sp>
    </p:spTree>
    <p:extLst>
      <p:ext uri="{BB962C8B-B14F-4D97-AF65-F5344CB8AC3E}">
        <p14:creationId xmlns:p14="http://schemas.microsoft.com/office/powerpoint/2010/main" val="304064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20</a:t>
            </a:fld>
            <a:endParaRPr lang="en-US"/>
          </a:p>
        </p:txBody>
      </p:sp>
      <p:sp>
        <p:nvSpPr>
          <p:cNvPr id="5" name="TextBox 4"/>
          <p:cNvSpPr txBox="1"/>
          <p:nvPr/>
        </p:nvSpPr>
        <p:spPr>
          <a:xfrm>
            <a:off x="304800" y="381000"/>
            <a:ext cx="8686800" cy="1569660"/>
          </a:xfrm>
          <a:prstGeom prst="rect">
            <a:avLst/>
          </a:prstGeom>
          <a:solidFill>
            <a:srgbClr val="FFCCFF"/>
          </a:solidFill>
        </p:spPr>
        <p:txBody>
          <a:bodyPr wrap="square" rtlCol="0">
            <a:spAutoFit/>
          </a:bodyPr>
          <a:lstStyle/>
          <a:p>
            <a:pPr algn="just"/>
            <a:r>
              <a:rPr lang="en-GB" dirty="0"/>
              <a:t>The </a:t>
            </a:r>
            <a:r>
              <a:rPr lang="en-GB" b="1" dirty="0">
                <a:solidFill>
                  <a:srgbClr val="FF0000"/>
                </a:solidFill>
              </a:rPr>
              <a:t>TCS (</a:t>
            </a:r>
            <a:r>
              <a:rPr lang="en-US" b="1" dirty="0">
                <a:solidFill>
                  <a:srgbClr val="FF0000"/>
                </a:solidFill>
              </a:rPr>
              <a:t>Transmission convergence sub-layer</a:t>
            </a:r>
            <a:r>
              <a:rPr lang="en-GB" b="1" dirty="0">
                <a:solidFill>
                  <a:srgbClr val="FF0000"/>
                </a:solidFill>
              </a:rPr>
              <a:t>)</a:t>
            </a:r>
            <a:r>
              <a:rPr lang="en-GB" dirty="0"/>
              <a:t> is located between the MAC and PHY Layers. If the TCS is enabled, the TCS converts </a:t>
            </a:r>
            <a:r>
              <a:rPr lang="en-GB" b="1" dirty="0">
                <a:solidFill>
                  <a:srgbClr val="0000FF"/>
                </a:solidFill>
              </a:rPr>
              <a:t>MAC PDU</a:t>
            </a:r>
            <a:r>
              <a:rPr lang="en-GB" dirty="0"/>
              <a:t>s of variable size into proper-length </a:t>
            </a:r>
            <a:r>
              <a:rPr lang="en-GB" b="1" dirty="0">
                <a:solidFill>
                  <a:srgbClr val="0000FF"/>
                </a:solidFill>
              </a:rPr>
              <a:t>FEC blocks</a:t>
            </a:r>
            <a:r>
              <a:rPr lang="en-GB" dirty="0"/>
              <a:t>, called TC PDU. </a:t>
            </a:r>
          </a:p>
        </p:txBody>
      </p:sp>
      <p:pic>
        <p:nvPicPr>
          <p:cNvPr id="6" name="Picture 4" descr="4-31"/>
          <p:cNvPicPr>
            <a:picLocks noGrp="1" noChangeAspect="1" noChangeArrowheads="1"/>
          </p:cNvPicPr>
          <p:nvPr>
            <p:ph/>
          </p:nvPr>
        </p:nvPicPr>
        <p:blipFill>
          <a:blip r:embed="rId2"/>
          <a:srcRect/>
          <a:stretch>
            <a:fillRect/>
          </a:stretch>
        </p:blipFill>
        <p:spPr>
          <a:xfrm>
            <a:off x="152400" y="2438400"/>
            <a:ext cx="8026400" cy="2971800"/>
          </a:xfrm>
        </p:spPr>
      </p:pic>
    </p:spTree>
    <p:extLst>
      <p:ext uri="{BB962C8B-B14F-4D97-AF65-F5344CB8AC3E}">
        <p14:creationId xmlns:p14="http://schemas.microsoft.com/office/powerpoint/2010/main" val="2379844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3"/>
          <p:cNvSpPr txBox="1">
            <a:spLocks noChangeArrowheads="1"/>
          </p:cNvSpPr>
          <p:nvPr/>
        </p:nvSpPr>
        <p:spPr bwMode="auto">
          <a:xfrm>
            <a:off x="2895600" y="228600"/>
            <a:ext cx="2971800" cy="641350"/>
          </a:xfrm>
          <a:prstGeom prst="rect">
            <a:avLst/>
          </a:prstGeom>
          <a:solidFill>
            <a:srgbClr val="9933FF"/>
          </a:solidFill>
          <a:ln w="9525">
            <a:noFill/>
            <a:miter lim="800000"/>
            <a:headEnd/>
            <a:tailEnd/>
          </a:ln>
        </p:spPr>
        <p:txBody>
          <a:bodyPr>
            <a:spAutoFit/>
          </a:bodyPr>
          <a:lstStyle/>
          <a:p>
            <a:pPr>
              <a:spcBef>
                <a:spcPct val="50000"/>
              </a:spcBef>
            </a:pPr>
            <a:r>
              <a:rPr lang="en-US" sz="3600"/>
              <a:t>Data link layer</a:t>
            </a:r>
          </a:p>
        </p:txBody>
      </p:sp>
      <p:sp>
        <p:nvSpPr>
          <p:cNvPr id="37893" name="Text Box 17"/>
          <p:cNvSpPr txBox="1">
            <a:spLocks noChangeArrowheads="1"/>
          </p:cNvSpPr>
          <p:nvPr/>
        </p:nvSpPr>
        <p:spPr bwMode="auto">
          <a:xfrm>
            <a:off x="3048000" y="5410200"/>
            <a:ext cx="2211388" cy="276225"/>
          </a:xfrm>
          <a:prstGeom prst="rect">
            <a:avLst/>
          </a:prstGeom>
          <a:noFill/>
          <a:ln w="9525">
            <a:noFill/>
            <a:miter lim="800000"/>
            <a:headEnd/>
            <a:tailEnd/>
          </a:ln>
        </p:spPr>
        <p:txBody>
          <a:bodyPr>
            <a:spAutoFit/>
          </a:bodyPr>
          <a:lstStyle/>
          <a:p>
            <a:pPr>
              <a:spcBef>
                <a:spcPct val="50000"/>
              </a:spcBef>
            </a:pPr>
            <a:r>
              <a:rPr lang="en-US" sz="1200"/>
              <a:t>Fig.5 The 802.16 protocol stack</a:t>
            </a:r>
          </a:p>
        </p:txBody>
      </p:sp>
      <p:sp>
        <p:nvSpPr>
          <p:cNvPr id="37894" name="TextBox 20"/>
          <p:cNvSpPr txBox="1">
            <a:spLocks noChangeArrowheads="1"/>
          </p:cNvSpPr>
          <p:nvPr/>
        </p:nvSpPr>
        <p:spPr bwMode="auto">
          <a:xfrm>
            <a:off x="152400" y="869950"/>
            <a:ext cx="8763000" cy="1570038"/>
          </a:xfrm>
          <a:prstGeom prst="rect">
            <a:avLst/>
          </a:prstGeom>
          <a:solidFill>
            <a:srgbClr val="CCECFF"/>
          </a:solidFill>
          <a:ln w="9525">
            <a:noFill/>
            <a:miter lim="800000"/>
            <a:headEnd/>
            <a:tailEnd/>
          </a:ln>
        </p:spPr>
        <p:txBody>
          <a:bodyPr wrap="square">
            <a:spAutoFit/>
          </a:bodyPr>
          <a:lstStyle/>
          <a:p>
            <a:pPr algn="just"/>
            <a:r>
              <a:rPr lang="en-US" dirty="0"/>
              <a:t>From the reference model as illustrated in Figure 5, there are three sub-layers in the data link layer composed of </a:t>
            </a:r>
            <a:r>
              <a:rPr lang="en-US" dirty="0" err="1"/>
              <a:t>i</a:t>
            </a:r>
            <a:r>
              <a:rPr lang="en-US" dirty="0"/>
              <a:t>) </a:t>
            </a:r>
            <a:r>
              <a:rPr lang="en-US" dirty="0">
                <a:solidFill>
                  <a:srgbClr val="FF0000"/>
                </a:solidFill>
              </a:rPr>
              <a:t>a security sub-layer</a:t>
            </a:r>
            <a:r>
              <a:rPr lang="en-US" dirty="0"/>
              <a:t>, ii) </a:t>
            </a:r>
            <a:r>
              <a:rPr lang="en-US" dirty="0">
                <a:solidFill>
                  <a:srgbClr val="FF0000"/>
                </a:solidFill>
              </a:rPr>
              <a:t>a  MAC common part sub-layer</a:t>
            </a:r>
            <a:r>
              <a:rPr lang="en-US" dirty="0"/>
              <a:t>, and iii) </a:t>
            </a:r>
            <a:r>
              <a:rPr lang="en-US" dirty="0">
                <a:solidFill>
                  <a:srgbClr val="FF0000"/>
                </a:solidFill>
              </a:rPr>
              <a:t>a convergence sub-layer</a:t>
            </a:r>
            <a:r>
              <a:rPr lang="en-US" dirty="0"/>
              <a:t>. It  provides only connection oriented service</a:t>
            </a:r>
          </a:p>
        </p:txBody>
      </p:sp>
      <p:pic>
        <p:nvPicPr>
          <p:cNvPr id="15" name="Picture 4" descr="4-31"/>
          <p:cNvPicPr>
            <a:picLocks noGrp="1" noChangeAspect="1" noChangeArrowheads="1"/>
          </p:cNvPicPr>
          <p:nvPr>
            <p:ph/>
          </p:nvPr>
        </p:nvPicPr>
        <p:blipFill>
          <a:blip r:embed="rId2"/>
          <a:srcRect/>
          <a:stretch>
            <a:fillRect/>
          </a:stretch>
        </p:blipFill>
        <p:spPr>
          <a:xfrm>
            <a:off x="152400" y="3124200"/>
            <a:ext cx="8643815" cy="3200400"/>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p:spPr>
        <p:txBody>
          <a:bodyPr/>
          <a:lstStyle/>
          <a:p>
            <a:fld id="{B007C863-731E-46F7-AAB3-727DA003C6C6}" type="slidenum">
              <a:rPr lang="en-US" smtClean="0"/>
              <a:pPr/>
              <a:t>22</a:t>
            </a:fld>
            <a:endParaRPr lang="en-US"/>
          </a:p>
        </p:txBody>
      </p:sp>
      <p:sp>
        <p:nvSpPr>
          <p:cNvPr id="38915" name="Text Box 4"/>
          <p:cNvSpPr txBox="1">
            <a:spLocks noChangeArrowheads="1"/>
          </p:cNvSpPr>
          <p:nvPr/>
        </p:nvSpPr>
        <p:spPr bwMode="auto">
          <a:xfrm>
            <a:off x="304800" y="762000"/>
            <a:ext cx="8610600" cy="2862322"/>
          </a:xfrm>
          <a:prstGeom prst="rect">
            <a:avLst/>
          </a:prstGeom>
          <a:solidFill>
            <a:srgbClr val="FFCC66"/>
          </a:solidFill>
          <a:ln w="9525">
            <a:noFill/>
            <a:miter lim="800000"/>
            <a:headEnd/>
            <a:tailEnd/>
          </a:ln>
        </p:spPr>
        <p:txBody>
          <a:bodyPr>
            <a:spAutoFit/>
          </a:bodyPr>
          <a:lstStyle/>
          <a:p>
            <a:pPr algn="just">
              <a:spcBef>
                <a:spcPct val="50000"/>
              </a:spcBef>
              <a:buFont typeface="Wingdings" pitchFamily="2" charset="2"/>
              <a:buChar char="ü"/>
            </a:pPr>
            <a:r>
              <a:rPr lang="en-US" altLang="ja-JP" dirty="0">
                <a:ea typeface="ＭＳ Ｐゴシック" pitchFamily="34" charset="-128"/>
              </a:rPr>
              <a:t>The CS, which is the interface between the MAC layer and layer 3 of the network, receives data packets from the higher layer.  These higher layer packets are known as </a:t>
            </a:r>
            <a:r>
              <a:rPr lang="en-US" altLang="ja-JP" b="1" dirty="0">
                <a:solidFill>
                  <a:srgbClr val="0000FF"/>
                </a:solidFill>
                <a:ea typeface="ＭＳ Ｐゴシック" pitchFamily="34" charset="-128"/>
              </a:rPr>
              <a:t>service data unit </a:t>
            </a:r>
            <a:r>
              <a:rPr lang="en-US" altLang="ja-JP" dirty="0">
                <a:ea typeface="ＭＳ Ｐゴシック" pitchFamily="34" charset="-128"/>
              </a:rPr>
              <a:t>(</a:t>
            </a:r>
            <a:r>
              <a:rPr lang="en-US" altLang="ja-JP" b="1" dirty="0">
                <a:solidFill>
                  <a:srgbClr val="0000FF"/>
                </a:solidFill>
                <a:ea typeface="ＭＳ Ｐゴシック" pitchFamily="34" charset="-128"/>
              </a:rPr>
              <a:t>SDU</a:t>
            </a:r>
            <a:r>
              <a:rPr lang="en-US" altLang="ja-JP" dirty="0">
                <a:ea typeface="ＭＳ Ｐゴシック" pitchFamily="34" charset="-128"/>
              </a:rPr>
              <a:t>). </a:t>
            </a:r>
          </a:p>
          <a:p>
            <a:pPr algn="just">
              <a:spcBef>
                <a:spcPct val="50000"/>
              </a:spcBef>
              <a:buFont typeface="Wingdings" pitchFamily="2" charset="2"/>
              <a:buChar char="ü"/>
            </a:pPr>
            <a:r>
              <a:rPr lang="en-US" altLang="ja-JP" dirty="0">
                <a:ea typeface="ＭＳ Ｐゴシック" pitchFamily="34" charset="-128"/>
              </a:rPr>
              <a:t>The CS is responsible for performing all operations that are dependent on the nature of higher-layer protocol, such a </a:t>
            </a:r>
            <a:r>
              <a:rPr lang="en-US" altLang="ja-JP" b="1" dirty="0">
                <a:solidFill>
                  <a:srgbClr val="FF0000"/>
                </a:solidFill>
                <a:ea typeface="ＭＳ Ｐゴシック" pitchFamily="34" charset="-128"/>
              </a:rPr>
              <a:t>header compression </a:t>
            </a:r>
            <a:r>
              <a:rPr lang="en-US" altLang="ja-JP" dirty="0">
                <a:ea typeface="ＭＳ Ｐゴシック" pitchFamily="34" charset="-128"/>
              </a:rPr>
              <a:t>and </a:t>
            </a:r>
            <a:r>
              <a:rPr lang="en-US" altLang="ja-JP" b="1" dirty="0">
                <a:solidFill>
                  <a:srgbClr val="FF0000"/>
                </a:solidFill>
                <a:ea typeface="ＭＳ Ｐゴシック" pitchFamily="34" charset="-128"/>
              </a:rPr>
              <a:t>address mapping</a:t>
            </a:r>
            <a:r>
              <a:rPr lang="en-US" altLang="ja-JP" dirty="0">
                <a:ea typeface="ＭＳ Ｐゴシック" pitchFamily="34" charset="-128"/>
              </a:rPr>
              <a:t>. The CS can be viewed as an adaptation layer that masks the higher-layer protocol.</a:t>
            </a:r>
          </a:p>
        </p:txBody>
      </p:sp>
      <p:sp>
        <p:nvSpPr>
          <p:cNvPr id="38916" name="Text Box 6"/>
          <p:cNvSpPr txBox="1">
            <a:spLocks noChangeArrowheads="1"/>
          </p:cNvSpPr>
          <p:nvPr/>
        </p:nvSpPr>
        <p:spPr bwMode="auto">
          <a:xfrm>
            <a:off x="762000" y="0"/>
            <a:ext cx="8077200" cy="584200"/>
          </a:xfrm>
          <a:prstGeom prst="rect">
            <a:avLst/>
          </a:prstGeom>
          <a:solidFill>
            <a:srgbClr val="FFCCCC"/>
          </a:solidFill>
          <a:ln w="9525">
            <a:noFill/>
            <a:miter lim="800000"/>
            <a:headEnd/>
            <a:tailEnd/>
          </a:ln>
        </p:spPr>
        <p:txBody>
          <a:bodyPr>
            <a:spAutoFit/>
          </a:bodyPr>
          <a:lstStyle/>
          <a:p>
            <a:pPr>
              <a:spcBef>
                <a:spcPct val="50000"/>
              </a:spcBef>
            </a:pPr>
            <a:r>
              <a:rPr lang="en-US" sz="3200" b="1" i="1"/>
              <a:t>Service Specific Convergence Sub-layer (CS</a:t>
            </a:r>
            <a:r>
              <a:rPr lang="en-US" sz="3200" b="1"/>
              <a:t>):</a:t>
            </a:r>
          </a:p>
        </p:txBody>
      </p:sp>
      <p:pic>
        <p:nvPicPr>
          <p:cNvPr id="5" name="Content Placeholder 4" descr="4-31"/>
          <p:cNvPicPr>
            <a:picLocks noGrp="1" noChangeAspect="1" noChangeArrowheads="1"/>
          </p:cNvPicPr>
          <p:nvPr>
            <p:ph/>
          </p:nvPr>
        </p:nvPicPr>
        <p:blipFill>
          <a:blip r:embed="rId2"/>
          <a:srcRect/>
          <a:stretch>
            <a:fillRect/>
          </a:stretch>
        </p:blipFill>
        <p:spPr>
          <a:xfrm>
            <a:off x="2286000" y="4038600"/>
            <a:ext cx="5968350" cy="2209800"/>
          </a:xfrm>
        </p:spPr>
      </p:pic>
      <p:sp>
        <p:nvSpPr>
          <p:cNvPr id="2" name="Rectangle 1"/>
          <p:cNvSpPr/>
          <p:nvPr/>
        </p:nvSpPr>
        <p:spPr>
          <a:xfrm>
            <a:off x="8113577" y="4034717"/>
            <a:ext cx="801823" cy="461665"/>
          </a:xfrm>
          <a:prstGeom prst="rect">
            <a:avLst/>
          </a:prstGeom>
          <a:solidFill>
            <a:schemeClr val="accent1"/>
          </a:solidFill>
        </p:spPr>
        <p:txBody>
          <a:bodyPr wrap="none">
            <a:spAutoFit/>
          </a:bodyPr>
          <a:lstStyle/>
          <a:p>
            <a:r>
              <a:rPr lang="en-US" altLang="ja-JP" dirty="0">
                <a:ea typeface="ＭＳ Ｐゴシック" pitchFamily="34" charset="-128"/>
              </a:rPr>
              <a:t>SDU</a:t>
            </a:r>
            <a:endParaRPr lang="en-US" dirty="0"/>
          </a:p>
        </p:txBody>
      </p:sp>
      <p:sp>
        <p:nvSpPr>
          <p:cNvPr id="3" name="Rectangle 2"/>
          <p:cNvSpPr/>
          <p:nvPr/>
        </p:nvSpPr>
        <p:spPr>
          <a:xfrm>
            <a:off x="152400" y="4419600"/>
            <a:ext cx="3685624" cy="400110"/>
          </a:xfrm>
          <a:prstGeom prst="rect">
            <a:avLst/>
          </a:prstGeom>
        </p:spPr>
        <p:txBody>
          <a:bodyPr wrap="none">
            <a:spAutoFit/>
          </a:bodyPr>
          <a:lstStyle/>
          <a:p>
            <a:r>
              <a:rPr lang="en-US" sz="2000" dirty="0">
                <a:solidFill>
                  <a:srgbClr val="0000FF"/>
                </a:solidFill>
              </a:rPr>
              <a:t>MAC service data units (MSDUs)</a:t>
            </a:r>
          </a:p>
        </p:txBody>
      </p:sp>
      <p:sp>
        <p:nvSpPr>
          <p:cNvPr id="4" name="Rectangle 3"/>
          <p:cNvSpPr/>
          <p:nvPr/>
        </p:nvSpPr>
        <p:spPr>
          <a:xfrm>
            <a:off x="304800" y="4752371"/>
            <a:ext cx="3454792" cy="369332"/>
          </a:xfrm>
          <a:prstGeom prst="rect">
            <a:avLst/>
          </a:prstGeom>
        </p:spPr>
        <p:txBody>
          <a:bodyPr wrap="none">
            <a:spAutoFit/>
          </a:bodyPr>
          <a:lstStyle/>
          <a:p>
            <a:r>
              <a:rPr lang="en-US" sz="1800" dirty="0">
                <a:solidFill>
                  <a:srgbClr val="0000FF"/>
                </a:solidFill>
              </a:rPr>
              <a:t>MAC protocol data units (MPDUs)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23</a:t>
            </a:fld>
            <a:endParaRPr lang="en-US"/>
          </a:p>
        </p:txBody>
      </p:sp>
      <p:sp>
        <p:nvSpPr>
          <p:cNvPr id="5" name="TextBox 4"/>
          <p:cNvSpPr txBox="1"/>
          <p:nvPr/>
        </p:nvSpPr>
        <p:spPr>
          <a:xfrm>
            <a:off x="152399" y="228600"/>
            <a:ext cx="8706711" cy="3046988"/>
          </a:xfrm>
          <a:prstGeom prst="rect">
            <a:avLst/>
          </a:prstGeom>
          <a:solidFill>
            <a:srgbClr val="CCECFF"/>
          </a:solidFill>
        </p:spPr>
        <p:txBody>
          <a:bodyPr wrap="square" rtlCol="0">
            <a:spAutoFit/>
          </a:bodyPr>
          <a:lstStyle/>
          <a:p>
            <a:pPr marL="342900" indent="-342900" algn="just">
              <a:buFont typeface="Wingdings" panose="05000000000000000000" pitchFamily="2" charset="2"/>
              <a:buChar char="ü"/>
            </a:pPr>
            <a:r>
              <a:rPr lang="en-US" altLang="ja-JP" b="1" dirty="0">
                <a:solidFill>
                  <a:srgbClr val="0000FF"/>
                </a:solidFill>
                <a:ea typeface="ＭＳ Ｐゴシック" pitchFamily="34" charset="-128"/>
              </a:rPr>
              <a:t>Packet header suppression (PHS): </a:t>
            </a:r>
            <a:r>
              <a:rPr lang="en-US" altLang="ja-JP" dirty="0">
                <a:ea typeface="ＭＳ Ｐゴシック" pitchFamily="34" charset="-128"/>
              </a:rPr>
              <a:t>At the transmitter it involves removing the repetitive part of the header of each </a:t>
            </a:r>
            <a:r>
              <a:rPr lang="en-US" altLang="ja-JP" b="1" dirty="0">
                <a:solidFill>
                  <a:srgbClr val="0000FF"/>
                </a:solidFill>
                <a:ea typeface="ＭＳ Ｐゴシック" pitchFamily="34" charset="-128"/>
              </a:rPr>
              <a:t>SDU</a:t>
            </a:r>
            <a:r>
              <a:rPr lang="en-US" altLang="ja-JP" dirty="0">
                <a:ea typeface="ＭＳ Ｐゴシック" pitchFamily="34" charset="-128"/>
              </a:rPr>
              <a:t>. For example, if the SDUs delivered to the CS are IP packets, the source and destination addresses contained in the header of each IP packet do not change from one packet to the next and thus can be removed before being transmitted over the air. Similarly at the receiver: the repetitive part of the header can be reinserted into the SDU before being delivered to the higher layer. </a:t>
            </a:r>
            <a:endParaRPr lang="en-US" dirty="0"/>
          </a:p>
        </p:txBody>
      </p:sp>
      <p:pic>
        <p:nvPicPr>
          <p:cNvPr id="6" name="Content Placeholder 4" descr="4-31"/>
          <p:cNvPicPr>
            <a:picLocks noGrp="1" noChangeAspect="1" noChangeArrowheads="1"/>
          </p:cNvPicPr>
          <p:nvPr>
            <p:ph/>
          </p:nvPr>
        </p:nvPicPr>
        <p:blipFill>
          <a:blip r:embed="rId2"/>
          <a:srcRect/>
          <a:stretch>
            <a:fillRect/>
          </a:stretch>
        </p:blipFill>
        <p:spPr>
          <a:xfrm>
            <a:off x="2115954" y="3810000"/>
            <a:ext cx="5968350" cy="2209800"/>
          </a:xfrm>
        </p:spPr>
      </p:pic>
      <p:sp>
        <p:nvSpPr>
          <p:cNvPr id="7" name="Rectangle 6"/>
          <p:cNvSpPr/>
          <p:nvPr/>
        </p:nvSpPr>
        <p:spPr>
          <a:xfrm>
            <a:off x="8057288" y="3790749"/>
            <a:ext cx="801823" cy="461665"/>
          </a:xfrm>
          <a:prstGeom prst="rect">
            <a:avLst/>
          </a:prstGeom>
          <a:solidFill>
            <a:schemeClr val="accent1"/>
          </a:solidFill>
        </p:spPr>
        <p:txBody>
          <a:bodyPr wrap="none">
            <a:spAutoFit/>
          </a:bodyPr>
          <a:lstStyle/>
          <a:p>
            <a:r>
              <a:rPr lang="en-US" altLang="ja-JP" dirty="0">
                <a:ea typeface="ＭＳ Ｐゴシック" pitchFamily="34" charset="-128"/>
              </a:rPr>
              <a:t>SDU</a:t>
            </a:r>
            <a:endParaRPr lang="en-US" dirty="0"/>
          </a:p>
        </p:txBody>
      </p:sp>
      <p:sp>
        <p:nvSpPr>
          <p:cNvPr id="8" name="Rectangle 7"/>
          <p:cNvSpPr/>
          <p:nvPr/>
        </p:nvSpPr>
        <p:spPr>
          <a:xfrm>
            <a:off x="-17646" y="4191000"/>
            <a:ext cx="3685624" cy="400110"/>
          </a:xfrm>
          <a:prstGeom prst="rect">
            <a:avLst/>
          </a:prstGeom>
        </p:spPr>
        <p:txBody>
          <a:bodyPr wrap="none">
            <a:spAutoFit/>
          </a:bodyPr>
          <a:lstStyle/>
          <a:p>
            <a:r>
              <a:rPr lang="en-US" sz="2000" dirty="0">
                <a:solidFill>
                  <a:srgbClr val="FF0000"/>
                </a:solidFill>
              </a:rPr>
              <a:t>MAC service data units (MSDUs)</a:t>
            </a:r>
            <a:endParaRPr lang="en-US" sz="2000" dirty="0"/>
          </a:p>
        </p:txBody>
      </p:sp>
      <p:sp>
        <p:nvSpPr>
          <p:cNvPr id="9" name="Rectangle 8"/>
          <p:cNvSpPr/>
          <p:nvPr/>
        </p:nvSpPr>
        <p:spPr>
          <a:xfrm>
            <a:off x="134754" y="4523771"/>
            <a:ext cx="3454792" cy="369332"/>
          </a:xfrm>
          <a:prstGeom prst="rect">
            <a:avLst/>
          </a:prstGeom>
        </p:spPr>
        <p:txBody>
          <a:bodyPr wrap="none">
            <a:spAutoFit/>
          </a:bodyPr>
          <a:lstStyle/>
          <a:p>
            <a:r>
              <a:rPr lang="en-US" sz="1800" dirty="0">
                <a:solidFill>
                  <a:srgbClr val="FF0000"/>
                </a:solidFill>
              </a:rPr>
              <a:t>MAC protocol data units (MPDUs)</a:t>
            </a:r>
            <a:endParaRPr lang="en-US" sz="1800" dirty="0"/>
          </a:p>
        </p:txBody>
      </p:sp>
    </p:spTree>
    <p:extLst>
      <p:ext uri="{BB962C8B-B14F-4D97-AF65-F5344CB8AC3E}">
        <p14:creationId xmlns:p14="http://schemas.microsoft.com/office/powerpoint/2010/main" val="6574802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p:spPr>
        <p:txBody>
          <a:bodyPr/>
          <a:lstStyle/>
          <a:p>
            <a:fld id="{62AAF8FC-F345-4EA2-A482-CD87A511585C}" type="slidenum">
              <a:rPr lang="en-US" smtClean="0"/>
              <a:pPr/>
              <a:t>24</a:t>
            </a:fld>
            <a:endParaRPr lang="en-US"/>
          </a:p>
        </p:txBody>
      </p:sp>
      <p:sp>
        <p:nvSpPr>
          <p:cNvPr id="39939" name="Text Box 4"/>
          <p:cNvSpPr txBox="1">
            <a:spLocks noChangeArrowheads="1"/>
          </p:cNvSpPr>
          <p:nvPr/>
        </p:nvSpPr>
        <p:spPr bwMode="auto">
          <a:xfrm>
            <a:off x="228600" y="228600"/>
            <a:ext cx="8610600" cy="2677656"/>
          </a:xfrm>
          <a:prstGeom prst="rect">
            <a:avLst/>
          </a:prstGeom>
          <a:solidFill>
            <a:srgbClr val="FFCC66"/>
          </a:solidFill>
          <a:ln w="9525">
            <a:noFill/>
            <a:miter lim="800000"/>
            <a:headEnd/>
            <a:tailEnd/>
          </a:ln>
        </p:spPr>
        <p:txBody>
          <a:bodyPr wrap="square">
            <a:spAutoFit/>
          </a:bodyPr>
          <a:lstStyle/>
          <a:p>
            <a:pPr algn="just">
              <a:spcBef>
                <a:spcPct val="50000"/>
              </a:spcBef>
              <a:buFont typeface="Wingdings" pitchFamily="2" charset="2"/>
              <a:buChar char="ü"/>
            </a:pPr>
            <a:r>
              <a:rPr lang="en-US" altLang="ja-JP" dirty="0">
                <a:ea typeface="ＭＳ Ｐゴシック" pitchFamily="34" charset="-128"/>
              </a:rPr>
              <a:t>CS is also responsible for the mapping the higher layer address, such as IP address, of the SDUs into the identity of the PHY and MAC connections to be used for its transmission. The </a:t>
            </a:r>
            <a:r>
              <a:rPr lang="en-US" altLang="ja-JP" dirty="0" err="1">
                <a:ea typeface="ＭＳ Ｐゴシック" pitchFamily="34" charset="-128"/>
              </a:rPr>
              <a:t>WiMAX</a:t>
            </a:r>
            <a:r>
              <a:rPr lang="en-US" altLang="ja-JP" dirty="0">
                <a:ea typeface="ＭＳ Ｐゴシック" pitchFamily="34" charset="-128"/>
              </a:rPr>
              <a:t> MAC layer is </a:t>
            </a:r>
            <a:r>
              <a:rPr lang="en-US" altLang="ja-JP" b="1" dirty="0">
                <a:solidFill>
                  <a:srgbClr val="0000FF"/>
                </a:solidFill>
                <a:ea typeface="ＭＳ Ｐゴシック" pitchFamily="34" charset="-128"/>
              </a:rPr>
              <a:t>connection oriented </a:t>
            </a:r>
            <a:r>
              <a:rPr lang="en-US" altLang="ja-JP" dirty="0">
                <a:ea typeface="ＭＳ Ｐゴシック" pitchFamily="34" charset="-128"/>
              </a:rPr>
              <a:t>and identifies a logical </a:t>
            </a:r>
            <a:r>
              <a:rPr lang="en-US" altLang="ja-JP" dirty="0" smtClean="0">
                <a:ea typeface="ＭＳ Ｐゴシック" pitchFamily="34" charset="-128"/>
              </a:rPr>
              <a:t>connection </a:t>
            </a:r>
            <a:r>
              <a:rPr lang="en-US" altLang="ja-JP" dirty="0">
                <a:ea typeface="ＭＳ Ｐゴシック" pitchFamily="34" charset="-128"/>
              </a:rPr>
              <a:t>between the BS and the MS by a unidirectional </a:t>
            </a:r>
            <a:r>
              <a:rPr lang="en-US" altLang="ja-JP" b="1" dirty="0">
                <a:solidFill>
                  <a:srgbClr val="0000FF"/>
                </a:solidFill>
                <a:ea typeface="ＭＳ Ｐゴシック" pitchFamily="34" charset="-128"/>
              </a:rPr>
              <a:t>connection identifier </a:t>
            </a:r>
            <a:r>
              <a:rPr lang="en-US" altLang="ja-JP" dirty="0">
                <a:ea typeface="ＭＳ Ｐゴシック" pitchFamily="34" charset="-128"/>
              </a:rPr>
              <a:t>(</a:t>
            </a:r>
            <a:r>
              <a:rPr lang="en-US" altLang="ja-JP" b="1" dirty="0">
                <a:solidFill>
                  <a:srgbClr val="0000FF"/>
                </a:solidFill>
                <a:ea typeface="ＭＳ Ｐゴシック" pitchFamily="34" charset="-128"/>
              </a:rPr>
              <a:t>CID</a:t>
            </a:r>
            <a:r>
              <a:rPr lang="en-US" altLang="ja-JP" dirty="0">
                <a:ea typeface="ＭＳ Ｐゴシック" pitchFamily="34" charset="-128"/>
              </a:rPr>
              <a:t>). The CID for UP and DL connections are different. </a:t>
            </a:r>
            <a:endParaRPr lang="en-US" dirty="0"/>
          </a:p>
        </p:txBody>
      </p:sp>
      <p:pic>
        <p:nvPicPr>
          <p:cNvPr id="4" name="Picture 5"/>
          <p:cNvPicPr>
            <a:picLocks noGrp="1" noChangeAspect="1" noChangeArrowheads="1"/>
          </p:cNvPicPr>
          <p:nvPr>
            <p:ph/>
          </p:nvPr>
        </p:nvPicPr>
        <p:blipFill>
          <a:blip r:embed="rId2"/>
          <a:srcRect/>
          <a:stretch>
            <a:fillRect/>
          </a:stretch>
        </p:blipFill>
        <p:spPr>
          <a:xfrm>
            <a:off x="1066800" y="2971800"/>
            <a:ext cx="7010400" cy="3584987"/>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6A208B75-A8BA-4842-99BC-F78F22B0218E}" type="slidenum">
              <a:rPr lang="en-US" smtClean="0"/>
              <a:pPr/>
              <a:t>25</a:t>
            </a:fld>
            <a:endParaRPr lang="en-US"/>
          </a:p>
        </p:txBody>
      </p:sp>
      <p:sp>
        <p:nvSpPr>
          <p:cNvPr id="113666" name="Text Box 2"/>
          <p:cNvSpPr txBox="1">
            <a:spLocks noChangeArrowheads="1"/>
          </p:cNvSpPr>
          <p:nvPr/>
        </p:nvSpPr>
        <p:spPr bwMode="auto">
          <a:xfrm>
            <a:off x="114300" y="831830"/>
            <a:ext cx="8610600" cy="3231654"/>
          </a:xfrm>
          <a:prstGeom prst="rect">
            <a:avLst/>
          </a:prstGeom>
          <a:solidFill>
            <a:srgbClr val="FFCCFF"/>
          </a:solidFill>
          <a:ln w="9525">
            <a:noFill/>
            <a:miter lim="800000"/>
            <a:headEnd/>
            <a:tailEnd/>
          </a:ln>
        </p:spPr>
        <p:txBody>
          <a:bodyPr>
            <a:spAutoFit/>
          </a:bodyPr>
          <a:lstStyle/>
          <a:p>
            <a:pPr algn="just">
              <a:spcBef>
                <a:spcPct val="50000"/>
              </a:spcBef>
              <a:buFont typeface="Wingdings" pitchFamily="2" charset="2"/>
              <a:buChar char="ü"/>
            </a:pPr>
            <a:r>
              <a:rPr lang="en-US" dirty="0"/>
              <a:t>The MAC layer takes packets from the upper layer (CS) and these packets are called </a:t>
            </a:r>
            <a:r>
              <a:rPr lang="en-US" b="1" dirty="0">
                <a:solidFill>
                  <a:srgbClr val="0000FF"/>
                </a:solidFill>
              </a:rPr>
              <a:t>MAC service data units (MSDUs)</a:t>
            </a:r>
            <a:r>
              <a:rPr lang="en-US" dirty="0"/>
              <a:t> and organize them into </a:t>
            </a:r>
            <a:r>
              <a:rPr lang="en-US" b="1" dirty="0">
                <a:solidFill>
                  <a:srgbClr val="0000FF"/>
                </a:solidFill>
              </a:rPr>
              <a:t>MAC protocol data units (MPDUs)</a:t>
            </a:r>
            <a:r>
              <a:rPr lang="en-US" dirty="0"/>
              <a:t> for transmission over the air. </a:t>
            </a:r>
          </a:p>
          <a:p>
            <a:pPr algn="just">
              <a:spcBef>
                <a:spcPct val="50000"/>
              </a:spcBef>
              <a:buFont typeface="Wingdings" pitchFamily="2" charset="2"/>
              <a:buChar char="ü"/>
            </a:pPr>
            <a:r>
              <a:rPr lang="en-US" dirty="0"/>
              <a:t>The </a:t>
            </a:r>
            <a:r>
              <a:rPr lang="en-US" dirty="0" err="1"/>
              <a:t>WiMAX</a:t>
            </a:r>
            <a:r>
              <a:rPr lang="en-US" dirty="0"/>
              <a:t> MAC uses a variable length </a:t>
            </a:r>
            <a:r>
              <a:rPr lang="en-US" b="1" dirty="0">
                <a:solidFill>
                  <a:srgbClr val="0000FF"/>
                </a:solidFill>
              </a:rPr>
              <a:t>MPDU</a:t>
            </a:r>
            <a:r>
              <a:rPr lang="en-US" dirty="0"/>
              <a:t> and offer a lot of flexibility to allow for their efficient transmission. For example multiple MPDUs of same or different lengths may be arranged into a single burst when they are destined to the same receiver. </a:t>
            </a:r>
          </a:p>
        </p:txBody>
      </p:sp>
      <p:sp>
        <p:nvSpPr>
          <p:cNvPr id="41988" name="Text Box 3"/>
          <p:cNvSpPr txBox="1">
            <a:spLocks noChangeArrowheads="1"/>
          </p:cNvSpPr>
          <p:nvPr/>
        </p:nvSpPr>
        <p:spPr bwMode="auto">
          <a:xfrm>
            <a:off x="1524000" y="178594"/>
            <a:ext cx="5791200" cy="584200"/>
          </a:xfrm>
          <a:prstGeom prst="rect">
            <a:avLst/>
          </a:prstGeom>
          <a:solidFill>
            <a:srgbClr val="FFC000"/>
          </a:solidFill>
          <a:ln w="9525">
            <a:noFill/>
            <a:miter lim="800000"/>
            <a:headEnd/>
            <a:tailEnd/>
          </a:ln>
        </p:spPr>
        <p:txBody>
          <a:bodyPr>
            <a:spAutoFit/>
          </a:bodyPr>
          <a:lstStyle/>
          <a:p>
            <a:pPr algn="ctr">
              <a:spcBef>
                <a:spcPct val="50000"/>
              </a:spcBef>
            </a:pPr>
            <a:r>
              <a:rPr lang="en-US" sz="3200" b="1" i="1"/>
              <a:t>MAC Common Part Sublayer</a:t>
            </a:r>
          </a:p>
        </p:txBody>
      </p:sp>
      <p:pic>
        <p:nvPicPr>
          <p:cNvPr id="5" name="Content Placeholder 4" descr="4-31"/>
          <p:cNvPicPr>
            <a:picLocks noGrp="1" noChangeAspect="1" noChangeArrowheads="1"/>
          </p:cNvPicPr>
          <p:nvPr>
            <p:ph/>
          </p:nvPr>
        </p:nvPicPr>
        <p:blipFill>
          <a:blip r:embed="rId2"/>
          <a:srcRect/>
          <a:stretch>
            <a:fillRect/>
          </a:stretch>
        </p:blipFill>
        <p:spPr>
          <a:xfrm>
            <a:off x="2362200" y="4419600"/>
            <a:ext cx="5130800" cy="1899695"/>
          </a:xfrm>
        </p:spPr>
      </p:pic>
      <p:sp>
        <p:nvSpPr>
          <p:cNvPr id="6" name="Rectangle 5"/>
          <p:cNvSpPr/>
          <p:nvPr/>
        </p:nvSpPr>
        <p:spPr>
          <a:xfrm>
            <a:off x="635992" y="4685988"/>
            <a:ext cx="2993127" cy="338554"/>
          </a:xfrm>
          <a:prstGeom prst="rect">
            <a:avLst/>
          </a:prstGeom>
        </p:spPr>
        <p:txBody>
          <a:bodyPr wrap="none">
            <a:spAutoFit/>
          </a:bodyPr>
          <a:lstStyle/>
          <a:p>
            <a:r>
              <a:rPr lang="en-US" sz="1600" dirty="0">
                <a:solidFill>
                  <a:srgbClr val="FF0000"/>
                </a:solidFill>
              </a:rPr>
              <a:t>MAC service data units (MSDUs)</a:t>
            </a:r>
            <a:endParaRPr lang="en-US" sz="1600" dirty="0"/>
          </a:p>
        </p:txBody>
      </p:sp>
      <p:sp>
        <p:nvSpPr>
          <p:cNvPr id="7" name="Rectangle 6"/>
          <p:cNvSpPr/>
          <p:nvPr/>
        </p:nvSpPr>
        <p:spPr>
          <a:xfrm>
            <a:off x="533400" y="5024542"/>
            <a:ext cx="3095719" cy="338554"/>
          </a:xfrm>
          <a:prstGeom prst="rect">
            <a:avLst/>
          </a:prstGeom>
        </p:spPr>
        <p:txBody>
          <a:bodyPr wrap="none">
            <a:spAutoFit/>
          </a:bodyPr>
          <a:lstStyle/>
          <a:p>
            <a:r>
              <a:rPr lang="en-US" sz="1600" dirty="0">
                <a:solidFill>
                  <a:srgbClr val="FF0000"/>
                </a:solidFill>
              </a:rPr>
              <a:t>MAC protocol data units (MPDUs)</a:t>
            </a:r>
            <a:endParaRPr lang="en-US" sz="1600" dirty="0"/>
          </a:p>
        </p:txBody>
      </p:sp>
      <p:sp>
        <p:nvSpPr>
          <p:cNvPr id="8" name="Rectangle 7"/>
          <p:cNvSpPr/>
          <p:nvPr/>
        </p:nvSpPr>
        <p:spPr>
          <a:xfrm>
            <a:off x="7493000" y="4401313"/>
            <a:ext cx="699230" cy="400110"/>
          </a:xfrm>
          <a:prstGeom prst="rect">
            <a:avLst/>
          </a:prstGeom>
          <a:solidFill>
            <a:schemeClr val="accent1"/>
          </a:solidFill>
        </p:spPr>
        <p:txBody>
          <a:bodyPr wrap="none">
            <a:spAutoFit/>
          </a:bodyPr>
          <a:lstStyle/>
          <a:p>
            <a:r>
              <a:rPr lang="en-US" altLang="ja-JP" sz="2000" dirty="0">
                <a:ea typeface="ＭＳ Ｐゴシック" pitchFamily="34" charset="-128"/>
              </a:rPr>
              <a:t>SDU</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666">
                                            <p:txEl>
                                              <p:pRg st="0" end="0"/>
                                            </p:txEl>
                                          </p:spTgt>
                                        </p:tgtEl>
                                        <p:attrNameLst>
                                          <p:attrName>style.visibility</p:attrName>
                                        </p:attrNameLst>
                                      </p:cBhvr>
                                      <p:to>
                                        <p:strVal val="visible"/>
                                      </p:to>
                                    </p:set>
                                    <p:anim calcmode="lin" valueType="num">
                                      <p:cBhvr additive="base">
                                        <p:cTn id="7" dur="500" fill="hold"/>
                                        <p:tgtEl>
                                          <p:spTgt spid="11366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3666">
                                            <p:txEl>
                                              <p:pRg st="1" end="1"/>
                                            </p:txEl>
                                          </p:spTgt>
                                        </p:tgtEl>
                                        <p:attrNameLst>
                                          <p:attrName>style.visibility</p:attrName>
                                        </p:attrNameLst>
                                      </p:cBhvr>
                                      <p:to>
                                        <p:strVal val="visible"/>
                                      </p:to>
                                    </p:set>
                                    <p:anim calcmode="lin" valueType="num">
                                      <p:cBhvr additive="base">
                                        <p:cTn id="13" dur="500" fill="hold"/>
                                        <p:tgtEl>
                                          <p:spTgt spid="11366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B1959C42-E2F2-4ED5-A3D2-9241F3BE8F82}" type="slidenum">
              <a:rPr lang="en-US" smtClean="0"/>
              <a:pPr/>
              <a:t>26</a:t>
            </a:fld>
            <a:endParaRPr lang="en-US"/>
          </a:p>
        </p:txBody>
      </p:sp>
      <p:sp>
        <p:nvSpPr>
          <p:cNvPr id="114690" name="Text Box 2"/>
          <p:cNvSpPr txBox="1">
            <a:spLocks noChangeArrowheads="1"/>
          </p:cNvSpPr>
          <p:nvPr/>
        </p:nvSpPr>
        <p:spPr bwMode="auto">
          <a:xfrm>
            <a:off x="228600" y="533400"/>
            <a:ext cx="8686800" cy="2862322"/>
          </a:xfrm>
          <a:prstGeom prst="rect">
            <a:avLst/>
          </a:prstGeom>
          <a:solidFill>
            <a:srgbClr val="FFCCCC"/>
          </a:solidFill>
          <a:ln w="9525">
            <a:noFill/>
            <a:miter lim="800000"/>
            <a:headEnd/>
            <a:tailEnd/>
          </a:ln>
        </p:spPr>
        <p:txBody>
          <a:bodyPr>
            <a:spAutoFit/>
          </a:bodyPr>
          <a:lstStyle/>
          <a:p>
            <a:pPr algn="just">
              <a:spcBef>
                <a:spcPct val="50000"/>
              </a:spcBef>
              <a:buFont typeface="Wingdings" pitchFamily="2" charset="2"/>
              <a:buChar char="ü"/>
            </a:pPr>
            <a:r>
              <a:rPr lang="en-US" dirty="0"/>
              <a:t>Similarly, multiple </a:t>
            </a:r>
            <a:r>
              <a:rPr lang="en-US" dirty="0">
                <a:solidFill>
                  <a:srgbClr val="0000FF"/>
                </a:solidFill>
              </a:rPr>
              <a:t>MSDU</a:t>
            </a:r>
            <a:r>
              <a:rPr lang="en-US" dirty="0"/>
              <a:t>s from the same higher-layer service may be concatenated into a single </a:t>
            </a:r>
            <a:r>
              <a:rPr lang="en-US" dirty="0">
                <a:solidFill>
                  <a:srgbClr val="0000FF"/>
                </a:solidFill>
              </a:rPr>
              <a:t>MPDU</a:t>
            </a:r>
            <a:r>
              <a:rPr lang="en-US" dirty="0"/>
              <a:t> to save MAC header overhead. </a:t>
            </a:r>
          </a:p>
          <a:p>
            <a:pPr algn="just">
              <a:spcBef>
                <a:spcPct val="50000"/>
              </a:spcBef>
              <a:buFont typeface="Wingdings" pitchFamily="2" charset="2"/>
              <a:buChar char="ü"/>
            </a:pPr>
            <a:r>
              <a:rPr lang="en-US" dirty="0"/>
              <a:t>When an SDU is fragmented, the position of each fragment within the SDU is tagged by a sequence number. The sequence number  enables the MAC layer at the receiver to assemble the SDU from its fragments in the correct order. </a:t>
            </a:r>
          </a:p>
        </p:txBody>
      </p:sp>
      <p:pic>
        <p:nvPicPr>
          <p:cNvPr id="5" name="Content Placeholder 4" descr="4-31"/>
          <p:cNvPicPr>
            <a:picLocks noGrp="1" noChangeAspect="1" noChangeArrowheads="1"/>
          </p:cNvPicPr>
          <p:nvPr>
            <p:ph/>
          </p:nvPr>
        </p:nvPicPr>
        <p:blipFill>
          <a:blip r:embed="rId2"/>
          <a:srcRect/>
          <a:stretch>
            <a:fillRect/>
          </a:stretch>
        </p:blipFill>
        <p:spPr>
          <a:xfrm>
            <a:off x="2209800" y="4038600"/>
            <a:ext cx="5130800" cy="1899695"/>
          </a:xfrm>
        </p:spPr>
      </p:pic>
      <p:sp>
        <p:nvSpPr>
          <p:cNvPr id="6" name="Rectangle 5"/>
          <p:cNvSpPr/>
          <p:nvPr/>
        </p:nvSpPr>
        <p:spPr>
          <a:xfrm>
            <a:off x="483592" y="4304988"/>
            <a:ext cx="2993127" cy="338554"/>
          </a:xfrm>
          <a:prstGeom prst="rect">
            <a:avLst/>
          </a:prstGeom>
        </p:spPr>
        <p:txBody>
          <a:bodyPr wrap="none">
            <a:spAutoFit/>
          </a:bodyPr>
          <a:lstStyle/>
          <a:p>
            <a:r>
              <a:rPr lang="en-US" sz="1600" dirty="0">
                <a:solidFill>
                  <a:srgbClr val="0000FF"/>
                </a:solidFill>
              </a:rPr>
              <a:t>MAC service data units (MSDUs)</a:t>
            </a:r>
          </a:p>
        </p:txBody>
      </p:sp>
      <p:sp>
        <p:nvSpPr>
          <p:cNvPr id="7" name="Rectangle 6"/>
          <p:cNvSpPr/>
          <p:nvPr/>
        </p:nvSpPr>
        <p:spPr>
          <a:xfrm>
            <a:off x="381000" y="4643542"/>
            <a:ext cx="3095719" cy="338554"/>
          </a:xfrm>
          <a:prstGeom prst="rect">
            <a:avLst/>
          </a:prstGeom>
        </p:spPr>
        <p:txBody>
          <a:bodyPr wrap="none">
            <a:spAutoFit/>
          </a:bodyPr>
          <a:lstStyle/>
          <a:p>
            <a:r>
              <a:rPr lang="en-US" sz="1600" dirty="0">
                <a:solidFill>
                  <a:srgbClr val="0000FF"/>
                </a:solidFill>
              </a:rPr>
              <a:t>MAC protocol data units (MPDUs)</a:t>
            </a:r>
          </a:p>
        </p:txBody>
      </p:sp>
      <p:sp>
        <p:nvSpPr>
          <p:cNvPr id="8" name="Rectangle 7"/>
          <p:cNvSpPr/>
          <p:nvPr/>
        </p:nvSpPr>
        <p:spPr>
          <a:xfrm>
            <a:off x="7340600" y="4020313"/>
            <a:ext cx="699230" cy="400110"/>
          </a:xfrm>
          <a:prstGeom prst="rect">
            <a:avLst/>
          </a:prstGeom>
          <a:solidFill>
            <a:schemeClr val="accent1"/>
          </a:solidFill>
        </p:spPr>
        <p:txBody>
          <a:bodyPr wrap="none">
            <a:spAutoFit/>
          </a:bodyPr>
          <a:lstStyle/>
          <a:p>
            <a:r>
              <a:rPr lang="en-US" altLang="ja-JP" sz="2000" dirty="0">
                <a:ea typeface="ＭＳ Ｐゴシック" pitchFamily="34" charset="-128"/>
              </a:rPr>
              <a:t>SDU</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4690">
                                            <p:txEl>
                                              <p:pRg st="0" end="0"/>
                                            </p:txEl>
                                          </p:spTgt>
                                        </p:tgtEl>
                                        <p:attrNameLst>
                                          <p:attrName>style.visibility</p:attrName>
                                        </p:attrNameLst>
                                      </p:cBhvr>
                                      <p:to>
                                        <p:strVal val="visible"/>
                                      </p:to>
                                    </p:set>
                                    <p:anim calcmode="lin" valueType="num">
                                      <p:cBhvr additive="base">
                                        <p:cTn id="7" dur="500" fill="hold"/>
                                        <p:tgtEl>
                                          <p:spTgt spid="11469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469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4690">
                                            <p:txEl>
                                              <p:pRg st="1" end="1"/>
                                            </p:txEl>
                                          </p:spTgt>
                                        </p:tgtEl>
                                        <p:attrNameLst>
                                          <p:attrName>style.visibility</p:attrName>
                                        </p:attrNameLst>
                                      </p:cBhvr>
                                      <p:to>
                                        <p:strVal val="visible"/>
                                      </p:to>
                                    </p:set>
                                    <p:anim calcmode="lin" valueType="num">
                                      <p:cBhvr additive="base">
                                        <p:cTn id="13" dur="500" fill="hold"/>
                                        <p:tgtEl>
                                          <p:spTgt spid="11469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469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27</a:t>
            </a:fld>
            <a:endParaRPr lang="en-US"/>
          </a:p>
        </p:txBody>
      </p:sp>
      <p:sp>
        <p:nvSpPr>
          <p:cNvPr id="5" name="Text Box 3"/>
          <p:cNvSpPr txBox="1">
            <a:spLocks noChangeArrowheads="1"/>
          </p:cNvSpPr>
          <p:nvPr/>
        </p:nvSpPr>
        <p:spPr bwMode="auto">
          <a:xfrm>
            <a:off x="228600" y="1295400"/>
            <a:ext cx="8763000" cy="3416320"/>
          </a:xfrm>
          <a:prstGeom prst="rect">
            <a:avLst/>
          </a:prstGeom>
          <a:solidFill>
            <a:srgbClr val="FFCCCC"/>
          </a:solidFill>
          <a:ln w="9525">
            <a:noFill/>
            <a:miter lim="800000"/>
            <a:headEnd/>
            <a:tailEnd/>
          </a:ln>
        </p:spPr>
        <p:txBody>
          <a:bodyPr wrap="square">
            <a:spAutoFit/>
          </a:bodyPr>
          <a:lstStyle/>
          <a:p>
            <a:pPr marL="457200" indent="-457200">
              <a:spcBef>
                <a:spcPct val="50000"/>
              </a:spcBef>
            </a:pPr>
            <a:r>
              <a:rPr lang="en-US" dirty="0" err="1"/>
              <a:t>WiMAX</a:t>
            </a:r>
            <a:r>
              <a:rPr lang="en-US" dirty="0"/>
              <a:t> has two types of MPDUs, each with a very different header structure. </a:t>
            </a:r>
          </a:p>
          <a:p>
            <a:pPr marL="457200" indent="-457200" algn="just">
              <a:spcBef>
                <a:spcPct val="50000"/>
              </a:spcBef>
              <a:buFontTx/>
              <a:buAutoNum type="arabicPeriod"/>
            </a:pPr>
            <a:r>
              <a:rPr lang="en-US" dirty="0"/>
              <a:t>The </a:t>
            </a:r>
            <a:r>
              <a:rPr lang="en-US" b="1" dirty="0">
                <a:solidFill>
                  <a:srgbClr val="0000FF"/>
                </a:solidFill>
              </a:rPr>
              <a:t>generic MAC PDU </a:t>
            </a:r>
            <a:r>
              <a:rPr lang="en-US" dirty="0"/>
              <a:t>is used for carrying data and MAC-layer signaling messages. </a:t>
            </a:r>
          </a:p>
          <a:p>
            <a:pPr marL="457200" indent="-457200" algn="just">
              <a:spcBef>
                <a:spcPct val="50000"/>
              </a:spcBef>
              <a:buFontTx/>
              <a:buAutoNum type="arabicPeriod"/>
            </a:pPr>
            <a:r>
              <a:rPr lang="en-US" dirty="0"/>
              <a:t>The </a:t>
            </a:r>
            <a:r>
              <a:rPr lang="en-US" b="1" dirty="0">
                <a:solidFill>
                  <a:srgbClr val="0000FF"/>
                </a:solidFill>
              </a:rPr>
              <a:t>bandwidth request PDU </a:t>
            </a:r>
            <a:r>
              <a:rPr lang="en-US" dirty="0"/>
              <a:t>is used by the MS to indicate to the BS that more BW is required in UL, due to pending data transmission. A bandwidth request PDU consists only of a bandwidth-request header, with no payload or CRC. </a:t>
            </a:r>
          </a:p>
        </p:txBody>
      </p:sp>
    </p:spTree>
    <p:extLst>
      <p:ext uri="{BB962C8B-B14F-4D97-AF65-F5344CB8AC3E}">
        <p14:creationId xmlns:p14="http://schemas.microsoft.com/office/powerpoint/2010/main" val="609656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72E9E9AD-E459-41A9-BE46-944E95E18F14}" type="slidenum">
              <a:rPr lang="en-US" smtClean="0"/>
              <a:pPr/>
              <a:t>28</a:t>
            </a:fld>
            <a:endParaRPr lang="en-US"/>
          </a:p>
        </p:txBody>
      </p:sp>
      <p:grpSp>
        <p:nvGrpSpPr>
          <p:cNvPr id="44035" name="Group 2"/>
          <p:cNvGrpSpPr>
            <a:grpSpLocks/>
          </p:cNvGrpSpPr>
          <p:nvPr/>
        </p:nvGrpSpPr>
        <p:grpSpPr bwMode="auto">
          <a:xfrm>
            <a:off x="762000" y="3505200"/>
            <a:ext cx="7467600" cy="838200"/>
            <a:chOff x="0" y="480"/>
            <a:chExt cx="4704" cy="528"/>
          </a:xfrm>
        </p:grpSpPr>
        <p:sp>
          <p:nvSpPr>
            <p:cNvPr id="44039" name="Text Box 3"/>
            <p:cNvSpPr txBox="1">
              <a:spLocks noChangeArrowheads="1"/>
            </p:cNvSpPr>
            <p:nvPr/>
          </p:nvSpPr>
          <p:spPr bwMode="auto">
            <a:xfrm>
              <a:off x="528" y="576"/>
              <a:ext cx="624" cy="288"/>
            </a:xfrm>
            <a:prstGeom prst="rect">
              <a:avLst/>
            </a:prstGeom>
            <a:noFill/>
            <a:ln w="9525">
              <a:noFill/>
              <a:miter lim="800000"/>
              <a:headEnd/>
              <a:tailEnd/>
            </a:ln>
          </p:spPr>
          <p:txBody>
            <a:bodyPr>
              <a:spAutoFit/>
            </a:bodyPr>
            <a:lstStyle/>
            <a:p>
              <a:pPr>
                <a:spcBef>
                  <a:spcPct val="50000"/>
                </a:spcBef>
              </a:pPr>
              <a:endParaRPr lang="en-US"/>
            </a:p>
          </p:txBody>
        </p:sp>
        <p:sp>
          <p:nvSpPr>
            <p:cNvPr id="44040" name="Rectangle 4"/>
            <p:cNvSpPr>
              <a:spLocks noChangeArrowheads="1"/>
            </p:cNvSpPr>
            <p:nvPr/>
          </p:nvSpPr>
          <p:spPr bwMode="auto">
            <a:xfrm>
              <a:off x="0" y="480"/>
              <a:ext cx="4608" cy="52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4041" name="Text Box 5"/>
            <p:cNvSpPr txBox="1">
              <a:spLocks noChangeArrowheads="1"/>
            </p:cNvSpPr>
            <p:nvPr/>
          </p:nvSpPr>
          <p:spPr bwMode="auto">
            <a:xfrm>
              <a:off x="3072" y="480"/>
              <a:ext cx="1200" cy="524"/>
            </a:xfrm>
            <a:prstGeom prst="rect">
              <a:avLst/>
            </a:prstGeom>
            <a:noFill/>
            <a:ln w="9525">
              <a:solidFill>
                <a:schemeClr val="tx1"/>
              </a:solidFill>
              <a:miter lim="800000"/>
              <a:headEnd/>
              <a:tailEnd/>
            </a:ln>
          </p:spPr>
          <p:txBody>
            <a:bodyPr>
              <a:spAutoFit/>
            </a:bodyPr>
            <a:lstStyle/>
            <a:p>
              <a:pPr>
                <a:spcBef>
                  <a:spcPct val="50000"/>
                </a:spcBef>
              </a:pPr>
              <a:r>
                <a:rPr lang="en-US"/>
                <a:t>Packed fixed size MSDU</a:t>
              </a:r>
            </a:p>
          </p:txBody>
        </p:sp>
        <p:sp>
          <p:nvSpPr>
            <p:cNvPr id="44042" name="Rectangle 6"/>
            <p:cNvSpPr>
              <a:spLocks noChangeArrowheads="1"/>
            </p:cNvSpPr>
            <p:nvPr/>
          </p:nvSpPr>
          <p:spPr bwMode="auto">
            <a:xfrm>
              <a:off x="0" y="480"/>
              <a:ext cx="624" cy="528"/>
            </a:xfrm>
            <a:prstGeom prst="rect">
              <a:avLst/>
            </a:prstGeom>
            <a:solidFill>
              <a:srgbClr val="FF9933"/>
            </a:solidFill>
            <a:ln w="9525">
              <a:solidFill>
                <a:schemeClr val="tx1"/>
              </a:solidFill>
              <a:miter lim="800000"/>
              <a:headEnd/>
              <a:tailEnd/>
            </a:ln>
          </p:spPr>
          <p:txBody>
            <a:bodyPr wrap="none" anchor="ctr"/>
            <a:lstStyle/>
            <a:p>
              <a:pPr algn="ctr"/>
              <a:r>
                <a:rPr lang="en-US"/>
                <a:t>GMH</a:t>
              </a:r>
            </a:p>
          </p:txBody>
        </p:sp>
        <p:sp>
          <p:nvSpPr>
            <p:cNvPr id="44043" name="Rectangle 7"/>
            <p:cNvSpPr>
              <a:spLocks noChangeArrowheads="1"/>
            </p:cNvSpPr>
            <p:nvPr/>
          </p:nvSpPr>
          <p:spPr bwMode="auto">
            <a:xfrm>
              <a:off x="608" y="480"/>
              <a:ext cx="624" cy="528"/>
            </a:xfrm>
            <a:prstGeom prst="rect">
              <a:avLst/>
            </a:prstGeom>
            <a:solidFill>
              <a:srgbClr val="00CCFF"/>
            </a:solidFill>
            <a:ln w="9525">
              <a:solidFill>
                <a:schemeClr val="tx1"/>
              </a:solidFill>
              <a:miter lim="800000"/>
              <a:headEnd/>
              <a:tailEnd/>
            </a:ln>
          </p:spPr>
          <p:txBody>
            <a:bodyPr wrap="none" anchor="ctr"/>
            <a:lstStyle/>
            <a:p>
              <a:pPr algn="ctr"/>
              <a:r>
                <a:rPr lang="en-US"/>
                <a:t>Other </a:t>
              </a:r>
            </a:p>
            <a:p>
              <a:pPr algn="ctr"/>
              <a:r>
                <a:rPr lang="en-US"/>
                <a:t>SH</a:t>
              </a:r>
            </a:p>
          </p:txBody>
        </p:sp>
        <p:sp>
          <p:nvSpPr>
            <p:cNvPr id="44044" name="Text Box 8"/>
            <p:cNvSpPr txBox="1">
              <a:spLocks noChangeArrowheads="1"/>
            </p:cNvSpPr>
            <p:nvPr/>
          </p:nvSpPr>
          <p:spPr bwMode="auto">
            <a:xfrm>
              <a:off x="1232" y="480"/>
              <a:ext cx="1200" cy="524"/>
            </a:xfrm>
            <a:prstGeom prst="rect">
              <a:avLst/>
            </a:prstGeom>
            <a:noFill/>
            <a:ln w="9525">
              <a:solidFill>
                <a:schemeClr val="tx1"/>
              </a:solidFill>
              <a:miter lim="800000"/>
              <a:headEnd/>
              <a:tailEnd/>
            </a:ln>
          </p:spPr>
          <p:txBody>
            <a:bodyPr>
              <a:spAutoFit/>
            </a:bodyPr>
            <a:lstStyle/>
            <a:p>
              <a:pPr>
                <a:spcBef>
                  <a:spcPct val="50000"/>
                </a:spcBef>
              </a:pPr>
              <a:r>
                <a:rPr lang="en-US"/>
                <a:t>Packed fixed size MSDU</a:t>
              </a:r>
            </a:p>
          </p:txBody>
        </p:sp>
        <p:sp>
          <p:nvSpPr>
            <p:cNvPr id="44045" name="Rectangle 9"/>
            <p:cNvSpPr>
              <a:spLocks noChangeArrowheads="1"/>
            </p:cNvSpPr>
            <p:nvPr/>
          </p:nvSpPr>
          <p:spPr bwMode="auto">
            <a:xfrm>
              <a:off x="4272" y="480"/>
              <a:ext cx="432" cy="528"/>
            </a:xfrm>
            <a:prstGeom prst="rect">
              <a:avLst/>
            </a:prstGeom>
            <a:solidFill>
              <a:srgbClr val="FFCCCC"/>
            </a:solidFill>
            <a:ln w="9525">
              <a:solidFill>
                <a:schemeClr val="tx1"/>
              </a:solidFill>
              <a:miter lim="800000"/>
              <a:headEnd/>
              <a:tailEnd/>
            </a:ln>
          </p:spPr>
          <p:txBody>
            <a:bodyPr wrap="none" anchor="ctr"/>
            <a:lstStyle/>
            <a:p>
              <a:pPr algn="ctr"/>
              <a:r>
                <a:rPr lang="en-US" dirty="0"/>
                <a:t>CRC</a:t>
              </a:r>
            </a:p>
          </p:txBody>
        </p:sp>
        <p:sp>
          <p:nvSpPr>
            <p:cNvPr id="44046" name="Rectangle 10"/>
            <p:cNvSpPr>
              <a:spLocks noChangeArrowheads="1"/>
            </p:cNvSpPr>
            <p:nvPr/>
          </p:nvSpPr>
          <p:spPr bwMode="auto">
            <a:xfrm>
              <a:off x="2544" y="528"/>
              <a:ext cx="384" cy="480"/>
            </a:xfrm>
            <a:prstGeom prst="rect">
              <a:avLst/>
            </a:prstGeom>
            <a:solidFill>
              <a:schemeClr val="accent1"/>
            </a:solidFill>
            <a:ln w="9525">
              <a:noFill/>
              <a:miter lim="800000"/>
              <a:headEnd/>
              <a:tailEnd/>
            </a:ln>
          </p:spPr>
          <p:txBody>
            <a:bodyPr wrap="none" anchor="ctr"/>
            <a:lstStyle/>
            <a:p>
              <a:pPr algn="ctr"/>
              <a:r>
                <a:rPr lang="en-US"/>
                <a:t>…….</a:t>
              </a:r>
            </a:p>
          </p:txBody>
        </p:sp>
      </p:grpSp>
      <p:sp>
        <p:nvSpPr>
          <p:cNvPr id="44036" name="Text Box 11"/>
          <p:cNvSpPr txBox="1">
            <a:spLocks noChangeArrowheads="1"/>
          </p:cNvSpPr>
          <p:nvPr/>
        </p:nvSpPr>
        <p:spPr bwMode="auto">
          <a:xfrm>
            <a:off x="381000" y="4419600"/>
            <a:ext cx="8382000" cy="396875"/>
          </a:xfrm>
          <a:prstGeom prst="rect">
            <a:avLst/>
          </a:prstGeom>
          <a:noFill/>
          <a:ln w="9525">
            <a:noFill/>
            <a:miter lim="800000"/>
            <a:headEnd/>
            <a:tailEnd/>
          </a:ln>
        </p:spPr>
        <p:txBody>
          <a:bodyPr>
            <a:spAutoFit/>
          </a:bodyPr>
          <a:lstStyle/>
          <a:p>
            <a:pPr>
              <a:spcBef>
                <a:spcPct val="50000"/>
              </a:spcBef>
            </a:pPr>
            <a:r>
              <a:rPr lang="en-US" sz="2000" dirty="0"/>
              <a:t>Fig.6 MAC PDU frame carrying several-fixed length MSDUs packed together</a:t>
            </a:r>
          </a:p>
        </p:txBody>
      </p:sp>
      <p:sp>
        <p:nvSpPr>
          <p:cNvPr id="44037" name="Text Box 12"/>
          <p:cNvSpPr txBox="1">
            <a:spLocks noChangeArrowheads="1"/>
          </p:cNvSpPr>
          <p:nvPr/>
        </p:nvSpPr>
        <p:spPr bwMode="auto">
          <a:xfrm>
            <a:off x="304800" y="5410200"/>
            <a:ext cx="8610600" cy="779463"/>
          </a:xfrm>
          <a:prstGeom prst="rect">
            <a:avLst/>
          </a:prstGeom>
          <a:solidFill>
            <a:srgbClr val="FFCC66"/>
          </a:solidFill>
          <a:ln w="9525">
            <a:noFill/>
            <a:miter lim="800000"/>
            <a:headEnd/>
            <a:tailEnd/>
          </a:ln>
        </p:spPr>
        <p:txBody>
          <a:bodyPr>
            <a:spAutoFit/>
          </a:bodyPr>
          <a:lstStyle/>
          <a:p>
            <a:pPr>
              <a:spcBef>
                <a:spcPct val="50000"/>
              </a:spcBef>
            </a:pPr>
            <a:r>
              <a:rPr lang="en-US" sz="1800"/>
              <a:t>GMH </a:t>
            </a:r>
            <a:r>
              <a:rPr lang="en-US" sz="1800">
                <a:cs typeface="Times New Roman" pitchFamily="18" charset="0"/>
              </a:rPr>
              <a:t>→ Generic MAC Header (used for carrying data and MAC-layer signaling messages)</a:t>
            </a:r>
          </a:p>
          <a:p>
            <a:pPr>
              <a:spcBef>
                <a:spcPct val="50000"/>
              </a:spcBef>
            </a:pPr>
            <a:r>
              <a:rPr lang="en-US" sz="1800"/>
              <a:t>SH → Sub-header</a:t>
            </a:r>
          </a:p>
        </p:txBody>
      </p:sp>
      <p:sp>
        <p:nvSpPr>
          <p:cNvPr id="44038" name="TextBox 15"/>
          <p:cNvSpPr txBox="1">
            <a:spLocks noChangeArrowheads="1"/>
          </p:cNvSpPr>
          <p:nvPr/>
        </p:nvSpPr>
        <p:spPr bwMode="auto">
          <a:xfrm>
            <a:off x="0" y="0"/>
            <a:ext cx="9144000" cy="2677656"/>
          </a:xfrm>
          <a:prstGeom prst="rect">
            <a:avLst/>
          </a:prstGeom>
          <a:solidFill>
            <a:srgbClr val="CCECFF"/>
          </a:solidFill>
          <a:ln w="9525">
            <a:noFill/>
            <a:miter lim="800000"/>
            <a:headEnd/>
            <a:tailEnd/>
          </a:ln>
        </p:spPr>
        <p:txBody>
          <a:bodyPr>
            <a:spAutoFit/>
          </a:bodyPr>
          <a:lstStyle/>
          <a:p>
            <a:pPr algn="just">
              <a:buFont typeface="Wingdings" pitchFamily="2" charset="2"/>
              <a:buChar char="ü"/>
            </a:pPr>
            <a:r>
              <a:rPr lang="en-US" dirty="0"/>
              <a:t>Each MAC frame is prefixed with GMH (generic MAC header).</a:t>
            </a:r>
          </a:p>
          <a:p>
            <a:pPr algn="just"/>
            <a:endParaRPr lang="en-US" dirty="0"/>
          </a:p>
          <a:p>
            <a:pPr algn="just">
              <a:buFont typeface="Wingdings" pitchFamily="2" charset="2"/>
              <a:buChar char="ü"/>
            </a:pPr>
            <a:r>
              <a:rPr lang="en-US" dirty="0"/>
              <a:t>Field (in SH) to indicate whether the payload is encrypted or not. If the payload is encrypted then the encryption key is also given.</a:t>
            </a:r>
          </a:p>
          <a:p>
            <a:pPr algn="just"/>
            <a:endParaRPr lang="en-US" dirty="0"/>
          </a:p>
          <a:p>
            <a:pPr algn="just">
              <a:buFont typeface="Wingdings" pitchFamily="2" charset="2"/>
              <a:buChar char="ü"/>
            </a:pPr>
            <a:r>
              <a:rPr lang="en-US" dirty="0"/>
              <a:t>Header CRC field is a checksum over the header only using the generator polynomial </a:t>
            </a:r>
            <a:r>
              <a:rPr lang="en-US" i="1" dirty="0"/>
              <a:t>x</a:t>
            </a:r>
            <a:r>
              <a:rPr lang="en-US" baseline="30000" dirty="0"/>
              <a:t>8</a:t>
            </a:r>
            <a:r>
              <a:rPr lang="en-US" dirty="0"/>
              <a:t>+</a:t>
            </a:r>
            <a:r>
              <a:rPr lang="en-US" i="1" dirty="0"/>
              <a:t>x</a:t>
            </a:r>
            <a:r>
              <a:rPr lang="en-US" baseline="30000" dirty="0"/>
              <a:t>2</a:t>
            </a:r>
            <a:r>
              <a:rPr lang="en-US" dirty="0"/>
              <a:t>+</a:t>
            </a:r>
            <a:r>
              <a:rPr lang="en-US" i="1" dirty="0"/>
              <a:t>x</a:t>
            </a:r>
            <a:r>
              <a:rPr lang="en-US" dirty="0"/>
              <a:t>+1. The length of this field is 8bits.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p:cNvSpPr>
            <a:spLocks noGrp="1"/>
          </p:cNvSpPr>
          <p:nvPr>
            <p:ph type="sldNum" sz="quarter" idx="12"/>
          </p:nvPr>
        </p:nvSpPr>
        <p:spPr>
          <a:noFill/>
        </p:spPr>
        <p:txBody>
          <a:bodyPr/>
          <a:lstStyle/>
          <a:p>
            <a:fld id="{A3265D26-CAE1-48B1-934F-E05DBCC3C6F6}" type="slidenum">
              <a:rPr lang="en-US" smtClean="0"/>
              <a:pPr/>
              <a:t>29</a:t>
            </a:fld>
            <a:endParaRPr lang="en-US"/>
          </a:p>
        </p:txBody>
      </p:sp>
      <p:graphicFrame>
        <p:nvGraphicFramePr>
          <p:cNvPr id="134364" name="Group 220"/>
          <p:cNvGraphicFramePr>
            <a:graphicFrameLocks noGrp="1"/>
          </p:cNvGraphicFramePr>
          <p:nvPr>
            <p:ph/>
          </p:nvPr>
        </p:nvGraphicFramePr>
        <p:xfrm>
          <a:off x="2209800" y="2590800"/>
          <a:ext cx="6443663" cy="3619500"/>
        </p:xfrm>
        <a:graphic>
          <a:graphicData uri="http://schemas.openxmlformats.org/drawingml/2006/table">
            <a:tbl>
              <a:tblPr/>
              <a:tblGrid>
                <a:gridCol w="858838">
                  <a:extLst>
                    <a:ext uri="{9D8B030D-6E8A-4147-A177-3AD203B41FA5}">
                      <a16:colId xmlns:a16="http://schemas.microsoft.com/office/drawing/2014/main" xmlns="" val="20000"/>
                    </a:ext>
                  </a:extLst>
                </a:gridCol>
                <a:gridCol w="969962">
                  <a:extLst>
                    <a:ext uri="{9D8B030D-6E8A-4147-A177-3AD203B41FA5}">
                      <a16:colId xmlns:a16="http://schemas.microsoft.com/office/drawing/2014/main" xmlns="" val="20001"/>
                    </a:ext>
                  </a:extLst>
                </a:gridCol>
                <a:gridCol w="4614863">
                  <a:extLst>
                    <a:ext uri="{9D8B030D-6E8A-4147-A177-3AD203B41FA5}">
                      <a16:colId xmlns:a16="http://schemas.microsoft.com/office/drawing/2014/main" xmlns="" val="20002"/>
                    </a:ext>
                  </a:extLst>
                </a:gridCol>
              </a:tblGrid>
              <a:tr h="2587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cs typeface="Times New Roman" pitchFamily="18" charset="0"/>
                        </a:rPr>
                        <a:t>Field</a:t>
                      </a:r>
                      <a:endParaRPr kumimoji="0" lang="en-US" sz="2000" b="1"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Length</a:t>
                      </a:r>
                      <a:endParaRPr kumimoji="0" lang="en-US" sz="20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cs typeface="Times New Roman" pitchFamily="18" charset="0"/>
                        </a:rPr>
                        <a:t>description</a:t>
                      </a:r>
                      <a:endParaRPr kumimoji="0" lang="en-US" sz="2000" b="1"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0"/>
                  </a:ext>
                </a:extLst>
              </a:tr>
              <a:tr h="2571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HT</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Header type (set 0 for such header)</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1"/>
                  </a:ext>
                </a:extLst>
              </a:tr>
              <a:tr h="42862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EC</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Encryption control (0 = payload not encrypted; 1 = payload  encrypted</a:t>
                      </a:r>
                      <a:endParaRPr kumimoji="0" lang="en-US" sz="24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2"/>
                  </a:ext>
                </a:extLst>
              </a:tr>
              <a:tr h="2587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Type</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6</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type</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3"/>
                  </a:ext>
                </a:extLst>
              </a:tr>
              <a:tr h="2587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ESF</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(1 = ES present; 0 = ES not present)</a:t>
                      </a:r>
                      <a:endParaRPr kumimoji="0" lang="en-US" sz="24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4"/>
                  </a:ext>
                </a:extLst>
              </a:tr>
              <a:tr h="2571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CI</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CRC indicator (1=CRC included; 0=CRC not included)</a:t>
                      </a:r>
                      <a:endParaRPr kumimoji="0" lang="en-US" sz="24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5"/>
                  </a:ext>
                </a:extLst>
              </a:tr>
              <a:tr h="6000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EKS</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2</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Encryption key sequence (index of the traffic encryption key and the initialization vector used to encrypt the payload)</a:t>
                      </a:r>
                      <a:endParaRPr kumimoji="0" lang="en-US" sz="24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6"/>
                  </a:ext>
                </a:extLst>
              </a:tr>
              <a:tr h="2587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Rsv</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Reserved</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7"/>
                  </a:ext>
                </a:extLst>
              </a:tr>
              <a:tr h="2587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LEN</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Length of MAC PDU in bytes, including the header)</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8"/>
                  </a:ext>
                </a:extLst>
              </a:tr>
              <a:tr h="2571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CID</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16</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Times New Roman" pitchFamily="18" charset="0"/>
                          <a:cs typeface="Times New Roman" pitchFamily="18" charset="0"/>
                        </a:rPr>
                        <a:t>Connection identifier on which the payload is to be sent</a:t>
                      </a:r>
                      <a:endParaRPr kumimoji="0" lang="en-US" sz="24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9"/>
                  </a:ext>
                </a:extLst>
              </a:tr>
              <a:tr h="258763">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HCS</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8</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Times New Roman" pitchFamily="18" charset="0"/>
                          <a:cs typeface="Times New Roman" pitchFamily="18" charset="0"/>
                        </a:rPr>
                        <a:t>Header check sequence; generation polynomial x8+x2+x+1</a:t>
                      </a:r>
                      <a:endParaRPr kumimoji="0" lang="en-US" sz="24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10"/>
                  </a:ext>
                </a:extLst>
              </a:tr>
            </a:tbl>
          </a:graphicData>
        </a:graphic>
      </p:graphicFrame>
      <p:sp>
        <p:nvSpPr>
          <p:cNvPr id="45109" name="Text Box 221"/>
          <p:cNvSpPr txBox="1">
            <a:spLocks noChangeArrowheads="1"/>
          </p:cNvSpPr>
          <p:nvPr/>
        </p:nvSpPr>
        <p:spPr bwMode="auto">
          <a:xfrm>
            <a:off x="4495800" y="1981200"/>
            <a:ext cx="3886200" cy="457200"/>
          </a:xfrm>
          <a:prstGeom prst="rect">
            <a:avLst/>
          </a:prstGeom>
          <a:solidFill>
            <a:srgbClr val="FF6600"/>
          </a:solidFill>
          <a:ln w="9525">
            <a:noFill/>
            <a:miter lim="800000"/>
            <a:headEnd/>
            <a:tailEnd/>
          </a:ln>
        </p:spPr>
        <p:txBody>
          <a:bodyPr>
            <a:spAutoFit/>
          </a:bodyPr>
          <a:lstStyle/>
          <a:p>
            <a:pPr>
              <a:spcBef>
                <a:spcPct val="50000"/>
              </a:spcBef>
            </a:pPr>
            <a:r>
              <a:rPr lang="en-US" dirty="0"/>
              <a:t>Generic MAC Header Fields</a:t>
            </a:r>
          </a:p>
        </p:txBody>
      </p:sp>
      <p:sp>
        <p:nvSpPr>
          <p:cNvPr id="45110" name="Rectangle 234"/>
          <p:cNvSpPr>
            <a:spLocks noChangeArrowheads="1"/>
          </p:cNvSpPr>
          <p:nvPr/>
        </p:nvSpPr>
        <p:spPr bwMode="auto">
          <a:xfrm>
            <a:off x="204788" y="0"/>
            <a:ext cx="1587" cy="365125"/>
          </a:xfrm>
          <a:prstGeom prst="rect">
            <a:avLst/>
          </a:prstGeom>
          <a:noFill/>
          <a:ln w="9525">
            <a:noFill/>
            <a:miter lim="800000"/>
            <a:headEnd/>
            <a:tailEnd/>
          </a:ln>
        </p:spPr>
        <p:txBody>
          <a:bodyPr wrap="none" lIns="0" tIns="0" rIns="0" bIns="0">
            <a:spAutoFit/>
          </a:bodyPr>
          <a:lstStyle/>
          <a:p>
            <a:endParaRPr lang="en-US"/>
          </a:p>
        </p:txBody>
      </p:sp>
      <p:grpSp>
        <p:nvGrpSpPr>
          <p:cNvPr id="45111" name="Group 257"/>
          <p:cNvGrpSpPr>
            <a:grpSpLocks/>
          </p:cNvGrpSpPr>
          <p:nvPr/>
        </p:nvGrpSpPr>
        <p:grpSpPr bwMode="auto">
          <a:xfrm>
            <a:off x="0" y="90488"/>
            <a:ext cx="4343400" cy="2195512"/>
            <a:chOff x="96" y="398"/>
            <a:chExt cx="2393" cy="1383"/>
          </a:xfrm>
        </p:grpSpPr>
        <p:sp>
          <p:nvSpPr>
            <p:cNvPr id="38968" name="Rectangle 223"/>
            <p:cNvSpPr>
              <a:spLocks noChangeArrowheads="1"/>
            </p:cNvSpPr>
            <p:nvPr/>
          </p:nvSpPr>
          <p:spPr bwMode="auto">
            <a:xfrm>
              <a:off x="2040" y="398"/>
              <a:ext cx="449"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69" name="Rectangle 224"/>
            <p:cNvSpPr>
              <a:spLocks noChangeArrowheads="1"/>
            </p:cNvSpPr>
            <p:nvPr/>
          </p:nvSpPr>
          <p:spPr bwMode="auto">
            <a:xfrm>
              <a:off x="2151" y="414"/>
              <a:ext cx="164"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LEN</a:t>
              </a:r>
              <a:endParaRPr lang="en-US" sz="1200">
                <a:latin typeface="+mn-lt"/>
              </a:endParaRPr>
            </a:p>
          </p:txBody>
        </p:sp>
        <p:sp>
          <p:nvSpPr>
            <p:cNvPr id="38970" name="Rectangle 225"/>
            <p:cNvSpPr>
              <a:spLocks noChangeArrowheads="1"/>
            </p:cNvSpPr>
            <p:nvPr/>
          </p:nvSpPr>
          <p:spPr bwMode="auto">
            <a:xfrm>
              <a:off x="2154" y="557"/>
              <a:ext cx="141" cy="116"/>
            </a:xfrm>
            <a:prstGeom prst="rect">
              <a:avLst/>
            </a:prstGeom>
            <a:noFill/>
            <a:ln w="9525">
              <a:noFill/>
              <a:miter lim="800000"/>
              <a:headEnd/>
              <a:tailEnd/>
            </a:ln>
          </p:spPr>
          <p:txBody>
            <a:bodyPr wrap="none" lIns="0" tIns="0" rIns="0" bIns="0">
              <a:spAutoFit/>
            </a:bodyPr>
            <a:lstStyle/>
            <a:p>
              <a:pPr>
                <a:defRPr/>
              </a:pPr>
              <a:r>
                <a:rPr lang="en-US" sz="1200" dirty="0" err="1">
                  <a:solidFill>
                    <a:srgbClr val="000000"/>
                  </a:solidFill>
                  <a:latin typeface="+mn-lt"/>
                </a:rPr>
                <a:t>msb</a:t>
              </a:r>
              <a:endParaRPr lang="en-US" sz="1200" dirty="0">
                <a:latin typeface="+mn-lt"/>
              </a:endParaRPr>
            </a:p>
          </p:txBody>
        </p:sp>
        <p:sp>
          <p:nvSpPr>
            <p:cNvPr id="38971" name="Rectangle 226"/>
            <p:cNvSpPr>
              <a:spLocks noChangeArrowheads="1"/>
            </p:cNvSpPr>
            <p:nvPr/>
          </p:nvSpPr>
          <p:spPr bwMode="auto">
            <a:xfrm>
              <a:off x="2193" y="700"/>
              <a:ext cx="99" cy="116"/>
            </a:xfrm>
            <a:prstGeom prst="rect">
              <a:avLst/>
            </a:prstGeom>
            <a:noFill/>
            <a:ln w="9525">
              <a:noFill/>
              <a:miter lim="800000"/>
              <a:headEnd/>
              <a:tailEnd/>
            </a:ln>
          </p:spPr>
          <p:txBody>
            <a:bodyPr wrap="none" lIns="0" tIns="0" rIns="0" bIns="0">
              <a:spAutoFit/>
            </a:bodyPr>
            <a:lstStyle/>
            <a:p>
              <a:pPr>
                <a:defRPr/>
              </a:pPr>
              <a:r>
                <a:rPr lang="en-US" sz="1200" dirty="0">
                  <a:solidFill>
                    <a:srgbClr val="000000"/>
                  </a:solidFill>
                  <a:latin typeface="+mn-lt"/>
                </a:rPr>
                <a:t>(3)</a:t>
              </a:r>
              <a:endParaRPr lang="en-US" sz="1200" dirty="0">
                <a:latin typeface="+mn-lt"/>
              </a:endParaRPr>
            </a:p>
          </p:txBody>
        </p:sp>
        <p:sp>
          <p:nvSpPr>
            <p:cNvPr id="38972" name="Rectangle 227"/>
            <p:cNvSpPr>
              <a:spLocks noChangeArrowheads="1"/>
            </p:cNvSpPr>
            <p:nvPr/>
          </p:nvSpPr>
          <p:spPr bwMode="auto">
            <a:xfrm>
              <a:off x="96" y="398"/>
              <a:ext cx="150"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73" name="Rectangle 228"/>
            <p:cNvSpPr>
              <a:spLocks noChangeArrowheads="1"/>
            </p:cNvSpPr>
            <p:nvPr/>
          </p:nvSpPr>
          <p:spPr bwMode="auto">
            <a:xfrm>
              <a:off x="135" y="505"/>
              <a:ext cx="59"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H</a:t>
              </a:r>
              <a:endParaRPr lang="en-US" sz="1200">
                <a:latin typeface="+mn-lt"/>
              </a:endParaRPr>
            </a:p>
          </p:txBody>
        </p:sp>
        <p:sp>
          <p:nvSpPr>
            <p:cNvPr id="38974" name="Rectangle 229"/>
            <p:cNvSpPr>
              <a:spLocks noChangeArrowheads="1"/>
            </p:cNvSpPr>
            <p:nvPr/>
          </p:nvSpPr>
          <p:spPr bwMode="auto">
            <a:xfrm>
              <a:off x="140" y="628"/>
              <a:ext cx="52"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T</a:t>
              </a:r>
              <a:endParaRPr lang="en-US" sz="1200">
                <a:latin typeface="+mn-lt"/>
              </a:endParaRPr>
            </a:p>
          </p:txBody>
        </p:sp>
        <p:sp>
          <p:nvSpPr>
            <p:cNvPr id="38975" name="Rectangle 230"/>
            <p:cNvSpPr>
              <a:spLocks noChangeArrowheads="1"/>
            </p:cNvSpPr>
            <p:nvPr/>
          </p:nvSpPr>
          <p:spPr bwMode="auto">
            <a:xfrm>
              <a:off x="1293" y="859"/>
              <a:ext cx="1196"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76" name="Rectangle 231"/>
            <p:cNvSpPr>
              <a:spLocks noChangeArrowheads="1"/>
            </p:cNvSpPr>
            <p:nvPr/>
          </p:nvSpPr>
          <p:spPr bwMode="auto">
            <a:xfrm>
              <a:off x="1576" y="1018"/>
              <a:ext cx="714" cy="194"/>
            </a:xfrm>
            <a:prstGeom prst="rect">
              <a:avLst/>
            </a:prstGeom>
            <a:noFill/>
            <a:ln w="9525">
              <a:noFill/>
              <a:miter lim="800000"/>
              <a:headEnd/>
              <a:tailEnd/>
            </a:ln>
          </p:spPr>
          <p:txBody>
            <a:bodyPr wrap="none" lIns="0" tIns="0" rIns="0" bIns="0">
              <a:spAutoFit/>
            </a:bodyPr>
            <a:lstStyle/>
            <a:p>
              <a:pPr>
                <a:defRPr/>
              </a:pPr>
              <a:r>
                <a:rPr lang="en-US" sz="2000" dirty="0">
                  <a:solidFill>
                    <a:srgbClr val="000000"/>
                  </a:solidFill>
                  <a:latin typeface="+mn-lt"/>
                </a:rPr>
                <a:t>CID </a:t>
              </a:r>
              <a:r>
                <a:rPr lang="en-US" sz="2000" dirty="0" err="1">
                  <a:solidFill>
                    <a:srgbClr val="000000"/>
                  </a:solidFill>
                  <a:latin typeface="+mn-lt"/>
                </a:rPr>
                <a:t>msb</a:t>
              </a:r>
              <a:r>
                <a:rPr lang="en-US" sz="2000" dirty="0">
                  <a:solidFill>
                    <a:srgbClr val="000000"/>
                  </a:solidFill>
                  <a:latin typeface="+mn-lt"/>
                </a:rPr>
                <a:t> (8)</a:t>
              </a:r>
              <a:endParaRPr lang="en-US" sz="2000" dirty="0">
                <a:latin typeface="+mn-lt"/>
              </a:endParaRPr>
            </a:p>
          </p:txBody>
        </p:sp>
        <p:sp>
          <p:nvSpPr>
            <p:cNvPr id="38977" name="Rectangle 232"/>
            <p:cNvSpPr>
              <a:spLocks noChangeArrowheads="1"/>
            </p:cNvSpPr>
            <p:nvPr/>
          </p:nvSpPr>
          <p:spPr bwMode="auto">
            <a:xfrm>
              <a:off x="96" y="859"/>
              <a:ext cx="1197" cy="461"/>
            </a:xfrm>
            <a:prstGeom prst="rect">
              <a:avLst/>
            </a:prstGeom>
            <a:solidFill>
              <a:srgbClr val="00CC99"/>
            </a:solidFill>
            <a:ln w="3175">
              <a:solidFill>
                <a:srgbClr val="000000"/>
              </a:solidFill>
              <a:miter lim="800000"/>
              <a:headEnd/>
              <a:tailEnd/>
            </a:ln>
          </p:spPr>
          <p:txBody>
            <a:bodyPr/>
            <a:lstStyle/>
            <a:p>
              <a:pPr>
                <a:defRPr/>
              </a:pPr>
              <a:endParaRPr lang="en-US" sz="2000" dirty="0">
                <a:latin typeface="+mn-lt"/>
              </a:endParaRPr>
            </a:p>
          </p:txBody>
        </p:sp>
        <p:sp>
          <p:nvSpPr>
            <p:cNvPr id="38978" name="Rectangle 233"/>
            <p:cNvSpPr>
              <a:spLocks noChangeArrowheads="1"/>
            </p:cNvSpPr>
            <p:nvPr/>
          </p:nvSpPr>
          <p:spPr bwMode="auto">
            <a:xfrm>
              <a:off x="445" y="1028"/>
              <a:ext cx="675" cy="194"/>
            </a:xfrm>
            <a:prstGeom prst="rect">
              <a:avLst/>
            </a:prstGeom>
            <a:noFill/>
            <a:ln w="9525">
              <a:noFill/>
              <a:miter lim="800000"/>
              <a:headEnd/>
              <a:tailEnd/>
            </a:ln>
          </p:spPr>
          <p:txBody>
            <a:bodyPr wrap="none" lIns="0" tIns="0" rIns="0" bIns="0">
              <a:spAutoFit/>
            </a:bodyPr>
            <a:lstStyle/>
            <a:p>
              <a:pPr>
                <a:defRPr/>
              </a:pPr>
              <a:r>
                <a:rPr lang="en-US" sz="2000" dirty="0">
                  <a:solidFill>
                    <a:srgbClr val="000000"/>
                  </a:solidFill>
                  <a:latin typeface="+mn-lt"/>
                </a:rPr>
                <a:t>LEN </a:t>
              </a:r>
              <a:r>
                <a:rPr lang="en-US" sz="2000" dirty="0" err="1">
                  <a:solidFill>
                    <a:srgbClr val="000000"/>
                  </a:solidFill>
                  <a:latin typeface="+mn-lt"/>
                </a:rPr>
                <a:t>lsb</a:t>
              </a:r>
              <a:r>
                <a:rPr lang="en-US" sz="2000" dirty="0">
                  <a:solidFill>
                    <a:srgbClr val="000000"/>
                  </a:solidFill>
                  <a:latin typeface="+mn-lt"/>
                </a:rPr>
                <a:t> (8)</a:t>
              </a:r>
              <a:endParaRPr lang="en-US" sz="2000" dirty="0">
                <a:latin typeface="+mn-lt"/>
              </a:endParaRPr>
            </a:p>
          </p:txBody>
        </p:sp>
        <p:sp>
          <p:nvSpPr>
            <p:cNvPr id="38979" name="Rectangle 236"/>
            <p:cNvSpPr>
              <a:spLocks noChangeArrowheads="1"/>
            </p:cNvSpPr>
            <p:nvPr/>
          </p:nvSpPr>
          <p:spPr bwMode="auto">
            <a:xfrm>
              <a:off x="246" y="398"/>
              <a:ext cx="150"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80" name="Rectangle 237"/>
            <p:cNvSpPr>
              <a:spLocks noChangeArrowheads="1"/>
            </p:cNvSpPr>
            <p:nvPr/>
          </p:nvSpPr>
          <p:spPr bwMode="auto">
            <a:xfrm>
              <a:off x="287" y="505"/>
              <a:ext cx="52"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E</a:t>
              </a:r>
              <a:endParaRPr lang="en-US" sz="1200">
                <a:latin typeface="+mn-lt"/>
              </a:endParaRPr>
            </a:p>
          </p:txBody>
        </p:sp>
        <p:sp>
          <p:nvSpPr>
            <p:cNvPr id="38981" name="Rectangle 238"/>
            <p:cNvSpPr>
              <a:spLocks noChangeArrowheads="1"/>
            </p:cNvSpPr>
            <p:nvPr/>
          </p:nvSpPr>
          <p:spPr bwMode="auto">
            <a:xfrm>
              <a:off x="285" y="628"/>
              <a:ext cx="57"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C</a:t>
              </a:r>
              <a:endParaRPr lang="en-US" sz="1200">
                <a:latin typeface="+mn-lt"/>
              </a:endParaRPr>
            </a:p>
          </p:txBody>
        </p:sp>
        <p:sp>
          <p:nvSpPr>
            <p:cNvPr id="38982" name="Rectangle 239"/>
            <p:cNvSpPr>
              <a:spLocks noChangeArrowheads="1"/>
            </p:cNvSpPr>
            <p:nvPr/>
          </p:nvSpPr>
          <p:spPr bwMode="auto">
            <a:xfrm>
              <a:off x="396" y="398"/>
              <a:ext cx="897"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83" name="Rectangle 240"/>
            <p:cNvSpPr>
              <a:spLocks noChangeArrowheads="1"/>
            </p:cNvSpPr>
            <p:nvPr/>
          </p:nvSpPr>
          <p:spPr bwMode="auto">
            <a:xfrm>
              <a:off x="566" y="566"/>
              <a:ext cx="433"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Type (6 bits)</a:t>
              </a:r>
              <a:endParaRPr lang="en-US" sz="1200">
                <a:latin typeface="+mn-lt"/>
              </a:endParaRPr>
            </a:p>
          </p:txBody>
        </p:sp>
        <p:sp>
          <p:nvSpPr>
            <p:cNvPr id="38984" name="Rectangle 241"/>
            <p:cNvSpPr>
              <a:spLocks noChangeArrowheads="1"/>
            </p:cNvSpPr>
            <p:nvPr/>
          </p:nvSpPr>
          <p:spPr bwMode="auto">
            <a:xfrm>
              <a:off x="1293" y="398"/>
              <a:ext cx="149"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85" name="Rectangle 242"/>
            <p:cNvSpPr>
              <a:spLocks noChangeArrowheads="1"/>
            </p:cNvSpPr>
            <p:nvPr/>
          </p:nvSpPr>
          <p:spPr bwMode="auto">
            <a:xfrm>
              <a:off x="1325" y="505"/>
              <a:ext cx="61"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rs</a:t>
              </a:r>
              <a:endParaRPr lang="en-US" sz="1200">
                <a:latin typeface="+mn-lt"/>
              </a:endParaRPr>
            </a:p>
          </p:txBody>
        </p:sp>
        <p:sp>
          <p:nvSpPr>
            <p:cNvPr id="38986" name="Rectangle 243"/>
            <p:cNvSpPr>
              <a:spLocks noChangeArrowheads="1"/>
            </p:cNvSpPr>
            <p:nvPr/>
          </p:nvSpPr>
          <p:spPr bwMode="auto">
            <a:xfrm>
              <a:off x="1342" y="628"/>
              <a:ext cx="42"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v</a:t>
              </a:r>
              <a:endParaRPr lang="en-US" sz="1200">
                <a:latin typeface="+mn-lt"/>
              </a:endParaRPr>
            </a:p>
          </p:txBody>
        </p:sp>
        <p:sp>
          <p:nvSpPr>
            <p:cNvPr id="38987" name="Rectangle 244"/>
            <p:cNvSpPr>
              <a:spLocks noChangeArrowheads="1"/>
            </p:cNvSpPr>
            <p:nvPr/>
          </p:nvSpPr>
          <p:spPr bwMode="auto">
            <a:xfrm>
              <a:off x="1442" y="398"/>
              <a:ext cx="149"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88" name="Rectangle 245"/>
            <p:cNvSpPr>
              <a:spLocks noChangeArrowheads="1"/>
            </p:cNvSpPr>
            <p:nvPr/>
          </p:nvSpPr>
          <p:spPr bwMode="auto">
            <a:xfrm>
              <a:off x="1481" y="505"/>
              <a:ext cx="57" cy="116"/>
            </a:xfrm>
            <a:prstGeom prst="rect">
              <a:avLst/>
            </a:prstGeom>
            <a:noFill/>
            <a:ln w="9525">
              <a:noFill/>
              <a:miter lim="800000"/>
              <a:headEnd/>
              <a:tailEnd/>
            </a:ln>
          </p:spPr>
          <p:txBody>
            <a:bodyPr wrap="none" lIns="0" tIns="0" rIns="0" bIns="0">
              <a:spAutoFit/>
            </a:bodyPr>
            <a:lstStyle/>
            <a:p>
              <a:pPr>
                <a:defRPr/>
              </a:pPr>
              <a:r>
                <a:rPr lang="en-US" sz="1200" dirty="0">
                  <a:solidFill>
                    <a:srgbClr val="000000"/>
                  </a:solidFill>
                  <a:latin typeface="+mn-lt"/>
                </a:rPr>
                <a:t>C</a:t>
              </a:r>
              <a:endParaRPr lang="en-US" sz="1200" dirty="0">
                <a:latin typeface="+mn-lt"/>
              </a:endParaRPr>
            </a:p>
          </p:txBody>
        </p:sp>
        <p:sp>
          <p:nvSpPr>
            <p:cNvPr id="38989" name="Rectangle 246"/>
            <p:cNvSpPr>
              <a:spLocks noChangeArrowheads="1"/>
            </p:cNvSpPr>
            <p:nvPr/>
          </p:nvSpPr>
          <p:spPr bwMode="auto">
            <a:xfrm>
              <a:off x="1503" y="628"/>
              <a:ext cx="28" cy="116"/>
            </a:xfrm>
            <a:prstGeom prst="rect">
              <a:avLst/>
            </a:prstGeom>
            <a:noFill/>
            <a:ln w="9525">
              <a:noFill/>
              <a:miter lim="800000"/>
              <a:headEnd/>
              <a:tailEnd/>
            </a:ln>
          </p:spPr>
          <p:txBody>
            <a:bodyPr wrap="none" lIns="0" tIns="0" rIns="0" bIns="0">
              <a:spAutoFit/>
            </a:bodyPr>
            <a:lstStyle/>
            <a:p>
              <a:pPr>
                <a:defRPr/>
              </a:pPr>
              <a:r>
                <a:rPr lang="en-US" sz="1200" dirty="0">
                  <a:solidFill>
                    <a:srgbClr val="000000"/>
                  </a:solidFill>
                  <a:latin typeface="+mn-lt"/>
                </a:rPr>
                <a:t>I</a:t>
              </a:r>
              <a:endParaRPr lang="en-US" sz="1200" dirty="0">
                <a:latin typeface="+mn-lt"/>
              </a:endParaRPr>
            </a:p>
          </p:txBody>
        </p:sp>
        <p:sp>
          <p:nvSpPr>
            <p:cNvPr id="38990" name="Rectangle 247"/>
            <p:cNvSpPr>
              <a:spLocks noChangeArrowheads="1"/>
            </p:cNvSpPr>
            <p:nvPr/>
          </p:nvSpPr>
          <p:spPr bwMode="auto">
            <a:xfrm>
              <a:off x="1591" y="398"/>
              <a:ext cx="300"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91" name="Rectangle 248"/>
            <p:cNvSpPr>
              <a:spLocks noChangeArrowheads="1"/>
            </p:cNvSpPr>
            <p:nvPr/>
          </p:nvSpPr>
          <p:spPr bwMode="auto">
            <a:xfrm>
              <a:off x="1641" y="505"/>
              <a:ext cx="160"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EKS</a:t>
              </a:r>
              <a:endParaRPr lang="en-US" sz="1200">
                <a:latin typeface="+mn-lt"/>
              </a:endParaRPr>
            </a:p>
          </p:txBody>
        </p:sp>
        <p:sp>
          <p:nvSpPr>
            <p:cNvPr id="38992" name="Rectangle 249"/>
            <p:cNvSpPr>
              <a:spLocks noChangeArrowheads="1"/>
            </p:cNvSpPr>
            <p:nvPr/>
          </p:nvSpPr>
          <p:spPr bwMode="auto">
            <a:xfrm>
              <a:off x="1680" y="628"/>
              <a:ext cx="99"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(2)</a:t>
              </a:r>
              <a:endParaRPr lang="en-US" sz="1200">
                <a:latin typeface="+mn-lt"/>
              </a:endParaRPr>
            </a:p>
          </p:txBody>
        </p:sp>
        <p:sp>
          <p:nvSpPr>
            <p:cNvPr id="38993" name="Rectangle 250"/>
            <p:cNvSpPr>
              <a:spLocks noChangeArrowheads="1"/>
            </p:cNvSpPr>
            <p:nvPr/>
          </p:nvSpPr>
          <p:spPr bwMode="auto">
            <a:xfrm>
              <a:off x="1891" y="398"/>
              <a:ext cx="150"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94" name="Rectangle 251"/>
            <p:cNvSpPr>
              <a:spLocks noChangeArrowheads="1"/>
            </p:cNvSpPr>
            <p:nvPr/>
          </p:nvSpPr>
          <p:spPr bwMode="auto">
            <a:xfrm>
              <a:off x="1923" y="505"/>
              <a:ext cx="61"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rs</a:t>
              </a:r>
              <a:endParaRPr lang="en-US" sz="1200">
                <a:latin typeface="+mn-lt"/>
              </a:endParaRPr>
            </a:p>
          </p:txBody>
        </p:sp>
        <p:sp>
          <p:nvSpPr>
            <p:cNvPr id="38995" name="Rectangle 252"/>
            <p:cNvSpPr>
              <a:spLocks noChangeArrowheads="1"/>
            </p:cNvSpPr>
            <p:nvPr/>
          </p:nvSpPr>
          <p:spPr bwMode="auto">
            <a:xfrm>
              <a:off x="1941" y="628"/>
              <a:ext cx="42"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v</a:t>
              </a:r>
              <a:endParaRPr lang="en-US" sz="1200">
                <a:latin typeface="+mn-lt"/>
              </a:endParaRPr>
            </a:p>
          </p:txBody>
        </p:sp>
        <p:sp>
          <p:nvSpPr>
            <p:cNvPr id="38996" name="Rectangle 253"/>
            <p:cNvSpPr>
              <a:spLocks noChangeArrowheads="1"/>
            </p:cNvSpPr>
            <p:nvPr/>
          </p:nvSpPr>
          <p:spPr bwMode="auto">
            <a:xfrm>
              <a:off x="1293" y="1320"/>
              <a:ext cx="1196"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97" name="Rectangle 254"/>
            <p:cNvSpPr>
              <a:spLocks noChangeArrowheads="1"/>
            </p:cNvSpPr>
            <p:nvPr/>
          </p:nvSpPr>
          <p:spPr bwMode="auto">
            <a:xfrm>
              <a:off x="1664" y="1479"/>
              <a:ext cx="626" cy="233"/>
            </a:xfrm>
            <a:prstGeom prst="rect">
              <a:avLst/>
            </a:prstGeom>
            <a:noFill/>
            <a:ln w="9525">
              <a:noFill/>
              <a:miter lim="800000"/>
              <a:headEnd/>
              <a:tailEnd/>
            </a:ln>
          </p:spPr>
          <p:txBody>
            <a:bodyPr wrap="square" lIns="0" tIns="0" rIns="0" bIns="0">
              <a:spAutoFit/>
            </a:bodyPr>
            <a:lstStyle/>
            <a:p>
              <a:pPr>
                <a:defRPr/>
              </a:pPr>
              <a:r>
                <a:rPr lang="en-US" dirty="0">
                  <a:solidFill>
                    <a:srgbClr val="000000"/>
                  </a:solidFill>
                  <a:latin typeface="+mn-lt"/>
                </a:rPr>
                <a:t>HCS  (8)</a:t>
              </a:r>
              <a:endParaRPr lang="en-US" dirty="0">
                <a:latin typeface="+mn-lt"/>
              </a:endParaRPr>
            </a:p>
          </p:txBody>
        </p:sp>
        <p:sp>
          <p:nvSpPr>
            <p:cNvPr id="38998" name="Rectangle 255"/>
            <p:cNvSpPr>
              <a:spLocks noChangeArrowheads="1"/>
            </p:cNvSpPr>
            <p:nvPr/>
          </p:nvSpPr>
          <p:spPr bwMode="auto">
            <a:xfrm>
              <a:off x="96" y="1320"/>
              <a:ext cx="1197" cy="461"/>
            </a:xfrm>
            <a:prstGeom prst="rect">
              <a:avLst/>
            </a:prstGeom>
            <a:solidFill>
              <a:srgbClr val="00CC99"/>
            </a:solidFill>
            <a:ln w="3175">
              <a:solidFill>
                <a:srgbClr val="000000"/>
              </a:solidFill>
              <a:miter lim="800000"/>
              <a:headEnd/>
              <a:tailEnd/>
            </a:ln>
          </p:spPr>
          <p:txBody>
            <a:bodyPr/>
            <a:lstStyle/>
            <a:p>
              <a:pPr>
                <a:defRPr/>
              </a:pPr>
              <a:endParaRPr lang="en-US" sz="1200">
                <a:latin typeface="+mn-lt"/>
              </a:endParaRPr>
            </a:p>
          </p:txBody>
        </p:sp>
        <p:sp>
          <p:nvSpPr>
            <p:cNvPr id="38999" name="Rectangle 256"/>
            <p:cNvSpPr>
              <a:spLocks noChangeArrowheads="1"/>
            </p:cNvSpPr>
            <p:nvPr/>
          </p:nvSpPr>
          <p:spPr bwMode="auto">
            <a:xfrm>
              <a:off x="299" y="1434"/>
              <a:ext cx="773" cy="233"/>
            </a:xfrm>
            <a:prstGeom prst="rect">
              <a:avLst/>
            </a:prstGeom>
            <a:noFill/>
            <a:ln w="9525">
              <a:noFill/>
              <a:miter lim="800000"/>
              <a:headEnd/>
              <a:tailEnd/>
            </a:ln>
          </p:spPr>
          <p:txBody>
            <a:bodyPr wrap="none" lIns="0" tIns="0" rIns="0" bIns="0">
              <a:spAutoFit/>
            </a:bodyPr>
            <a:lstStyle/>
            <a:p>
              <a:pPr>
                <a:defRPr/>
              </a:pPr>
              <a:r>
                <a:rPr lang="en-US" dirty="0">
                  <a:solidFill>
                    <a:srgbClr val="000000"/>
                  </a:solidFill>
                  <a:latin typeface="+mn-lt"/>
                </a:rPr>
                <a:t>CID </a:t>
              </a:r>
              <a:r>
                <a:rPr lang="en-US" dirty="0" err="1">
                  <a:solidFill>
                    <a:srgbClr val="000000"/>
                  </a:solidFill>
                  <a:latin typeface="+mn-lt"/>
                </a:rPr>
                <a:t>lsb</a:t>
              </a:r>
              <a:r>
                <a:rPr lang="en-US" dirty="0">
                  <a:solidFill>
                    <a:srgbClr val="000000"/>
                  </a:solidFill>
                  <a:latin typeface="+mn-lt"/>
                </a:rPr>
                <a:t> (8)</a:t>
              </a:r>
              <a:endParaRPr lang="en-US" dirty="0">
                <a:latin typeface="+mn-lt"/>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2"/>
          </p:nvPr>
        </p:nvSpPr>
        <p:spPr>
          <a:noFill/>
        </p:spPr>
        <p:txBody>
          <a:bodyPr/>
          <a:lstStyle/>
          <a:p>
            <a:fld id="{9D6C8893-0B9E-4738-B0D8-8A437591D1B1}" type="slidenum">
              <a:rPr lang="en-US" smtClean="0"/>
              <a:pPr/>
              <a:t>30</a:t>
            </a:fld>
            <a:endParaRPr lang="en-US"/>
          </a:p>
        </p:txBody>
      </p:sp>
      <p:graphicFrame>
        <p:nvGraphicFramePr>
          <p:cNvPr id="136378" name="Group 186"/>
          <p:cNvGraphicFramePr>
            <a:graphicFrameLocks noGrp="1"/>
          </p:cNvGraphicFramePr>
          <p:nvPr>
            <p:ph/>
          </p:nvPr>
        </p:nvGraphicFramePr>
        <p:xfrm>
          <a:off x="1524000" y="2819400"/>
          <a:ext cx="5867400" cy="3270568"/>
        </p:xfrm>
        <a:graphic>
          <a:graphicData uri="http://schemas.openxmlformats.org/drawingml/2006/table">
            <a:tbl>
              <a:tblPr/>
              <a:tblGrid>
                <a:gridCol w="787400">
                  <a:extLst>
                    <a:ext uri="{9D8B030D-6E8A-4147-A177-3AD203B41FA5}">
                      <a16:colId xmlns:a16="http://schemas.microsoft.com/office/drawing/2014/main" xmlns="" val="20000"/>
                    </a:ext>
                  </a:extLst>
                </a:gridCol>
                <a:gridCol w="1073150">
                  <a:extLst>
                    <a:ext uri="{9D8B030D-6E8A-4147-A177-3AD203B41FA5}">
                      <a16:colId xmlns:a16="http://schemas.microsoft.com/office/drawing/2014/main" xmlns="" val="20001"/>
                    </a:ext>
                  </a:extLst>
                </a:gridCol>
                <a:gridCol w="4006850">
                  <a:extLst>
                    <a:ext uri="{9D8B030D-6E8A-4147-A177-3AD203B41FA5}">
                      <a16:colId xmlns:a16="http://schemas.microsoft.com/office/drawing/2014/main" xmlns="" val="20002"/>
                    </a:ext>
                  </a:extLst>
                </a:gridCol>
              </a:tblGrid>
              <a:tr h="180975">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cs typeface="Times New Roman" pitchFamily="18" charset="0"/>
                        </a:rPr>
                        <a:t>Field</a:t>
                      </a:r>
                      <a:endParaRPr kumimoji="0" lang="en-US" sz="2000" b="1"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a:ln>
                            <a:noFill/>
                          </a:ln>
                          <a:solidFill>
                            <a:schemeClr val="tx1"/>
                          </a:solidFill>
                          <a:effectLst/>
                          <a:latin typeface="Times New Roman" pitchFamily="18" charset="0"/>
                          <a:cs typeface="Times New Roman" pitchFamily="18" charset="0"/>
                        </a:rPr>
                        <a:t>Length</a:t>
                      </a:r>
                      <a:endParaRPr kumimoji="0" lang="en-US" sz="2000" b="1"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cs typeface="Times New Roman" pitchFamily="18" charset="0"/>
                        </a:rPr>
                        <a:t>Description</a:t>
                      </a:r>
                      <a:endParaRPr kumimoji="0" lang="en-US" sz="2000" b="1"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0"/>
                  </a:ext>
                </a:extLst>
              </a:tr>
              <a:tr h="342900">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HT</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Header type (set 1 for such header)</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1"/>
                  </a:ext>
                </a:extLst>
              </a:tr>
              <a:tr h="344488">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EC</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Times New Roman" pitchFamily="18" charset="0"/>
                          <a:cs typeface="Times New Roman" pitchFamily="18" charset="0"/>
                        </a:rPr>
                        <a:t>Encryption control (set 0 for such header)</a:t>
                      </a:r>
                      <a:endParaRPr kumimoji="0" lang="en-US" sz="1600" b="0" i="0" u="none" strike="noStrike" cap="none" normalizeH="0" baseline="0" dirty="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2"/>
                  </a:ext>
                </a:extLst>
              </a:tr>
              <a:tr h="342900">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Type</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3</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type</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3"/>
                  </a:ext>
                </a:extLst>
              </a:tr>
              <a:tr h="568325">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BR</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19</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BW request ( the number of bytes of UL BW requested by the SS for the given CID)</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4"/>
                  </a:ext>
                </a:extLst>
              </a:tr>
              <a:tr h="344488">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LEN</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11</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Length of MAC PDU in bytes, including the header</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5"/>
                  </a:ext>
                </a:extLst>
              </a:tr>
              <a:tr h="342900">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CID</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16</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Connection identifier </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6"/>
                  </a:ext>
                </a:extLst>
              </a:tr>
              <a:tr h="342900">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HCS</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8</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tc>
                  <a:txBody>
                    <a:bodyPr/>
                    <a:lstStyle/>
                    <a:p>
                      <a:pPr marL="342900" marR="0" lvl="0" indent="-34290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a:ln>
                            <a:noFill/>
                          </a:ln>
                          <a:solidFill>
                            <a:schemeClr val="tx1"/>
                          </a:solidFill>
                          <a:effectLst/>
                          <a:latin typeface="Times New Roman" pitchFamily="18" charset="0"/>
                          <a:cs typeface="Times New Roman" pitchFamily="18" charset="0"/>
                        </a:rPr>
                        <a:t>Header check sequence</a:t>
                      </a:r>
                      <a:endParaRPr kumimoji="0" lang="en-US" sz="1600" b="0" i="0" u="none" strike="noStrike" cap="none" normalizeH="0" baseline="0">
                        <a:ln>
                          <a:noFill/>
                        </a:ln>
                        <a:solidFill>
                          <a:schemeClr val="tx1"/>
                        </a:solidFill>
                        <a:effectLst/>
                        <a:latin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xmlns="" val="10007"/>
                  </a:ext>
                </a:extLst>
              </a:tr>
            </a:tbl>
          </a:graphicData>
        </a:graphic>
      </p:graphicFrame>
      <p:sp>
        <p:nvSpPr>
          <p:cNvPr id="46121" name="Text Box 160"/>
          <p:cNvSpPr txBox="1">
            <a:spLocks noChangeArrowheads="1"/>
          </p:cNvSpPr>
          <p:nvPr/>
        </p:nvSpPr>
        <p:spPr bwMode="auto">
          <a:xfrm>
            <a:off x="1600200" y="2286000"/>
            <a:ext cx="5334000" cy="457200"/>
          </a:xfrm>
          <a:prstGeom prst="rect">
            <a:avLst/>
          </a:prstGeom>
          <a:solidFill>
            <a:srgbClr val="FF6600"/>
          </a:solidFill>
          <a:ln w="9525">
            <a:noFill/>
            <a:miter lim="800000"/>
            <a:headEnd/>
            <a:tailEnd/>
          </a:ln>
        </p:spPr>
        <p:txBody>
          <a:bodyPr>
            <a:spAutoFit/>
          </a:bodyPr>
          <a:lstStyle/>
          <a:p>
            <a:pPr>
              <a:spcBef>
                <a:spcPct val="50000"/>
              </a:spcBef>
            </a:pPr>
            <a:r>
              <a:rPr lang="en-US"/>
              <a:t>Bandwidth Request MAC Header Fields</a:t>
            </a:r>
          </a:p>
        </p:txBody>
      </p:sp>
      <p:grpSp>
        <p:nvGrpSpPr>
          <p:cNvPr id="46122" name="Group 185"/>
          <p:cNvGrpSpPr>
            <a:grpSpLocks/>
          </p:cNvGrpSpPr>
          <p:nvPr/>
        </p:nvGrpSpPr>
        <p:grpSpPr bwMode="auto">
          <a:xfrm>
            <a:off x="0" y="0"/>
            <a:ext cx="3819525" cy="2238375"/>
            <a:chOff x="0" y="406"/>
            <a:chExt cx="2406" cy="1410"/>
          </a:xfrm>
        </p:grpSpPr>
        <p:sp>
          <p:nvSpPr>
            <p:cNvPr id="39979" name="Rectangle 166"/>
            <p:cNvSpPr>
              <a:spLocks noChangeArrowheads="1"/>
            </p:cNvSpPr>
            <p:nvPr/>
          </p:nvSpPr>
          <p:spPr bwMode="auto">
            <a:xfrm>
              <a:off x="1202" y="406"/>
              <a:ext cx="1204"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80" name="Rectangle 167"/>
            <p:cNvSpPr>
              <a:spLocks noChangeArrowheads="1"/>
            </p:cNvSpPr>
            <p:nvPr/>
          </p:nvSpPr>
          <p:spPr bwMode="auto">
            <a:xfrm>
              <a:off x="1569" y="494"/>
              <a:ext cx="420" cy="136"/>
            </a:xfrm>
            <a:prstGeom prst="rect">
              <a:avLst/>
            </a:prstGeom>
            <a:noFill/>
            <a:ln w="9525">
              <a:noFill/>
              <a:miter lim="800000"/>
              <a:headEnd/>
              <a:tailEnd/>
            </a:ln>
          </p:spPr>
          <p:txBody>
            <a:bodyPr wrap="none" lIns="0" tIns="0" rIns="0" bIns="0">
              <a:spAutoFit/>
            </a:bodyPr>
            <a:lstStyle/>
            <a:p>
              <a:pPr>
                <a:defRPr/>
              </a:pPr>
              <a:r>
                <a:rPr lang="en-US" sz="1400">
                  <a:solidFill>
                    <a:srgbClr val="000000"/>
                  </a:solidFill>
                  <a:latin typeface="+mn-lt"/>
                </a:rPr>
                <a:t>BW Req.</a:t>
              </a:r>
              <a:endParaRPr lang="en-US">
                <a:latin typeface="+mn-lt"/>
              </a:endParaRPr>
            </a:p>
          </p:txBody>
        </p:sp>
        <p:sp>
          <p:nvSpPr>
            <p:cNvPr id="39981" name="Rectangle 168"/>
            <p:cNvSpPr>
              <a:spLocks noChangeArrowheads="1"/>
            </p:cNvSpPr>
            <p:nvPr/>
          </p:nvSpPr>
          <p:spPr bwMode="auto">
            <a:xfrm>
              <a:off x="1605" y="640"/>
              <a:ext cx="401" cy="136"/>
            </a:xfrm>
            <a:prstGeom prst="rect">
              <a:avLst/>
            </a:prstGeom>
            <a:noFill/>
            <a:ln w="9525">
              <a:noFill/>
              <a:miter lim="800000"/>
              <a:headEnd/>
              <a:tailEnd/>
            </a:ln>
          </p:spPr>
          <p:txBody>
            <a:bodyPr wrap="none" lIns="0" tIns="0" rIns="0" bIns="0">
              <a:spAutoFit/>
            </a:bodyPr>
            <a:lstStyle/>
            <a:p>
              <a:pPr>
                <a:defRPr/>
              </a:pPr>
              <a:r>
                <a:rPr lang="en-US" sz="1400">
                  <a:solidFill>
                    <a:srgbClr val="000000"/>
                  </a:solidFill>
                  <a:latin typeface="+mn-lt"/>
                </a:rPr>
                <a:t>msb (11)</a:t>
              </a:r>
              <a:endParaRPr lang="en-US">
                <a:latin typeface="+mn-lt"/>
              </a:endParaRPr>
            </a:p>
          </p:txBody>
        </p:sp>
        <p:sp>
          <p:nvSpPr>
            <p:cNvPr id="39982" name="Rectangle 169"/>
            <p:cNvSpPr>
              <a:spLocks noChangeArrowheads="1"/>
            </p:cNvSpPr>
            <p:nvPr/>
          </p:nvSpPr>
          <p:spPr bwMode="auto">
            <a:xfrm>
              <a:off x="0" y="406"/>
              <a:ext cx="150"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83" name="Rectangle 170"/>
            <p:cNvSpPr>
              <a:spLocks noChangeArrowheads="1"/>
            </p:cNvSpPr>
            <p:nvPr/>
          </p:nvSpPr>
          <p:spPr bwMode="auto">
            <a:xfrm>
              <a:off x="39" y="514"/>
              <a:ext cx="70"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H</a:t>
              </a:r>
              <a:endParaRPr lang="en-US">
                <a:latin typeface="+mn-lt"/>
              </a:endParaRPr>
            </a:p>
          </p:txBody>
        </p:sp>
        <p:sp>
          <p:nvSpPr>
            <p:cNvPr id="39984" name="Rectangle 171"/>
            <p:cNvSpPr>
              <a:spLocks noChangeArrowheads="1"/>
            </p:cNvSpPr>
            <p:nvPr/>
          </p:nvSpPr>
          <p:spPr bwMode="auto">
            <a:xfrm>
              <a:off x="44" y="640"/>
              <a:ext cx="60"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T</a:t>
              </a:r>
              <a:endParaRPr lang="en-US">
                <a:latin typeface="+mn-lt"/>
              </a:endParaRPr>
            </a:p>
          </p:txBody>
        </p:sp>
        <p:sp>
          <p:nvSpPr>
            <p:cNvPr id="39985" name="Rectangle 172"/>
            <p:cNvSpPr>
              <a:spLocks noChangeArrowheads="1"/>
            </p:cNvSpPr>
            <p:nvPr/>
          </p:nvSpPr>
          <p:spPr bwMode="auto">
            <a:xfrm>
              <a:off x="1202" y="876"/>
              <a:ext cx="1204"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86" name="Rectangle 173"/>
            <p:cNvSpPr>
              <a:spLocks noChangeArrowheads="1"/>
            </p:cNvSpPr>
            <p:nvPr/>
          </p:nvSpPr>
          <p:spPr bwMode="auto">
            <a:xfrm>
              <a:off x="1489" y="1037"/>
              <a:ext cx="572" cy="136"/>
            </a:xfrm>
            <a:prstGeom prst="rect">
              <a:avLst/>
            </a:prstGeom>
            <a:noFill/>
            <a:ln w="9525">
              <a:noFill/>
              <a:miter lim="800000"/>
              <a:headEnd/>
              <a:tailEnd/>
            </a:ln>
          </p:spPr>
          <p:txBody>
            <a:bodyPr wrap="none" lIns="0" tIns="0" rIns="0" bIns="0">
              <a:spAutoFit/>
            </a:bodyPr>
            <a:lstStyle/>
            <a:p>
              <a:pPr>
                <a:defRPr/>
              </a:pPr>
              <a:r>
                <a:rPr lang="en-US" sz="1400">
                  <a:solidFill>
                    <a:srgbClr val="000000"/>
                  </a:solidFill>
                  <a:latin typeface="+mn-lt"/>
                </a:rPr>
                <a:t>CID msb (8)</a:t>
              </a:r>
              <a:endParaRPr lang="en-US">
                <a:latin typeface="+mn-lt"/>
              </a:endParaRPr>
            </a:p>
          </p:txBody>
        </p:sp>
        <p:sp>
          <p:nvSpPr>
            <p:cNvPr id="39987" name="Rectangle 174"/>
            <p:cNvSpPr>
              <a:spLocks noChangeArrowheads="1"/>
            </p:cNvSpPr>
            <p:nvPr/>
          </p:nvSpPr>
          <p:spPr bwMode="auto">
            <a:xfrm>
              <a:off x="0" y="876"/>
              <a:ext cx="1202"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88" name="Rectangle 175"/>
            <p:cNvSpPr>
              <a:spLocks noChangeArrowheads="1"/>
            </p:cNvSpPr>
            <p:nvPr/>
          </p:nvSpPr>
          <p:spPr bwMode="auto">
            <a:xfrm>
              <a:off x="212" y="1048"/>
              <a:ext cx="690"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BWS Req. lsb (8)</a:t>
              </a:r>
              <a:endParaRPr lang="en-US">
                <a:latin typeface="+mn-lt"/>
              </a:endParaRPr>
            </a:p>
          </p:txBody>
        </p:sp>
        <p:sp>
          <p:nvSpPr>
            <p:cNvPr id="39989" name="Rectangle 176"/>
            <p:cNvSpPr>
              <a:spLocks noChangeArrowheads="1"/>
            </p:cNvSpPr>
            <p:nvPr/>
          </p:nvSpPr>
          <p:spPr bwMode="auto">
            <a:xfrm>
              <a:off x="150" y="406"/>
              <a:ext cx="151"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90" name="Rectangle 177"/>
            <p:cNvSpPr>
              <a:spLocks noChangeArrowheads="1"/>
            </p:cNvSpPr>
            <p:nvPr/>
          </p:nvSpPr>
          <p:spPr bwMode="auto">
            <a:xfrm>
              <a:off x="191" y="514"/>
              <a:ext cx="60"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E</a:t>
              </a:r>
              <a:endParaRPr lang="en-US">
                <a:latin typeface="+mn-lt"/>
              </a:endParaRPr>
            </a:p>
          </p:txBody>
        </p:sp>
        <p:sp>
          <p:nvSpPr>
            <p:cNvPr id="39991" name="Rectangle 178"/>
            <p:cNvSpPr>
              <a:spLocks noChangeArrowheads="1"/>
            </p:cNvSpPr>
            <p:nvPr/>
          </p:nvSpPr>
          <p:spPr bwMode="auto">
            <a:xfrm>
              <a:off x="190" y="640"/>
              <a:ext cx="65"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C</a:t>
              </a:r>
              <a:endParaRPr lang="en-US">
                <a:latin typeface="+mn-lt"/>
              </a:endParaRPr>
            </a:p>
          </p:txBody>
        </p:sp>
        <p:sp>
          <p:nvSpPr>
            <p:cNvPr id="39992" name="Rectangle 179"/>
            <p:cNvSpPr>
              <a:spLocks noChangeArrowheads="1"/>
            </p:cNvSpPr>
            <p:nvPr/>
          </p:nvSpPr>
          <p:spPr bwMode="auto">
            <a:xfrm>
              <a:off x="301" y="406"/>
              <a:ext cx="901"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93" name="Rectangle 180"/>
            <p:cNvSpPr>
              <a:spLocks noChangeArrowheads="1"/>
            </p:cNvSpPr>
            <p:nvPr/>
          </p:nvSpPr>
          <p:spPr bwMode="auto">
            <a:xfrm>
              <a:off x="473" y="578"/>
              <a:ext cx="495"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Type (3 bits)</a:t>
              </a:r>
              <a:endParaRPr lang="en-US">
                <a:latin typeface="+mn-lt"/>
              </a:endParaRPr>
            </a:p>
          </p:txBody>
        </p:sp>
        <p:sp>
          <p:nvSpPr>
            <p:cNvPr id="39994" name="Rectangle 181"/>
            <p:cNvSpPr>
              <a:spLocks noChangeArrowheads="1"/>
            </p:cNvSpPr>
            <p:nvPr/>
          </p:nvSpPr>
          <p:spPr bwMode="auto">
            <a:xfrm>
              <a:off x="1202" y="1346"/>
              <a:ext cx="1204"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95" name="Rectangle 182"/>
            <p:cNvSpPr>
              <a:spLocks noChangeArrowheads="1"/>
            </p:cNvSpPr>
            <p:nvPr/>
          </p:nvSpPr>
          <p:spPr bwMode="auto">
            <a:xfrm>
              <a:off x="1577" y="1507"/>
              <a:ext cx="408" cy="136"/>
            </a:xfrm>
            <a:prstGeom prst="rect">
              <a:avLst/>
            </a:prstGeom>
            <a:noFill/>
            <a:ln w="9525">
              <a:noFill/>
              <a:miter lim="800000"/>
              <a:headEnd/>
              <a:tailEnd/>
            </a:ln>
          </p:spPr>
          <p:txBody>
            <a:bodyPr wrap="none" lIns="0" tIns="0" rIns="0" bIns="0">
              <a:spAutoFit/>
            </a:bodyPr>
            <a:lstStyle/>
            <a:p>
              <a:pPr>
                <a:defRPr/>
              </a:pPr>
              <a:r>
                <a:rPr lang="en-US" sz="1400">
                  <a:solidFill>
                    <a:srgbClr val="000000"/>
                  </a:solidFill>
                  <a:latin typeface="+mn-lt"/>
                </a:rPr>
                <a:t>HCS  (8)</a:t>
              </a:r>
              <a:endParaRPr lang="en-US">
                <a:latin typeface="+mn-lt"/>
              </a:endParaRPr>
            </a:p>
          </p:txBody>
        </p:sp>
        <p:sp>
          <p:nvSpPr>
            <p:cNvPr id="39996" name="Rectangle 183"/>
            <p:cNvSpPr>
              <a:spLocks noChangeArrowheads="1"/>
            </p:cNvSpPr>
            <p:nvPr/>
          </p:nvSpPr>
          <p:spPr bwMode="auto">
            <a:xfrm>
              <a:off x="0" y="1346"/>
              <a:ext cx="1202" cy="470"/>
            </a:xfrm>
            <a:prstGeom prst="rect">
              <a:avLst/>
            </a:prstGeom>
            <a:solidFill>
              <a:srgbClr val="00CC99"/>
            </a:solidFill>
            <a:ln w="3175">
              <a:solidFill>
                <a:srgbClr val="000000"/>
              </a:solidFill>
              <a:miter lim="800000"/>
              <a:headEnd/>
              <a:tailEnd/>
            </a:ln>
          </p:spPr>
          <p:txBody>
            <a:bodyPr/>
            <a:lstStyle/>
            <a:p>
              <a:pPr>
                <a:defRPr/>
              </a:pPr>
              <a:endParaRPr lang="en-US">
                <a:latin typeface="+mn-lt"/>
              </a:endParaRPr>
            </a:p>
          </p:txBody>
        </p:sp>
        <p:sp>
          <p:nvSpPr>
            <p:cNvPr id="39997" name="Rectangle 184"/>
            <p:cNvSpPr>
              <a:spLocks noChangeArrowheads="1"/>
            </p:cNvSpPr>
            <p:nvPr/>
          </p:nvSpPr>
          <p:spPr bwMode="auto">
            <a:xfrm>
              <a:off x="362" y="1518"/>
              <a:ext cx="441" cy="116"/>
            </a:xfrm>
            <a:prstGeom prst="rect">
              <a:avLst/>
            </a:prstGeom>
            <a:noFill/>
            <a:ln w="9525">
              <a:noFill/>
              <a:miter lim="800000"/>
              <a:headEnd/>
              <a:tailEnd/>
            </a:ln>
          </p:spPr>
          <p:txBody>
            <a:bodyPr wrap="none" lIns="0" tIns="0" rIns="0" bIns="0">
              <a:spAutoFit/>
            </a:bodyPr>
            <a:lstStyle/>
            <a:p>
              <a:pPr>
                <a:defRPr/>
              </a:pPr>
              <a:r>
                <a:rPr lang="en-US" sz="1200">
                  <a:solidFill>
                    <a:srgbClr val="000000"/>
                  </a:solidFill>
                  <a:latin typeface="+mn-lt"/>
                </a:rPr>
                <a:t>CID lsb (8)</a:t>
              </a:r>
              <a:endParaRPr lang="en-US">
                <a:latin typeface="+mn-lt"/>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89244975-57C5-4396-8BB5-57F0E12CB3C2}" type="slidenum">
              <a:rPr lang="en-US" smtClean="0"/>
              <a:pPr/>
              <a:t>31</a:t>
            </a:fld>
            <a:endParaRPr lang="en-US"/>
          </a:p>
        </p:txBody>
      </p:sp>
      <p:grpSp>
        <p:nvGrpSpPr>
          <p:cNvPr id="47107" name="Group 2"/>
          <p:cNvGrpSpPr>
            <a:grpSpLocks/>
          </p:cNvGrpSpPr>
          <p:nvPr/>
        </p:nvGrpSpPr>
        <p:grpSpPr bwMode="auto">
          <a:xfrm>
            <a:off x="685800" y="457200"/>
            <a:ext cx="7467600" cy="838200"/>
            <a:chOff x="240" y="768"/>
            <a:chExt cx="4704" cy="528"/>
          </a:xfrm>
        </p:grpSpPr>
        <p:sp>
          <p:nvSpPr>
            <p:cNvPr id="47123" name="Text Box 3"/>
            <p:cNvSpPr txBox="1">
              <a:spLocks noChangeArrowheads="1"/>
            </p:cNvSpPr>
            <p:nvPr/>
          </p:nvSpPr>
          <p:spPr bwMode="auto">
            <a:xfrm>
              <a:off x="768" y="864"/>
              <a:ext cx="624" cy="288"/>
            </a:xfrm>
            <a:prstGeom prst="rect">
              <a:avLst/>
            </a:prstGeom>
            <a:noFill/>
            <a:ln w="9525">
              <a:noFill/>
              <a:miter lim="800000"/>
              <a:headEnd/>
              <a:tailEnd/>
            </a:ln>
          </p:spPr>
          <p:txBody>
            <a:bodyPr>
              <a:spAutoFit/>
            </a:bodyPr>
            <a:lstStyle/>
            <a:p>
              <a:pPr>
                <a:spcBef>
                  <a:spcPct val="50000"/>
                </a:spcBef>
              </a:pPr>
              <a:endParaRPr lang="en-US"/>
            </a:p>
          </p:txBody>
        </p:sp>
        <p:sp>
          <p:nvSpPr>
            <p:cNvPr id="47124" name="Rectangle 4"/>
            <p:cNvSpPr>
              <a:spLocks noChangeArrowheads="1"/>
            </p:cNvSpPr>
            <p:nvPr/>
          </p:nvSpPr>
          <p:spPr bwMode="auto">
            <a:xfrm>
              <a:off x="240" y="768"/>
              <a:ext cx="4608" cy="528"/>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47125" name="Rectangle 5"/>
            <p:cNvSpPr>
              <a:spLocks noChangeArrowheads="1"/>
            </p:cNvSpPr>
            <p:nvPr/>
          </p:nvSpPr>
          <p:spPr bwMode="auto">
            <a:xfrm>
              <a:off x="240" y="768"/>
              <a:ext cx="624" cy="528"/>
            </a:xfrm>
            <a:prstGeom prst="rect">
              <a:avLst/>
            </a:prstGeom>
            <a:solidFill>
              <a:schemeClr val="accent1"/>
            </a:solidFill>
            <a:ln w="9525">
              <a:solidFill>
                <a:schemeClr val="tx1"/>
              </a:solidFill>
              <a:miter lim="800000"/>
              <a:headEnd/>
              <a:tailEnd/>
            </a:ln>
          </p:spPr>
          <p:txBody>
            <a:bodyPr wrap="none" anchor="ctr"/>
            <a:lstStyle/>
            <a:p>
              <a:pPr algn="ctr"/>
              <a:r>
                <a:rPr lang="en-US"/>
                <a:t>GMH</a:t>
              </a:r>
            </a:p>
          </p:txBody>
        </p:sp>
        <p:sp>
          <p:nvSpPr>
            <p:cNvPr id="47126" name="Rectangle 6"/>
            <p:cNvSpPr>
              <a:spLocks noChangeArrowheads="1"/>
            </p:cNvSpPr>
            <p:nvPr/>
          </p:nvSpPr>
          <p:spPr bwMode="auto">
            <a:xfrm>
              <a:off x="864" y="768"/>
              <a:ext cx="624" cy="528"/>
            </a:xfrm>
            <a:prstGeom prst="rect">
              <a:avLst/>
            </a:prstGeom>
            <a:solidFill>
              <a:schemeClr val="accent1"/>
            </a:solidFill>
            <a:ln w="9525">
              <a:solidFill>
                <a:schemeClr val="tx1"/>
              </a:solidFill>
              <a:miter lim="800000"/>
              <a:headEnd/>
              <a:tailEnd/>
            </a:ln>
          </p:spPr>
          <p:txBody>
            <a:bodyPr wrap="none" anchor="ctr"/>
            <a:lstStyle/>
            <a:p>
              <a:pPr algn="ctr"/>
              <a:r>
                <a:rPr lang="en-US"/>
                <a:t>Other </a:t>
              </a:r>
            </a:p>
            <a:p>
              <a:pPr algn="ctr"/>
              <a:r>
                <a:rPr lang="en-US"/>
                <a:t>SH</a:t>
              </a:r>
            </a:p>
          </p:txBody>
        </p:sp>
        <p:sp>
          <p:nvSpPr>
            <p:cNvPr id="47127" name="Rectangle 7"/>
            <p:cNvSpPr>
              <a:spLocks noChangeArrowheads="1"/>
            </p:cNvSpPr>
            <p:nvPr/>
          </p:nvSpPr>
          <p:spPr bwMode="auto">
            <a:xfrm>
              <a:off x="4512" y="768"/>
              <a:ext cx="432" cy="528"/>
            </a:xfrm>
            <a:prstGeom prst="rect">
              <a:avLst/>
            </a:prstGeom>
            <a:solidFill>
              <a:schemeClr val="accent1"/>
            </a:solidFill>
            <a:ln w="9525">
              <a:solidFill>
                <a:schemeClr val="tx1"/>
              </a:solidFill>
              <a:miter lim="800000"/>
              <a:headEnd/>
              <a:tailEnd/>
            </a:ln>
          </p:spPr>
          <p:txBody>
            <a:bodyPr wrap="none" anchor="ctr"/>
            <a:lstStyle/>
            <a:p>
              <a:pPr algn="ctr"/>
              <a:r>
                <a:rPr lang="en-US" dirty="0"/>
                <a:t>CRC</a:t>
              </a:r>
            </a:p>
          </p:txBody>
        </p:sp>
        <p:sp>
          <p:nvSpPr>
            <p:cNvPr id="47128" name="Rectangle 8"/>
            <p:cNvSpPr>
              <a:spLocks noChangeArrowheads="1"/>
            </p:cNvSpPr>
            <p:nvPr/>
          </p:nvSpPr>
          <p:spPr bwMode="auto">
            <a:xfrm>
              <a:off x="1488" y="768"/>
              <a:ext cx="576" cy="528"/>
            </a:xfrm>
            <a:prstGeom prst="rect">
              <a:avLst/>
            </a:prstGeom>
            <a:solidFill>
              <a:schemeClr val="accent1"/>
            </a:solidFill>
            <a:ln w="9525">
              <a:solidFill>
                <a:schemeClr val="tx1"/>
              </a:solidFill>
              <a:miter lim="800000"/>
              <a:headEnd/>
              <a:tailEnd/>
            </a:ln>
          </p:spPr>
          <p:txBody>
            <a:bodyPr wrap="none" anchor="ctr"/>
            <a:lstStyle/>
            <a:p>
              <a:pPr algn="ctr"/>
              <a:r>
                <a:rPr lang="en-US"/>
                <a:t>FSH</a:t>
              </a:r>
            </a:p>
          </p:txBody>
        </p:sp>
        <p:sp>
          <p:nvSpPr>
            <p:cNvPr id="47129" name="Rectangle 9"/>
            <p:cNvSpPr>
              <a:spLocks noChangeArrowheads="1"/>
            </p:cNvSpPr>
            <p:nvPr/>
          </p:nvSpPr>
          <p:spPr bwMode="auto">
            <a:xfrm>
              <a:off x="2064" y="768"/>
              <a:ext cx="2448" cy="528"/>
            </a:xfrm>
            <a:prstGeom prst="rect">
              <a:avLst/>
            </a:prstGeom>
            <a:solidFill>
              <a:schemeClr val="accent1"/>
            </a:solidFill>
            <a:ln w="9525">
              <a:solidFill>
                <a:schemeClr val="tx1"/>
              </a:solidFill>
              <a:miter lim="800000"/>
              <a:headEnd/>
              <a:tailEnd/>
            </a:ln>
          </p:spPr>
          <p:txBody>
            <a:bodyPr wrap="none" anchor="ctr"/>
            <a:lstStyle/>
            <a:p>
              <a:pPr algn="ctr"/>
              <a:r>
                <a:rPr lang="en-US"/>
                <a:t>MSDU Fragment</a:t>
              </a:r>
            </a:p>
          </p:txBody>
        </p:sp>
      </p:grpSp>
      <p:sp>
        <p:nvSpPr>
          <p:cNvPr id="47108" name="Text Box 10"/>
          <p:cNvSpPr txBox="1">
            <a:spLocks noChangeArrowheads="1"/>
          </p:cNvSpPr>
          <p:nvPr/>
        </p:nvSpPr>
        <p:spPr bwMode="auto">
          <a:xfrm>
            <a:off x="1143000" y="1524000"/>
            <a:ext cx="6477000" cy="396875"/>
          </a:xfrm>
          <a:prstGeom prst="rect">
            <a:avLst/>
          </a:prstGeom>
          <a:noFill/>
          <a:ln w="9525">
            <a:noFill/>
            <a:miter lim="800000"/>
            <a:headEnd/>
            <a:tailEnd/>
          </a:ln>
        </p:spPr>
        <p:txBody>
          <a:bodyPr>
            <a:spAutoFit/>
          </a:bodyPr>
          <a:lstStyle/>
          <a:p>
            <a:pPr>
              <a:spcBef>
                <a:spcPct val="50000"/>
              </a:spcBef>
            </a:pPr>
            <a:r>
              <a:rPr lang="en-US" sz="2000"/>
              <a:t>Fig.7 MAC PDU frame carrying a single fragmented MSDU</a:t>
            </a:r>
          </a:p>
        </p:txBody>
      </p:sp>
      <p:sp>
        <p:nvSpPr>
          <p:cNvPr id="47109" name="Text Box 11"/>
          <p:cNvSpPr txBox="1">
            <a:spLocks noChangeArrowheads="1"/>
          </p:cNvSpPr>
          <p:nvPr/>
        </p:nvSpPr>
        <p:spPr bwMode="auto">
          <a:xfrm>
            <a:off x="533400" y="3810000"/>
            <a:ext cx="4724400" cy="1004888"/>
          </a:xfrm>
          <a:prstGeom prst="rect">
            <a:avLst/>
          </a:prstGeom>
          <a:solidFill>
            <a:srgbClr val="FFCC66"/>
          </a:solidFill>
          <a:ln w="9525">
            <a:noFill/>
            <a:miter lim="800000"/>
            <a:headEnd/>
            <a:tailEnd/>
          </a:ln>
        </p:spPr>
        <p:txBody>
          <a:bodyPr>
            <a:spAutoFit/>
          </a:bodyPr>
          <a:lstStyle/>
          <a:p>
            <a:pPr>
              <a:spcBef>
                <a:spcPct val="50000"/>
              </a:spcBef>
            </a:pPr>
            <a:r>
              <a:rPr lang="en-US"/>
              <a:t>FSH </a:t>
            </a:r>
            <a:r>
              <a:rPr lang="en-US">
                <a:cs typeface="Times New Roman" pitchFamily="18" charset="0"/>
              </a:rPr>
              <a:t>→ Fragmentation Sub-header</a:t>
            </a:r>
          </a:p>
          <a:p>
            <a:pPr>
              <a:spcBef>
                <a:spcPct val="50000"/>
              </a:spcBef>
            </a:pPr>
            <a:r>
              <a:rPr lang="en-US"/>
              <a:t>PSH → Packing Sub-header</a:t>
            </a:r>
          </a:p>
        </p:txBody>
      </p:sp>
      <p:grpSp>
        <p:nvGrpSpPr>
          <p:cNvPr id="47110" name="Group 12"/>
          <p:cNvGrpSpPr>
            <a:grpSpLocks/>
          </p:cNvGrpSpPr>
          <p:nvPr/>
        </p:nvGrpSpPr>
        <p:grpSpPr bwMode="auto">
          <a:xfrm>
            <a:off x="762000" y="2057400"/>
            <a:ext cx="7785100" cy="838200"/>
            <a:chOff x="96" y="1920"/>
            <a:chExt cx="4904" cy="528"/>
          </a:xfrm>
        </p:grpSpPr>
        <p:sp>
          <p:nvSpPr>
            <p:cNvPr id="47113" name="Text Box 13"/>
            <p:cNvSpPr txBox="1">
              <a:spLocks noChangeArrowheads="1"/>
            </p:cNvSpPr>
            <p:nvPr/>
          </p:nvSpPr>
          <p:spPr bwMode="auto">
            <a:xfrm>
              <a:off x="624" y="2016"/>
              <a:ext cx="624" cy="212"/>
            </a:xfrm>
            <a:prstGeom prst="rect">
              <a:avLst/>
            </a:prstGeom>
            <a:noFill/>
            <a:ln w="9525">
              <a:noFill/>
              <a:miter lim="800000"/>
              <a:headEnd/>
              <a:tailEnd/>
            </a:ln>
          </p:spPr>
          <p:txBody>
            <a:bodyPr>
              <a:spAutoFit/>
            </a:bodyPr>
            <a:lstStyle/>
            <a:p>
              <a:pPr>
                <a:spcBef>
                  <a:spcPct val="50000"/>
                </a:spcBef>
              </a:pPr>
              <a:endParaRPr lang="en-US" sz="1600"/>
            </a:p>
          </p:txBody>
        </p:sp>
        <p:sp>
          <p:nvSpPr>
            <p:cNvPr id="47114" name="Rectangle 14"/>
            <p:cNvSpPr>
              <a:spLocks noChangeArrowheads="1"/>
            </p:cNvSpPr>
            <p:nvPr/>
          </p:nvSpPr>
          <p:spPr bwMode="auto">
            <a:xfrm>
              <a:off x="96" y="1920"/>
              <a:ext cx="4176" cy="528"/>
            </a:xfrm>
            <a:prstGeom prst="rect">
              <a:avLst/>
            </a:prstGeom>
            <a:solidFill>
              <a:schemeClr val="accent1"/>
            </a:solidFill>
            <a:ln w="9525">
              <a:solidFill>
                <a:schemeClr val="tx1"/>
              </a:solidFill>
              <a:miter lim="800000"/>
              <a:headEnd/>
              <a:tailEnd/>
            </a:ln>
          </p:spPr>
          <p:txBody>
            <a:bodyPr wrap="none" anchor="ctr"/>
            <a:lstStyle/>
            <a:p>
              <a:endParaRPr lang="en-US" sz="1600"/>
            </a:p>
          </p:txBody>
        </p:sp>
        <p:sp>
          <p:nvSpPr>
            <p:cNvPr id="47115" name="Rectangle 15"/>
            <p:cNvSpPr>
              <a:spLocks noChangeArrowheads="1"/>
            </p:cNvSpPr>
            <p:nvPr/>
          </p:nvSpPr>
          <p:spPr bwMode="auto">
            <a:xfrm>
              <a:off x="96" y="1920"/>
              <a:ext cx="432" cy="528"/>
            </a:xfrm>
            <a:prstGeom prst="rect">
              <a:avLst/>
            </a:prstGeom>
            <a:solidFill>
              <a:schemeClr val="accent1"/>
            </a:solidFill>
            <a:ln w="9525">
              <a:solidFill>
                <a:schemeClr val="tx1"/>
              </a:solidFill>
              <a:miter lim="800000"/>
              <a:headEnd/>
              <a:tailEnd/>
            </a:ln>
          </p:spPr>
          <p:txBody>
            <a:bodyPr wrap="none" anchor="ctr"/>
            <a:lstStyle/>
            <a:p>
              <a:pPr algn="ctr"/>
              <a:r>
                <a:rPr lang="en-US" sz="1600"/>
                <a:t>GMH</a:t>
              </a:r>
            </a:p>
          </p:txBody>
        </p:sp>
        <p:sp>
          <p:nvSpPr>
            <p:cNvPr id="47116" name="Rectangle 16"/>
            <p:cNvSpPr>
              <a:spLocks noChangeArrowheads="1"/>
            </p:cNvSpPr>
            <p:nvPr/>
          </p:nvSpPr>
          <p:spPr bwMode="auto">
            <a:xfrm>
              <a:off x="520" y="1920"/>
              <a:ext cx="336" cy="528"/>
            </a:xfrm>
            <a:prstGeom prst="rect">
              <a:avLst/>
            </a:prstGeom>
            <a:solidFill>
              <a:schemeClr val="accent1"/>
            </a:solidFill>
            <a:ln w="9525">
              <a:solidFill>
                <a:schemeClr val="tx1"/>
              </a:solidFill>
              <a:miter lim="800000"/>
              <a:headEnd/>
              <a:tailEnd/>
            </a:ln>
          </p:spPr>
          <p:txBody>
            <a:bodyPr wrap="none" anchor="ctr"/>
            <a:lstStyle/>
            <a:p>
              <a:pPr algn="ctr"/>
              <a:r>
                <a:rPr lang="en-US" sz="1600"/>
                <a:t>Other </a:t>
              </a:r>
            </a:p>
            <a:p>
              <a:pPr algn="ctr"/>
              <a:r>
                <a:rPr lang="en-US" sz="1600"/>
                <a:t>SH</a:t>
              </a:r>
            </a:p>
          </p:txBody>
        </p:sp>
        <p:sp>
          <p:nvSpPr>
            <p:cNvPr id="47117" name="Rectangle 17"/>
            <p:cNvSpPr>
              <a:spLocks noChangeArrowheads="1"/>
            </p:cNvSpPr>
            <p:nvPr/>
          </p:nvSpPr>
          <p:spPr bwMode="auto">
            <a:xfrm>
              <a:off x="4568" y="1920"/>
              <a:ext cx="432" cy="528"/>
            </a:xfrm>
            <a:prstGeom prst="rect">
              <a:avLst/>
            </a:prstGeom>
            <a:solidFill>
              <a:schemeClr val="accent1"/>
            </a:solidFill>
            <a:ln w="9525">
              <a:solidFill>
                <a:schemeClr val="tx1"/>
              </a:solidFill>
              <a:miter lim="800000"/>
              <a:headEnd/>
              <a:tailEnd/>
            </a:ln>
          </p:spPr>
          <p:txBody>
            <a:bodyPr wrap="none" anchor="ctr"/>
            <a:lstStyle/>
            <a:p>
              <a:pPr algn="ctr"/>
              <a:r>
                <a:rPr lang="en-US" sz="1600" dirty="0"/>
                <a:t>CRC</a:t>
              </a:r>
            </a:p>
          </p:txBody>
        </p:sp>
        <p:sp>
          <p:nvSpPr>
            <p:cNvPr id="47118" name="Rectangle 18"/>
            <p:cNvSpPr>
              <a:spLocks noChangeArrowheads="1"/>
            </p:cNvSpPr>
            <p:nvPr/>
          </p:nvSpPr>
          <p:spPr bwMode="auto">
            <a:xfrm>
              <a:off x="816" y="1920"/>
              <a:ext cx="288" cy="528"/>
            </a:xfrm>
            <a:prstGeom prst="rect">
              <a:avLst/>
            </a:prstGeom>
            <a:solidFill>
              <a:schemeClr val="accent1"/>
            </a:solidFill>
            <a:ln w="9525">
              <a:solidFill>
                <a:schemeClr val="tx1"/>
              </a:solidFill>
              <a:miter lim="800000"/>
              <a:headEnd/>
              <a:tailEnd/>
            </a:ln>
          </p:spPr>
          <p:txBody>
            <a:bodyPr wrap="none" anchor="ctr"/>
            <a:lstStyle/>
            <a:p>
              <a:pPr algn="ctr"/>
              <a:r>
                <a:rPr lang="en-US" sz="1600"/>
                <a:t>PSH</a:t>
              </a:r>
            </a:p>
          </p:txBody>
        </p:sp>
        <p:sp>
          <p:nvSpPr>
            <p:cNvPr id="47119" name="Rectangle 19"/>
            <p:cNvSpPr>
              <a:spLocks noChangeArrowheads="1"/>
            </p:cNvSpPr>
            <p:nvPr/>
          </p:nvSpPr>
          <p:spPr bwMode="auto">
            <a:xfrm>
              <a:off x="1104" y="1920"/>
              <a:ext cx="1440" cy="528"/>
            </a:xfrm>
            <a:prstGeom prst="rect">
              <a:avLst/>
            </a:prstGeom>
            <a:solidFill>
              <a:schemeClr val="accent1"/>
            </a:solidFill>
            <a:ln w="9525">
              <a:solidFill>
                <a:schemeClr val="tx1"/>
              </a:solidFill>
              <a:miter lim="800000"/>
              <a:headEnd/>
              <a:tailEnd/>
            </a:ln>
          </p:spPr>
          <p:txBody>
            <a:bodyPr wrap="none" anchor="ctr"/>
            <a:lstStyle/>
            <a:p>
              <a:pPr algn="ctr"/>
              <a:r>
                <a:rPr lang="en-US" sz="1600"/>
                <a:t>Variable size MSDU or</a:t>
              </a:r>
            </a:p>
            <a:p>
              <a:pPr algn="ctr"/>
              <a:r>
                <a:rPr lang="en-US" sz="1600"/>
                <a:t>Fragment</a:t>
              </a:r>
            </a:p>
          </p:txBody>
        </p:sp>
        <p:sp>
          <p:nvSpPr>
            <p:cNvPr id="47120" name="Rectangle 20"/>
            <p:cNvSpPr>
              <a:spLocks noChangeArrowheads="1"/>
            </p:cNvSpPr>
            <p:nvPr/>
          </p:nvSpPr>
          <p:spPr bwMode="auto">
            <a:xfrm>
              <a:off x="2536" y="1920"/>
              <a:ext cx="288" cy="528"/>
            </a:xfrm>
            <a:prstGeom prst="rect">
              <a:avLst/>
            </a:prstGeom>
            <a:solidFill>
              <a:schemeClr val="accent1"/>
            </a:solidFill>
            <a:ln w="9525">
              <a:solidFill>
                <a:schemeClr val="tx1"/>
              </a:solidFill>
              <a:miter lim="800000"/>
              <a:headEnd/>
              <a:tailEnd/>
            </a:ln>
          </p:spPr>
          <p:txBody>
            <a:bodyPr wrap="none" anchor="ctr"/>
            <a:lstStyle/>
            <a:p>
              <a:pPr algn="ctr"/>
              <a:r>
                <a:rPr lang="en-US" sz="1600"/>
                <a:t>PSH</a:t>
              </a:r>
            </a:p>
          </p:txBody>
        </p:sp>
        <p:sp>
          <p:nvSpPr>
            <p:cNvPr id="47121" name="Rectangle 21"/>
            <p:cNvSpPr>
              <a:spLocks noChangeArrowheads="1"/>
            </p:cNvSpPr>
            <p:nvPr/>
          </p:nvSpPr>
          <p:spPr bwMode="auto">
            <a:xfrm>
              <a:off x="2824" y="1920"/>
              <a:ext cx="1440" cy="528"/>
            </a:xfrm>
            <a:prstGeom prst="rect">
              <a:avLst/>
            </a:prstGeom>
            <a:solidFill>
              <a:schemeClr val="accent1"/>
            </a:solidFill>
            <a:ln w="9525">
              <a:solidFill>
                <a:schemeClr val="tx1"/>
              </a:solidFill>
              <a:miter lim="800000"/>
              <a:headEnd/>
              <a:tailEnd/>
            </a:ln>
          </p:spPr>
          <p:txBody>
            <a:bodyPr wrap="none" anchor="ctr"/>
            <a:lstStyle/>
            <a:p>
              <a:pPr algn="ctr"/>
              <a:r>
                <a:rPr lang="en-US" sz="1600"/>
                <a:t>Variable size MSDU or</a:t>
              </a:r>
            </a:p>
            <a:p>
              <a:pPr algn="ctr"/>
              <a:r>
                <a:rPr lang="en-US" sz="1600"/>
                <a:t>Fragment</a:t>
              </a:r>
            </a:p>
          </p:txBody>
        </p:sp>
        <p:sp>
          <p:nvSpPr>
            <p:cNvPr id="47122" name="Text Box 22"/>
            <p:cNvSpPr txBox="1">
              <a:spLocks noChangeArrowheads="1"/>
            </p:cNvSpPr>
            <p:nvPr/>
          </p:nvSpPr>
          <p:spPr bwMode="auto">
            <a:xfrm>
              <a:off x="4272" y="1976"/>
              <a:ext cx="480" cy="288"/>
            </a:xfrm>
            <a:prstGeom prst="rect">
              <a:avLst/>
            </a:prstGeom>
            <a:noFill/>
            <a:ln w="9525">
              <a:noFill/>
              <a:miter lim="800000"/>
              <a:headEnd/>
              <a:tailEnd/>
            </a:ln>
          </p:spPr>
          <p:txBody>
            <a:bodyPr>
              <a:spAutoFit/>
            </a:bodyPr>
            <a:lstStyle/>
            <a:p>
              <a:pPr>
                <a:spcBef>
                  <a:spcPct val="50000"/>
                </a:spcBef>
              </a:pPr>
              <a:r>
                <a:rPr lang="en-US" b="1"/>
                <a:t>…</a:t>
              </a:r>
            </a:p>
          </p:txBody>
        </p:sp>
      </p:grpSp>
      <p:sp>
        <p:nvSpPr>
          <p:cNvPr id="47111" name="Text Box 23"/>
          <p:cNvSpPr txBox="1">
            <a:spLocks noChangeArrowheads="1"/>
          </p:cNvSpPr>
          <p:nvPr/>
        </p:nvSpPr>
        <p:spPr bwMode="auto">
          <a:xfrm>
            <a:off x="152400" y="3200400"/>
            <a:ext cx="8686800" cy="396875"/>
          </a:xfrm>
          <a:prstGeom prst="rect">
            <a:avLst/>
          </a:prstGeom>
          <a:noFill/>
          <a:ln w="9525">
            <a:noFill/>
            <a:miter lim="800000"/>
            <a:headEnd/>
            <a:tailEnd/>
          </a:ln>
        </p:spPr>
        <p:txBody>
          <a:bodyPr>
            <a:spAutoFit/>
          </a:bodyPr>
          <a:lstStyle/>
          <a:p>
            <a:pPr>
              <a:spcBef>
                <a:spcPct val="50000"/>
              </a:spcBef>
            </a:pPr>
            <a:r>
              <a:rPr lang="en-US" sz="2000"/>
              <a:t>Fig.8 MAC PDU frame carrying several variable length  MSDUs packed together</a:t>
            </a:r>
          </a:p>
        </p:txBody>
      </p:sp>
      <p:sp>
        <p:nvSpPr>
          <p:cNvPr id="47112" name="Text Box 24"/>
          <p:cNvSpPr txBox="1">
            <a:spLocks noChangeArrowheads="1"/>
          </p:cNvSpPr>
          <p:nvPr/>
        </p:nvSpPr>
        <p:spPr bwMode="auto">
          <a:xfrm>
            <a:off x="228600" y="4953000"/>
            <a:ext cx="8610600" cy="830263"/>
          </a:xfrm>
          <a:prstGeom prst="rect">
            <a:avLst/>
          </a:prstGeom>
          <a:noFill/>
          <a:ln w="9525">
            <a:noFill/>
            <a:miter lim="800000"/>
            <a:headEnd/>
            <a:tailEnd/>
          </a:ln>
        </p:spPr>
        <p:txBody>
          <a:bodyPr>
            <a:spAutoFit/>
          </a:bodyPr>
          <a:lstStyle/>
          <a:p>
            <a:pPr algn="just">
              <a:spcBef>
                <a:spcPct val="50000"/>
              </a:spcBef>
            </a:pPr>
            <a:r>
              <a:rPr lang="en-US"/>
              <a:t>The type of payload is identified by the sub-header immediately precedes it. For example FSH or PSH of above figure.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B2F69C57-705E-43DB-877E-9F692C396D32}" type="slidenum">
              <a:rPr lang="en-US" smtClean="0"/>
              <a:pPr/>
              <a:t>32</a:t>
            </a:fld>
            <a:endParaRPr lang="en-US"/>
          </a:p>
        </p:txBody>
      </p:sp>
      <p:sp>
        <p:nvSpPr>
          <p:cNvPr id="49155" name="Text Box 2"/>
          <p:cNvSpPr txBox="1">
            <a:spLocks noChangeArrowheads="1"/>
          </p:cNvSpPr>
          <p:nvPr/>
        </p:nvSpPr>
        <p:spPr bwMode="auto">
          <a:xfrm>
            <a:off x="457200" y="762000"/>
            <a:ext cx="8686800" cy="457200"/>
          </a:xfrm>
          <a:prstGeom prst="rect">
            <a:avLst/>
          </a:prstGeom>
          <a:noFill/>
          <a:ln w="9525">
            <a:noFill/>
            <a:miter lim="800000"/>
            <a:headEnd/>
            <a:tailEnd/>
          </a:ln>
        </p:spPr>
        <p:txBody>
          <a:bodyPr>
            <a:spAutoFit/>
          </a:bodyPr>
          <a:lstStyle/>
          <a:p>
            <a:pPr>
              <a:spcBef>
                <a:spcPct val="50000"/>
              </a:spcBef>
            </a:pPr>
            <a:endParaRPr lang="en-US"/>
          </a:p>
        </p:txBody>
      </p:sp>
      <p:sp>
        <p:nvSpPr>
          <p:cNvPr id="49156" name="Text Box 3"/>
          <p:cNvSpPr txBox="1">
            <a:spLocks noChangeArrowheads="1"/>
          </p:cNvSpPr>
          <p:nvPr/>
        </p:nvSpPr>
        <p:spPr bwMode="auto">
          <a:xfrm>
            <a:off x="304800" y="990600"/>
            <a:ext cx="8686800" cy="830997"/>
          </a:xfrm>
          <a:prstGeom prst="rect">
            <a:avLst/>
          </a:prstGeom>
          <a:solidFill>
            <a:schemeClr val="hlink"/>
          </a:solidFill>
          <a:ln w="9525">
            <a:noFill/>
            <a:miter lim="800000"/>
            <a:headEnd/>
            <a:tailEnd/>
          </a:ln>
        </p:spPr>
        <p:txBody>
          <a:bodyPr>
            <a:spAutoFit/>
          </a:bodyPr>
          <a:lstStyle/>
          <a:p>
            <a:r>
              <a:rPr lang="en-US" dirty="0"/>
              <a:t> </a:t>
            </a:r>
            <a:r>
              <a:rPr lang="en-US" b="1" i="1" dirty="0"/>
              <a:t>Privacy (or Security) Sub-layer</a:t>
            </a:r>
            <a:r>
              <a:rPr lang="en-US" dirty="0"/>
              <a:t>: </a:t>
            </a:r>
          </a:p>
          <a:p>
            <a:r>
              <a:rPr lang="en-US" dirty="0"/>
              <a:t>Supporting authentication, secure key exchange, and encryption.</a:t>
            </a:r>
          </a:p>
        </p:txBody>
      </p:sp>
      <p:pic>
        <p:nvPicPr>
          <p:cNvPr id="5" name="Content Placeholder 4" descr="4-31"/>
          <p:cNvPicPr>
            <a:picLocks noGrp="1" noChangeAspect="1" noChangeArrowheads="1"/>
          </p:cNvPicPr>
          <p:nvPr>
            <p:ph/>
          </p:nvPr>
        </p:nvPicPr>
        <p:blipFill>
          <a:blip r:embed="rId2"/>
          <a:srcRect/>
          <a:stretch>
            <a:fillRect/>
          </a:stretch>
        </p:blipFill>
        <p:spPr>
          <a:xfrm>
            <a:off x="990600" y="2286000"/>
            <a:ext cx="6791569" cy="251460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85800"/>
            <a:ext cx="7010400" cy="838200"/>
          </a:xfrm>
          <a:solidFill>
            <a:srgbClr val="FFC000"/>
          </a:solidFill>
        </p:spPr>
        <p:txBody>
          <a:bodyPr/>
          <a:lstStyle/>
          <a:p>
            <a:r>
              <a:rPr lang="en-US" b="1" dirty="0">
                <a:solidFill>
                  <a:schemeClr val="accent2"/>
                </a:solidFill>
              </a:rPr>
              <a:t>Long Term Evolution (</a:t>
            </a:r>
            <a:r>
              <a:rPr lang="en-US" altLang="zh-CN" b="1" dirty="0">
                <a:solidFill>
                  <a:schemeClr val="accent2"/>
                </a:solidFill>
                <a:ea typeface="SimSun" pitchFamily="2" charset="-122"/>
              </a:rPr>
              <a:t>LTE)</a:t>
            </a:r>
            <a:endParaRPr lang="en-US" b="1" dirty="0">
              <a:solidFill>
                <a:schemeClr val="accent2"/>
              </a:solidFill>
            </a:endParaRPr>
          </a:p>
        </p:txBody>
      </p:sp>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33</a:t>
            </a:fld>
            <a:endParaRPr lang="en-US"/>
          </a:p>
        </p:txBody>
      </p:sp>
      <p:sp>
        <p:nvSpPr>
          <p:cNvPr id="5" name="TextBox 4"/>
          <p:cNvSpPr txBox="1"/>
          <p:nvPr/>
        </p:nvSpPr>
        <p:spPr>
          <a:xfrm>
            <a:off x="228600" y="2743200"/>
            <a:ext cx="8763000" cy="830997"/>
          </a:xfrm>
          <a:prstGeom prst="rect">
            <a:avLst/>
          </a:prstGeom>
          <a:solidFill>
            <a:srgbClr val="CCECFF"/>
          </a:solidFill>
        </p:spPr>
        <p:txBody>
          <a:bodyPr wrap="square" rtlCol="0">
            <a:spAutoFit/>
          </a:bodyPr>
          <a:lstStyle/>
          <a:p>
            <a:pPr algn="just"/>
            <a:r>
              <a:rPr lang="en-US" b="1" dirty="0">
                <a:solidFill>
                  <a:srgbClr val="FF0000"/>
                </a:solidFill>
              </a:rPr>
              <a:t>Long-term evolution</a:t>
            </a:r>
            <a:r>
              <a:rPr lang="en-US" dirty="0"/>
              <a:t> (LTE) standard is one of the newly developed fourth generation (4G) standards for mobile communications.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p:cNvSpPr>
            <a:spLocks noGrp="1"/>
          </p:cNvSpPr>
          <p:nvPr>
            <p:ph type="sldNum" sz="quarter" idx="12"/>
          </p:nvPr>
        </p:nvSpPr>
        <p:spPr>
          <a:noFill/>
        </p:spPr>
        <p:txBody>
          <a:bodyPr/>
          <a:lstStyle/>
          <a:p>
            <a:fld id="{6D856344-2B81-478F-B253-6AC61282D271}" type="slidenum">
              <a:rPr lang="en-US" smtClean="0"/>
              <a:pPr/>
              <a:t>34</a:t>
            </a:fld>
            <a:endParaRPr lang="en-US"/>
          </a:p>
        </p:txBody>
      </p:sp>
      <p:sp>
        <p:nvSpPr>
          <p:cNvPr id="50179" name="标题 1"/>
          <p:cNvSpPr>
            <a:spLocks noGrp="1"/>
          </p:cNvSpPr>
          <p:nvPr>
            <p:ph type="title" idx="4294967295"/>
          </p:nvPr>
        </p:nvSpPr>
        <p:spPr>
          <a:xfrm>
            <a:off x="2514600" y="381000"/>
            <a:ext cx="4191000" cy="609600"/>
          </a:xfrm>
          <a:solidFill>
            <a:srgbClr val="FFCCCC"/>
          </a:solidFill>
        </p:spPr>
        <p:txBody>
          <a:bodyPr/>
          <a:lstStyle/>
          <a:p>
            <a:pPr eaLnBrk="1" hangingPunct="1"/>
            <a:r>
              <a:rPr lang="en-US" altLang="zh-CN" sz="4000" b="1" dirty="0">
                <a:ea typeface="SimSun" pitchFamily="2" charset="-122"/>
              </a:rPr>
              <a:t>Evolution of LTE</a:t>
            </a:r>
            <a:endParaRPr lang="zh-CN" altLang="en-US" sz="4000" b="1" dirty="0">
              <a:ea typeface="SimSun" pitchFamily="2" charset="-122"/>
            </a:endParaRPr>
          </a:p>
        </p:txBody>
      </p:sp>
      <p:pic>
        <p:nvPicPr>
          <p:cNvPr id="16" name="Pict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469434"/>
            <a:ext cx="7772400" cy="4778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xmlns="" id="{D8A88AE0-40D9-40D4-891B-4C4F780CB09C}"/>
              </a:ext>
            </a:extLst>
          </p:cNvPr>
          <p:cNvSpPr txBox="1"/>
          <p:nvPr/>
        </p:nvSpPr>
        <p:spPr>
          <a:xfrm>
            <a:off x="1295400" y="6258122"/>
            <a:ext cx="7391400" cy="369332"/>
          </a:xfrm>
          <a:prstGeom prst="rect">
            <a:avLst/>
          </a:prstGeom>
          <a:solidFill>
            <a:srgbClr val="FFCCFF"/>
          </a:solidFill>
        </p:spPr>
        <p:txBody>
          <a:bodyPr wrap="square" rtlCol="0">
            <a:spAutoFit/>
          </a:bodyPr>
          <a:lstStyle/>
          <a:p>
            <a:r>
              <a:rPr lang="en-US" sz="1800" dirty="0"/>
              <a:t>  RBS                BTS           Node-B (NB)                  Evolve Node-B (</a:t>
            </a:r>
            <a:r>
              <a:rPr lang="en-US" sz="1800" dirty="0" err="1"/>
              <a:t>eNB</a:t>
            </a:r>
            <a:r>
              <a:rPr lang="en-US" sz="1800" dirty="0"/>
              <a:t>)</a:t>
            </a:r>
          </a:p>
        </p:txBody>
      </p:sp>
      <p:sp>
        <p:nvSpPr>
          <p:cNvPr id="3" name="TextBox 2">
            <a:extLst>
              <a:ext uri="{FF2B5EF4-FFF2-40B4-BE49-F238E27FC236}">
                <a16:creationId xmlns:a16="http://schemas.microsoft.com/office/drawing/2014/main" xmlns="" id="{E736BE65-541A-4440-8D3F-8D000A8A7BDE}"/>
              </a:ext>
            </a:extLst>
          </p:cNvPr>
          <p:cNvSpPr txBox="1"/>
          <p:nvPr/>
        </p:nvSpPr>
        <p:spPr>
          <a:xfrm>
            <a:off x="4648200" y="4191000"/>
            <a:ext cx="4191000" cy="830997"/>
          </a:xfrm>
          <a:prstGeom prst="rect">
            <a:avLst/>
          </a:prstGeom>
          <a:solidFill>
            <a:srgbClr val="FFCCFF"/>
          </a:solidFill>
        </p:spPr>
        <p:txBody>
          <a:bodyPr wrap="square" rtlCol="0">
            <a:spAutoFit/>
          </a:bodyPr>
          <a:lstStyle/>
          <a:p>
            <a:r>
              <a:rPr lang="en-US" dirty="0"/>
              <a:t>5G network:</a:t>
            </a:r>
          </a:p>
          <a:p>
            <a:r>
              <a:rPr lang="en-US" dirty="0" err="1"/>
              <a:t>gNB</a:t>
            </a:r>
            <a:r>
              <a:rPr lang="en-US" dirty="0"/>
              <a:t> →Next generation Node B</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1"/>
          <p:cNvSpPr>
            <a:spLocks noGrp="1"/>
          </p:cNvSpPr>
          <p:nvPr>
            <p:ph type="sldNum" sz="quarter" idx="12"/>
          </p:nvPr>
        </p:nvSpPr>
        <p:spPr>
          <a:noFill/>
        </p:spPr>
        <p:txBody>
          <a:bodyPr/>
          <a:lstStyle/>
          <a:p>
            <a:fld id="{4B9270BC-36D7-4966-B091-5A8DC35D32CD}" type="slidenum">
              <a:rPr lang="en-US" smtClean="0"/>
              <a:pPr/>
              <a:t>35</a:t>
            </a:fld>
            <a:endParaRPr lang="en-US"/>
          </a:p>
        </p:txBody>
      </p:sp>
      <p:sp>
        <p:nvSpPr>
          <p:cNvPr id="52227" name="TextBox 2"/>
          <p:cNvSpPr txBox="1">
            <a:spLocks noChangeArrowheads="1"/>
          </p:cNvSpPr>
          <p:nvPr/>
        </p:nvSpPr>
        <p:spPr bwMode="auto">
          <a:xfrm>
            <a:off x="304800" y="1219200"/>
            <a:ext cx="8305800" cy="4647426"/>
          </a:xfrm>
          <a:prstGeom prst="rect">
            <a:avLst/>
          </a:prstGeom>
          <a:solidFill>
            <a:srgbClr val="99CCFF"/>
          </a:solidFill>
          <a:ln w="9525">
            <a:noFill/>
            <a:miter lim="800000"/>
            <a:headEnd/>
            <a:tailEnd/>
          </a:ln>
        </p:spPr>
        <p:txBody>
          <a:bodyPr wrap="square">
            <a:spAutoFit/>
          </a:bodyPr>
          <a:lstStyle/>
          <a:p>
            <a:pPr algn="just"/>
            <a:r>
              <a:rPr lang="en-US" sz="3600" b="1" dirty="0">
                <a:solidFill>
                  <a:schemeClr val="accent2"/>
                </a:solidFill>
              </a:rPr>
              <a:t>Features of LTE</a:t>
            </a:r>
          </a:p>
          <a:p>
            <a:pPr algn="just">
              <a:buFont typeface="Wingdings" pitchFamily="2" charset="2"/>
              <a:buChar char="ü"/>
            </a:pPr>
            <a:r>
              <a:rPr lang="en-US" dirty="0"/>
              <a:t>The LTE- Advanced (Long Term Evolution- Advanced) is 4G wireless service  proposed by 3GPP (Third generation Partnership Project). In 2009 4G LTE started its commercial service in Scandinavia. Three important features of LTE are: </a:t>
            </a:r>
          </a:p>
          <a:p>
            <a:pPr algn="just"/>
            <a:endParaRPr lang="en-US" dirty="0"/>
          </a:p>
          <a:p>
            <a:pPr algn="just">
              <a:buFont typeface="Wingdings" pitchFamily="2" charset="2"/>
              <a:buChar char="ü"/>
            </a:pPr>
            <a:r>
              <a:rPr lang="en-US" sz="2800" b="1" dirty="0" err="1">
                <a:solidFill>
                  <a:srgbClr val="FF0000"/>
                </a:solidFill>
              </a:rPr>
              <a:t>Femtocell</a:t>
            </a:r>
            <a:r>
              <a:rPr lang="en-US" sz="2800" b="1" dirty="0">
                <a:solidFill>
                  <a:srgbClr val="FF0000"/>
                </a:solidFill>
              </a:rPr>
              <a:t> Deployment</a:t>
            </a:r>
            <a:r>
              <a:rPr lang="en-US" sz="2800" b="1" dirty="0"/>
              <a:t> </a:t>
            </a:r>
          </a:p>
          <a:p>
            <a:pPr algn="just">
              <a:buFont typeface="Wingdings" pitchFamily="2" charset="2"/>
              <a:buChar char="ü"/>
            </a:pPr>
            <a:endParaRPr lang="en-US" sz="2800" b="1" dirty="0"/>
          </a:p>
          <a:p>
            <a:pPr algn="just">
              <a:buFont typeface="Wingdings" pitchFamily="2" charset="2"/>
              <a:buChar char="ü"/>
            </a:pPr>
            <a:r>
              <a:rPr lang="en-US" sz="2800" b="1" dirty="0">
                <a:solidFill>
                  <a:srgbClr val="FF0000"/>
                </a:solidFill>
              </a:rPr>
              <a:t>OFDMA-based physical layer access</a:t>
            </a:r>
          </a:p>
          <a:p>
            <a:pPr algn="just">
              <a:buFont typeface="Wingdings" pitchFamily="2" charset="2"/>
              <a:buChar char="ü"/>
            </a:pPr>
            <a:endParaRPr lang="en-US" sz="2800" b="1" dirty="0">
              <a:solidFill>
                <a:srgbClr val="FF0000"/>
              </a:solidFill>
            </a:endParaRPr>
          </a:p>
          <a:p>
            <a:pPr algn="just">
              <a:buFont typeface="Wingdings" pitchFamily="2" charset="2"/>
              <a:buChar char="ü"/>
            </a:pPr>
            <a:r>
              <a:rPr lang="en-US" sz="2800" b="1" dirty="0">
                <a:solidFill>
                  <a:srgbClr val="FF0000"/>
                </a:solidFill>
              </a:rPr>
              <a:t>MIMO</a:t>
            </a:r>
            <a:endParaRPr lang="en-US" sz="2800" b="1"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086600" y="6245382"/>
            <a:ext cx="1905000" cy="457200"/>
          </a:xfrm>
        </p:spPr>
        <p:txBody>
          <a:bodyPr/>
          <a:lstStyle/>
          <a:p>
            <a:pPr>
              <a:defRPr/>
            </a:pPr>
            <a:fld id="{99FE3154-E4F1-4DBC-AFFE-BDB47B1CC230}" type="slidenum">
              <a:rPr lang="en-US" smtClean="0"/>
              <a:pPr>
                <a:defRPr/>
              </a:pPr>
              <a:t>36</a:t>
            </a:fld>
            <a:endParaRPr lang="en-US" dirty="0"/>
          </a:p>
        </p:txBody>
      </p:sp>
      <p:sp>
        <p:nvSpPr>
          <p:cNvPr id="4" name="TextBox 3"/>
          <p:cNvSpPr txBox="1"/>
          <p:nvPr/>
        </p:nvSpPr>
        <p:spPr>
          <a:xfrm>
            <a:off x="7293" y="0"/>
            <a:ext cx="8976531" cy="2739211"/>
          </a:xfrm>
          <a:prstGeom prst="rect">
            <a:avLst/>
          </a:prstGeom>
          <a:solidFill>
            <a:srgbClr val="CCECFF"/>
          </a:solidFill>
        </p:spPr>
        <p:txBody>
          <a:bodyPr wrap="square" rtlCol="0">
            <a:spAutoFit/>
          </a:bodyPr>
          <a:lstStyle/>
          <a:p>
            <a:pPr algn="just"/>
            <a:r>
              <a:rPr lang="en-US" sz="2800" b="1" dirty="0">
                <a:solidFill>
                  <a:srgbClr val="FF0000"/>
                </a:solidFill>
              </a:rPr>
              <a:t>Femtocell Deployment</a:t>
            </a:r>
            <a:endParaRPr lang="en-US" sz="2800" dirty="0"/>
          </a:p>
          <a:p>
            <a:pPr marL="342900" indent="-342900" algn="just">
              <a:buFont typeface="Wingdings" panose="05000000000000000000" pitchFamily="2" charset="2"/>
              <a:buChar char="ü"/>
            </a:pPr>
            <a:r>
              <a:rPr lang="en-US" sz="2000" dirty="0"/>
              <a:t>The </a:t>
            </a:r>
            <a:r>
              <a:rPr lang="en-US" sz="2000" dirty="0">
                <a:solidFill>
                  <a:srgbClr val="FF0000"/>
                </a:solidFill>
              </a:rPr>
              <a:t>FBS (</a:t>
            </a:r>
            <a:r>
              <a:rPr lang="en-US" sz="2000" dirty="0" err="1">
                <a:solidFill>
                  <a:srgbClr val="FF0000"/>
                </a:solidFill>
              </a:rPr>
              <a:t>Femto</a:t>
            </a:r>
            <a:r>
              <a:rPr lang="en-US" sz="2000" dirty="0">
                <a:solidFill>
                  <a:srgbClr val="FF0000"/>
                </a:solidFill>
              </a:rPr>
              <a:t> BS)</a:t>
            </a:r>
            <a:r>
              <a:rPr lang="en-US" sz="2000" dirty="0"/>
              <a:t> is named as </a:t>
            </a:r>
            <a:r>
              <a:rPr lang="en-US" sz="2000" dirty="0">
                <a:solidFill>
                  <a:srgbClr val="FF0000"/>
                </a:solidFill>
              </a:rPr>
              <a:t>Home evolved Node-B (</a:t>
            </a:r>
            <a:r>
              <a:rPr lang="en-US" sz="2000" dirty="0" err="1">
                <a:solidFill>
                  <a:srgbClr val="FF0000"/>
                </a:solidFill>
              </a:rPr>
              <a:t>HeNB</a:t>
            </a:r>
            <a:r>
              <a:rPr lang="en-US" sz="2000" dirty="0">
                <a:solidFill>
                  <a:srgbClr val="FF0000"/>
                </a:solidFill>
              </a:rPr>
              <a:t>) </a:t>
            </a:r>
            <a:r>
              <a:rPr lang="en-US" sz="2000" dirty="0"/>
              <a:t>in LTE-A placed in public places to provide higher data rate and improve resource usage to a number of users. </a:t>
            </a:r>
          </a:p>
          <a:p>
            <a:pPr marL="342900" indent="-342900" algn="just">
              <a:buFont typeface="Wingdings" panose="05000000000000000000" pitchFamily="2" charset="2"/>
              <a:buChar char="ü"/>
            </a:pPr>
            <a:r>
              <a:rPr lang="en-US" sz="2000" dirty="0"/>
              <a:t>Femtocells are different in the sense that they are installed by customers in an ad hoc fashion without any RF planning. Objective of </a:t>
            </a:r>
            <a:r>
              <a:rPr lang="en-US" sz="2000" dirty="0" err="1"/>
              <a:t>eNodeB</a:t>
            </a:r>
            <a:r>
              <a:rPr lang="en-US" sz="2000" dirty="0"/>
              <a:t> Femtocells lies in off-loading of traffic. </a:t>
            </a:r>
          </a:p>
          <a:p>
            <a:pPr marL="342900" indent="-342900" algn="just">
              <a:buFont typeface="Wingdings" panose="05000000000000000000" pitchFamily="2" charset="2"/>
              <a:buChar char="ü"/>
            </a:pPr>
            <a:r>
              <a:rPr lang="en-US" sz="2000" dirty="0"/>
              <a:t>Femtocell is for indoor coverage and microcell is for outdoor coverage.</a:t>
            </a:r>
          </a:p>
        </p:txBody>
      </p:sp>
      <p:grpSp>
        <p:nvGrpSpPr>
          <p:cNvPr id="9" name="Group 8">
            <a:extLst>
              <a:ext uri="{FF2B5EF4-FFF2-40B4-BE49-F238E27FC236}">
                <a16:creationId xmlns:a16="http://schemas.microsoft.com/office/drawing/2014/main" xmlns="" id="{8FA949CF-E91F-409D-963C-73ECA5D032F6}"/>
              </a:ext>
            </a:extLst>
          </p:cNvPr>
          <p:cNvGrpSpPr/>
          <p:nvPr/>
        </p:nvGrpSpPr>
        <p:grpSpPr>
          <a:xfrm>
            <a:off x="914400" y="2787796"/>
            <a:ext cx="7708641" cy="3875038"/>
            <a:chOff x="914400" y="2787796"/>
            <a:chExt cx="7708641" cy="3875038"/>
          </a:xfrm>
        </p:grpSpPr>
        <p:pic>
          <p:nvPicPr>
            <p:cNvPr id="3" name="Picture 3"/>
            <p:cNvPicPr>
              <a:picLocks noChangeAspect="1" noChangeArrowheads="1"/>
            </p:cNvPicPr>
            <p:nvPr/>
          </p:nvPicPr>
          <p:blipFill>
            <a:blip r:embed="rId2"/>
            <a:srcRect/>
            <a:stretch>
              <a:fillRect/>
            </a:stretch>
          </p:blipFill>
          <p:spPr bwMode="auto">
            <a:xfrm>
              <a:off x="914400" y="2787796"/>
              <a:ext cx="6781318" cy="3875038"/>
            </a:xfrm>
            <a:prstGeom prst="rect">
              <a:avLst/>
            </a:prstGeom>
            <a:noFill/>
            <a:ln w="9525">
              <a:noFill/>
              <a:miter lim="800000"/>
              <a:headEnd/>
              <a:tailEnd/>
            </a:ln>
            <a:effectLst/>
          </p:spPr>
        </p:pic>
        <p:cxnSp>
          <p:nvCxnSpPr>
            <p:cNvPr id="6" name="Straight Arrow Connector 5">
              <a:extLst>
                <a:ext uri="{FF2B5EF4-FFF2-40B4-BE49-F238E27FC236}">
                  <a16:creationId xmlns:a16="http://schemas.microsoft.com/office/drawing/2014/main" xmlns="" id="{A247F555-F7C1-4AE9-9121-123B75D390C8}"/>
                </a:ext>
              </a:extLst>
            </p:cNvPr>
            <p:cNvCxnSpPr/>
            <p:nvPr/>
          </p:nvCxnSpPr>
          <p:spPr>
            <a:xfrm>
              <a:off x="4495559" y="5483382"/>
              <a:ext cx="228600" cy="990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33858697-B64F-45F8-95F0-4D377C8D06F9}"/>
                </a:ext>
              </a:extLst>
            </p:cNvPr>
            <p:cNvSpPr txBox="1"/>
            <p:nvPr/>
          </p:nvSpPr>
          <p:spPr>
            <a:xfrm>
              <a:off x="3695459" y="6324280"/>
              <a:ext cx="1828800" cy="338554"/>
            </a:xfrm>
            <a:prstGeom prst="rect">
              <a:avLst/>
            </a:prstGeom>
            <a:noFill/>
          </p:spPr>
          <p:txBody>
            <a:bodyPr wrap="square" rtlCol="0">
              <a:spAutoFit/>
            </a:bodyPr>
            <a:lstStyle/>
            <a:p>
              <a:r>
                <a:rPr lang="en-US" sz="1600" dirty="0"/>
                <a:t>Macro Base Station</a:t>
              </a:r>
            </a:p>
          </p:txBody>
        </p:sp>
        <p:cxnSp>
          <p:nvCxnSpPr>
            <p:cNvPr id="8" name="Straight Arrow Connector 7">
              <a:extLst>
                <a:ext uri="{FF2B5EF4-FFF2-40B4-BE49-F238E27FC236}">
                  <a16:creationId xmlns:a16="http://schemas.microsoft.com/office/drawing/2014/main" xmlns="" id="{323A696F-C66B-4C53-99C9-CFD85D4F88F2}"/>
                </a:ext>
              </a:extLst>
            </p:cNvPr>
            <p:cNvCxnSpPr>
              <a:cxnSpLocks/>
            </p:cNvCxnSpPr>
            <p:nvPr/>
          </p:nvCxnSpPr>
          <p:spPr>
            <a:xfrm flipV="1">
              <a:off x="6096000" y="3352800"/>
              <a:ext cx="1371600" cy="89112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766A2CF9-D6F5-4E18-BF70-D83AFCB2C52B}"/>
                </a:ext>
              </a:extLst>
            </p:cNvPr>
            <p:cNvSpPr txBox="1"/>
            <p:nvPr/>
          </p:nvSpPr>
          <p:spPr>
            <a:xfrm>
              <a:off x="6794241" y="2965661"/>
              <a:ext cx="1828800" cy="338554"/>
            </a:xfrm>
            <a:prstGeom prst="rect">
              <a:avLst/>
            </a:prstGeom>
            <a:noFill/>
          </p:spPr>
          <p:txBody>
            <a:bodyPr wrap="square" rtlCol="0">
              <a:spAutoFit/>
            </a:bodyPr>
            <a:lstStyle/>
            <a:p>
              <a:r>
                <a:rPr lang="en-US" sz="1600" dirty="0" err="1"/>
                <a:t>Femto</a:t>
              </a:r>
              <a:r>
                <a:rPr lang="en-US" sz="1600" dirty="0"/>
                <a:t> Base Station</a:t>
              </a:r>
            </a:p>
          </p:txBody>
        </p:sp>
        <p:sp>
          <p:nvSpPr>
            <p:cNvPr id="5" name="TextBox 4">
              <a:extLst>
                <a:ext uri="{FF2B5EF4-FFF2-40B4-BE49-F238E27FC236}">
                  <a16:creationId xmlns:a16="http://schemas.microsoft.com/office/drawing/2014/main" xmlns="" id="{3485A251-E6D5-4811-90AD-661CA290005B}"/>
                </a:ext>
              </a:extLst>
            </p:cNvPr>
            <p:cNvSpPr txBox="1"/>
            <p:nvPr/>
          </p:nvSpPr>
          <p:spPr>
            <a:xfrm>
              <a:off x="3695459" y="5910585"/>
              <a:ext cx="609600" cy="338554"/>
            </a:xfrm>
            <a:prstGeom prst="rect">
              <a:avLst/>
            </a:prstGeom>
            <a:solidFill>
              <a:srgbClr val="FFFF00"/>
            </a:solidFill>
          </p:spPr>
          <p:txBody>
            <a:bodyPr wrap="square" rtlCol="0">
              <a:spAutoFit/>
            </a:bodyPr>
            <a:lstStyle/>
            <a:p>
              <a:r>
                <a:rPr lang="en-US" sz="1600" dirty="0" err="1"/>
                <a:t>eNB</a:t>
              </a:r>
              <a:endParaRPr lang="en-US" sz="1600" dirty="0"/>
            </a:p>
          </p:txBody>
        </p:sp>
      </p:grpSp>
    </p:spTree>
    <p:extLst>
      <p:ext uri="{BB962C8B-B14F-4D97-AF65-F5344CB8AC3E}">
        <p14:creationId xmlns:p14="http://schemas.microsoft.com/office/powerpoint/2010/main" val="35984047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C2D1CEED-4BE9-4C2D-AB80-5D0385C8FBBA}" type="slidenum">
              <a:rPr lang="en-US" smtClean="0"/>
              <a:pPr>
                <a:defRPr/>
              </a:pPr>
              <a:t>37</a:t>
            </a:fld>
            <a:endParaRPr lang="en-US"/>
          </a:p>
        </p:txBody>
      </p:sp>
      <p:sp>
        <p:nvSpPr>
          <p:cNvPr id="71" name="Rectangle 70"/>
          <p:cNvSpPr/>
          <p:nvPr/>
        </p:nvSpPr>
        <p:spPr>
          <a:xfrm>
            <a:off x="31102" y="-33607"/>
            <a:ext cx="7696200" cy="646331"/>
          </a:xfrm>
          <a:prstGeom prst="rect">
            <a:avLst/>
          </a:prstGeom>
        </p:spPr>
        <p:txBody>
          <a:bodyPr wrap="square">
            <a:spAutoFit/>
          </a:bodyPr>
          <a:lstStyle/>
          <a:p>
            <a:r>
              <a:rPr lang="en-US" sz="3600" b="1" dirty="0">
                <a:solidFill>
                  <a:srgbClr val="FF0000"/>
                </a:solidFill>
              </a:rPr>
              <a:t>OFDMA-based Physical Layer Access </a:t>
            </a:r>
            <a:endParaRPr lang="en-US" sz="3600" b="1" dirty="0"/>
          </a:p>
        </p:txBody>
      </p:sp>
      <p:grpSp>
        <p:nvGrpSpPr>
          <p:cNvPr id="2" name="Group 1">
            <a:extLst>
              <a:ext uri="{FF2B5EF4-FFF2-40B4-BE49-F238E27FC236}">
                <a16:creationId xmlns:a16="http://schemas.microsoft.com/office/drawing/2014/main" xmlns="" id="{A734CA92-F651-42AA-852B-75B010499712}"/>
              </a:ext>
            </a:extLst>
          </p:cNvPr>
          <p:cNvGrpSpPr/>
          <p:nvPr/>
        </p:nvGrpSpPr>
        <p:grpSpPr>
          <a:xfrm>
            <a:off x="323520" y="640680"/>
            <a:ext cx="8668079" cy="5836320"/>
            <a:chOff x="323520" y="640680"/>
            <a:chExt cx="8668079" cy="5836320"/>
          </a:xfrm>
        </p:grpSpPr>
        <p:grpSp>
          <p:nvGrpSpPr>
            <p:cNvPr id="84" name="Group 83"/>
            <p:cNvGrpSpPr/>
            <p:nvPr/>
          </p:nvGrpSpPr>
          <p:grpSpPr>
            <a:xfrm>
              <a:off x="381000" y="640680"/>
              <a:ext cx="8610599" cy="5836320"/>
              <a:chOff x="0" y="564480"/>
              <a:chExt cx="8610599" cy="5836320"/>
            </a:xfrm>
          </p:grpSpPr>
          <p:sp>
            <p:nvSpPr>
              <p:cNvPr id="7" name="Text Box 3"/>
              <p:cNvSpPr txBox="1">
                <a:spLocks noChangeArrowheads="1"/>
              </p:cNvSpPr>
              <p:nvPr/>
            </p:nvSpPr>
            <p:spPr bwMode="auto">
              <a:xfrm>
                <a:off x="2284730" y="5909470"/>
                <a:ext cx="184731" cy="338554"/>
              </a:xfrm>
              <a:prstGeom prst="rect">
                <a:avLst/>
              </a:prstGeom>
              <a:solidFill>
                <a:srgbClr val="FFFFFF">
                  <a:alpha val="0"/>
                </a:srgbClr>
              </a:solidFill>
              <a:ln w="9525">
                <a:noFill/>
                <a:miter lim="800000"/>
                <a:headEnd/>
                <a:tailEnd/>
              </a:ln>
            </p:spPr>
            <p:txBody>
              <a:bodyPr wrap="none">
                <a:spAutoFit/>
              </a:bodyPr>
              <a:lstStyle/>
              <a:p>
                <a:endParaRPr lang="en-US" sz="1600"/>
              </a:p>
            </p:txBody>
          </p:sp>
          <p:sp>
            <p:nvSpPr>
              <p:cNvPr id="8" name="Text Box 11"/>
              <p:cNvSpPr txBox="1">
                <a:spLocks noChangeArrowheads="1"/>
              </p:cNvSpPr>
              <p:nvPr/>
            </p:nvSpPr>
            <p:spPr bwMode="auto">
              <a:xfrm>
                <a:off x="2954355" y="1194561"/>
                <a:ext cx="616657" cy="2271371"/>
              </a:xfrm>
              <a:prstGeom prst="rect">
                <a:avLst/>
              </a:prstGeom>
              <a:solidFill>
                <a:srgbClr val="FFC000"/>
              </a:solidFill>
              <a:ln w="9525">
                <a:solidFill>
                  <a:srgbClr val="000000"/>
                </a:solidFill>
                <a:miter lim="800000"/>
                <a:headEnd/>
                <a:tailEnd/>
              </a:ln>
            </p:spPr>
            <p:txBody>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S/P</a:t>
                </a:r>
              </a:p>
              <a:p>
                <a:pPr marL="0" marR="0" algn="ctr" fontAlgn="base">
                  <a:spcBef>
                    <a:spcPts val="0"/>
                  </a:spcBef>
                  <a:spcAft>
                    <a:spcPts val="0"/>
                  </a:spcAft>
                </a:pPr>
                <a:endParaRPr lang="en-US" sz="1600" dirty="0">
                  <a:solidFill>
                    <a:srgbClr val="000000"/>
                  </a:solidFill>
                  <a:ea typeface="Times New Roman" panose="02020603050405020304" pitchFamily="18" charset="0"/>
                </a:endParaRPr>
              </a:p>
              <a:p>
                <a:pPr marL="0" marR="0" algn="ctr" fontAlgn="base">
                  <a:spcBef>
                    <a:spcPts val="0"/>
                  </a:spcBef>
                  <a:spcAft>
                    <a:spcPts val="0"/>
                  </a:spcAft>
                </a:pPr>
                <a:r>
                  <a:rPr lang="en-US" sz="1600" dirty="0">
                    <a:solidFill>
                      <a:srgbClr val="000000"/>
                    </a:solidFill>
                    <a:effectLst/>
                    <a:latin typeface="Times New Roman" panose="02020603050405020304" pitchFamily="18" charset="0"/>
                    <a:ea typeface="Times New Roman" panose="02020603050405020304" pitchFamily="18" charset="0"/>
                  </a:rPr>
                  <a:t>Or</a:t>
                </a:r>
              </a:p>
              <a:p>
                <a:pPr marL="0" marR="0" algn="ctr" fontAlgn="base">
                  <a:spcBef>
                    <a:spcPts val="0"/>
                  </a:spcBef>
                  <a:spcAft>
                    <a:spcPts val="0"/>
                  </a:spcAft>
                </a:pPr>
                <a:endParaRPr lang="en-US" sz="1600" dirty="0">
                  <a:solidFill>
                    <a:srgbClr val="000000"/>
                  </a:solidFill>
                  <a:ea typeface="Times New Roman" panose="02020603050405020304" pitchFamily="18" charset="0"/>
                </a:endParaRPr>
              </a:p>
              <a:p>
                <a:pPr marL="0" marR="0" algn="ctr" fontAlgn="base">
                  <a:spcBef>
                    <a:spcPts val="0"/>
                  </a:spcBef>
                  <a:spcAft>
                    <a:spcPts val="0"/>
                  </a:spcAft>
                </a:pPr>
                <a:r>
                  <a:rPr lang="en-US" sz="1600" dirty="0">
                    <a:solidFill>
                      <a:srgbClr val="000000"/>
                    </a:solidFill>
                    <a:ea typeface="Times New Roman" panose="02020603050405020304" pitchFamily="18" charset="0"/>
                  </a:rPr>
                  <a:t>D</a:t>
                </a:r>
              </a:p>
              <a:p>
                <a:pPr marL="0" marR="0" algn="ctr" fontAlgn="base">
                  <a:spcBef>
                    <a:spcPts val="0"/>
                  </a:spcBef>
                  <a:spcAft>
                    <a:spcPts val="0"/>
                  </a:spcAft>
                </a:pPr>
                <a:r>
                  <a:rPr lang="en-US" sz="1600" dirty="0">
                    <a:solidFill>
                      <a:srgbClr val="000000"/>
                    </a:solidFill>
                    <a:ea typeface="Times New Roman" panose="02020603050405020304" pitchFamily="18" charset="0"/>
                  </a:rPr>
                  <a:t>M</a:t>
                </a:r>
              </a:p>
              <a:p>
                <a:pPr marL="0" marR="0" algn="ctr" fontAlgn="base">
                  <a:spcBef>
                    <a:spcPts val="0"/>
                  </a:spcBef>
                  <a:spcAft>
                    <a:spcPts val="0"/>
                  </a:spcAft>
                </a:pPr>
                <a:r>
                  <a:rPr lang="en-US" sz="1600" dirty="0">
                    <a:solidFill>
                      <a:srgbClr val="000000"/>
                    </a:solidFill>
                    <a:ea typeface="Times New Roman" panose="02020603050405020304" pitchFamily="18" charset="0"/>
                  </a:rPr>
                  <a:t>U</a:t>
                </a:r>
              </a:p>
              <a:p>
                <a:pPr marL="0" marR="0" algn="ctr" fontAlgn="base">
                  <a:spcBef>
                    <a:spcPts val="0"/>
                  </a:spcBef>
                  <a:spcAft>
                    <a:spcPts val="0"/>
                  </a:spcAft>
                </a:pPr>
                <a:r>
                  <a:rPr lang="en-US" sz="1600" dirty="0">
                    <a:solidFill>
                      <a:srgbClr val="000000"/>
                    </a:solidFill>
                    <a:ea typeface="Times New Roman" panose="02020603050405020304" pitchFamily="18" charset="0"/>
                  </a:rPr>
                  <a:t>X</a:t>
                </a:r>
                <a:endParaRPr lang="en-US" sz="1600" dirty="0">
                  <a:effectLst/>
                  <a:latin typeface="Times New Roman" panose="02020603050405020304" pitchFamily="18" charset="0"/>
                  <a:ea typeface="Times New Roman" panose="02020603050405020304" pitchFamily="18" charset="0"/>
                </a:endParaRPr>
              </a:p>
            </p:txBody>
          </p:sp>
          <p:sp>
            <p:nvSpPr>
              <p:cNvPr id="9" name="Text Box 13"/>
              <p:cNvSpPr txBox="1">
                <a:spLocks noChangeArrowheads="1"/>
              </p:cNvSpPr>
              <p:nvPr/>
            </p:nvSpPr>
            <p:spPr bwMode="auto">
              <a:xfrm>
                <a:off x="3725176" y="1044011"/>
                <a:ext cx="464074" cy="453193"/>
              </a:xfrm>
              <a:prstGeom prst="rect">
                <a:avLst/>
              </a:prstGeom>
              <a:noFill/>
              <a:ln w="9525">
                <a:noFill/>
                <a:miter lim="800000"/>
                <a:headEnd/>
                <a:tailEnd/>
              </a:ln>
            </p:spPr>
            <p:txBody>
              <a:bodyPr/>
              <a:lstStyle/>
              <a:p>
                <a:endParaRPr lang="en-US" sz="1600"/>
              </a:p>
            </p:txBody>
          </p:sp>
          <p:sp>
            <p:nvSpPr>
              <p:cNvPr id="10" name="Text Box 15"/>
              <p:cNvSpPr txBox="1">
                <a:spLocks noChangeArrowheads="1"/>
              </p:cNvSpPr>
              <p:nvPr/>
            </p:nvSpPr>
            <p:spPr bwMode="auto">
              <a:xfrm>
                <a:off x="3725176" y="1850803"/>
                <a:ext cx="184731" cy="338554"/>
              </a:xfrm>
              <a:prstGeom prst="rect">
                <a:avLst/>
              </a:prstGeom>
              <a:noFill/>
              <a:ln w="9525">
                <a:noFill/>
                <a:miter lim="800000"/>
                <a:headEnd/>
                <a:tailEnd/>
              </a:ln>
            </p:spPr>
            <p:txBody>
              <a:bodyPr wrap="none">
                <a:spAutoFit/>
              </a:bodyPr>
              <a:lstStyle/>
              <a:p>
                <a:endParaRPr lang="en-US" sz="1600"/>
              </a:p>
            </p:txBody>
          </p:sp>
          <p:sp>
            <p:nvSpPr>
              <p:cNvPr id="11" name="Text Box 22"/>
              <p:cNvSpPr txBox="1">
                <a:spLocks noChangeArrowheads="1"/>
              </p:cNvSpPr>
              <p:nvPr/>
            </p:nvSpPr>
            <p:spPr bwMode="auto">
              <a:xfrm>
                <a:off x="5676423" y="1121960"/>
                <a:ext cx="618238" cy="2269827"/>
              </a:xfrm>
              <a:prstGeom prst="rect">
                <a:avLst/>
              </a:prstGeom>
              <a:noFill/>
              <a:ln w="9525">
                <a:solidFill>
                  <a:srgbClr val="000000"/>
                </a:solidFill>
                <a:miter lim="800000"/>
                <a:headEnd/>
                <a:tailEnd/>
              </a:ln>
            </p:spPr>
            <p:txBody>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4800" kern="1200" dirty="0">
                    <a:solidFill>
                      <a:srgbClr val="000000"/>
                    </a:solidFill>
                    <a:effectLst/>
                    <a:latin typeface="Times New Roman" panose="02020603050405020304" pitchFamily="18" charset="0"/>
                    <a:ea typeface="Times New Roman" panose="02020603050405020304" pitchFamily="18" charset="0"/>
                  </a:rPr>
                  <a:t>Σ</a:t>
                </a:r>
                <a:endParaRPr lang="en-US" sz="4800" dirty="0">
                  <a:effectLst/>
                  <a:latin typeface="Times New Roman" panose="02020603050405020304" pitchFamily="18" charset="0"/>
                  <a:ea typeface="Times New Roman" panose="02020603050405020304" pitchFamily="18" charset="0"/>
                </a:endParaRPr>
              </a:p>
            </p:txBody>
          </p:sp>
          <p:sp>
            <p:nvSpPr>
              <p:cNvPr id="12" name="Text Box 24"/>
              <p:cNvSpPr txBox="1">
                <a:spLocks noChangeArrowheads="1"/>
              </p:cNvSpPr>
              <p:nvPr/>
            </p:nvSpPr>
            <p:spPr bwMode="auto">
              <a:xfrm>
                <a:off x="6312762" y="1661651"/>
                <a:ext cx="758962" cy="455510"/>
              </a:xfrm>
              <a:prstGeom prst="rect">
                <a:avLst/>
              </a:prstGeom>
              <a:noFill/>
              <a:ln w="9525">
                <a:noFill/>
                <a:miter lim="800000"/>
                <a:headEnd/>
                <a:tailEnd/>
              </a:ln>
            </p:spPr>
            <p:txBody>
              <a:bodyPr/>
              <a:lstStyle/>
              <a:p>
                <a:pPr marL="0" marR="0" fontAlgn="base">
                  <a:spcBef>
                    <a:spcPts val="0"/>
                  </a:spcBef>
                  <a:spcAft>
                    <a:spcPts val="0"/>
                  </a:spcAft>
                </a:pPr>
                <a:r>
                  <a:rPr lang="en-US" sz="1600" i="1" kern="1200" dirty="0">
                    <a:solidFill>
                      <a:srgbClr val="000000"/>
                    </a:solidFill>
                    <a:effectLst/>
                    <a:latin typeface="Times New Roman" panose="02020603050405020304" pitchFamily="18" charset="0"/>
                    <a:ea typeface="Times New Roman" panose="02020603050405020304" pitchFamily="18" charset="0"/>
                  </a:rPr>
                  <a:t>x</a:t>
                </a:r>
                <a:r>
                  <a:rPr lang="en-US" sz="1600" kern="1200" dirty="0">
                    <a:solidFill>
                      <a:srgbClr val="000000"/>
                    </a:solidFill>
                    <a:effectLst/>
                    <a:latin typeface="Times New Roman" panose="02020603050405020304" pitchFamily="18" charset="0"/>
                    <a:ea typeface="Times New Roman" panose="02020603050405020304" pitchFamily="18" charset="0"/>
                  </a:rPr>
                  <a:t>(</a:t>
                </a:r>
                <a:r>
                  <a:rPr lang="en-US" sz="1600" i="1" kern="1200" dirty="0">
                    <a:solidFill>
                      <a:srgbClr val="000000"/>
                    </a:solidFill>
                    <a:effectLst/>
                    <a:latin typeface="Times New Roman" panose="02020603050405020304" pitchFamily="18" charset="0"/>
                    <a:ea typeface="Times New Roman" panose="02020603050405020304" pitchFamily="18" charset="0"/>
                  </a:rPr>
                  <a:t>t</a:t>
                </a:r>
                <a:r>
                  <a:rPr lang="en-US" sz="1600" kern="12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13" name="Text Box 28"/>
              <p:cNvSpPr txBox="1">
                <a:spLocks noChangeArrowheads="1"/>
              </p:cNvSpPr>
              <p:nvPr/>
            </p:nvSpPr>
            <p:spPr bwMode="auto">
              <a:xfrm>
                <a:off x="7082002" y="1901758"/>
                <a:ext cx="1080730" cy="408414"/>
              </a:xfrm>
              <a:prstGeom prst="rect">
                <a:avLst/>
              </a:prstGeom>
              <a:solidFill>
                <a:srgbClr val="92D050"/>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Channel</a:t>
                </a:r>
                <a:endParaRPr lang="en-US" sz="1600">
                  <a:effectLst/>
                  <a:latin typeface="Times New Roman" panose="02020603050405020304" pitchFamily="18" charset="0"/>
                  <a:ea typeface="Times New Roman" panose="02020603050405020304" pitchFamily="18" charset="0"/>
                </a:endParaRPr>
              </a:p>
            </p:txBody>
          </p:sp>
          <p:sp>
            <p:nvSpPr>
              <p:cNvPr id="14" name="Text Box 18"/>
              <p:cNvSpPr txBox="1">
                <a:spLocks noChangeArrowheads="1"/>
              </p:cNvSpPr>
              <p:nvPr/>
            </p:nvSpPr>
            <p:spPr bwMode="auto">
              <a:xfrm>
                <a:off x="4344204" y="2368077"/>
                <a:ext cx="184731" cy="338554"/>
              </a:xfrm>
              <a:prstGeom prst="rect">
                <a:avLst/>
              </a:prstGeom>
              <a:noFill/>
              <a:ln w="9525">
                <a:noFill/>
                <a:miter lim="800000"/>
                <a:headEnd/>
                <a:tailEnd/>
              </a:ln>
            </p:spPr>
            <p:txBody>
              <a:bodyPr wrap="none">
                <a:spAutoFit/>
              </a:bodyPr>
              <a:lstStyle/>
              <a:p>
                <a:endParaRPr lang="en-US" sz="1600"/>
              </a:p>
            </p:txBody>
          </p:sp>
          <p:sp>
            <p:nvSpPr>
              <p:cNvPr id="15" name="Text Box 17"/>
              <p:cNvSpPr txBox="1">
                <a:spLocks noChangeArrowheads="1"/>
              </p:cNvSpPr>
              <p:nvPr/>
            </p:nvSpPr>
            <p:spPr bwMode="auto">
              <a:xfrm>
                <a:off x="3571012" y="2759506"/>
                <a:ext cx="184731" cy="338554"/>
              </a:xfrm>
              <a:prstGeom prst="rect">
                <a:avLst/>
              </a:prstGeom>
              <a:noFill/>
              <a:ln w="9525">
                <a:noFill/>
                <a:miter lim="800000"/>
                <a:headEnd/>
                <a:tailEnd/>
              </a:ln>
            </p:spPr>
            <p:txBody>
              <a:bodyPr wrap="none">
                <a:spAutoFit/>
              </a:bodyPr>
              <a:lstStyle/>
              <a:p>
                <a:endParaRPr lang="en-US" sz="1600"/>
              </a:p>
            </p:txBody>
          </p:sp>
          <p:sp>
            <p:nvSpPr>
              <p:cNvPr id="16" name="Text Box 36"/>
              <p:cNvSpPr txBox="1">
                <a:spLocks noChangeArrowheads="1"/>
              </p:cNvSpPr>
              <p:nvPr/>
            </p:nvSpPr>
            <p:spPr bwMode="auto">
              <a:xfrm>
                <a:off x="5364060" y="3554718"/>
                <a:ext cx="184731" cy="338554"/>
              </a:xfrm>
              <a:prstGeom prst="rect">
                <a:avLst/>
              </a:prstGeom>
              <a:noFill/>
              <a:ln w="9525">
                <a:noFill/>
                <a:miter lim="800000"/>
                <a:headEnd/>
                <a:tailEnd/>
              </a:ln>
            </p:spPr>
            <p:txBody>
              <a:bodyPr wrap="none">
                <a:spAutoFit/>
              </a:bodyPr>
              <a:lstStyle/>
              <a:p>
                <a:endParaRPr lang="en-US" sz="1600"/>
              </a:p>
            </p:txBody>
          </p:sp>
          <p:sp>
            <p:nvSpPr>
              <p:cNvPr id="17" name="Text Box 38"/>
              <p:cNvSpPr txBox="1">
                <a:spLocks noChangeArrowheads="1"/>
              </p:cNvSpPr>
              <p:nvPr/>
            </p:nvSpPr>
            <p:spPr bwMode="auto">
              <a:xfrm>
                <a:off x="5364060" y="4461876"/>
                <a:ext cx="184731" cy="338554"/>
              </a:xfrm>
              <a:prstGeom prst="rect">
                <a:avLst/>
              </a:prstGeom>
              <a:noFill/>
              <a:ln w="9525">
                <a:noFill/>
                <a:miter lim="800000"/>
                <a:headEnd/>
                <a:tailEnd/>
              </a:ln>
            </p:spPr>
            <p:txBody>
              <a:bodyPr wrap="none">
                <a:spAutoFit/>
              </a:bodyPr>
              <a:lstStyle/>
              <a:p>
                <a:endParaRPr lang="en-US" sz="1600"/>
              </a:p>
            </p:txBody>
          </p:sp>
          <p:sp>
            <p:nvSpPr>
              <p:cNvPr id="18" name="Text Box 32"/>
              <p:cNvSpPr txBox="1">
                <a:spLocks noChangeArrowheads="1"/>
              </p:cNvSpPr>
              <p:nvPr/>
            </p:nvSpPr>
            <p:spPr bwMode="auto">
              <a:xfrm>
                <a:off x="7585604" y="4626323"/>
                <a:ext cx="618238" cy="455510"/>
              </a:xfrm>
              <a:prstGeom prst="rect">
                <a:avLst/>
              </a:prstGeom>
              <a:noFill/>
              <a:ln w="9525">
                <a:noFill/>
                <a:miter lim="800000"/>
                <a:headEnd/>
                <a:tailEnd/>
              </a:ln>
            </p:spPr>
            <p:txBody>
              <a:bodyPr/>
              <a:lstStyle/>
              <a:p>
                <a:pPr marL="0" marR="0" fontAlgn="base">
                  <a:spcBef>
                    <a:spcPts val="0"/>
                  </a:spcBef>
                  <a:spcAft>
                    <a:spcPts val="0"/>
                  </a:spcAft>
                </a:pPr>
                <a:r>
                  <a:rPr lang="en-US" sz="1600" i="1" kern="1200" dirty="0">
                    <a:solidFill>
                      <a:srgbClr val="000000"/>
                    </a:solidFill>
                    <a:effectLst/>
                    <a:latin typeface="Times New Roman" panose="02020603050405020304" pitchFamily="18" charset="0"/>
                    <a:ea typeface="Times New Roman" panose="02020603050405020304" pitchFamily="18" charset="0"/>
                  </a:rPr>
                  <a:t>r</a:t>
                </a:r>
                <a:r>
                  <a:rPr lang="en-US" sz="1600" kern="1200" dirty="0">
                    <a:solidFill>
                      <a:srgbClr val="000000"/>
                    </a:solidFill>
                    <a:effectLst/>
                    <a:latin typeface="Times New Roman" panose="02020603050405020304" pitchFamily="18" charset="0"/>
                    <a:ea typeface="Times New Roman" panose="02020603050405020304" pitchFamily="18" charset="0"/>
                  </a:rPr>
                  <a:t>(</a:t>
                </a:r>
                <a:r>
                  <a:rPr lang="en-US" sz="1600" i="1" kern="1200" dirty="0">
                    <a:solidFill>
                      <a:srgbClr val="000000"/>
                    </a:solidFill>
                    <a:effectLst/>
                    <a:latin typeface="Times New Roman" panose="02020603050405020304" pitchFamily="18" charset="0"/>
                    <a:ea typeface="Times New Roman" panose="02020603050405020304" pitchFamily="18" charset="0"/>
                  </a:rPr>
                  <a:t>t</a:t>
                </a:r>
                <a:r>
                  <a:rPr lang="en-US" sz="1600" kern="12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
            <p:nvSpPr>
              <p:cNvPr id="19" name="Text Box 47"/>
              <p:cNvSpPr txBox="1">
                <a:spLocks noChangeArrowheads="1"/>
              </p:cNvSpPr>
              <p:nvPr/>
            </p:nvSpPr>
            <p:spPr bwMode="auto">
              <a:xfrm>
                <a:off x="2438894" y="4097469"/>
                <a:ext cx="184731" cy="338554"/>
              </a:xfrm>
              <a:prstGeom prst="rect">
                <a:avLst/>
              </a:prstGeom>
              <a:noFill/>
              <a:ln w="9525">
                <a:noFill/>
                <a:miter lim="800000"/>
                <a:headEnd/>
                <a:tailEnd/>
              </a:ln>
            </p:spPr>
            <p:txBody>
              <a:bodyPr wrap="none">
                <a:spAutoFit/>
              </a:bodyPr>
              <a:lstStyle/>
              <a:p>
                <a:endParaRPr lang="en-US" sz="1600"/>
              </a:p>
            </p:txBody>
          </p:sp>
          <p:cxnSp>
            <p:nvCxnSpPr>
              <p:cNvPr id="20" name="Line 60"/>
              <p:cNvCxnSpPr/>
              <p:nvPr/>
            </p:nvCxnSpPr>
            <p:spPr bwMode="auto">
              <a:xfrm>
                <a:off x="4822509" y="1800620"/>
                <a:ext cx="6325" cy="264041"/>
              </a:xfrm>
              <a:prstGeom prst="line">
                <a:avLst/>
              </a:prstGeom>
              <a:noFill/>
              <a:ln w="9525">
                <a:solidFill>
                  <a:schemeClr val="tx1"/>
                </a:solidFill>
                <a:round/>
                <a:headEnd/>
                <a:tailEnd type="triangle" w="med" len="med"/>
              </a:ln>
            </p:spPr>
          </p:cxnSp>
          <p:sp>
            <p:nvSpPr>
              <p:cNvPr id="21" name="Text Box 68"/>
              <p:cNvSpPr txBox="1">
                <a:spLocks noChangeArrowheads="1"/>
              </p:cNvSpPr>
              <p:nvPr/>
            </p:nvSpPr>
            <p:spPr bwMode="auto">
              <a:xfrm>
                <a:off x="3574965" y="2184329"/>
                <a:ext cx="507556" cy="1009069"/>
              </a:xfrm>
              <a:prstGeom prst="rect">
                <a:avLst/>
              </a:prstGeom>
              <a:noFill/>
              <a:ln w="9525">
                <a:noFill/>
                <a:miter lim="800000"/>
                <a:headEnd/>
                <a:tailEnd/>
              </a:ln>
            </p:spPr>
            <p:txBody>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a:t>
                </a:r>
                <a:endParaRPr lang="en-US" sz="1600">
                  <a:effectLst/>
                  <a:latin typeface="Times New Roman" panose="02020603050405020304" pitchFamily="18" charset="0"/>
                  <a:ea typeface="Times New Roman" panose="02020603050405020304" pitchFamily="18" charset="0"/>
                </a:endParaRPr>
              </a:p>
            </p:txBody>
          </p:sp>
          <p:sp>
            <p:nvSpPr>
              <p:cNvPr id="22" name="Text Box 41"/>
              <p:cNvSpPr txBox="1">
                <a:spLocks noChangeArrowheads="1"/>
              </p:cNvSpPr>
              <p:nvPr/>
            </p:nvSpPr>
            <p:spPr bwMode="auto">
              <a:xfrm>
                <a:off x="5527711" y="5220801"/>
                <a:ext cx="184731" cy="338554"/>
              </a:xfrm>
              <a:prstGeom prst="rect">
                <a:avLst/>
              </a:prstGeom>
              <a:noFill/>
              <a:ln w="9525">
                <a:noFill/>
                <a:miter lim="800000"/>
                <a:headEnd/>
                <a:tailEnd/>
              </a:ln>
            </p:spPr>
            <p:txBody>
              <a:bodyPr wrap="none">
                <a:spAutoFit/>
              </a:bodyPr>
              <a:lstStyle/>
              <a:p>
                <a:endParaRPr lang="en-US" sz="1600"/>
              </a:p>
            </p:txBody>
          </p:sp>
          <p:sp>
            <p:nvSpPr>
              <p:cNvPr id="23" name="Text Box 83"/>
              <p:cNvSpPr txBox="1"/>
              <p:nvPr/>
            </p:nvSpPr>
            <p:spPr>
              <a:xfrm>
                <a:off x="0" y="1780546"/>
                <a:ext cx="2939031" cy="494112"/>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b="1" dirty="0">
                    <a:solidFill>
                      <a:srgbClr val="0000FF"/>
                    </a:solidFill>
                    <a:effectLst/>
                    <a:latin typeface="+mj-lt"/>
                    <a:ea typeface="Calibri" panose="020F0502020204030204" pitchFamily="34" charset="0"/>
                    <a:cs typeface="Times New Roman" panose="02020603050405020304" pitchFamily="18" charset="0"/>
                  </a:rPr>
                  <a:t>Δ O … </a:t>
                </a:r>
                <a:r>
                  <a:rPr lang="en-US" sz="1600" dirty="0">
                    <a:solidFill>
                      <a:srgbClr val="0000FF"/>
                    </a:solidFill>
                    <a:latin typeface="Cambria Math" panose="02040503050406030204" pitchFamily="18" charset="0"/>
                    <a:ea typeface="Calibri" panose="020F0502020204030204" pitchFamily="34" charset="0"/>
                    <a:cs typeface="Cambria Math" panose="02040503050406030204" pitchFamily="18" charset="0"/>
                  </a:rPr>
                  <a:t>↗</a:t>
                </a:r>
                <a:r>
                  <a:rPr lang="en-US" sz="1600" b="1" dirty="0">
                    <a:solidFill>
                      <a:srgbClr val="0000FF"/>
                    </a:solidFill>
                    <a:effectLst/>
                    <a:latin typeface="+mj-lt"/>
                    <a:ea typeface="Calibri" panose="020F0502020204030204" pitchFamily="34" charset="0"/>
                    <a:cs typeface="Times New Roman" panose="02020603050405020304" pitchFamily="18" charset="0"/>
                  </a:rPr>
                  <a:t>     </a:t>
                </a:r>
                <a:r>
                  <a:rPr lang="en-US" sz="1600" b="1" dirty="0">
                    <a:effectLst/>
                    <a:latin typeface="+mj-lt"/>
                    <a:ea typeface="Calibri" panose="020F0502020204030204" pitchFamily="34" charset="0"/>
                    <a:cs typeface="Times New Roman" panose="02020603050405020304" pitchFamily="18" charset="0"/>
                  </a:rPr>
                  <a:t>τ × … τ    </a:t>
                </a:r>
                <a:r>
                  <a:rPr lang="en-US" sz="1600" b="1" dirty="0">
                    <a:solidFill>
                      <a:srgbClr val="FF0000"/>
                    </a:solidFill>
                    <a:effectLst/>
                    <a:latin typeface="+mj-lt"/>
                    <a:ea typeface="Calibri" panose="020F0502020204030204" pitchFamily="34" charset="0"/>
                    <a:cs typeface="Times New Roman" panose="02020603050405020304" pitchFamily="18" charset="0"/>
                  </a:rPr>
                  <a:t>ɛ Ψ…Φ</a:t>
                </a:r>
              </a:p>
            </p:txBody>
          </p:sp>
          <p:sp>
            <p:nvSpPr>
              <p:cNvPr id="24" name="Text Box 24"/>
              <p:cNvSpPr txBox="1">
                <a:spLocks noChangeArrowheads="1"/>
              </p:cNvSpPr>
              <p:nvPr/>
            </p:nvSpPr>
            <p:spPr bwMode="auto">
              <a:xfrm>
                <a:off x="3651652" y="899638"/>
                <a:ext cx="949493"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solidFill>
                      <a:srgbClr val="0000FF"/>
                    </a:solidFill>
                    <a:effectLst/>
                    <a:ea typeface="Calibri" panose="020F0502020204030204" pitchFamily="34" charset="0"/>
                    <a:cs typeface="Times New Roman" panose="02020603050405020304" pitchFamily="18" charset="0"/>
                  </a:rPr>
                  <a:t>Δ</a:t>
                </a:r>
                <a:r>
                  <a:rPr lang="en-US" sz="1600" dirty="0">
                    <a:effectLst/>
                    <a:ea typeface="Calibri" panose="020F0502020204030204" pitchFamily="34" charset="0"/>
                    <a:cs typeface="Times New Roman" panose="02020603050405020304" pitchFamily="18" charset="0"/>
                  </a:rPr>
                  <a:t>  τ  </a:t>
                </a:r>
                <a:r>
                  <a:rPr lang="en-US" sz="1600" dirty="0">
                    <a:solidFill>
                      <a:srgbClr val="FF0000"/>
                    </a:solidFill>
                    <a:effectLst/>
                    <a:ea typeface="Calibri" panose="020F0502020204030204" pitchFamily="34" charset="0"/>
                    <a:cs typeface="Times New Roman" panose="02020603050405020304" pitchFamily="18" charset="0"/>
                  </a:rPr>
                  <a:t>ɛ </a:t>
                </a:r>
                <a:r>
                  <a:rPr lang="en-US" sz="1600" dirty="0">
                    <a:effectLst/>
                    <a:ea typeface="Calibri" panose="020F0502020204030204" pitchFamily="34"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5" name="Text Box 24"/>
              <p:cNvSpPr txBox="1">
                <a:spLocks noChangeArrowheads="1"/>
              </p:cNvSpPr>
              <p:nvPr/>
            </p:nvSpPr>
            <p:spPr bwMode="auto">
              <a:xfrm>
                <a:off x="3586033" y="1902530"/>
                <a:ext cx="109258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solidFill>
                      <a:srgbClr val="0000FF"/>
                    </a:solidFill>
                    <a:effectLst/>
                    <a:ea typeface="Calibri" panose="020F0502020204030204" pitchFamily="34" charset="0"/>
                    <a:cs typeface="Times New Roman" panose="02020603050405020304" pitchFamily="18" charset="0"/>
                  </a:rPr>
                  <a:t>O </a:t>
                </a:r>
                <a:r>
                  <a:rPr lang="en-US" sz="1600" dirty="0">
                    <a:effectLst/>
                    <a:ea typeface="Calibri" panose="020F0502020204030204" pitchFamily="34" charset="0"/>
                    <a:cs typeface="Times New Roman" panose="02020603050405020304" pitchFamily="18" charset="0"/>
                  </a:rPr>
                  <a:t> ×  </a:t>
                </a:r>
                <a:r>
                  <a:rPr lang="en-US" sz="1600" dirty="0">
                    <a:solidFill>
                      <a:srgbClr val="FF0000"/>
                    </a:solidFill>
                    <a:effectLst/>
                    <a:ea typeface="Calibri" panose="020F0502020204030204" pitchFamily="34" charset="0"/>
                    <a:cs typeface="Times New Roman" panose="02020603050405020304" pitchFamily="18" charset="0"/>
                  </a:rPr>
                  <a:t>Ψ</a:t>
                </a:r>
                <a:r>
                  <a:rPr lang="en-US" sz="1600" dirty="0">
                    <a:effectLst/>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6" name="Text Box 24"/>
              <p:cNvSpPr txBox="1">
                <a:spLocks noChangeArrowheads="1"/>
              </p:cNvSpPr>
              <p:nvPr/>
            </p:nvSpPr>
            <p:spPr bwMode="auto">
              <a:xfrm>
                <a:off x="3612122" y="2899247"/>
                <a:ext cx="106570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solidFill>
                      <a:srgbClr val="0000FF"/>
                    </a:solidFill>
                    <a:effectLst/>
                    <a:latin typeface="Cambria Math" panose="02040503050406030204" pitchFamily="18" charset="0"/>
                    <a:ea typeface="Calibri" panose="020F0502020204030204" pitchFamily="34" charset="0"/>
                    <a:cs typeface="Cambria Math" panose="02040503050406030204" pitchFamily="18" charset="0"/>
                  </a:rPr>
                  <a:t>↗</a:t>
                </a:r>
                <a:r>
                  <a:rPr lang="en-US" sz="1600" dirty="0">
                    <a:effectLst/>
                    <a:ea typeface="Calibri" panose="020F0502020204030204" pitchFamily="34" charset="0"/>
                    <a:cs typeface="Times New Roman" panose="02020603050405020304" pitchFamily="18" charset="0"/>
                  </a:rPr>
                  <a:t>  τ  </a:t>
                </a:r>
                <a:r>
                  <a:rPr lang="en-US" sz="1600" dirty="0">
                    <a:solidFill>
                      <a:srgbClr val="FF0000"/>
                    </a:solidFill>
                    <a:effectLst/>
                    <a:ea typeface="Calibri" panose="020F0502020204030204" pitchFamily="34" charset="0"/>
                    <a:cs typeface="Times New Roman" panose="02020603050405020304" pitchFamily="18" charset="0"/>
                  </a:rPr>
                  <a:t>Φ</a:t>
                </a:r>
                <a:r>
                  <a:rPr lang="en-US" sz="1600" dirty="0">
                    <a:effectLst/>
                    <a:ea typeface="Calibri" panose="020F0502020204030204" pitchFamily="34" charset="0"/>
                    <a:cs typeface="Times New Roman" panose="02020603050405020304" pitchFamily="18" charset="0"/>
                  </a:rPr>
                  <a:t> …</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Text Box 24"/>
              <p:cNvSpPr txBox="1">
                <a:spLocks noChangeArrowheads="1"/>
              </p:cNvSpPr>
              <p:nvPr/>
            </p:nvSpPr>
            <p:spPr bwMode="auto">
              <a:xfrm>
                <a:off x="4234904" y="564480"/>
                <a:ext cx="1320278" cy="353631"/>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Text Box 24"/>
              <p:cNvSpPr txBox="1">
                <a:spLocks noChangeArrowheads="1"/>
              </p:cNvSpPr>
              <p:nvPr/>
            </p:nvSpPr>
            <p:spPr bwMode="auto">
              <a:xfrm>
                <a:off x="4250915" y="1510329"/>
                <a:ext cx="1276796" cy="342790"/>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Text Box 24"/>
              <p:cNvSpPr txBox="1">
                <a:spLocks noChangeArrowheads="1"/>
              </p:cNvSpPr>
              <p:nvPr/>
            </p:nvSpPr>
            <p:spPr bwMode="auto">
              <a:xfrm>
                <a:off x="4137094" y="2406679"/>
                <a:ext cx="1601726" cy="359272"/>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a:t>
                </a:r>
                <a:r>
                  <a:rPr lang="en-US" sz="1600" dirty="0">
                    <a:ea typeface="Calibri" panose="020F0502020204030204" pitchFamily="34" charset="0"/>
                    <a:cs typeface="Times New Roman" panose="02020603050405020304" pitchFamily="18" charset="0"/>
                  </a:rPr>
                  <a:t>1</a:t>
                </a:r>
                <a:r>
                  <a:rPr lang="en-US" sz="1600" dirty="0">
                    <a:effectLst/>
                    <a:ea typeface="Calibri" panose="020F0502020204030204" pitchFamily="34" charset="0"/>
                    <a:cs typeface="Times New Roman" panose="02020603050405020304" pitchFamily="18" charset="0"/>
                  </a:rPr>
                  <a:t>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Text Box 24"/>
              <p:cNvSpPr txBox="1">
                <a:spLocks noChangeArrowheads="1"/>
              </p:cNvSpPr>
              <p:nvPr/>
            </p:nvSpPr>
            <p:spPr bwMode="auto">
              <a:xfrm>
                <a:off x="4646208" y="3577879"/>
                <a:ext cx="1255450" cy="304307"/>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Subcarrier-0</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Text Box 24"/>
              <p:cNvSpPr txBox="1">
                <a:spLocks noChangeArrowheads="1"/>
              </p:cNvSpPr>
              <p:nvPr/>
            </p:nvSpPr>
            <p:spPr bwMode="auto">
              <a:xfrm>
                <a:off x="4711035" y="4491985"/>
                <a:ext cx="1245437" cy="444941"/>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Text Box 24"/>
              <p:cNvSpPr txBox="1">
                <a:spLocks noChangeArrowheads="1"/>
              </p:cNvSpPr>
              <p:nvPr/>
            </p:nvSpPr>
            <p:spPr bwMode="auto">
              <a:xfrm>
                <a:off x="4560825" y="5341240"/>
                <a:ext cx="1494206" cy="407613"/>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dirty="0">
                    <a:effectLst/>
                    <a:ea typeface="Calibri" panose="020F0502020204030204" pitchFamily="34" charset="0"/>
                    <a:cs typeface="Times New Roman" panose="02020603050405020304" pitchFamily="18" charset="0"/>
                  </a:rPr>
                  <a:t>Subcarrier-11</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Text Box 28"/>
              <p:cNvSpPr txBox="1">
                <a:spLocks noChangeArrowheads="1"/>
              </p:cNvSpPr>
              <p:nvPr/>
            </p:nvSpPr>
            <p:spPr bwMode="auto">
              <a:xfrm>
                <a:off x="4658857" y="4170399"/>
                <a:ext cx="1080730" cy="331982"/>
              </a:xfrm>
              <a:prstGeom prst="rect">
                <a:avLst/>
              </a:prstGeom>
              <a:solidFill>
                <a:srgbClr val="FF99FF"/>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D-MOD</a:t>
                </a:r>
                <a:endParaRPr lang="en-US" sz="1600" dirty="0">
                  <a:effectLst/>
                  <a:latin typeface="Times New Roman" panose="02020603050405020304" pitchFamily="18" charset="0"/>
                  <a:ea typeface="Times New Roman" panose="02020603050405020304" pitchFamily="18" charset="0"/>
                </a:endParaRPr>
              </a:p>
            </p:txBody>
          </p:sp>
          <p:sp>
            <p:nvSpPr>
              <p:cNvPr id="34" name="Text Box 28"/>
              <p:cNvSpPr txBox="1">
                <a:spLocks noChangeArrowheads="1"/>
              </p:cNvSpPr>
              <p:nvPr/>
            </p:nvSpPr>
            <p:spPr bwMode="auto">
              <a:xfrm>
                <a:off x="4663601" y="5006944"/>
                <a:ext cx="1080730" cy="331982"/>
              </a:xfrm>
              <a:prstGeom prst="rect">
                <a:avLst/>
              </a:prstGeom>
              <a:solidFill>
                <a:srgbClr val="FF99FF"/>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D-MOD</a:t>
                </a:r>
                <a:endParaRPr lang="en-US" sz="1600" dirty="0">
                  <a:effectLst/>
                  <a:latin typeface="Times New Roman" panose="02020603050405020304" pitchFamily="18" charset="0"/>
                  <a:ea typeface="Times New Roman" panose="02020603050405020304" pitchFamily="18" charset="0"/>
                </a:endParaRPr>
              </a:p>
            </p:txBody>
          </p:sp>
          <p:sp>
            <p:nvSpPr>
              <p:cNvPr id="35" name="Text Box 28"/>
              <p:cNvSpPr txBox="1">
                <a:spLocks noChangeArrowheads="1"/>
              </p:cNvSpPr>
              <p:nvPr/>
            </p:nvSpPr>
            <p:spPr bwMode="auto">
              <a:xfrm>
                <a:off x="4677831" y="5916418"/>
                <a:ext cx="1080730" cy="331982"/>
              </a:xfrm>
              <a:prstGeom prst="rect">
                <a:avLst/>
              </a:prstGeom>
              <a:solidFill>
                <a:srgbClr val="FF99FF"/>
              </a:solidFill>
              <a:ln w="9525">
                <a:solidFill>
                  <a:srgbClr val="000000"/>
                </a:solidFill>
                <a:miter lim="800000"/>
                <a:headEnd/>
                <a:tailEnd/>
              </a:ln>
            </p:spPr>
            <p:txBody>
              <a:bodyPr>
                <a:noAutofit/>
              </a:bodyPr>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D-MOD</a:t>
                </a:r>
                <a:endParaRPr lang="en-US" sz="1600" dirty="0">
                  <a:effectLst/>
                  <a:latin typeface="Times New Roman" panose="02020603050405020304" pitchFamily="18" charset="0"/>
                  <a:ea typeface="Times New Roman" panose="02020603050405020304" pitchFamily="18" charset="0"/>
                </a:endParaRPr>
              </a:p>
            </p:txBody>
          </p:sp>
          <p:sp>
            <p:nvSpPr>
              <p:cNvPr id="36" name="Text Box 24"/>
              <p:cNvSpPr txBox="1">
                <a:spLocks noChangeArrowheads="1"/>
              </p:cNvSpPr>
              <p:nvPr/>
            </p:nvSpPr>
            <p:spPr bwMode="auto">
              <a:xfrm>
                <a:off x="3709364" y="3962360"/>
                <a:ext cx="949493"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Δ  τ  ɛ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7" name="Text Box 24"/>
              <p:cNvSpPr txBox="1">
                <a:spLocks noChangeArrowheads="1"/>
              </p:cNvSpPr>
              <p:nvPr/>
            </p:nvSpPr>
            <p:spPr bwMode="auto">
              <a:xfrm>
                <a:off x="3756009" y="4861798"/>
                <a:ext cx="109258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a:effectLst/>
                    <a:ea typeface="Calibri" panose="020F0502020204030204" pitchFamily="34" charset="0"/>
                    <a:cs typeface="Times New Roman" panose="02020603050405020304" pitchFamily="18" charset="0"/>
                  </a:rPr>
                  <a:t>O  ×  Ψ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8" name="Text Box 24"/>
              <p:cNvSpPr txBox="1">
                <a:spLocks noChangeArrowheads="1"/>
              </p:cNvSpPr>
              <p:nvPr/>
            </p:nvSpPr>
            <p:spPr bwMode="auto">
              <a:xfrm>
                <a:off x="3782889" y="5748884"/>
                <a:ext cx="1065709" cy="372128"/>
              </a:xfrm>
              <a:prstGeom prst="rect">
                <a:avLst/>
              </a:prstGeom>
              <a:noFill/>
              <a:ln w="9525">
                <a:noFill/>
                <a:miter lim="800000"/>
                <a:headEnd/>
                <a:tailEnd/>
              </a:ln>
            </p:spPr>
            <p:txBody>
              <a:bodyPr wrap="square">
                <a:noAutofit/>
              </a:bodyPr>
              <a:lstStyle/>
              <a:p>
                <a:pPr marL="0" marR="0">
                  <a:lnSpc>
                    <a:spcPct val="107000"/>
                  </a:lnSpc>
                  <a:spcBef>
                    <a:spcPts val="0"/>
                  </a:spcBef>
                  <a:spcAft>
                    <a:spcPts val="800"/>
                  </a:spcAft>
                </a:pPr>
                <a:r>
                  <a:rPr lang="en-US" sz="1600">
                    <a:effectLst/>
                    <a:latin typeface="Cambria Math" panose="02040503050406030204" pitchFamily="18" charset="0"/>
                    <a:ea typeface="Calibri" panose="020F0502020204030204" pitchFamily="34" charset="0"/>
                    <a:cs typeface="Cambria Math" panose="02040503050406030204" pitchFamily="18" charset="0"/>
                  </a:rPr>
                  <a:t>↗</a:t>
                </a:r>
                <a:r>
                  <a:rPr lang="en-US" sz="1600">
                    <a:effectLst/>
                    <a:ea typeface="Calibri" panose="020F0502020204030204" pitchFamily="34" charset="0"/>
                    <a:cs typeface="Times New Roman" panose="02020603050405020304" pitchFamily="18" charset="0"/>
                  </a:rPr>
                  <a:t>  τ  Φ …</a:t>
                </a:r>
                <a:endParaRPr lang="en-US" sz="16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9" name="Text Box 11"/>
              <p:cNvSpPr txBox="1">
                <a:spLocks noChangeArrowheads="1"/>
              </p:cNvSpPr>
              <p:nvPr/>
            </p:nvSpPr>
            <p:spPr bwMode="auto">
              <a:xfrm>
                <a:off x="3072347" y="4129429"/>
                <a:ext cx="661453" cy="2271371"/>
              </a:xfrm>
              <a:prstGeom prst="rect">
                <a:avLst/>
              </a:prstGeom>
              <a:solidFill>
                <a:srgbClr val="FFC000"/>
              </a:solidFill>
              <a:ln w="9525">
                <a:solidFill>
                  <a:srgbClr val="000000"/>
                </a:solidFill>
                <a:miter lim="800000"/>
                <a:headEnd/>
                <a:tailEnd/>
              </a:ln>
            </p:spPr>
            <p:txBody>
              <a:bodyPr wrap="square"/>
              <a:lstStyle/>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P/S</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Or</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algn="ctr" fontAlgn="base">
                  <a:spcBef>
                    <a:spcPts val="0"/>
                  </a:spcBef>
                  <a:spcAft>
                    <a:spcPts val="0"/>
                  </a:spcAft>
                </a:pPr>
                <a:r>
                  <a:rPr lang="en-US" sz="1600" kern="1200" dirty="0">
                    <a:solidFill>
                      <a:srgbClr val="000000"/>
                    </a:solidFill>
                    <a:effectLst/>
                    <a:latin typeface="Times New Roman" panose="02020603050405020304" pitchFamily="18" charset="0"/>
                    <a:ea typeface="Times New Roman" panose="02020603050405020304" pitchFamily="18" charset="0"/>
                  </a:rPr>
                  <a:t>MUX</a:t>
                </a:r>
                <a:endParaRPr lang="en-US" sz="1600" dirty="0">
                  <a:effectLst/>
                  <a:latin typeface="Times New Roman" panose="02020603050405020304" pitchFamily="18" charset="0"/>
                  <a:ea typeface="Times New Roman" panose="02020603050405020304" pitchFamily="18" charset="0"/>
                </a:endParaRPr>
              </a:p>
            </p:txBody>
          </p:sp>
          <p:sp>
            <p:nvSpPr>
              <p:cNvPr id="41" name="Text Box 28"/>
              <p:cNvSpPr txBox="1">
                <a:spLocks noChangeArrowheads="1"/>
              </p:cNvSpPr>
              <p:nvPr/>
            </p:nvSpPr>
            <p:spPr bwMode="auto">
              <a:xfrm>
                <a:off x="4520505" y="1179120"/>
                <a:ext cx="758962" cy="331982"/>
              </a:xfrm>
              <a:prstGeom prst="rect">
                <a:avLst/>
              </a:prstGeom>
              <a:solidFill>
                <a:srgbClr val="66CCFF"/>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MOD</a:t>
                </a:r>
                <a:endParaRPr lang="en-US" sz="1600">
                  <a:effectLst/>
                  <a:latin typeface="Times New Roman" panose="02020603050405020304" pitchFamily="18" charset="0"/>
                  <a:ea typeface="Times New Roman" panose="02020603050405020304" pitchFamily="18" charset="0"/>
                </a:endParaRPr>
              </a:p>
            </p:txBody>
          </p:sp>
          <p:sp>
            <p:nvSpPr>
              <p:cNvPr id="42" name="Text Box 28"/>
              <p:cNvSpPr txBox="1">
                <a:spLocks noChangeArrowheads="1"/>
              </p:cNvSpPr>
              <p:nvPr/>
            </p:nvSpPr>
            <p:spPr bwMode="auto">
              <a:xfrm>
                <a:off x="4518924" y="2053852"/>
                <a:ext cx="705993" cy="331982"/>
              </a:xfrm>
              <a:prstGeom prst="rect">
                <a:avLst/>
              </a:prstGeom>
              <a:solidFill>
                <a:srgbClr val="66CCFF"/>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MOD</a:t>
                </a:r>
                <a:endParaRPr lang="en-US" sz="1600">
                  <a:effectLst/>
                  <a:latin typeface="Times New Roman" panose="02020603050405020304" pitchFamily="18" charset="0"/>
                  <a:ea typeface="Times New Roman" panose="02020603050405020304" pitchFamily="18" charset="0"/>
                </a:endParaRPr>
              </a:p>
            </p:txBody>
          </p:sp>
          <p:sp>
            <p:nvSpPr>
              <p:cNvPr id="43" name="Text Box 28"/>
              <p:cNvSpPr txBox="1">
                <a:spLocks noChangeArrowheads="1"/>
              </p:cNvSpPr>
              <p:nvPr/>
            </p:nvSpPr>
            <p:spPr bwMode="auto">
              <a:xfrm>
                <a:off x="4520505" y="3015827"/>
                <a:ext cx="758962" cy="331982"/>
              </a:xfrm>
              <a:prstGeom prst="rect">
                <a:avLst/>
              </a:prstGeom>
              <a:solidFill>
                <a:srgbClr val="66CCFF"/>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MOD</a:t>
                </a:r>
                <a:endParaRPr lang="en-US" sz="1600">
                  <a:effectLst/>
                  <a:latin typeface="Times New Roman" panose="02020603050405020304" pitchFamily="18" charset="0"/>
                  <a:ea typeface="Times New Roman" panose="02020603050405020304" pitchFamily="18" charset="0"/>
                </a:endParaRPr>
              </a:p>
            </p:txBody>
          </p:sp>
          <p:cxnSp>
            <p:nvCxnSpPr>
              <p:cNvPr id="44" name="Line 60"/>
              <p:cNvCxnSpPr/>
              <p:nvPr/>
            </p:nvCxnSpPr>
            <p:spPr bwMode="auto">
              <a:xfrm>
                <a:off x="4900777" y="2747153"/>
                <a:ext cx="6325" cy="264041"/>
              </a:xfrm>
              <a:prstGeom prst="line">
                <a:avLst/>
              </a:prstGeom>
              <a:noFill/>
              <a:ln w="9525">
                <a:solidFill>
                  <a:schemeClr val="tx1"/>
                </a:solidFill>
                <a:round/>
                <a:headEnd/>
                <a:tailEnd type="triangle" w="med" len="med"/>
              </a:ln>
            </p:spPr>
          </p:cxnSp>
          <p:sp>
            <p:nvSpPr>
              <p:cNvPr id="45" name="Text Box 28"/>
              <p:cNvSpPr txBox="1">
                <a:spLocks noChangeArrowheads="1"/>
              </p:cNvSpPr>
              <p:nvPr/>
            </p:nvSpPr>
            <p:spPr bwMode="auto">
              <a:xfrm>
                <a:off x="7237994" y="1283440"/>
                <a:ext cx="758962" cy="331982"/>
              </a:xfrm>
              <a:prstGeom prst="rect">
                <a:avLst/>
              </a:prstGeom>
              <a:solidFill>
                <a:srgbClr val="FF0000"/>
              </a:solidFill>
              <a:ln w="9525">
                <a:solidFill>
                  <a:srgbClr val="000000"/>
                </a:solidFill>
                <a:miter lim="800000"/>
                <a:headEnd/>
                <a:tailEnd/>
              </a:ln>
            </p:spPr>
            <p:txBody>
              <a:bodyPr wrap="square">
                <a:noAutofit/>
              </a:bodyPr>
              <a:lstStyle/>
              <a:p>
                <a:pPr marL="0" marR="0" fontAlgn="base">
                  <a:spcBef>
                    <a:spcPts val="0"/>
                  </a:spcBef>
                  <a:spcAft>
                    <a:spcPts val="0"/>
                  </a:spcAft>
                </a:pPr>
                <a:r>
                  <a:rPr lang="en-US" sz="1600" kern="1200">
                    <a:solidFill>
                      <a:srgbClr val="000000"/>
                    </a:solidFill>
                    <a:effectLst/>
                    <a:latin typeface="Times New Roman" panose="02020603050405020304" pitchFamily="18" charset="0"/>
                    <a:ea typeface="Times New Roman" panose="02020603050405020304" pitchFamily="18" charset="0"/>
                  </a:rPr>
                  <a:t>Noise</a:t>
                </a:r>
                <a:endParaRPr lang="en-US" sz="1600">
                  <a:effectLst/>
                  <a:latin typeface="Times New Roman" panose="02020603050405020304" pitchFamily="18" charset="0"/>
                  <a:ea typeface="Times New Roman" panose="02020603050405020304" pitchFamily="18" charset="0"/>
                </a:endParaRPr>
              </a:p>
            </p:txBody>
          </p:sp>
          <p:cxnSp>
            <p:nvCxnSpPr>
              <p:cNvPr id="49" name="Line 10"/>
              <p:cNvCxnSpPr/>
              <p:nvPr/>
            </p:nvCxnSpPr>
            <p:spPr bwMode="auto">
              <a:xfrm>
                <a:off x="749413" y="2274659"/>
                <a:ext cx="2162251" cy="0"/>
              </a:xfrm>
              <a:prstGeom prst="line">
                <a:avLst/>
              </a:prstGeom>
              <a:noFill/>
              <a:ln w="9525">
                <a:solidFill>
                  <a:srgbClr val="000000"/>
                </a:solidFill>
                <a:round/>
                <a:headEnd/>
                <a:tailEnd type="triangle" w="med" len="med"/>
              </a:ln>
            </p:spPr>
          </p:cxnSp>
          <p:cxnSp>
            <p:nvCxnSpPr>
              <p:cNvPr id="50" name="Line 12"/>
              <p:cNvCxnSpPr/>
              <p:nvPr/>
            </p:nvCxnSpPr>
            <p:spPr bwMode="auto">
              <a:xfrm>
                <a:off x="3590474" y="1374954"/>
                <a:ext cx="926566" cy="0"/>
              </a:xfrm>
              <a:prstGeom prst="line">
                <a:avLst/>
              </a:prstGeom>
              <a:noFill/>
              <a:ln w="9525">
                <a:solidFill>
                  <a:srgbClr val="000000"/>
                </a:solidFill>
                <a:round/>
                <a:headEnd/>
                <a:tailEnd type="triangle" w="med" len="med"/>
              </a:ln>
            </p:spPr>
          </p:cxnSp>
          <p:cxnSp>
            <p:nvCxnSpPr>
              <p:cNvPr id="51" name="Line 12"/>
              <p:cNvCxnSpPr/>
              <p:nvPr/>
            </p:nvCxnSpPr>
            <p:spPr bwMode="auto">
              <a:xfrm>
                <a:off x="3607925" y="2216397"/>
                <a:ext cx="926566" cy="0"/>
              </a:xfrm>
              <a:prstGeom prst="line">
                <a:avLst/>
              </a:prstGeom>
              <a:noFill/>
              <a:ln w="9525">
                <a:solidFill>
                  <a:srgbClr val="000000"/>
                </a:solidFill>
                <a:round/>
                <a:headEnd/>
                <a:tailEnd type="triangle" w="med" len="med"/>
              </a:ln>
            </p:spPr>
          </p:cxnSp>
          <p:cxnSp>
            <p:nvCxnSpPr>
              <p:cNvPr id="52" name="Line 12"/>
              <p:cNvCxnSpPr/>
              <p:nvPr/>
            </p:nvCxnSpPr>
            <p:spPr bwMode="auto">
              <a:xfrm>
                <a:off x="3571012" y="3172020"/>
                <a:ext cx="926566" cy="0"/>
              </a:xfrm>
              <a:prstGeom prst="line">
                <a:avLst/>
              </a:prstGeom>
              <a:noFill/>
              <a:ln w="9525">
                <a:solidFill>
                  <a:srgbClr val="000000"/>
                </a:solidFill>
                <a:round/>
                <a:headEnd/>
                <a:tailEnd type="triangle" w="med" len="med"/>
              </a:ln>
            </p:spPr>
          </p:cxnSp>
          <p:cxnSp>
            <p:nvCxnSpPr>
              <p:cNvPr id="53" name="Line 60"/>
              <p:cNvCxnSpPr/>
              <p:nvPr/>
            </p:nvCxnSpPr>
            <p:spPr bwMode="auto">
              <a:xfrm>
                <a:off x="4816184" y="894200"/>
                <a:ext cx="6325" cy="264041"/>
              </a:xfrm>
              <a:prstGeom prst="line">
                <a:avLst/>
              </a:prstGeom>
              <a:noFill/>
              <a:ln w="9525">
                <a:solidFill>
                  <a:schemeClr val="tx1"/>
                </a:solidFill>
                <a:round/>
                <a:headEnd/>
                <a:tailEnd type="triangle" w="med" len="med"/>
              </a:ln>
            </p:spPr>
          </p:cxnSp>
          <p:cxnSp>
            <p:nvCxnSpPr>
              <p:cNvPr id="54" name="Line 35"/>
              <p:cNvCxnSpPr/>
              <p:nvPr/>
            </p:nvCxnSpPr>
            <p:spPr bwMode="auto">
              <a:xfrm>
                <a:off x="5188276" y="3889134"/>
                <a:ext cx="0" cy="302644"/>
              </a:xfrm>
              <a:prstGeom prst="line">
                <a:avLst/>
              </a:prstGeom>
              <a:noFill/>
              <a:ln w="9525">
                <a:solidFill>
                  <a:srgbClr val="000000"/>
                </a:solidFill>
                <a:round/>
                <a:headEnd/>
                <a:tailEnd type="triangle" w="med" len="med"/>
              </a:ln>
            </p:spPr>
          </p:cxnSp>
          <p:cxnSp>
            <p:nvCxnSpPr>
              <p:cNvPr id="55" name="Line 35"/>
              <p:cNvCxnSpPr/>
              <p:nvPr/>
            </p:nvCxnSpPr>
            <p:spPr bwMode="auto">
              <a:xfrm>
                <a:off x="5188276" y="4702756"/>
                <a:ext cx="0" cy="302644"/>
              </a:xfrm>
              <a:prstGeom prst="line">
                <a:avLst/>
              </a:prstGeom>
              <a:noFill/>
              <a:ln w="9525">
                <a:solidFill>
                  <a:srgbClr val="000000"/>
                </a:solidFill>
                <a:round/>
                <a:headEnd/>
                <a:tailEnd type="triangle" w="med" len="med"/>
              </a:ln>
            </p:spPr>
          </p:cxnSp>
          <p:cxnSp>
            <p:nvCxnSpPr>
              <p:cNvPr id="56" name="Line 35"/>
              <p:cNvCxnSpPr/>
              <p:nvPr/>
            </p:nvCxnSpPr>
            <p:spPr bwMode="auto">
              <a:xfrm>
                <a:off x="5179213" y="5606826"/>
                <a:ext cx="0" cy="302644"/>
              </a:xfrm>
              <a:prstGeom prst="line">
                <a:avLst/>
              </a:prstGeom>
              <a:noFill/>
              <a:ln w="9525">
                <a:solidFill>
                  <a:srgbClr val="000000"/>
                </a:solidFill>
                <a:round/>
                <a:headEnd/>
                <a:tailEnd type="triangle" w="med" len="med"/>
              </a:ln>
            </p:spPr>
          </p:cxnSp>
          <p:cxnSp>
            <p:nvCxnSpPr>
              <p:cNvPr id="57" name="Line 46"/>
              <p:cNvCxnSpPr/>
              <p:nvPr/>
            </p:nvCxnSpPr>
            <p:spPr bwMode="auto">
              <a:xfrm flipH="1">
                <a:off x="3719642" y="4368458"/>
                <a:ext cx="926566" cy="0"/>
              </a:xfrm>
              <a:prstGeom prst="line">
                <a:avLst/>
              </a:prstGeom>
              <a:noFill/>
              <a:ln w="9525">
                <a:solidFill>
                  <a:srgbClr val="000000"/>
                </a:solidFill>
                <a:round/>
                <a:headEnd/>
                <a:tailEnd type="triangle" w="med" len="med"/>
              </a:ln>
            </p:spPr>
          </p:cxnSp>
          <p:cxnSp>
            <p:nvCxnSpPr>
              <p:cNvPr id="58" name="Line 46"/>
              <p:cNvCxnSpPr/>
              <p:nvPr/>
            </p:nvCxnSpPr>
            <p:spPr bwMode="auto">
              <a:xfrm flipH="1">
                <a:off x="3709364" y="5180387"/>
                <a:ext cx="926566" cy="0"/>
              </a:xfrm>
              <a:prstGeom prst="line">
                <a:avLst/>
              </a:prstGeom>
              <a:noFill/>
              <a:ln w="9525">
                <a:solidFill>
                  <a:srgbClr val="000000"/>
                </a:solidFill>
                <a:round/>
                <a:headEnd/>
                <a:tailEnd type="triangle" w="med" len="med"/>
              </a:ln>
            </p:spPr>
          </p:cxnSp>
          <p:cxnSp>
            <p:nvCxnSpPr>
              <p:cNvPr id="59" name="Line 46"/>
              <p:cNvCxnSpPr/>
              <p:nvPr/>
            </p:nvCxnSpPr>
            <p:spPr bwMode="auto">
              <a:xfrm flipH="1">
                <a:off x="3724597" y="6078667"/>
                <a:ext cx="926566" cy="0"/>
              </a:xfrm>
              <a:prstGeom prst="line">
                <a:avLst/>
              </a:prstGeom>
              <a:noFill/>
              <a:ln w="9525">
                <a:solidFill>
                  <a:srgbClr val="000000"/>
                </a:solidFill>
                <a:round/>
                <a:headEnd/>
                <a:tailEnd type="triangle" w="med" len="med"/>
              </a:ln>
            </p:spPr>
          </p:cxnSp>
          <p:cxnSp>
            <p:nvCxnSpPr>
              <p:cNvPr id="60" name="Line 40"/>
              <p:cNvCxnSpPr/>
              <p:nvPr/>
            </p:nvCxnSpPr>
            <p:spPr bwMode="auto">
              <a:xfrm flipH="1">
                <a:off x="5739588" y="4291730"/>
                <a:ext cx="1080730" cy="0"/>
              </a:xfrm>
              <a:prstGeom prst="line">
                <a:avLst/>
              </a:prstGeom>
              <a:noFill/>
              <a:ln w="9525">
                <a:solidFill>
                  <a:srgbClr val="000000"/>
                </a:solidFill>
                <a:round/>
                <a:headEnd/>
                <a:tailEnd type="triangle" w="med" len="med"/>
              </a:ln>
            </p:spPr>
          </p:cxnSp>
          <p:cxnSp>
            <p:nvCxnSpPr>
              <p:cNvPr id="61" name="Line 40"/>
              <p:cNvCxnSpPr/>
              <p:nvPr/>
            </p:nvCxnSpPr>
            <p:spPr bwMode="auto">
              <a:xfrm flipH="1">
                <a:off x="5739588" y="5172934"/>
                <a:ext cx="1080730" cy="0"/>
              </a:xfrm>
              <a:prstGeom prst="line">
                <a:avLst/>
              </a:prstGeom>
              <a:noFill/>
              <a:ln w="9525">
                <a:solidFill>
                  <a:srgbClr val="000000"/>
                </a:solidFill>
                <a:round/>
                <a:headEnd/>
                <a:tailEnd type="triangle" w="med" len="med"/>
              </a:ln>
            </p:spPr>
          </p:cxnSp>
          <p:cxnSp>
            <p:nvCxnSpPr>
              <p:cNvPr id="62" name="Line 40"/>
              <p:cNvCxnSpPr/>
              <p:nvPr/>
            </p:nvCxnSpPr>
            <p:spPr bwMode="auto">
              <a:xfrm flipH="1">
                <a:off x="5739586" y="6100046"/>
                <a:ext cx="1080730" cy="0"/>
              </a:xfrm>
              <a:prstGeom prst="line">
                <a:avLst/>
              </a:prstGeom>
              <a:noFill/>
              <a:ln w="9525">
                <a:solidFill>
                  <a:srgbClr val="000000"/>
                </a:solidFill>
                <a:round/>
                <a:headEnd/>
                <a:tailEnd type="triangle" w="med" len="med"/>
              </a:ln>
            </p:spPr>
          </p:cxnSp>
          <p:cxnSp>
            <p:nvCxnSpPr>
              <p:cNvPr id="63" name="Line 44"/>
              <p:cNvCxnSpPr/>
              <p:nvPr/>
            </p:nvCxnSpPr>
            <p:spPr bwMode="auto">
              <a:xfrm>
                <a:off x="6820317" y="4287927"/>
                <a:ext cx="0" cy="1815862"/>
              </a:xfrm>
              <a:prstGeom prst="line">
                <a:avLst/>
              </a:prstGeom>
              <a:noFill/>
              <a:ln w="9525">
                <a:solidFill>
                  <a:srgbClr val="000000"/>
                </a:solidFill>
                <a:round/>
                <a:headEnd/>
                <a:tailEnd/>
              </a:ln>
            </p:spPr>
          </p:cxnSp>
          <p:cxnSp>
            <p:nvCxnSpPr>
              <p:cNvPr id="64" name="Line 31"/>
              <p:cNvCxnSpPr/>
              <p:nvPr/>
            </p:nvCxnSpPr>
            <p:spPr bwMode="auto">
              <a:xfrm flipH="1">
                <a:off x="6759048" y="5172934"/>
                <a:ext cx="1851551" cy="0"/>
              </a:xfrm>
              <a:prstGeom prst="line">
                <a:avLst/>
              </a:prstGeom>
              <a:noFill/>
              <a:ln w="9525">
                <a:solidFill>
                  <a:srgbClr val="000000"/>
                </a:solidFill>
                <a:round/>
                <a:headEnd/>
                <a:tailEnd type="triangle" w="med" len="med"/>
              </a:ln>
            </p:spPr>
          </p:cxnSp>
          <p:cxnSp>
            <p:nvCxnSpPr>
              <p:cNvPr id="65" name="Line 30"/>
              <p:cNvCxnSpPr/>
              <p:nvPr/>
            </p:nvCxnSpPr>
            <p:spPr bwMode="auto">
              <a:xfrm>
                <a:off x="8610599" y="2157545"/>
                <a:ext cx="0" cy="3027980"/>
              </a:xfrm>
              <a:prstGeom prst="line">
                <a:avLst/>
              </a:prstGeom>
              <a:noFill/>
              <a:ln w="9525">
                <a:solidFill>
                  <a:srgbClr val="000000"/>
                </a:solidFill>
                <a:round/>
                <a:headEnd/>
                <a:tailEnd/>
              </a:ln>
            </p:spPr>
          </p:cxnSp>
          <p:cxnSp>
            <p:nvCxnSpPr>
              <p:cNvPr id="67" name="Line 29"/>
              <p:cNvCxnSpPr/>
              <p:nvPr/>
            </p:nvCxnSpPr>
            <p:spPr bwMode="auto">
              <a:xfrm>
                <a:off x="8148107" y="2173400"/>
                <a:ext cx="462492" cy="0"/>
              </a:xfrm>
              <a:prstGeom prst="line">
                <a:avLst/>
              </a:prstGeom>
              <a:noFill/>
              <a:ln w="9525">
                <a:solidFill>
                  <a:srgbClr val="000000"/>
                </a:solidFill>
                <a:round/>
                <a:headEnd/>
                <a:tailEnd/>
              </a:ln>
            </p:spPr>
          </p:cxnSp>
          <p:cxnSp>
            <p:nvCxnSpPr>
              <p:cNvPr id="68" name="Line 60"/>
              <p:cNvCxnSpPr/>
              <p:nvPr/>
            </p:nvCxnSpPr>
            <p:spPr bwMode="auto">
              <a:xfrm>
                <a:off x="7573350" y="1646213"/>
                <a:ext cx="6325" cy="264041"/>
              </a:xfrm>
              <a:prstGeom prst="line">
                <a:avLst/>
              </a:prstGeom>
              <a:noFill/>
              <a:ln w="9525">
                <a:solidFill>
                  <a:schemeClr val="tx1"/>
                </a:solidFill>
                <a:round/>
                <a:headEnd/>
                <a:tailEnd type="triangle" w="med" len="med"/>
              </a:ln>
            </p:spPr>
          </p:cxnSp>
          <p:cxnSp>
            <p:nvCxnSpPr>
              <p:cNvPr id="69" name="Line 45"/>
              <p:cNvCxnSpPr/>
              <p:nvPr/>
            </p:nvCxnSpPr>
            <p:spPr bwMode="auto">
              <a:xfrm flipH="1">
                <a:off x="2121434" y="5181600"/>
                <a:ext cx="926566" cy="0"/>
              </a:xfrm>
              <a:prstGeom prst="line">
                <a:avLst/>
              </a:prstGeom>
              <a:noFill/>
              <a:ln w="9525">
                <a:solidFill>
                  <a:srgbClr val="000000"/>
                </a:solidFill>
                <a:round/>
                <a:headEnd/>
                <a:tailEnd type="triangle" w="med" len="med"/>
              </a:ln>
            </p:spPr>
          </p:cxnSp>
          <p:cxnSp>
            <p:nvCxnSpPr>
              <p:cNvPr id="70" name="Line 19"/>
              <p:cNvCxnSpPr/>
              <p:nvPr/>
            </p:nvCxnSpPr>
            <p:spPr bwMode="auto">
              <a:xfrm>
                <a:off x="5285594" y="1313336"/>
                <a:ext cx="386202" cy="0"/>
              </a:xfrm>
              <a:prstGeom prst="line">
                <a:avLst/>
              </a:prstGeom>
              <a:noFill/>
              <a:ln w="9525">
                <a:solidFill>
                  <a:srgbClr val="000000"/>
                </a:solidFill>
                <a:round/>
                <a:headEnd/>
                <a:tailEnd type="triangle" w="med" len="med"/>
              </a:ln>
            </p:spPr>
          </p:cxnSp>
          <p:cxnSp>
            <p:nvCxnSpPr>
              <p:cNvPr id="79" name="Line 19"/>
              <p:cNvCxnSpPr/>
              <p:nvPr/>
            </p:nvCxnSpPr>
            <p:spPr bwMode="auto">
              <a:xfrm>
                <a:off x="5231241" y="2216397"/>
                <a:ext cx="386202" cy="0"/>
              </a:xfrm>
              <a:prstGeom prst="line">
                <a:avLst/>
              </a:prstGeom>
              <a:noFill/>
              <a:ln w="9525">
                <a:solidFill>
                  <a:srgbClr val="000000"/>
                </a:solidFill>
                <a:round/>
                <a:headEnd/>
                <a:tailEnd type="triangle" w="med" len="med"/>
              </a:ln>
            </p:spPr>
          </p:cxnSp>
          <p:cxnSp>
            <p:nvCxnSpPr>
              <p:cNvPr id="80" name="Line 19"/>
              <p:cNvCxnSpPr/>
              <p:nvPr/>
            </p:nvCxnSpPr>
            <p:spPr bwMode="auto">
              <a:xfrm>
                <a:off x="5285594" y="3181817"/>
                <a:ext cx="386202" cy="0"/>
              </a:xfrm>
              <a:prstGeom prst="line">
                <a:avLst/>
              </a:prstGeom>
              <a:noFill/>
              <a:ln w="9525">
                <a:solidFill>
                  <a:srgbClr val="000000"/>
                </a:solidFill>
                <a:round/>
                <a:headEnd/>
                <a:tailEnd type="triangle" w="med" len="med"/>
              </a:ln>
            </p:spPr>
          </p:cxnSp>
          <p:cxnSp>
            <p:nvCxnSpPr>
              <p:cNvPr id="82" name="Straight Arrow Connector 81"/>
              <p:cNvCxnSpPr/>
              <p:nvPr/>
            </p:nvCxnSpPr>
            <p:spPr>
              <a:xfrm>
                <a:off x="6273035" y="2120753"/>
                <a:ext cx="8384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72" name="Text Box 83">
              <a:extLst>
                <a:ext uri="{FF2B5EF4-FFF2-40B4-BE49-F238E27FC236}">
                  <a16:creationId xmlns:a16="http://schemas.microsoft.com/office/drawing/2014/main" xmlns="" id="{0BAE2CCE-255F-40D0-99D6-7C1BE1AD49A6}"/>
                </a:ext>
              </a:extLst>
            </p:cNvPr>
            <p:cNvSpPr txBox="1"/>
            <p:nvPr/>
          </p:nvSpPr>
          <p:spPr>
            <a:xfrm>
              <a:off x="323520" y="4771374"/>
              <a:ext cx="2939031" cy="494112"/>
            </a:xfrm>
            <a:prstGeom prst="rect">
              <a:avLst/>
            </a:prstGeom>
            <a:solidFill>
              <a:schemeClr val="lt1"/>
            </a:solid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600" b="1" dirty="0">
                  <a:solidFill>
                    <a:srgbClr val="0000FF"/>
                  </a:solidFill>
                  <a:effectLst/>
                  <a:latin typeface="+mj-lt"/>
                  <a:ea typeface="Calibri" panose="020F0502020204030204" pitchFamily="34" charset="0"/>
                  <a:cs typeface="Times New Roman" panose="02020603050405020304" pitchFamily="18" charset="0"/>
                </a:rPr>
                <a:t>Δ O … </a:t>
              </a:r>
              <a:r>
                <a:rPr lang="en-US" sz="1600" dirty="0">
                  <a:solidFill>
                    <a:srgbClr val="0000FF"/>
                  </a:solidFill>
                  <a:latin typeface="Cambria Math" panose="02040503050406030204" pitchFamily="18" charset="0"/>
                  <a:ea typeface="Calibri" panose="020F0502020204030204" pitchFamily="34" charset="0"/>
                  <a:cs typeface="Cambria Math" panose="02040503050406030204" pitchFamily="18" charset="0"/>
                </a:rPr>
                <a:t>↗</a:t>
              </a:r>
              <a:r>
                <a:rPr lang="en-US" sz="1600" b="1" dirty="0">
                  <a:solidFill>
                    <a:srgbClr val="0000FF"/>
                  </a:solidFill>
                  <a:effectLst/>
                  <a:latin typeface="+mj-lt"/>
                  <a:ea typeface="Calibri" panose="020F0502020204030204" pitchFamily="34" charset="0"/>
                  <a:cs typeface="Times New Roman" panose="02020603050405020304" pitchFamily="18" charset="0"/>
                </a:rPr>
                <a:t>     </a:t>
              </a:r>
              <a:r>
                <a:rPr lang="en-US" sz="1600" b="1" dirty="0">
                  <a:effectLst/>
                  <a:latin typeface="+mj-lt"/>
                  <a:ea typeface="Calibri" panose="020F0502020204030204" pitchFamily="34" charset="0"/>
                  <a:cs typeface="Times New Roman" panose="02020603050405020304" pitchFamily="18" charset="0"/>
                </a:rPr>
                <a:t>τ × … τ    </a:t>
              </a:r>
              <a:r>
                <a:rPr lang="en-US" sz="1600" b="1" dirty="0">
                  <a:solidFill>
                    <a:srgbClr val="FF0000"/>
                  </a:solidFill>
                  <a:effectLst/>
                  <a:latin typeface="+mj-lt"/>
                  <a:ea typeface="Calibri" panose="020F0502020204030204" pitchFamily="34" charset="0"/>
                  <a:cs typeface="Times New Roman" panose="02020603050405020304" pitchFamily="18" charset="0"/>
                </a:rPr>
                <a:t>ɛ Ψ…Φ</a:t>
              </a:r>
            </a:p>
          </p:txBody>
        </p:sp>
      </p:grpSp>
    </p:spTree>
    <p:extLst>
      <p:ext uri="{BB962C8B-B14F-4D97-AF65-F5344CB8AC3E}">
        <p14:creationId xmlns:p14="http://schemas.microsoft.com/office/powerpoint/2010/main" val="2222717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38</a:t>
            </a:fld>
            <a:endParaRPr lang="en-US"/>
          </a:p>
        </p:txBody>
      </p:sp>
      <p:sp>
        <p:nvSpPr>
          <p:cNvPr id="3" name="Content Placeholder 2"/>
          <p:cNvSpPr txBox="1">
            <a:spLocks/>
          </p:cNvSpPr>
          <p:nvPr/>
        </p:nvSpPr>
        <p:spPr>
          <a:xfrm>
            <a:off x="190500" y="381000"/>
            <a:ext cx="8763000" cy="3352800"/>
          </a:xfrm>
          <a:prstGeom prst="rect">
            <a:avLst/>
          </a:prstGeom>
          <a:solidFill>
            <a:srgbClr val="CCECFF"/>
          </a:solidFill>
        </p:spPr>
        <p:txBody>
          <a:bodyPr>
            <a:noAutofit/>
          </a:bodyPr>
          <a:lstStyle/>
          <a:p>
            <a:pPr marL="342900" indent="-342900" algn="just" eaLnBrk="0" hangingPunct="0">
              <a:spcBef>
                <a:spcPct val="20000"/>
              </a:spcBef>
              <a:buFont typeface="Wingdings" pitchFamily="2" charset="2"/>
              <a:buChar char="ü"/>
            </a:pPr>
            <a:r>
              <a:rPr lang="en-US" sz="2000" dirty="0"/>
              <a:t>LTE provides OFDMA-based physical layer access where: </a:t>
            </a:r>
          </a:p>
          <a:p>
            <a:pPr marL="342900" lvl="0" indent="-342900" algn="just" eaLnBrk="0" hangingPunct="0">
              <a:spcBef>
                <a:spcPct val="20000"/>
              </a:spcBef>
              <a:buFontTx/>
              <a:buChar char="•"/>
              <a:defRPr/>
            </a:pPr>
            <a:r>
              <a:rPr kumimoji="0" lang="en-US" sz="2000" b="0" i="0" u="none" strike="noStrike" kern="0" cap="none" spc="0" normalizeH="0" baseline="0" noProof="0" dirty="0">
                <a:ln>
                  <a:noFill/>
                </a:ln>
                <a:effectLst/>
                <a:uLnTx/>
                <a:uFillTx/>
                <a:latin typeface="+mn-lt"/>
              </a:rPr>
              <a:t>OFDMA minimizes separation between carriers compared to FDMA hence save in BW</a:t>
            </a:r>
            <a:r>
              <a:rPr kumimoji="0" lang="en-US" sz="2000" b="0" i="0" u="none" strike="noStrike" kern="0" cap="none" spc="0" normalizeH="0" baseline="0" noProof="0" dirty="0" smtClean="0">
                <a:ln>
                  <a:noFill/>
                </a:ln>
                <a:effectLst/>
                <a:uLnTx/>
                <a:uFillTx/>
                <a:latin typeface="+mn-lt"/>
              </a:rPr>
              <a:t>. </a:t>
            </a:r>
            <a:r>
              <a:rPr lang="en-US" sz="2000" dirty="0"/>
              <a:t>This means more carriers can fit within the same frequency band.</a:t>
            </a:r>
            <a:endParaRPr kumimoji="0" lang="en-US" sz="2000" b="0" i="0" u="none" strike="noStrike" kern="0" cap="none" spc="0" normalizeH="0" baseline="0" noProof="0" dirty="0">
              <a:ln>
                <a:noFill/>
              </a:ln>
              <a:effectLst/>
              <a:uLnTx/>
              <a:uFillTx/>
              <a:latin typeface="+mn-lt"/>
            </a:endParaRPr>
          </a:p>
          <a:p>
            <a:pPr marL="342900" marR="0" lvl="0" indent="-342900" algn="just" defTabSz="914400" rtl="0" eaLnBrk="0" fontAlgn="base" latinLnBrk="0" hangingPunct="0">
              <a:lnSpc>
                <a:spcPct val="100000"/>
              </a:lnSpc>
              <a:spcBef>
                <a:spcPct val="20000"/>
              </a:spcBef>
              <a:spcAft>
                <a:spcPct val="0"/>
              </a:spcAft>
              <a:buClrTx/>
              <a:buSzTx/>
              <a:buFontTx/>
              <a:buChar char="•"/>
              <a:tabLst/>
              <a:defRPr/>
            </a:pPr>
            <a:r>
              <a:rPr lang="en-US" sz="2000" kern="0" dirty="0">
                <a:latin typeface="+mn-lt"/>
              </a:rPr>
              <a:t>High speed serial data is converted to parallel hence low speed symbols are less affected by ISI.</a:t>
            </a:r>
          </a:p>
          <a:p>
            <a:pPr marL="342900" lvl="0" indent="-342900" algn="just" eaLnBrk="0" hangingPunct="0">
              <a:spcBef>
                <a:spcPct val="20000"/>
              </a:spcBef>
              <a:buFontTx/>
              <a:buChar char="•"/>
              <a:defRPr/>
            </a:pPr>
            <a:r>
              <a:rPr lang="en-US" sz="2000" dirty="0"/>
              <a:t>Different modulation scheme can be used on different subcarriers depending on the noise level of individual sub-bands (the symbol periods are kept the same).</a:t>
            </a:r>
            <a:endParaRPr kumimoji="0" lang="en-US" sz="2000" b="0" i="0" u="none" strike="noStrike" kern="0" cap="none" spc="0" normalizeH="0" baseline="0" noProof="0" dirty="0">
              <a:ln>
                <a:noFill/>
              </a:ln>
              <a:effectLst/>
              <a:uLnTx/>
              <a:uFillTx/>
              <a:latin typeface="+mn-lt"/>
            </a:endParaRPr>
          </a:p>
          <a:p>
            <a:pPr marL="342900" marR="0" lvl="0" indent="-342900" algn="just" defTabSz="914400" rtl="0" eaLnBrk="0" fontAlgn="base" latinLnBrk="0" hangingPunct="0">
              <a:lnSpc>
                <a:spcPct val="100000"/>
              </a:lnSpc>
              <a:spcBef>
                <a:spcPct val="20000"/>
              </a:spcBef>
              <a:spcAft>
                <a:spcPct val="0"/>
              </a:spcAft>
              <a:buClrTx/>
              <a:buSzTx/>
              <a:buFontTx/>
              <a:buChar char="•"/>
              <a:tabLst/>
              <a:defRPr/>
            </a:pPr>
            <a:r>
              <a:rPr kumimoji="0" lang="en-US" sz="2000" b="0" i="0" u="none" strike="noStrike" kern="0" cap="none" spc="0" normalizeH="0" baseline="0" noProof="0" dirty="0">
                <a:ln>
                  <a:noFill/>
                </a:ln>
                <a:effectLst/>
                <a:uLnTx/>
                <a:uFillTx/>
                <a:latin typeface="+mn-lt"/>
              </a:rPr>
              <a:t>Carrier orthogonality leads to frequency domain spacing ∆</a:t>
            </a:r>
            <a:r>
              <a:rPr kumimoji="0" lang="en-US" sz="2000" b="0" i="1" u="none" strike="noStrike" kern="0" cap="none" spc="0" normalizeH="0" baseline="0" noProof="0" dirty="0">
                <a:ln>
                  <a:noFill/>
                </a:ln>
                <a:effectLst/>
                <a:uLnTx/>
                <a:uFillTx/>
                <a:latin typeface="+mn-lt"/>
              </a:rPr>
              <a:t>f</a:t>
            </a:r>
            <a:r>
              <a:rPr kumimoji="0" lang="en-US" sz="2000" b="0" i="0" u="none" strike="noStrike" kern="0" cap="none" spc="0" normalizeH="0" baseline="0" noProof="0" dirty="0">
                <a:ln>
                  <a:noFill/>
                </a:ln>
                <a:effectLst/>
                <a:uLnTx/>
                <a:uFillTx/>
                <a:latin typeface="+mn-lt"/>
              </a:rPr>
              <a:t> =1/</a:t>
            </a:r>
            <a:r>
              <a:rPr kumimoji="0" lang="en-US" sz="2000" b="0" i="1" u="none" strike="noStrike" kern="0" cap="none" spc="0" normalizeH="0" baseline="0" noProof="0" dirty="0">
                <a:ln>
                  <a:noFill/>
                </a:ln>
                <a:effectLst/>
                <a:uLnTx/>
                <a:uFillTx/>
                <a:latin typeface="+mn-lt"/>
              </a:rPr>
              <a:t>T</a:t>
            </a:r>
            <a:r>
              <a:rPr kumimoji="0" lang="en-US" sz="2000" b="0" i="0" u="none" strike="noStrike" kern="0" cap="none" spc="0" normalizeH="0" baseline="0" noProof="0" dirty="0">
                <a:ln>
                  <a:noFill/>
                </a:ln>
                <a:effectLst/>
                <a:uLnTx/>
                <a:uFillTx/>
                <a:latin typeface="+mn-lt"/>
              </a:rPr>
              <a:t>, where </a:t>
            </a:r>
            <a:r>
              <a:rPr kumimoji="0" lang="en-US" sz="2000" b="0" i="1" u="none" strike="noStrike" kern="0" cap="none" spc="0" normalizeH="0" baseline="0" noProof="0" dirty="0">
                <a:ln>
                  <a:noFill/>
                </a:ln>
                <a:effectLst/>
                <a:uLnTx/>
                <a:uFillTx/>
                <a:latin typeface="+mn-lt"/>
              </a:rPr>
              <a:t>T</a:t>
            </a:r>
            <a:r>
              <a:rPr kumimoji="0" lang="en-US" sz="2000" b="0" i="0" u="none" strike="noStrike" kern="0" cap="none" spc="0" normalizeH="0" baseline="0" noProof="0" dirty="0">
                <a:ln>
                  <a:noFill/>
                </a:ln>
                <a:effectLst/>
                <a:uLnTx/>
                <a:uFillTx/>
                <a:latin typeface="+mn-lt"/>
              </a:rPr>
              <a:t> is the symbol time. For example, in LTE carrier spacing is 15KHz and message part of the symbol is 66.7 microsec.</a:t>
            </a:r>
          </a:p>
        </p:txBody>
      </p:sp>
      <p:pic>
        <p:nvPicPr>
          <p:cNvPr id="5" name="Picture 4"/>
          <p:cNvPicPr>
            <a:picLocks noChangeAspect="1"/>
          </p:cNvPicPr>
          <p:nvPr/>
        </p:nvPicPr>
        <p:blipFill>
          <a:blip r:embed="rId2"/>
          <a:stretch>
            <a:fillRect/>
          </a:stretch>
        </p:blipFill>
        <p:spPr>
          <a:xfrm>
            <a:off x="1447800" y="4158343"/>
            <a:ext cx="5618171" cy="2133600"/>
          </a:xfrm>
          <a:prstGeom prst="rect">
            <a:avLst/>
          </a:prstGeom>
        </p:spPr>
      </p:pic>
    </p:spTree>
    <p:extLst>
      <p:ext uri="{BB962C8B-B14F-4D97-AF65-F5344CB8AC3E}">
        <p14:creationId xmlns:p14="http://schemas.microsoft.com/office/powerpoint/2010/main" val="4233001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6D212DFF-DC8D-466C-AA1F-BDDEE25D289E}"/>
              </a:ext>
            </a:extLst>
          </p:cNvPr>
          <p:cNvSpPr>
            <a:spLocks noGrp="1"/>
          </p:cNvSpPr>
          <p:nvPr>
            <p:ph type="sldNum" sz="quarter" idx="12"/>
          </p:nvPr>
        </p:nvSpPr>
        <p:spPr/>
        <p:txBody>
          <a:bodyPr/>
          <a:lstStyle/>
          <a:p>
            <a:pPr>
              <a:defRPr/>
            </a:pPr>
            <a:fld id="{99FE3154-E4F1-4DBC-AFFE-BDB47B1CC230}" type="slidenum">
              <a:rPr lang="en-US" smtClean="0"/>
              <a:pPr>
                <a:defRPr/>
              </a:pPr>
              <a:t>39</a:t>
            </a:fld>
            <a:endParaRPr lang="en-US"/>
          </a:p>
        </p:txBody>
      </p:sp>
      <p:sp>
        <p:nvSpPr>
          <p:cNvPr id="3" name="Text Box 2">
            <a:extLst>
              <a:ext uri="{FF2B5EF4-FFF2-40B4-BE49-F238E27FC236}">
                <a16:creationId xmlns:a16="http://schemas.microsoft.com/office/drawing/2014/main" xmlns="" id="{39444735-162D-40BE-8BA8-074A1E94E575}"/>
              </a:ext>
            </a:extLst>
          </p:cNvPr>
          <p:cNvSpPr txBox="1">
            <a:spLocks noChangeArrowheads="1"/>
          </p:cNvSpPr>
          <p:nvPr/>
        </p:nvSpPr>
        <p:spPr bwMode="auto">
          <a:xfrm>
            <a:off x="228600" y="1073289"/>
            <a:ext cx="8686800" cy="2492990"/>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just" eaLnBrk="1" hangingPunct="1">
              <a:spcBef>
                <a:spcPct val="50000"/>
              </a:spcBef>
              <a:buFont typeface="Wingdings" panose="05000000000000000000" pitchFamily="2" charset="2"/>
              <a:buChar char="Ø"/>
            </a:pPr>
            <a:r>
              <a:rPr lang="en-US" dirty="0"/>
              <a:t> The multiple antennas in a system, ensures different propagation paths between Tx and Rx. We may choose to send data across the different propagation (spatial) paths hence improves reliability of communication system. This is called </a:t>
            </a:r>
            <a:r>
              <a:rPr lang="en-US" b="1" i="1" dirty="0">
                <a:solidFill>
                  <a:srgbClr val="FF0000"/>
                </a:solidFill>
              </a:rPr>
              <a:t>spatial diversity</a:t>
            </a:r>
            <a:r>
              <a:rPr lang="en-US" b="1" i="1" dirty="0"/>
              <a:t> </a:t>
            </a:r>
            <a:r>
              <a:rPr lang="en-US" dirty="0"/>
              <a:t>or simply</a:t>
            </a:r>
            <a:r>
              <a:rPr lang="en-US" b="1" i="1" dirty="0"/>
              <a:t> </a:t>
            </a:r>
            <a:r>
              <a:rPr lang="en-US" b="1" i="1" dirty="0">
                <a:solidFill>
                  <a:srgbClr val="FF0000"/>
                </a:solidFill>
              </a:rPr>
              <a:t>diversity</a:t>
            </a:r>
            <a:r>
              <a:rPr lang="en-US" dirty="0"/>
              <a:t>. </a:t>
            </a:r>
            <a:endParaRPr lang="en-US" altLang="en-US" dirty="0"/>
          </a:p>
          <a:p>
            <a:pPr algn="just" eaLnBrk="1" hangingPunct="1">
              <a:spcBef>
                <a:spcPct val="50000"/>
              </a:spcBef>
              <a:buFont typeface="Wingdings" panose="05000000000000000000" pitchFamily="2" charset="2"/>
              <a:buChar char="Ø"/>
            </a:pPr>
            <a:r>
              <a:rPr lang="en-US" altLang="en-US" dirty="0"/>
              <a:t> Space diversity of MIMO increases SNR and channel capacity.</a:t>
            </a:r>
          </a:p>
        </p:txBody>
      </p:sp>
      <p:sp>
        <p:nvSpPr>
          <p:cNvPr id="4" name="Rectangle 3">
            <a:extLst>
              <a:ext uri="{FF2B5EF4-FFF2-40B4-BE49-F238E27FC236}">
                <a16:creationId xmlns:a16="http://schemas.microsoft.com/office/drawing/2014/main" xmlns="" id="{484EB71B-C14B-4AA0-9303-6EA2B91E44F1}"/>
              </a:ext>
            </a:extLst>
          </p:cNvPr>
          <p:cNvSpPr/>
          <p:nvPr/>
        </p:nvSpPr>
        <p:spPr>
          <a:xfrm>
            <a:off x="427275" y="304800"/>
            <a:ext cx="8289449" cy="646331"/>
          </a:xfrm>
          <a:prstGeom prst="rect">
            <a:avLst/>
          </a:prstGeom>
          <a:solidFill>
            <a:srgbClr val="FFC000"/>
          </a:solidFill>
        </p:spPr>
        <p:txBody>
          <a:bodyPr wrap="none">
            <a:spAutoFit/>
          </a:bodyPr>
          <a:lstStyle/>
          <a:p>
            <a:r>
              <a:rPr lang="en-US" altLang="en-US" sz="3600" b="1" dirty="0"/>
              <a:t>Multiple Input Multiple Output (MIMO)</a:t>
            </a:r>
            <a:endParaRPr lang="en-US" sz="3600" b="1" dirty="0"/>
          </a:p>
        </p:txBody>
      </p:sp>
      <p:pic>
        <p:nvPicPr>
          <p:cNvPr id="7" name="Picture 6">
            <a:extLst>
              <a:ext uri="{FF2B5EF4-FFF2-40B4-BE49-F238E27FC236}">
                <a16:creationId xmlns:a16="http://schemas.microsoft.com/office/drawing/2014/main" xmlns="" id="{18D42834-FCAB-4539-8FA9-23581200398C}"/>
              </a:ext>
            </a:extLst>
          </p:cNvPr>
          <p:cNvPicPr>
            <a:picLocks noChangeAspect="1"/>
          </p:cNvPicPr>
          <p:nvPr/>
        </p:nvPicPr>
        <p:blipFill>
          <a:blip r:embed="rId2"/>
          <a:stretch>
            <a:fillRect/>
          </a:stretch>
        </p:blipFill>
        <p:spPr>
          <a:xfrm>
            <a:off x="1281424" y="3681769"/>
            <a:ext cx="7176776" cy="2838774"/>
          </a:xfrm>
          <a:prstGeom prst="rect">
            <a:avLst/>
          </a:prstGeom>
        </p:spPr>
      </p:pic>
      <p:sp>
        <p:nvSpPr>
          <p:cNvPr id="8" name="TextBox 7">
            <a:extLst>
              <a:ext uri="{FF2B5EF4-FFF2-40B4-BE49-F238E27FC236}">
                <a16:creationId xmlns:a16="http://schemas.microsoft.com/office/drawing/2014/main" xmlns="" id="{CFEF9BB0-340C-469E-8431-07FEEC188529}"/>
              </a:ext>
            </a:extLst>
          </p:cNvPr>
          <p:cNvSpPr txBox="1"/>
          <p:nvPr/>
        </p:nvSpPr>
        <p:spPr>
          <a:xfrm>
            <a:off x="2133600" y="4722673"/>
            <a:ext cx="525851" cy="369332"/>
          </a:xfrm>
          <a:prstGeom prst="rect">
            <a:avLst/>
          </a:prstGeom>
          <a:noFill/>
        </p:spPr>
        <p:txBody>
          <a:bodyPr wrap="square" rtlCol="0">
            <a:spAutoFit/>
          </a:bodyPr>
          <a:lstStyle/>
          <a:p>
            <a:r>
              <a:rPr lang="en-US" sz="1800" dirty="0"/>
              <a:t>BS</a:t>
            </a:r>
          </a:p>
        </p:txBody>
      </p:sp>
      <p:sp>
        <p:nvSpPr>
          <p:cNvPr id="9" name="TextBox 8">
            <a:extLst>
              <a:ext uri="{FF2B5EF4-FFF2-40B4-BE49-F238E27FC236}">
                <a16:creationId xmlns:a16="http://schemas.microsoft.com/office/drawing/2014/main" xmlns="" id="{408FC8B7-C66F-4BF4-94CF-676F4ECD7DA7}"/>
              </a:ext>
            </a:extLst>
          </p:cNvPr>
          <p:cNvSpPr txBox="1"/>
          <p:nvPr/>
        </p:nvSpPr>
        <p:spPr>
          <a:xfrm>
            <a:off x="4253348" y="5600045"/>
            <a:ext cx="591582" cy="369332"/>
          </a:xfrm>
          <a:prstGeom prst="rect">
            <a:avLst/>
          </a:prstGeom>
          <a:noFill/>
        </p:spPr>
        <p:txBody>
          <a:bodyPr wrap="square" rtlCol="0">
            <a:spAutoFit/>
          </a:bodyPr>
          <a:lstStyle/>
          <a:p>
            <a:r>
              <a:rPr lang="en-US" sz="1800" dirty="0"/>
              <a:t>MS</a:t>
            </a:r>
          </a:p>
        </p:txBody>
      </p:sp>
    </p:spTree>
    <p:extLst>
      <p:ext uri="{BB962C8B-B14F-4D97-AF65-F5344CB8AC3E}">
        <p14:creationId xmlns:p14="http://schemas.microsoft.com/office/powerpoint/2010/main" val="3836690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40</a:t>
            </a:fld>
            <a:endParaRPr lang="en-US"/>
          </a:p>
        </p:txBody>
      </p:sp>
      <p:sp>
        <p:nvSpPr>
          <p:cNvPr id="3" name="Rectangle 2"/>
          <p:cNvSpPr/>
          <p:nvPr/>
        </p:nvSpPr>
        <p:spPr>
          <a:xfrm>
            <a:off x="228600" y="152400"/>
            <a:ext cx="8763000" cy="3046988"/>
          </a:xfrm>
          <a:prstGeom prst="rect">
            <a:avLst/>
          </a:prstGeom>
          <a:solidFill>
            <a:srgbClr val="CCECFF"/>
          </a:solidFill>
        </p:spPr>
        <p:txBody>
          <a:bodyPr wrap="square">
            <a:spAutoFit/>
          </a:bodyPr>
          <a:lstStyle/>
          <a:p>
            <a:pPr algn="just" eaLnBrk="1" hangingPunct="1">
              <a:spcBef>
                <a:spcPct val="50000"/>
              </a:spcBef>
              <a:buFont typeface="Wingdings" panose="05000000000000000000" pitchFamily="2" charset="2"/>
              <a:buChar char="Ø"/>
            </a:pPr>
            <a:r>
              <a:rPr lang="en-US" altLang="en-US" dirty="0"/>
              <a:t>Adaptive beam forming can make </a:t>
            </a:r>
            <a:r>
              <a:rPr lang="en-US" altLang="en-US" dirty="0">
                <a:solidFill>
                  <a:srgbClr val="FF0000"/>
                </a:solidFill>
              </a:rPr>
              <a:t>directional beam</a:t>
            </a:r>
            <a:r>
              <a:rPr lang="en-US" altLang="en-US" dirty="0"/>
              <a:t>, which increases path gain and reduces interference / fading of channel. </a:t>
            </a:r>
            <a:r>
              <a:rPr lang="en-US" altLang="zh-TW" dirty="0"/>
              <a:t>The users of cell boundary is heavily benefited in context of SINR.</a:t>
            </a:r>
          </a:p>
          <a:p>
            <a:pPr algn="just" eaLnBrk="1" hangingPunct="1">
              <a:spcBef>
                <a:spcPct val="50000"/>
              </a:spcBef>
              <a:buFont typeface="Wingdings" panose="05000000000000000000" pitchFamily="2" charset="2"/>
              <a:buChar char="Ø"/>
            </a:pPr>
            <a:r>
              <a:rPr lang="en-US" altLang="zh-TW" dirty="0"/>
              <a:t>Due lower interference the throughput (message /sec) of the users is increased.</a:t>
            </a:r>
            <a:endParaRPr lang="en-US" altLang="en-US" dirty="0"/>
          </a:p>
          <a:p>
            <a:pPr algn="just" eaLnBrk="1" hangingPunct="1">
              <a:spcBef>
                <a:spcPct val="50000"/>
              </a:spcBef>
              <a:buFont typeface="Wingdings" panose="05000000000000000000" pitchFamily="2" charset="2"/>
              <a:buChar char="Ø"/>
            </a:pPr>
            <a:r>
              <a:rPr lang="en-US" altLang="en-US" dirty="0"/>
              <a:t> Electronic tracking beam system (in moving </a:t>
            </a:r>
            <a:r>
              <a:rPr lang="en-US" altLang="en-US" dirty="0" err="1"/>
              <a:t>eNB</a:t>
            </a:r>
            <a:r>
              <a:rPr lang="en-US" altLang="en-US" dirty="0"/>
              <a:t> of 5G) can be implemented using adaptive algorithm of beam forming. </a:t>
            </a:r>
          </a:p>
        </p:txBody>
      </p:sp>
      <p:pic>
        <p:nvPicPr>
          <p:cNvPr id="80898" name="Picture 2" descr="Smart Antennas and Beamforming, Understanding with GNU : Par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3429001"/>
            <a:ext cx="4039410" cy="25246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xmlns="" id="{F308BE80-B502-4F86-B9F8-FE40AE5BF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591" y="3658613"/>
            <a:ext cx="3658410" cy="24188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7037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41</a:t>
            </a:fld>
            <a:endParaRPr lang="en-US"/>
          </a:p>
        </p:txBody>
      </p:sp>
      <p:pic>
        <p:nvPicPr>
          <p:cNvPr id="76802" name="Picture 2"/>
          <p:cNvPicPr>
            <a:picLocks noChangeAspect="1" noChangeArrowheads="1"/>
          </p:cNvPicPr>
          <p:nvPr/>
        </p:nvPicPr>
        <p:blipFill>
          <a:blip r:embed="rId2"/>
          <a:srcRect/>
          <a:stretch>
            <a:fillRect/>
          </a:stretch>
        </p:blipFill>
        <p:spPr bwMode="auto">
          <a:xfrm>
            <a:off x="457200" y="2286000"/>
            <a:ext cx="8161021" cy="3886200"/>
          </a:xfrm>
          <a:prstGeom prst="rect">
            <a:avLst/>
          </a:prstGeom>
          <a:noFill/>
          <a:ln w="9525">
            <a:noFill/>
            <a:miter lim="800000"/>
            <a:headEnd/>
            <a:tailEnd/>
          </a:ln>
          <a:effectLst/>
        </p:spPr>
      </p:pic>
      <p:sp>
        <p:nvSpPr>
          <p:cNvPr id="4" name="TextBox 3"/>
          <p:cNvSpPr txBox="1"/>
          <p:nvPr/>
        </p:nvSpPr>
        <p:spPr>
          <a:xfrm>
            <a:off x="228600" y="457200"/>
            <a:ext cx="8458200" cy="1569660"/>
          </a:xfrm>
          <a:prstGeom prst="rect">
            <a:avLst/>
          </a:prstGeom>
          <a:solidFill>
            <a:srgbClr val="99CCFF"/>
          </a:solidFill>
        </p:spPr>
        <p:txBody>
          <a:bodyPr wrap="square" rtlCol="0">
            <a:spAutoFit/>
          </a:bodyPr>
          <a:lstStyle/>
          <a:p>
            <a:pPr algn="just">
              <a:buFont typeface="Wingdings" pitchFamily="2" charset="2"/>
              <a:buChar char="ü"/>
            </a:pPr>
            <a:r>
              <a:rPr lang="en-US" dirty="0"/>
              <a:t>MIMO communication takes place between </a:t>
            </a:r>
            <a:r>
              <a:rPr lang="en-US" dirty="0" err="1"/>
              <a:t>eNB</a:t>
            </a:r>
            <a:r>
              <a:rPr lang="en-US" dirty="0"/>
              <a:t> and UE. LTE standard requires support for:</a:t>
            </a:r>
          </a:p>
          <a:p>
            <a:pPr lvl="1" algn="just"/>
            <a:r>
              <a:rPr lang="en-US" dirty="0" err="1"/>
              <a:t>eNB</a:t>
            </a:r>
            <a:r>
              <a:rPr lang="en-US" dirty="0"/>
              <a:t> can have maximum 4/8 antennas</a:t>
            </a:r>
          </a:p>
          <a:p>
            <a:pPr lvl="1" algn="just"/>
            <a:r>
              <a:rPr lang="en-US" dirty="0"/>
              <a:t>UE  can have maximum 2/4 antennas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42</a:t>
            </a:fld>
            <a:endParaRPr lang="en-US"/>
          </a:p>
        </p:txBody>
      </p:sp>
      <p:sp>
        <p:nvSpPr>
          <p:cNvPr id="3" name="TextBox 2"/>
          <p:cNvSpPr txBox="1"/>
          <p:nvPr/>
        </p:nvSpPr>
        <p:spPr>
          <a:xfrm>
            <a:off x="1524000" y="186179"/>
            <a:ext cx="5105400" cy="769441"/>
          </a:xfrm>
          <a:prstGeom prst="rect">
            <a:avLst/>
          </a:prstGeom>
          <a:solidFill>
            <a:srgbClr val="FFFF00"/>
          </a:solidFill>
        </p:spPr>
        <p:txBody>
          <a:bodyPr wrap="square" rtlCol="0">
            <a:spAutoFit/>
          </a:bodyPr>
          <a:lstStyle/>
          <a:p>
            <a:r>
              <a:rPr lang="en-US" sz="4400" b="1" dirty="0">
                <a:solidFill>
                  <a:schemeClr val="accent2"/>
                </a:solidFill>
              </a:rPr>
              <a:t>Architecture of LTE</a:t>
            </a:r>
          </a:p>
        </p:txBody>
      </p:sp>
      <p:sp>
        <p:nvSpPr>
          <p:cNvPr id="4" name="TextBox 3"/>
          <p:cNvSpPr txBox="1"/>
          <p:nvPr/>
        </p:nvSpPr>
        <p:spPr>
          <a:xfrm>
            <a:off x="228600" y="1219200"/>
            <a:ext cx="8686800" cy="3046988"/>
          </a:xfrm>
          <a:prstGeom prst="rect">
            <a:avLst/>
          </a:prstGeom>
          <a:solidFill>
            <a:srgbClr val="FFCCFF"/>
          </a:solidFill>
        </p:spPr>
        <p:txBody>
          <a:bodyPr wrap="square" rtlCol="0">
            <a:spAutoFit/>
          </a:bodyPr>
          <a:lstStyle/>
          <a:p>
            <a:pPr marL="342900" indent="-342900" algn="just">
              <a:buFont typeface="Wingdings" panose="05000000000000000000" pitchFamily="2" charset="2"/>
              <a:buChar char="ü"/>
            </a:pPr>
            <a:r>
              <a:rPr lang="en-US" dirty="0"/>
              <a:t>Long Term Evolution (LTE) has been designed to support only </a:t>
            </a:r>
            <a:r>
              <a:rPr lang="en-US" b="1" dirty="0">
                <a:solidFill>
                  <a:srgbClr val="0000FF"/>
                </a:solidFill>
              </a:rPr>
              <a:t>packet-switched</a:t>
            </a:r>
            <a:r>
              <a:rPr lang="en-US" dirty="0"/>
              <a:t> (instead of previous </a:t>
            </a:r>
            <a:r>
              <a:rPr lang="en-US" b="1" dirty="0">
                <a:solidFill>
                  <a:srgbClr val="0000FF"/>
                </a:solidFill>
              </a:rPr>
              <a:t>circuit switch of 2G </a:t>
            </a:r>
            <a:r>
              <a:rPr lang="en-US" dirty="0"/>
              <a:t>or</a:t>
            </a:r>
            <a:r>
              <a:rPr lang="en-US" b="1" dirty="0">
                <a:solidFill>
                  <a:srgbClr val="0000FF"/>
                </a:solidFill>
              </a:rPr>
              <a:t> combination of circuit and packet switch of 3G</a:t>
            </a:r>
            <a:r>
              <a:rPr lang="en-US" dirty="0"/>
              <a:t>) services. </a:t>
            </a:r>
          </a:p>
          <a:p>
            <a:pPr marL="342900" indent="-342900" algn="just">
              <a:buFont typeface="Wingdings" panose="05000000000000000000" pitchFamily="2" charset="2"/>
              <a:buChar char="ü"/>
            </a:pPr>
            <a:endParaRPr lang="en-US" dirty="0"/>
          </a:p>
          <a:p>
            <a:pPr marL="342900" indent="-342900" algn="just">
              <a:buFont typeface="Wingdings" panose="05000000000000000000" pitchFamily="2" charset="2"/>
              <a:buChar char="ü"/>
            </a:pPr>
            <a:r>
              <a:rPr lang="en-US" dirty="0"/>
              <a:t>It aims to provide seamless Internet Protocol (IP) connectivity between user equipment (UE) and the worldwide packet data network (PDN), without any disruption to the end users applications during mobility.</a:t>
            </a:r>
          </a:p>
        </p:txBody>
      </p:sp>
      <p:pic>
        <p:nvPicPr>
          <p:cNvPr id="6" name="Picture 5">
            <a:extLst>
              <a:ext uri="{FF2B5EF4-FFF2-40B4-BE49-F238E27FC236}">
                <a16:creationId xmlns:a16="http://schemas.microsoft.com/office/drawing/2014/main" xmlns="" id="{4B3381F9-0025-4E14-8B05-BD694A3C84C7}"/>
              </a:ext>
            </a:extLst>
          </p:cNvPr>
          <p:cNvPicPr>
            <a:picLocks noChangeAspect="1"/>
          </p:cNvPicPr>
          <p:nvPr/>
        </p:nvPicPr>
        <p:blipFill>
          <a:blip r:embed="rId2"/>
          <a:stretch>
            <a:fillRect/>
          </a:stretch>
        </p:blipFill>
        <p:spPr>
          <a:xfrm>
            <a:off x="1295400" y="4490007"/>
            <a:ext cx="4876800" cy="2222959"/>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xmlns="" id="{11D9AD20-8CB0-491B-BA15-3CD2D6296CE8}"/>
              </a:ext>
            </a:extLst>
          </p:cNvPr>
          <p:cNvPicPr>
            <a:picLocks noChangeAspect="1"/>
          </p:cNvPicPr>
          <p:nvPr/>
        </p:nvPicPr>
        <p:blipFill>
          <a:blip r:embed="rId3"/>
          <a:stretch>
            <a:fillRect/>
          </a:stretch>
        </p:blipFill>
        <p:spPr>
          <a:xfrm>
            <a:off x="485376" y="3792014"/>
            <a:ext cx="3327928" cy="2431628"/>
          </a:xfrm>
          <a:prstGeom prst="rect">
            <a:avLst/>
          </a:prstGeom>
        </p:spPr>
      </p:pic>
      <p:sp>
        <p:nvSpPr>
          <p:cNvPr id="2056" name="Slide Number Placeholder 1"/>
          <p:cNvSpPr>
            <a:spLocks noGrp="1"/>
          </p:cNvSpPr>
          <p:nvPr>
            <p:ph type="sldNum" sz="quarter" idx="12"/>
          </p:nvPr>
        </p:nvSpPr>
        <p:spPr>
          <a:xfrm>
            <a:off x="6651268" y="6248400"/>
            <a:ext cx="1905000" cy="457200"/>
          </a:xfrm>
          <a:noFill/>
        </p:spPr>
        <p:txBody>
          <a:bodyPr/>
          <a:lstStyle/>
          <a:p>
            <a:fld id="{4604A072-15A4-42B7-AB35-092E47899CDC}" type="slidenum">
              <a:rPr lang="en-US" smtClean="0"/>
              <a:pPr/>
              <a:t>43</a:t>
            </a:fld>
            <a:endParaRPr lang="en-US"/>
          </a:p>
        </p:txBody>
      </p:sp>
      <p:sp>
        <p:nvSpPr>
          <p:cNvPr id="13" name="TextBox 12"/>
          <p:cNvSpPr txBox="1"/>
          <p:nvPr/>
        </p:nvSpPr>
        <p:spPr>
          <a:xfrm>
            <a:off x="33861" y="23483"/>
            <a:ext cx="5455853" cy="646331"/>
          </a:xfrm>
          <a:prstGeom prst="rect">
            <a:avLst/>
          </a:prstGeom>
          <a:solidFill>
            <a:srgbClr val="FFCCFF"/>
          </a:solidFill>
        </p:spPr>
        <p:txBody>
          <a:bodyPr wrap="square" rtlCol="0">
            <a:spAutoFit/>
          </a:bodyPr>
          <a:lstStyle/>
          <a:p>
            <a:r>
              <a:rPr lang="en-US" sz="3600" dirty="0"/>
              <a:t>General Architecture of LTE</a:t>
            </a:r>
          </a:p>
        </p:txBody>
      </p:sp>
      <p:sp>
        <p:nvSpPr>
          <p:cNvPr id="9" name="Rectangle 8">
            <a:extLst>
              <a:ext uri="{FF2B5EF4-FFF2-40B4-BE49-F238E27FC236}">
                <a16:creationId xmlns:a16="http://schemas.microsoft.com/office/drawing/2014/main" xmlns="" id="{9D3DA8A1-ADD1-4E53-8913-86EFF1197E1D}"/>
              </a:ext>
            </a:extLst>
          </p:cNvPr>
          <p:cNvSpPr/>
          <p:nvPr/>
        </p:nvSpPr>
        <p:spPr>
          <a:xfrm>
            <a:off x="587732" y="914400"/>
            <a:ext cx="7489943" cy="4093428"/>
          </a:xfrm>
          <a:prstGeom prst="rect">
            <a:avLst/>
          </a:prstGeom>
        </p:spPr>
        <p:txBody>
          <a:bodyPr wrap="square">
            <a:spAutoFit/>
          </a:bodyPr>
          <a:lstStyle/>
          <a:p>
            <a:pPr algn="just"/>
            <a:r>
              <a:rPr lang="en-US" sz="2000" dirty="0"/>
              <a:t>The architecture of LTE consists of three major parts: </a:t>
            </a:r>
          </a:p>
          <a:p>
            <a:pPr algn="just">
              <a:buFont typeface="Wingdings" pitchFamily="2" charset="2"/>
              <a:buChar char="ü"/>
            </a:pPr>
            <a:r>
              <a:rPr lang="en-US" sz="2000" b="1" dirty="0">
                <a:solidFill>
                  <a:srgbClr val="FF0000"/>
                </a:solidFill>
              </a:rPr>
              <a:t>User Equipment (UE)</a:t>
            </a:r>
          </a:p>
          <a:p>
            <a:pPr algn="just">
              <a:buFont typeface="Wingdings" pitchFamily="2" charset="2"/>
              <a:buChar char="ü"/>
            </a:pPr>
            <a:endParaRPr lang="en-US" sz="2000" b="1" dirty="0">
              <a:solidFill>
                <a:srgbClr val="FF0000"/>
              </a:solidFill>
            </a:endParaRPr>
          </a:p>
          <a:p>
            <a:pPr algn="just">
              <a:buFont typeface="Wingdings" pitchFamily="2" charset="2"/>
              <a:buChar char="ü"/>
            </a:pPr>
            <a:endParaRPr lang="en-US" sz="2000" b="1" dirty="0">
              <a:solidFill>
                <a:srgbClr val="FF0000"/>
              </a:solidFill>
            </a:endParaRPr>
          </a:p>
          <a:p>
            <a:pPr algn="just">
              <a:buFont typeface="Wingdings" pitchFamily="2" charset="2"/>
              <a:buChar char="ü"/>
            </a:pPr>
            <a:r>
              <a:rPr lang="en-US" sz="2000" b="1" dirty="0">
                <a:solidFill>
                  <a:srgbClr val="FF0000"/>
                </a:solidFill>
              </a:rPr>
              <a:t>E-UTRAN (Evolved Universal Terrestrial Radio Access Network)</a:t>
            </a:r>
          </a:p>
          <a:p>
            <a:pPr algn="just">
              <a:buFont typeface="Wingdings" pitchFamily="2" charset="2"/>
              <a:buChar char="ü"/>
            </a:pPr>
            <a:endParaRPr lang="en-US" sz="2000" b="1" dirty="0">
              <a:solidFill>
                <a:srgbClr val="FF0000"/>
              </a:solidFill>
            </a:endParaRPr>
          </a:p>
          <a:p>
            <a:pPr algn="just">
              <a:buFont typeface="Wingdings" pitchFamily="2" charset="2"/>
              <a:buChar char="ü"/>
            </a:pPr>
            <a:endParaRPr lang="en-US" sz="2000" b="1" dirty="0">
              <a:solidFill>
                <a:srgbClr val="FF0000"/>
              </a:solidFill>
            </a:endParaRPr>
          </a:p>
          <a:p>
            <a:pPr algn="just">
              <a:buFont typeface="Wingdings" pitchFamily="2" charset="2"/>
              <a:buChar char="ü"/>
            </a:pPr>
            <a:r>
              <a:rPr lang="en-US" sz="2000" b="1" dirty="0">
                <a:solidFill>
                  <a:srgbClr val="FF0000"/>
                </a:solidFill>
              </a:rPr>
              <a:t>EPC (Evolved Packet Core)</a:t>
            </a:r>
          </a:p>
          <a:p>
            <a:pPr algn="just">
              <a:buFont typeface="Wingdings" pitchFamily="2" charset="2"/>
              <a:buChar char="ü"/>
            </a:pPr>
            <a:endParaRPr lang="en-US" sz="2000" b="1" dirty="0">
              <a:solidFill>
                <a:srgbClr val="FF0000"/>
              </a:solidFill>
            </a:endParaRPr>
          </a:p>
          <a:p>
            <a:pPr algn="just">
              <a:buFont typeface="Wingdings" pitchFamily="2" charset="2"/>
              <a:buChar char="ü"/>
            </a:pPr>
            <a:endParaRPr lang="en-US" sz="2000" b="1" dirty="0">
              <a:solidFill>
                <a:srgbClr val="FF0000"/>
              </a:solidFill>
            </a:endParaRPr>
          </a:p>
          <a:p>
            <a:pPr algn="just">
              <a:buFont typeface="Wingdings" pitchFamily="2" charset="2"/>
              <a:buChar char="ü"/>
            </a:pPr>
            <a:endParaRPr lang="en-US" sz="2000" b="1" dirty="0">
              <a:solidFill>
                <a:srgbClr val="FF0000"/>
              </a:solidFill>
            </a:endParaRPr>
          </a:p>
          <a:p>
            <a:pPr algn="just">
              <a:buFont typeface="Wingdings" pitchFamily="2" charset="2"/>
              <a:buChar char="ü"/>
            </a:pPr>
            <a:endParaRPr lang="en-US" sz="2000" b="1" dirty="0">
              <a:solidFill>
                <a:srgbClr val="FF0000"/>
              </a:solidFill>
            </a:endParaRPr>
          </a:p>
          <a:p>
            <a:pPr algn="just"/>
            <a:endParaRPr lang="en-US" sz="2000" b="1" dirty="0"/>
          </a:p>
        </p:txBody>
      </p:sp>
      <p:pic>
        <p:nvPicPr>
          <p:cNvPr id="2" name="Picture 1">
            <a:extLst>
              <a:ext uri="{FF2B5EF4-FFF2-40B4-BE49-F238E27FC236}">
                <a16:creationId xmlns:a16="http://schemas.microsoft.com/office/drawing/2014/main" xmlns="" id="{B6871522-E22A-4D8D-8E70-EC231933F95D}"/>
              </a:ext>
            </a:extLst>
          </p:cNvPr>
          <p:cNvPicPr>
            <a:picLocks noChangeAspect="1"/>
          </p:cNvPicPr>
          <p:nvPr/>
        </p:nvPicPr>
        <p:blipFill>
          <a:blip r:embed="rId4"/>
          <a:stretch>
            <a:fillRect/>
          </a:stretch>
        </p:blipFill>
        <p:spPr>
          <a:xfrm>
            <a:off x="3470490" y="1309846"/>
            <a:ext cx="485775" cy="828675"/>
          </a:xfrm>
          <a:prstGeom prst="rect">
            <a:avLst/>
          </a:prstGeom>
        </p:spPr>
      </p:pic>
      <p:pic>
        <p:nvPicPr>
          <p:cNvPr id="3" name="Picture 2">
            <a:extLst>
              <a:ext uri="{FF2B5EF4-FFF2-40B4-BE49-F238E27FC236}">
                <a16:creationId xmlns:a16="http://schemas.microsoft.com/office/drawing/2014/main" xmlns="" id="{3D07C793-4680-4525-8B6C-E356EA49AF24}"/>
              </a:ext>
            </a:extLst>
          </p:cNvPr>
          <p:cNvPicPr>
            <a:picLocks noChangeAspect="1"/>
          </p:cNvPicPr>
          <p:nvPr/>
        </p:nvPicPr>
        <p:blipFill>
          <a:blip r:embed="rId5"/>
          <a:stretch>
            <a:fillRect/>
          </a:stretch>
        </p:blipFill>
        <p:spPr>
          <a:xfrm>
            <a:off x="4177683" y="1295400"/>
            <a:ext cx="1209675" cy="838200"/>
          </a:xfrm>
          <a:prstGeom prst="rect">
            <a:avLst/>
          </a:prstGeom>
        </p:spPr>
      </p:pic>
      <p:pic>
        <p:nvPicPr>
          <p:cNvPr id="4" name="Picture 3">
            <a:extLst>
              <a:ext uri="{FF2B5EF4-FFF2-40B4-BE49-F238E27FC236}">
                <a16:creationId xmlns:a16="http://schemas.microsoft.com/office/drawing/2014/main" xmlns="" id="{4E000E4B-6422-4B65-826B-75F676DC5C98}"/>
              </a:ext>
            </a:extLst>
          </p:cNvPr>
          <p:cNvPicPr>
            <a:picLocks noChangeAspect="1"/>
          </p:cNvPicPr>
          <p:nvPr/>
        </p:nvPicPr>
        <p:blipFill>
          <a:blip r:embed="rId6"/>
          <a:stretch>
            <a:fillRect/>
          </a:stretch>
        </p:blipFill>
        <p:spPr>
          <a:xfrm>
            <a:off x="5489714" y="1371600"/>
            <a:ext cx="771525" cy="685800"/>
          </a:xfrm>
          <a:prstGeom prst="rect">
            <a:avLst/>
          </a:prstGeom>
        </p:spPr>
      </p:pic>
      <p:pic>
        <p:nvPicPr>
          <p:cNvPr id="6" name="Picture 5">
            <a:extLst>
              <a:ext uri="{FF2B5EF4-FFF2-40B4-BE49-F238E27FC236}">
                <a16:creationId xmlns:a16="http://schemas.microsoft.com/office/drawing/2014/main" xmlns="" id="{4FFC43E9-821B-44C2-B589-8C1CB0C4D1FA}"/>
              </a:ext>
            </a:extLst>
          </p:cNvPr>
          <p:cNvPicPr>
            <a:picLocks noChangeAspect="1"/>
          </p:cNvPicPr>
          <p:nvPr/>
        </p:nvPicPr>
        <p:blipFill>
          <a:blip r:embed="rId7"/>
          <a:stretch>
            <a:fillRect/>
          </a:stretch>
        </p:blipFill>
        <p:spPr>
          <a:xfrm>
            <a:off x="4657837" y="2895600"/>
            <a:ext cx="4361894" cy="2569428"/>
          </a:xfrm>
          <a:prstGeom prst="rect">
            <a:avLst/>
          </a:prstGeom>
        </p:spPr>
      </p:pic>
      <p:sp>
        <p:nvSpPr>
          <p:cNvPr id="7" name="Oval 6">
            <a:extLst>
              <a:ext uri="{FF2B5EF4-FFF2-40B4-BE49-F238E27FC236}">
                <a16:creationId xmlns:a16="http://schemas.microsoft.com/office/drawing/2014/main" xmlns="" id="{9818A722-6D8E-45F5-9575-E8CE3ED9C71E}"/>
              </a:ext>
            </a:extLst>
          </p:cNvPr>
          <p:cNvSpPr/>
          <p:nvPr/>
        </p:nvSpPr>
        <p:spPr>
          <a:xfrm>
            <a:off x="228600" y="3505200"/>
            <a:ext cx="4366242" cy="2819399"/>
          </a:xfrm>
          <a:prstGeom prst="ellipse">
            <a:avLst/>
          </a:prstGeom>
          <a:solidFill>
            <a:srgbClr val="FF00FF">
              <a:alpha val="8000"/>
            </a:srgbClr>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xmlns="" id="{FF488C33-F9DC-4269-9E29-3CE100069E03}"/>
              </a:ext>
            </a:extLst>
          </p:cNvPr>
          <p:cNvSpPr txBox="1"/>
          <p:nvPr/>
        </p:nvSpPr>
        <p:spPr>
          <a:xfrm>
            <a:off x="675100" y="6279623"/>
            <a:ext cx="2902331" cy="461665"/>
          </a:xfrm>
          <a:prstGeom prst="rect">
            <a:avLst/>
          </a:prstGeom>
          <a:noFill/>
        </p:spPr>
        <p:txBody>
          <a:bodyPr wrap="square" rtlCol="0">
            <a:spAutoFit/>
          </a:bodyPr>
          <a:lstStyle/>
          <a:p>
            <a:r>
              <a:rPr lang="en-US" dirty="0"/>
              <a:t>Interconnected </a:t>
            </a:r>
            <a:r>
              <a:rPr lang="en-US" dirty="0" err="1"/>
              <a:t>eNBs</a:t>
            </a:r>
            <a:endParaRPr lang="en-US" dirty="0"/>
          </a:p>
        </p:txBody>
      </p:sp>
      <p:sp>
        <p:nvSpPr>
          <p:cNvPr id="10" name="TextBox 9">
            <a:extLst>
              <a:ext uri="{FF2B5EF4-FFF2-40B4-BE49-F238E27FC236}">
                <a16:creationId xmlns:a16="http://schemas.microsoft.com/office/drawing/2014/main" xmlns="" id="{4C0E2520-D021-4EBC-8FE1-69FF501B7121}"/>
              </a:ext>
            </a:extLst>
          </p:cNvPr>
          <p:cNvSpPr txBox="1"/>
          <p:nvPr/>
        </p:nvSpPr>
        <p:spPr>
          <a:xfrm>
            <a:off x="4186188" y="5912842"/>
            <a:ext cx="4957812" cy="461665"/>
          </a:xfrm>
          <a:prstGeom prst="rect">
            <a:avLst/>
          </a:prstGeom>
          <a:noFill/>
        </p:spPr>
        <p:txBody>
          <a:bodyPr wrap="square" rtlCol="0">
            <a:spAutoFit/>
          </a:bodyPr>
          <a:lstStyle/>
          <a:p>
            <a:r>
              <a:rPr lang="en-US" dirty="0"/>
              <a:t>Interconnected switches and databases</a:t>
            </a:r>
          </a:p>
        </p:txBody>
      </p:sp>
      <p:pic>
        <p:nvPicPr>
          <p:cNvPr id="11" name="Picture 10">
            <a:extLst>
              <a:ext uri="{FF2B5EF4-FFF2-40B4-BE49-F238E27FC236}">
                <a16:creationId xmlns:a16="http://schemas.microsoft.com/office/drawing/2014/main" xmlns="" id="{DDB4B89B-1735-4A6B-BF03-66E299A930F8}"/>
              </a:ext>
            </a:extLst>
          </p:cNvPr>
          <p:cNvPicPr>
            <a:picLocks noChangeAspect="1"/>
          </p:cNvPicPr>
          <p:nvPr/>
        </p:nvPicPr>
        <p:blipFill>
          <a:blip r:embed="rId8"/>
          <a:stretch>
            <a:fillRect/>
          </a:stretch>
        </p:blipFill>
        <p:spPr>
          <a:xfrm>
            <a:off x="6427716" y="1068148"/>
            <a:ext cx="609600" cy="999546"/>
          </a:xfrm>
          <a:prstGeom prst="rect">
            <a:avLst/>
          </a:prstGeom>
        </p:spPr>
      </p:pic>
      <p:pic>
        <p:nvPicPr>
          <p:cNvPr id="12" name="Picture 11">
            <a:extLst>
              <a:ext uri="{FF2B5EF4-FFF2-40B4-BE49-F238E27FC236}">
                <a16:creationId xmlns:a16="http://schemas.microsoft.com/office/drawing/2014/main" xmlns="" id="{9FB4C015-373E-42A2-BD8A-B8D8DCE787D5}"/>
              </a:ext>
            </a:extLst>
          </p:cNvPr>
          <p:cNvPicPr>
            <a:picLocks noChangeAspect="1"/>
          </p:cNvPicPr>
          <p:nvPr/>
        </p:nvPicPr>
        <p:blipFill>
          <a:blip r:embed="rId9"/>
          <a:stretch>
            <a:fillRect/>
          </a:stretch>
        </p:blipFill>
        <p:spPr>
          <a:xfrm>
            <a:off x="7328233" y="914400"/>
            <a:ext cx="851798" cy="1186716"/>
          </a:xfrm>
          <a:prstGeom prst="rect">
            <a:avLst/>
          </a:prstGeom>
        </p:spPr>
      </p:pic>
    </p:spTree>
    <p:extLst>
      <p:ext uri="{BB962C8B-B14F-4D97-AF65-F5344CB8AC3E}">
        <p14:creationId xmlns:p14="http://schemas.microsoft.com/office/powerpoint/2010/main" val="30225900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F536DFEC-BABB-4E56-8D04-008A82221000}"/>
              </a:ext>
            </a:extLst>
          </p:cNvPr>
          <p:cNvSpPr>
            <a:spLocks noGrp="1"/>
          </p:cNvSpPr>
          <p:nvPr>
            <p:ph type="sldNum" sz="quarter" idx="12"/>
          </p:nvPr>
        </p:nvSpPr>
        <p:spPr/>
        <p:txBody>
          <a:bodyPr/>
          <a:lstStyle/>
          <a:p>
            <a:pPr>
              <a:defRPr/>
            </a:pPr>
            <a:fld id="{99FE3154-E4F1-4DBC-AFFE-BDB47B1CC230}" type="slidenum">
              <a:rPr lang="en-US" smtClean="0"/>
              <a:pPr>
                <a:defRPr/>
              </a:pPr>
              <a:t>44</a:t>
            </a:fld>
            <a:endParaRPr lang="en-US"/>
          </a:p>
        </p:txBody>
      </p:sp>
      <p:sp>
        <p:nvSpPr>
          <p:cNvPr id="6" name="TextBox 5">
            <a:extLst>
              <a:ext uri="{FF2B5EF4-FFF2-40B4-BE49-F238E27FC236}">
                <a16:creationId xmlns:a16="http://schemas.microsoft.com/office/drawing/2014/main" xmlns="" id="{1ADA2B16-8704-415D-BB3B-D8A7CFF382A9}"/>
              </a:ext>
            </a:extLst>
          </p:cNvPr>
          <p:cNvSpPr txBox="1"/>
          <p:nvPr/>
        </p:nvSpPr>
        <p:spPr>
          <a:xfrm>
            <a:off x="2286000" y="136340"/>
            <a:ext cx="3200400" cy="707886"/>
          </a:xfrm>
          <a:prstGeom prst="rect">
            <a:avLst/>
          </a:prstGeom>
          <a:solidFill>
            <a:srgbClr val="FFCCFF"/>
          </a:solidFill>
        </p:spPr>
        <p:txBody>
          <a:bodyPr wrap="square" rtlCol="0">
            <a:spAutoFit/>
          </a:bodyPr>
          <a:lstStyle/>
          <a:p>
            <a:r>
              <a:rPr lang="en-US" sz="2000" dirty="0"/>
              <a:t>Current user database under tracking area like VLR</a:t>
            </a:r>
          </a:p>
        </p:txBody>
      </p:sp>
      <p:sp>
        <p:nvSpPr>
          <p:cNvPr id="7" name="TextBox 6">
            <a:extLst>
              <a:ext uri="{FF2B5EF4-FFF2-40B4-BE49-F238E27FC236}">
                <a16:creationId xmlns:a16="http://schemas.microsoft.com/office/drawing/2014/main" xmlns="" id="{24B8B41F-8E42-4872-8A9F-D779F7DD98E9}"/>
              </a:ext>
            </a:extLst>
          </p:cNvPr>
          <p:cNvSpPr txBox="1"/>
          <p:nvPr/>
        </p:nvSpPr>
        <p:spPr>
          <a:xfrm>
            <a:off x="5715000" y="343792"/>
            <a:ext cx="3276600" cy="400110"/>
          </a:xfrm>
          <a:prstGeom prst="rect">
            <a:avLst/>
          </a:prstGeom>
          <a:solidFill>
            <a:srgbClr val="FFCCFF"/>
          </a:solidFill>
        </p:spPr>
        <p:txBody>
          <a:bodyPr wrap="square" rtlCol="0">
            <a:spAutoFit/>
          </a:bodyPr>
          <a:lstStyle/>
          <a:p>
            <a:r>
              <a:rPr lang="en-US" sz="2000" dirty="0"/>
              <a:t>Entire user database like HLR</a:t>
            </a:r>
          </a:p>
        </p:txBody>
      </p:sp>
      <p:pic>
        <p:nvPicPr>
          <p:cNvPr id="4" name="Picture 3">
            <a:extLst>
              <a:ext uri="{FF2B5EF4-FFF2-40B4-BE49-F238E27FC236}">
                <a16:creationId xmlns:a16="http://schemas.microsoft.com/office/drawing/2014/main" xmlns="" id="{9921DAB7-FC6D-4FD9-9FD4-BCDB4215D321}"/>
              </a:ext>
            </a:extLst>
          </p:cNvPr>
          <p:cNvPicPr>
            <a:picLocks noChangeAspect="1"/>
          </p:cNvPicPr>
          <p:nvPr/>
        </p:nvPicPr>
        <p:blipFill>
          <a:blip r:embed="rId2"/>
          <a:stretch>
            <a:fillRect/>
          </a:stretch>
        </p:blipFill>
        <p:spPr>
          <a:xfrm>
            <a:off x="609600" y="1372315"/>
            <a:ext cx="8153400" cy="3990975"/>
          </a:xfrm>
          <a:prstGeom prst="rect">
            <a:avLst/>
          </a:prstGeom>
        </p:spPr>
      </p:pic>
      <p:cxnSp>
        <p:nvCxnSpPr>
          <p:cNvPr id="5" name="Straight Arrow Connector 4">
            <a:extLst>
              <a:ext uri="{FF2B5EF4-FFF2-40B4-BE49-F238E27FC236}">
                <a16:creationId xmlns:a16="http://schemas.microsoft.com/office/drawing/2014/main" xmlns="" id="{B6DAD9CB-98D4-416E-AA6E-254F4D18936F}"/>
              </a:ext>
            </a:extLst>
          </p:cNvPr>
          <p:cNvCxnSpPr>
            <a:cxnSpLocks/>
          </p:cNvCxnSpPr>
          <p:nvPr/>
        </p:nvCxnSpPr>
        <p:spPr>
          <a:xfrm flipV="1">
            <a:off x="4114800" y="881904"/>
            <a:ext cx="152400" cy="12516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xmlns="" id="{63300F01-C9E7-44C5-A334-563C16BA2550}"/>
              </a:ext>
            </a:extLst>
          </p:cNvPr>
          <p:cNvCxnSpPr>
            <a:cxnSpLocks/>
            <a:endCxn id="7" idx="2"/>
          </p:cNvCxnSpPr>
          <p:nvPr/>
        </p:nvCxnSpPr>
        <p:spPr>
          <a:xfrm flipV="1">
            <a:off x="6553200" y="743902"/>
            <a:ext cx="800100" cy="151894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F08D3A80-4CF2-4677-84C1-BEB424199B5A}"/>
              </a:ext>
            </a:extLst>
          </p:cNvPr>
          <p:cNvSpPr txBox="1"/>
          <p:nvPr/>
        </p:nvSpPr>
        <p:spPr>
          <a:xfrm>
            <a:off x="0" y="5429714"/>
            <a:ext cx="3124200" cy="830997"/>
          </a:xfrm>
          <a:prstGeom prst="rect">
            <a:avLst/>
          </a:prstGeom>
          <a:noFill/>
        </p:spPr>
        <p:txBody>
          <a:bodyPr wrap="square" rtlCol="0">
            <a:spAutoFit/>
          </a:bodyPr>
          <a:lstStyle/>
          <a:p>
            <a:pPr algn="ctr"/>
            <a:r>
              <a:rPr lang="en-US" b="1" dirty="0">
                <a:solidFill>
                  <a:srgbClr val="FF0000"/>
                </a:solidFill>
              </a:rPr>
              <a:t>Radio Access Network</a:t>
            </a:r>
          </a:p>
          <a:p>
            <a:pPr algn="ctr"/>
            <a:r>
              <a:rPr lang="en-US" b="1" dirty="0">
                <a:solidFill>
                  <a:srgbClr val="FF0000"/>
                </a:solidFill>
              </a:rPr>
              <a:t>(E-UTRAN)</a:t>
            </a:r>
          </a:p>
        </p:txBody>
      </p:sp>
      <p:sp>
        <p:nvSpPr>
          <p:cNvPr id="13" name="Rectangle 12">
            <a:extLst>
              <a:ext uri="{FF2B5EF4-FFF2-40B4-BE49-F238E27FC236}">
                <a16:creationId xmlns:a16="http://schemas.microsoft.com/office/drawing/2014/main" xmlns="" id="{2DA1C397-DD36-48E4-BBC4-E1512FBF0C3E}"/>
              </a:ext>
            </a:extLst>
          </p:cNvPr>
          <p:cNvSpPr/>
          <p:nvPr/>
        </p:nvSpPr>
        <p:spPr>
          <a:xfrm>
            <a:off x="4566501" y="4927783"/>
            <a:ext cx="2929841" cy="461665"/>
          </a:xfrm>
          <a:prstGeom prst="rect">
            <a:avLst/>
          </a:prstGeom>
        </p:spPr>
        <p:txBody>
          <a:bodyPr wrap="none">
            <a:spAutoFit/>
          </a:bodyPr>
          <a:lstStyle/>
          <a:p>
            <a:r>
              <a:rPr lang="en-US" b="1" dirty="0">
                <a:solidFill>
                  <a:srgbClr val="FF0000"/>
                </a:solidFill>
              </a:rPr>
              <a:t>Evolved Packet Core</a:t>
            </a:r>
            <a:endParaRPr lang="en-US" dirty="0"/>
          </a:p>
        </p:txBody>
      </p:sp>
    </p:spTree>
    <p:extLst>
      <p:ext uri="{BB962C8B-B14F-4D97-AF65-F5344CB8AC3E}">
        <p14:creationId xmlns:p14="http://schemas.microsoft.com/office/powerpoint/2010/main" val="24048724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45</a:t>
            </a:fld>
            <a:endParaRPr lang="en-US"/>
          </a:p>
        </p:txBody>
      </p:sp>
      <p:sp>
        <p:nvSpPr>
          <p:cNvPr id="44" name="Rectangle 32"/>
          <p:cNvSpPr>
            <a:spLocks noChangeArrowheads="1"/>
          </p:cNvSpPr>
          <p:nvPr/>
        </p:nvSpPr>
        <p:spPr bwMode="auto">
          <a:xfrm>
            <a:off x="3071424" y="6138870"/>
            <a:ext cx="3443288" cy="461963"/>
          </a:xfrm>
          <a:prstGeom prst="rect">
            <a:avLst/>
          </a:prstGeom>
          <a:noFill/>
          <a:ln w="9525">
            <a:noFill/>
            <a:miter lim="800000"/>
            <a:headEnd/>
            <a:tailEnd/>
          </a:ln>
        </p:spPr>
        <p:txBody>
          <a:bodyPr wrap="none">
            <a:spAutoFit/>
          </a:bodyPr>
          <a:lstStyle/>
          <a:p>
            <a:r>
              <a:rPr lang="en-US" dirty="0"/>
              <a:t>Fig.1 Architecture of LTE </a:t>
            </a:r>
          </a:p>
        </p:txBody>
      </p:sp>
      <p:grpSp>
        <p:nvGrpSpPr>
          <p:cNvPr id="62" name="Group 61">
            <a:extLst>
              <a:ext uri="{FF2B5EF4-FFF2-40B4-BE49-F238E27FC236}">
                <a16:creationId xmlns:a16="http://schemas.microsoft.com/office/drawing/2014/main" xmlns="" id="{88323A49-FBC9-428A-92B8-BC8F78CE4B46}"/>
              </a:ext>
            </a:extLst>
          </p:cNvPr>
          <p:cNvGrpSpPr/>
          <p:nvPr/>
        </p:nvGrpSpPr>
        <p:grpSpPr>
          <a:xfrm>
            <a:off x="366230" y="1671921"/>
            <a:ext cx="8549165" cy="4678454"/>
            <a:chOff x="571529" y="959403"/>
            <a:chExt cx="8549165" cy="4678454"/>
          </a:xfrm>
        </p:grpSpPr>
        <p:grpSp>
          <p:nvGrpSpPr>
            <p:cNvPr id="58" name="Group 57">
              <a:extLst>
                <a:ext uri="{FF2B5EF4-FFF2-40B4-BE49-F238E27FC236}">
                  <a16:creationId xmlns:a16="http://schemas.microsoft.com/office/drawing/2014/main" xmlns="" id="{6721598B-1519-40C8-9CD5-6D655297F65F}"/>
                </a:ext>
              </a:extLst>
            </p:cNvPr>
            <p:cNvGrpSpPr/>
            <p:nvPr/>
          </p:nvGrpSpPr>
          <p:grpSpPr>
            <a:xfrm>
              <a:off x="571529" y="959403"/>
              <a:ext cx="8549165" cy="4678454"/>
              <a:chOff x="571529" y="959403"/>
              <a:chExt cx="8549165" cy="4678454"/>
            </a:xfrm>
          </p:grpSpPr>
          <p:grpSp>
            <p:nvGrpSpPr>
              <p:cNvPr id="3" name="Group 2">
                <a:extLst>
                  <a:ext uri="{FF2B5EF4-FFF2-40B4-BE49-F238E27FC236}">
                    <a16:creationId xmlns:a16="http://schemas.microsoft.com/office/drawing/2014/main" xmlns="" id="{6C2D188F-2D3D-48EE-BAA4-F839514B8BC6}"/>
                  </a:ext>
                </a:extLst>
              </p:cNvPr>
              <p:cNvGrpSpPr/>
              <p:nvPr/>
            </p:nvGrpSpPr>
            <p:grpSpPr>
              <a:xfrm>
                <a:off x="571529" y="959403"/>
                <a:ext cx="8549165" cy="4678454"/>
                <a:chOff x="423395" y="1798546"/>
                <a:chExt cx="8549165" cy="4678454"/>
              </a:xfrm>
            </p:grpSpPr>
            <p:grpSp>
              <p:nvGrpSpPr>
                <p:cNvPr id="4" name="Group 3"/>
                <p:cNvGrpSpPr/>
                <p:nvPr/>
              </p:nvGrpSpPr>
              <p:grpSpPr>
                <a:xfrm>
                  <a:off x="423395" y="1798546"/>
                  <a:ext cx="8549165" cy="4678454"/>
                  <a:chOff x="603357" y="505754"/>
                  <a:chExt cx="8549165" cy="4678454"/>
                </a:xfrm>
              </p:grpSpPr>
              <p:grpSp>
                <p:nvGrpSpPr>
                  <p:cNvPr id="9" name="Group 8"/>
                  <p:cNvGrpSpPr/>
                  <p:nvPr/>
                </p:nvGrpSpPr>
                <p:grpSpPr>
                  <a:xfrm>
                    <a:off x="603357" y="505754"/>
                    <a:ext cx="8549165" cy="4678454"/>
                    <a:chOff x="603357" y="505754"/>
                    <a:chExt cx="8549165" cy="4678454"/>
                  </a:xfrm>
                </p:grpSpPr>
                <p:grpSp>
                  <p:nvGrpSpPr>
                    <p:cNvPr id="11" name="Group 10"/>
                    <p:cNvGrpSpPr/>
                    <p:nvPr/>
                  </p:nvGrpSpPr>
                  <p:grpSpPr>
                    <a:xfrm>
                      <a:off x="603357" y="505754"/>
                      <a:ext cx="8549165" cy="4678454"/>
                      <a:chOff x="603357" y="505754"/>
                      <a:chExt cx="8549165" cy="4678454"/>
                    </a:xfrm>
                  </p:grpSpPr>
                  <p:sp>
                    <p:nvSpPr>
                      <p:cNvPr id="13" name="Text Box 4"/>
                      <p:cNvSpPr txBox="1">
                        <a:spLocks noChangeArrowheads="1"/>
                      </p:cNvSpPr>
                      <p:nvPr/>
                    </p:nvSpPr>
                    <p:spPr bwMode="auto">
                      <a:xfrm>
                        <a:off x="4572000" y="990600"/>
                        <a:ext cx="1457990" cy="448754"/>
                      </a:xfrm>
                      <a:prstGeom prst="rect">
                        <a:avLst/>
                      </a:prstGeom>
                      <a:solidFill>
                        <a:srgbClr val="FFFF00"/>
                      </a:solidFill>
                      <a:ln w="9525">
                        <a:solidFill>
                          <a:srgbClr val="000000"/>
                        </a:solidFill>
                        <a:miter lim="800000"/>
                        <a:headEnd/>
                        <a:tailEnd/>
                      </a:ln>
                    </p:spPr>
                    <p:txBody>
                      <a:bodyPr/>
                      <a:lstStyle/>
                      <a:p>
                        <a:pPr>
                          <a:spcAft>
                            <a:spcPts val="1000"/>
                          </a:spcAft>
                        </a:pPr>
                        <a:r>
                          <a:rPr lang="en-US" sz="1400" dirty="0"/>
                          <a:t>S-GW and MME</a:t>
                        </a:r>
                      </a:p>
                    </p:txBody>
                  </p:sp>
                  <p:sp>
                    <p:nvSpPr>
                      <p:cNvPr id="14" name="Text Box 5"/>
                      <p:cNvSpPr txBox="1">
                        <a:spLocks noChangeArrowheads="1"/>
                      </p:cNvSpPr>
                      <p:nvPr/>
                    </p:nvSpPr>
                    <p:spPr bwMode="auto">
                      <a:xfrm>
                        <a:off x="6743147" y="990600"/>
                        <a:ext cx="645200" cy="448754"/>
                      </a:xfrm>
                      <a:prstGeom prst="rect">
                        <a:avLst/>
                      </a:prstGeom>
                      <a:solidFill>
                        <a:srgbClr val="00FFFF"/>
                      </a:solidFill>
                      <a:ln w="9525">
                        <a:solidFill>
                          <a:srgbClr val="000000"/>
                        </a:solidFill>
                        <a:miter lim="800000"/>
                        <a:headEnd/>
                        <a:tailEnd/>
                      </a:ln>
                    </p:spPr>
                    <p:txBody>
                      <a:bodyPr/>
                      <a:lstStyle/>
                      <a:p>
                        <a:pPr>
                          <a:spcAft>
                            <a:spcPts val="1000"/>
                          </a:spcAft>
                        </a:pPr>
                        <a:r>
                          <a:rPr lang="en-US" sz="1400" dirty="0"/>
                          <a:t>HSS</a:t>
                        </a:r>
                      </a:p>
                    </p:txBody>
                  </p:sp>
                  <p:cxnSp>
                    <p:nvCxnSpPr>
                      <p:cNvPr id="15" name="AutoShape 6"/>
                      <p:cNvCxnSpPr>
                        <a:cxnSpLocks noChangeShapeType="1"/>
                      </p:cNvCxnSpPr>
                      <p:nvPr/>
                    </p:nvCxnSpPr>
                    <p:spPr bwMode="auto">
                      <a:xfrm>
                        <a:off x="6029990" y="1219556"/>
                        <a:ext cx="713158" cy="0"/>
                      </a:xfrm>
                      <a:prstGeom prst="straightConnector1">
                        <a:avLst/>
                      </a:prstGeom>
                      <a:noFill/>
                      <a:ln w="38100">
                        <a:solidFill>
                          <a:srgbClr val="0000FF"/>
                        </a:solidFill>
                        <a:round/>
                        <a:headEnd/>
                        <a:tailEnd/>
                      </a:ln>
                    </p:spPr>
                  </p:cxnSp>
                  <p:sp>
                    <p:nvSpPr>
                      <p:cNvPr id="16" name="Text Box 7"/>
                      <p:cNvSpPr txBox="1">
                        <a:spLocks noChangeArrowheads="1"/>
                      </p:cNvSpPr>
                      <p:nvPr/>
                    </p:nvSpPr>
                    <p:spPr bwMode="auto">
                      <a:xfrm>
                        <a:off x="6029990" y="1896351"/>
                        <a:ext cx="904239" cy="681372"/>
                      </a:xfrm>
                      <a:prstGeom prst="rect">
                        <a:avLst/>
                      </a:prstGeom>
                      <a:solidFill>
                        <a:srgbClr val="FFFF00"/>
                      </a:solidFill>
                      <a:ln w="9525">
                        <a:solidFill>
                          <a:srgbClr val="000000"/>
                        </a:solidFill>
                        <a:miter lim="800000"/>
                        <a:headEnd/>
                        <a:tailEnd/>
                      </a:ln>
                    </p:spPr>
                    <p:txBody>
                      <a:bodyPr/>
                      <a:lstStyle/>
                      <a:p>
                        <a:pPr>
                          <a:spcAft>
                            <a:spcPts val="1000"/>
                          </a:spcAft>
                        </a:pPr>
                        <a:r>
                          <a:rPr lang="en-US" sz="1400" dirty="0"/>
                          <a:t>P-GW or</a:t>
                        </a:r>
                      </a:p>
                      <a:p>
                        <a:pPr>
                          <a:spcAft>
                            <a:spcPts val="1000"/>
                          </a:spcAft>
                        </a:pPr>
                        <a:r>
                          <a:rPr lang="en-US" sz="1400" dirty="0"/>
                          <a:t>PDN-GW</a:t>
                        </a:r>
                      </a:p>
                    </p:txBody>
                  </p:sp>
                  <p:cxnSp>
                    <p:nvCxnSpPr>
                      <p:cNvPr id="17" name="AutoShape 8"/>
                      <p:cNvCxnSpPr>
                        <a:cxnSpLocks noChangeShapeType="1"/>
                      </p:cNvCxnSpPr>
                      <p:nvPr/>
                    </p:nvCxnSpPr>
                    <p:spPr bwMode="auto">
                      <a:xfrm>
                        <a:off x="5822918" y="1439354"/>
                        <a:ext cx="590833" cy="456997"/>
                      </a:xfrm>
                      <a:prstGeom prst="straightConnector1">
                        <a:avLst/>
                      </a:prstGeom>
                      <a:noFill/>
                      <a:ln w="9525">
                        <a:solidFill>
                          <a:srgbClr val="000000"/>
                        </a:solidFill>
                        <a:round/>
                        <a:headEnd/>
                        <a:tailEnd/>
                      </a:ln>
                    </p:spPr>
                  </p:cxnSp>
                  <p:cxnSp>
                    <p:nvCxnSpPr>
                      <p:cNvPr id="18" name="AutoShape 9"/>
                      <p:cNvCxnSpPr>
                        <a:cxnSpLocks noChangeShapeType="1"/>
                      </p:cNvCxnSpPr>
                      <p:nvPr/>
                    </p:nvCxnSpPr>
                    <p:spPr bwMode="auto">
                      <a:xfrm flipV="1">
                        <a:off x="6552066" y="1439354"/>
                        <a:ext cx="358977" cy="456997"/>
                      </a:xfrm>
                      <a:prstGeom prst="straightConnector1">
                        <a:avLst/>
                      </a:prstGeom>
                      <a:noFill/>
                      <a:ln w="9525">
                        <a:solidFill>
                          <a:srgbClr val="000000"/>
                        </a:solidFill>
                        <a:round/>
                        <a:headEnd/>
                        <a:tailEnd/>
                      </a:ln>
                    </p:spPr>
                  </p:cxnSp>
                  <p:sp>
                    <p:nvSpPr>
                      <p:cNvPr id="19" name="AutoShape 10"/>
                      <p:cNvSpPr>
                        <a:spLocks noChangeArrowheads="1"/>
                      </p:cNvSpPr>
                      <p:nvPr/>
                    </p:nvSpPr>
                    <p:spPr bwMode="auto">
                      <a:xfrm>
                        <a:off x="603357" y="1983588"/>
                        <a:ext cx="4658710" cy="2918733"/>
                      </a:xfrm>
                      <a:prstGeom prst="cloudCallout">
                        <a:avLst>
                          <a:gd name="adj1" fmla="val -14426"/>
                          <a:gd name="adj2" fmla="val 19060"/>
                        </a:avLst>
                      </a:prstGeom>
                      <a:solidFill>
                        <a:srgbClr val="92D050"/>
                      </a:solidFill>
                      <a:ln w="9525">
                        <a:solidFill>
                          <a:srgbClr val="000000"/>
                        </a:solidFill>
                        <a:round/>
                        <a:headEnd/>
                        <a:tailEnd/>
                      </a:ln>
                    </p:spPr>
                    <p:txBody>
                      <a:bodyPr/>
                      <a:lstStyle/>
                      <a:p>
                        <a:pPr>
                          <a:spcAft>
                            <a:spcPts val="1000"/>
                          </a:spcAft>
                        </a:pPr>
                        <a:endParaRPr lang="en-US" sz="1400" dirty="0"/>
                      </a:p>
                    </p:txBody>
                  </p:sp>
                  <p:grpSp>
                    <p:nvGrpSpPr>
                      <p:cNvPr id="20" name="Group 12"/>
                      <p:cNvGrpSpPr>
                        <a:grpSpLocks/>
                      </p:cNvGrpSpPr>
                      <p:nvPr/>
                    </p:nvGrpSpPr>
                    <p:grpSpPr bwMode="auto">
                      <a:xfrm>
                        <a:off x="1012303" y="1582223"/>
                        <a:ext cx="3760067" cy="2637575"/>
                        <a:chOff x="2286" y="11555"/>
                        <a:chExt cx="4703" cy="2880"/>
                      </a:xfrm>
                    </p:grpSpPr>
                    <p:grpSp>
                      <p:nvGrpSpPr>
                        <p:cNvPr id="36" name="Group 13"/>
                        <p:cNvGrpSpPr>
                          <a:grpSpLocks/>
                        </p:cNvGrpSpPr>
                        <p:nvPr/>
                      </p:nvGrpSpPr>
                      <p:grpSpPr bwMode="auto">
                        <a:xfrm>
                          <a:off x="2286" y="12507"/>
                          <a:ext cx="4703" cy="1928"/>
                          <a:chOff x="2334" y="11213"/>
                          <a:chExt cx="4703" cy="1928"/>
                        </a:xfrm>
                      </p:grpSpPr>
                      <p:sp>
                        <p:nvSpPr>
                          <p:cNvPr id="38" name="Oval 14"/>
                          <p:cNvSpPr>
                            <a:spLocks noChangeArrowheads="1"/>
                          </p:cNvSpPr>
                          <p:nvPr/>
                        </p:nvSpPr>
                        <p:spPr bwMode="auto">
                          <a:xfrm>
                            <a:off x="2334" y="11213"/>
                            <a:ext cx="4703" cy="1928"/>
                          </a:xfrm>
                          <a:prstGeom prst="ellipse">
                            <a:avLst/>
                          </a:prstGeom>
                          <a:solidFill>
                            <a:srgbClr val="FFFFFF"/>
                          </a:solidFill>
                          <a:ln w="9525">
                            <a:solidFill>
                              <a:srgbClr val="000000"/>
                            </a:solidFill>
                            <a:round/>
                            <a:headEnd/>
                            <a:tailEnd/>
                          </a:ln>
                        </p:spPr>
                        <p:txBody>
                          <a:bodyPr/>
                          <a:lstStyle/>
                          <a:p>
                            <a:pPr>
                              <a:spcAft>
                                <a:spcPts val="1000"/>
                              </a:spcAft>
                            </a:pPr>
                            <a:r>
                              <a:rPr lang="en-US" sz="1400" dirty="0"/>
                              <a:t>                Macro              </a:t>
                            </a:r>
                          </a:p>
                          <a:p>
                            <a:pPr>
                              <a:spcAft>
                                <a:spcPts val="1000"/>
                              </a:spcAft>
                            </a:pPr>
                            <a:endParaRPr lang="en-US" sz="1400" dirty="0"/>
                          </a:p>
                          <a:p>
                            <a:pPr>
                              <a:spcAft>
                                <a:spcPts val="1000"/>
                              </a:spcAft>
                            </a:pPr>
                            <a:r>
                              <a:rPr lang="en-US" sz="1400" dirty="0"/>
                              <a:t>                                                  </a:t>
                            </a:r>
                            <a:r>
                              <a:rPr lang="en-US" sz="1400" dirty="0" err="1"/>
                              <a:t>Femto</a:t>
                            </a:r>
                            <a:endParaRPr lang="en-US" sz="1400" dirty="0"/>
                          </a:p>
                          <a:p>
                            <a:pPr>
                              <a:spcAft>
                                <a:spcPts val="1000"/>
                              </a:spcAft>
                            </a:pPr>
                            <a:endParaRPr lang="en-US" sz="1400" dirty="0"/>
                          </a:p>
                          <a:p>
                            <a:pPr>
                              <a:spcAft>
                                <a:spcPts val="1000"/>
                              </a:spcAft>
                            </a:pPr>
                            <a:endParaRPr lang="en-US" sz="1400" dirty="0"/>
                          </a:p>
                          <a:p>
                            <a:pPr>
                              <a:spcAft>
                                <a:spcPts val="1000"/>
                              </a:spcAft>
                            </a:pPr>
                            <a:r>
                              <a:rPr lang="en-US" sz="1400" dirty="0"/>
                              <a:t>       </a:t>
                            </a:r>
                          </a:p>
                        </p:txBody>
                      </p:sp>
                      <p:sp>
                        <p:nvSpPr>
                          <p:cNvPr id="39" name="Oval 15"/>
                          <p:cNvSpPr>
                            <a:spLocks noChangeArrowheads="1"/>
                          </p:cNvSpPr>
                          <p:nvPr/>
                        </p:nvSpPr>
                        <p:spPr bwMode="auto">
                          <a:xfrm>
                            <a:off x="5522" y="12134"/>
                            <a:ext cx="968" cy="451"/>
                          </a:xfrm>
                          <a:prstGeom prst="ellipse">
                            <a:avLst/>
                          </a:prstGeom>
                          <a:solidFill>
                            <a:srgbClr val="FFFFFF"/>
                          </a:solidFill>
                          <a:ln w="9525">
                            <a:solidFill>
                              <a:srgbClr val="000000"/>
                            </a:solidFill>
                            <a:round/>
                            <a:headEnd/>
                            <a:tailEnd/>
                          </a:ln>
                        </p:spPr>
                        <p:txBody>
                          <a:bodyPr/>
                          <a:lstStyle/>
                          <a:p>
                            <a:endParaRPr lang="en-US" sz="1400"/>
                          </a:p>
                        </p:txBody>
                      </p:sp>
                      <p:sp>
                        <p:nvSpPr>
                          <p:cNvPr id="40" name="Oval 16"/>
                          <p:cNvSpPr>
                            <a:spLocks noChangeArrowheads="1"/>
                          </p:cNvSpPr>
                          <p:nvPr/>
                        </p:nvSpPr>
                        <p:spPr bwMode="auto">
                          <a:xfrm>
                            <a:off x="2671" y="11866"/>
                            <a:ext cx="968" cy="451"/>
                          </a:xfrm>
                          <a:prstGeom prst="ellipse">
                            <a:avLst/>
                          </a:prstGeom>
                          <a:solidFill>
                            <a:srgbClr val="FFFFFF"/>
                          </a:solidFill>
                          <a:ln w="9525">
                            <a:solidFill>
                              <a:srgbClr val="000000"/>
                            </a:solidFill>
                            <a:round/>
                            <a:headEnd/>
                            <a:tailEnd/>
                          </a:ln>
                        </p:spPr>
                        <p:txBody>
                          <a:bodyPr/>
                          <a:lstStyle/>
                          <a:p>
                            <a:endParaRPr lang="en-US" sz="1400"/>
                          </a:p>
                        </p:txBody>
                      </p:sp>
                      <p:graphicFrame>
                        <p:nvGraphicFramePr>
                          <p:cNvPr id="41" name="Object 17"/>
                          <p:cNvGraphicFramePr>
                            <a:graphicFrameLocks noChangeAspect="1"/>
                          </p:cNvGraphicFramePr>
                          <p:nvPr/>
                        </p:nvGraphicFramePr>
                        <p:xfrm>
                          <a:off x="5922" y="11954"/>
                          <a:ext cx="219" cy="498"/>
                        </p:xfrm>
                        <a:graphic>
                          <a:graphicData uri="http://schemas.openxmlformats.org/presentationml/2006/ole">
                            <mc:AlternateContent xmlns:mc="http://schemas.openxmlformats.org/markup-compatibility/2006">
                              <mc:Choice xmlns:v="urn:schemas-microsoft-com:vml" Requires="v">
                                <p:oleObj spid="_x0000_s83518" r:id="rId3" imgW="1046480" imgH="2377440" progId="">
                                  <p:embed/>
                                </p:oleObj>
                              </mc:Choice>
                              <mc:Fallback>
                                <p:oleObj r:id="rId3" imgW="1046480" imgH="23774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2" y="11954"/>
                                        <a:ext cx="219" cy="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 name="Object 18"/>
                          <p:cNvGraphicFramePr>
                            <a:graphicFrameLocks noChangeAspect="1"/>
                          </p:cNvGraphicFramePr>
                          <p:nvPr/>
                        </p:nvGraphicFramePr>
                        <p:xfrm>
                          <a:off x="2994" y="11636"/>
                          <a:ext cx="219" cy="498"/>
                        </p:xfrm>
                        <a:graphic>
                          <a:graphicData uri="http://schemas.openxmlformats.org/presentationml/2006/ole">
                            <mc:AlternateContent xmlns:mc="http://schemas.openxmlformats.org/markup-compatibility/2006">
                              <mc:Choice xmlns:v="urn:schemas-microsoft-com:vml" Requires="v">
                                <p:oleObj spid="_x0000_s83519" r:id="rId5" imgW="1046480" imgH="2377440" progId="">
                                  <p:embed/>
                                </p:oleObj>
                              </mc:Choice>
                              <mc:Fallback>
                                <p:oleObj r:id="rId5" imgW="1046480" imgH="23774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4" y="11636"/>
                                        <a:ext cx="219" cy="4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7" name="Object 19"/>
                        <p:cNvGraphicFramePr>
                          <a:graphicFrameLocks noChangeAspect="1"/>
                        </p:cNvGraphicFramePr>
                        <p:nvPr>
                          <p:extLst>
                            <p:ext uri="{D42A27DB-BD31-4B8C-83A1-F6EECF244321}">
                              <p14:modId xmlns:p14="http://schemas.microsoft.com/office/powerpoint/2010/main" val="3759145857"/>
                            </p:ext>
                          </p:extLst>
                        </p:nvPr>
                      </p:nvGraphicFramePr>
                      <p:xfrm>
                        <a:off x="4469" y="11555"/>
                        <a:ext cx="696" cy="1583"/>
                      </p:xfrm>
                      <a:graphic>
                        <a:graphicData uri="http://schemas.openxmlformats.org/presentationml/2006/ole">
                          <mc:AlternateContent xmlns:mc="http://schemas.openxmlformats.org/markup-compatibility/2006">
                            <mc:Choice xmlns:v="urn:schemas-microsoft-com:vml" Requires="v">
                              <p:oleObj spid="_x0000_s83520" r:id="rId6" imgW="1046480" imgH="2377440" progId="">
                                <p:embed/>
                              </p:oleObj>
                            </mc:Choice>
                            <mc:Fallback>
                              <p:oleObj r:id="rId6" imgW="1046480" imgH="23774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9" y="11555"/>
                                      <a:ext cx="696" cy="1583"/>
                                    </a:xfrm>
                                    <a:prstGeom prst="rect">
                                      <a:avLst/>
                                    </a:prstGeom>
                                    <a:noFill/>
                                  </p:spPr>
                                </p:pic>
                              </p:oleObj>
                            </mc:Fallback>
                          </mc:AlternateContent>
                        </a:graphicData>
                      </a:graphic>
                    </p:graphicFrame>
                  </p:grpSp>
                  <p:graphicFrame>
                    <p:nvGraphicFramePr>
                      <p:cNvPr id="21" name="Object 20"/>
                      <p:cNvGraphicFramePr>
                        <a:graphicFrameLocks noChangeAspect="1"/>
                      </p:cNvGraphicFramePr>
                      <p:nvPr>
                        <p:extLst>
                          <p:ext uri="{D42A27DB-BD31-4B8C-83A1-F6EECF244321}">
                            <p14:modId xmlns:p14="http://schemas.microsoft.com/office/powerpoint/2010/main" val="4219518033"/>
                          </p:ext>
                        </p:extLst>
                      </p:nvPr>
                    </p:nvGraphicFramePr>
                    <p:xfrm>
                      <a:off x="3820161" y="3313132"/>
                      <a:ext cx="582838" cy="397468"/>
                    </p:xfrm>
                    <a:graphic>
                      <a:graphicData uri="http://schemas.openxmlformats.org/presentationml/2006/ole">
                        <mc:AlternateContent xmlns:mc="http://schemas.openxmlformats.org/markup-compatibility/2006">
                          <mc:Choice xmlns:v="urn:schemas-microsoft-com:vml" Requires="v">
                            <p:oleObj spid="_x0000_s83521" r:id="rId7" imgW="4480560" imgH="2641600" progId="">
                              <p:embed/>
                            </p:oleObj>
                          </mc:Choice>
                          <mc:Fallback>
                            <p:oleObj r:id="rId7" imgW="4480560" imgH="26416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0161" y="3313132"/>
                                    <a:ext cx="582838" cy="3974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2" name="AutoShape 21"/>
                      <p:cNvCxnSpPr>
                        <a:cxnSpLocks noChangeShapeType="1"/>
                      </p:cNvCxnSpPr>
                      <p:nvPr/>
                    </p:nvCxnSpPr>
                    <p:spPr bwMode="auto">
                      <a:xfrm flipV="1">
                        <a:off x="3090214" y="1447800"/>
                        <a:ext cx="1557986" cy="659190"/>
                      </a:xfrm>
                      <a:prstGeom prst="straightConnector1">
                        <a:avLst/>
                      </a:prstGeom>
                      <a:noFill/>
                      <a:ln w="9525">
                        <a:solidFill>
                          <a:srgbClr val="000000"/>
                        </a:solidFill>
                        <a:prstDash val="dash"/>
                        <a:round/>
                        <a:headEnd/>
                        <a:tailEnd/>
                      </a:ln>
                    </p:spPr>
                  </p:cxnSp>
                  <p:sp>
                    <p:nvSpPr>
                      <p:cNvPr id="23" name="Text Box 23"/>
                      <p:cNvSpPr txBox="1">
                        <a:spLocks noChangeArrowheads="1"/>
                      </p:cNvSpPr>
                      <p:nvPr/>
                    </p:nvSpPr>
                    <p:spPr bwMode="auto">
                      <a:xfrm>
                        <a:off x="6095549" y="3465157"/>
                        <a:ext cx="1844815" cy="682141"/>
                      </a:xfrm>
                      <a:prstGeom prst="rect">
                        <a:avLst/>
                      </a:prstGeom>
                      <a:solidFill>
                        <a:srgbClr val="FFCCCC"/>
                      </a:solidFill>
                      <a:ln w="9525">
                        <a:solidFill>
                          <a:srgbClr val="000000"/>
                        </a:solidFill>
                        <a:miter lim="800000"/>
                        <a:headEnd/>
                        <a:tailEnd/>
                      </a:ln>
                    </p:spPr>
                    <p:txBody>
                      <a:bodyPr/>
                      <a:lstStyle/>
                      <a:p>
                        <a:pPr>
                          <a:spcAft>
                            <a:spcPts val="1000"/>
                          </a:spcAft>
                        </a:pPr>
                        <a:r>
                          <a:rPr lang="en-US" sz="2000" dirty="0"/>
                          <a:t>Trusted external network</a:t>
                        </a:r>
                      </a:p>
                    </p:txBody>
                  </p:sp>
                  <p:cxnSp>
                    <p:nvCxnSpPr>
                      <p:cNvPr id="24" name="AutoShape 24"/>
                      <p:cNvCxnSpPr>
                        <a:cxnSpLocks noChangeShapeType="1"/>
                        <a:endCxn id="16" idx="2"/>
                      </p:cNvCxnSpPr>
                      <p:nvPr/>
                    </p:nvCxnSpPr>
                    <p:spPr bwMode="auto">
                      <a:xfrm flipH="1" flipV="1">
                        <a:off x="6482110" y="2577723"/>
                        <a:ext cx="622414" cy="887436"/>
                      </a:xfrm>
                      <a:prstGeom prst="straightConnector1">
                        <a:avLst/>
                      </a:prstGeom>
                      <a:noFill/>
                      <a:ln w="9525">
                        <a:solidFill>
                          <a:srgbClr val="000000"/>
                        </a:solidFill>
                        <a:round/>
                        <a:headEnd/>
                        <a:tailEnd/>
                      </a:ln>
                    </p:spPr>
                  </p:cxnSp>
                  <p:sp>
                    <p:nvSpPr>
                      <p:cNvPr id="25" name="Text Box 25"/>
                      <p:cNvSpPr txBox="1">
                        <a:spLocks noChangeArrowheads="1"/>
                      </p:cNvSpPr>
                      <p:nvPr/>
                    </p:nvSpPr>
                    <p:spPr bwMode="auto">
                      <a:xfrm>
                        <a:off x="7289209" y="1827664"/>
                        <a:ext cx="789910" cy="517441"/>
                      </a:xfrm>
                      <a:prstGeom prst="rect">
                        <a:avLst/>
                      </a:prstGeom>
                      <a:solidFill>
                        <a:srgbClr val="00FFFF"/>
                      </a:solidFill>
                      <a:ln w="9525">
                        <a:solidFill>
                          <a:srgbClr val="000000"/>
                        </a:solidFill>
                        <a:miter lim="800000"/>
                        <a:headEnd/>
                        <a:tailEnd/>
                      </a:ln>
                    </p:spPr>
                    <p:txBody>
                      <a:bodyPr/>
                      <a:lstStyle/>
                      <a:p>
                        <a:pPr>
                          <a:spcAft>
                            <a:spcPts val="1000"/>
                          </a:spcAft>
                        </a:pPr>
                        <a:r>
                          <a:rPr lang="en-US" sz="1400"/>
                          <a:t>ePDG</a:t>
                        </a:r>
                      </a:p>
                    </p:txBody>
                  </p:sp>
                  <p:sp>
                    <p:nvSpPr>
                      <p:cNvPr id="26" name="Text Box 26"/>
                      <p:cNvSpPr txBox="1">
                        <a:spLocks noChangeArrowheads="1"/>
                      </p:cNvSpPr>
                      <p:nvPr/>
                    </p:nvSpPr>
                    <p:spPr bwMode="auto">
                      <a:xfrm>
                        <a:off x="7625001" y="2549333"/>
                        <a:ext cx="1527521" cy="611771"/>
                      </a:xfrm>
                      <a:prstGeom prst="rect">
                        <a:avLst/>
                      </a:prstGeom>
                      <a:solidFill>
                        <a:srgbClr val="FFCCCC"/>
                      </a:solidFill>
                      <a:ln w="9525">
                        <a:solidFill>
                          <a:srgbClr val="000000"/>
                        </a:solidFill>
                        <a:miter lim="800000"/>
                        <a:headEnd/>
                        <a:tailEnd/>
                      </a:ln>
                    </p:spPr>
                    <p:txBody>
                      <a:bodyPr/>
                      <a:lstStyle/>
                      <a:p>
                        <a:pPr>
                          <a:spcAft>
                            <a:spcPts val="1000"/>
                          </a:spcAft>
                        </a:pPr>
                        <a:r>
                          <a:rPr lang="en-US" sz="1600" dirty="0"/>
                          <a:t>Un-trusted non 3GPP  access</a:t>
                        </a:r>
                      </a:p>
                    </p:txBody>
                  </p:sp>
                  <p:cxnSp>
                    <p:nvCxnSpPr>
                      <p:cNvPr id="27" name="AutoShape 27"/>
                      <p:cNvCxnSpPr>
                        <a:cxnSpLocks noChangeShapeType="1"/>
                      </p:cNvCxnSpPr>
                      <p:nvPr/>
                    </p:nvCxnSpPr>
                    <p:spPr bwMode="auto">
                      <a:xfrm flipV="1">
                        <a:off x="5523105" y="4019912"/>
                        <a:ext cx="590833" cy="487456"/>
                      </a:xfrm>
                      <a:prstGeom prst="straightConnector1">
                        <a:avLst/>
                      </a:prstGeom>
                      <a:noFill/>
                      <a:ln w="9525">
                        <a:solidFill>
                          <a:srgbClr val="000000"/>
                        </a:solidFill>
                        <a:round/>
                        <a:headEnd/>
                        <a:tailEnd/>
                      </a:ln>
                    </p:spPr>
                  </p:cxnSp>
                  <p:graphicFrame>
                    <p:nvGraphicFramePr>
                      <p:cNvPr id="28" name="Object 28"/>
                      <p:cNvGraphicFramePr>
                        <a:graphicFrameLocks noChangeAspect="1"/>
                      </p:cNvGraphicFramePr>
                      <p:nvPr>
                        <p:extLst>
                          <p:ext uri="{D42A27DB-BD31-4B8C-83A1-F6EECF244321}">
                            <p14:modId xmlns:p14="http://schemas.microsoft.com/office/powerpoint/2010/main" val="876134562"/>
                          </p:ext>
                        </p:extLst>
                      </p:nvPr>
                    </p:nvGraphicFramePr>
                    <p:xfrm>
                      <a:off x="8079119" y="3821414"/>
                      <a:ext cx="490096" cy="949710"/>
                    </p:xfrm>
                    <a:graphic>
                      <a:graphicData uri="http://schemas.openxmlformats.org/presentationml/2006/ole">
                        <mc:AlternateContent xmlns:mc="http://schemas.openxmlformats.org/markup-compatibility/2006">
                          <mc:Choice xmlns:v="urn:schemas-microsoft-com:vml" Requires="v">
                            <p:oleObj spid="_x0000_s83522" r:id="rId9" imgW="2270880" imgH="3906360" progId="">
                              <p:embed/>
                            </p:oleObj>
                          </mc:Choice>
                          <mc:Fallback>
                            <p:oleObj r:id="rId9" imgW="2270880" imgH="390636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79119" y="3821414"/>
                                    <a:ext cx="490096" cy="94971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29" name="AutoShape 29"/>
                      <p:cNvCxnSpPr>
                        <a:cxnSpLocks noChangeShapeType="1"/>
                      </p:cNvCxnSpPr>
                      <p:nvPr/>
                    </p:nvCxnSpPr>
                    <p:spPr bwMode="auto">
                      <a:xfrm flipV="1">
                        <a:off x="7925614" y="2345105"/>
                        <a:ext cx="0" cy="204229"/>
                      </a:xfrm>
                      <a:prstGeom prst="straightConnector1">
                        <a:avLst/>
                      </a:prstGeom>
                      <a:noFill/>
                      <a:ln w="9525">
                        <a:solidFill>
                          <a:srgbClr val="000000"/>
                        </a:solidFill>
                        <a:round/>
                        <a:headEnd/>
                        <a:tailEnd/>
                      </a:ln>
                    </p:spPr>
                  </p:cxnSp>
                  <p:cxnSp>
                    <p:nvCxnSpPr>
                      <p:cNvPr id="30" name="AutoShape 30"/>
                      <p:cNvCxnSpPr>
                        <a:cxnSpLocks noChangeShapeType="1"/>
                      </p:cNvCxnSpPr>
                      <p:nvPr/>
                    </p:nvCxnSpPr>
                    <p:spPr bwMode="auto">
                      <a:xfrm flipH="1">
                        <a:off x="6863873" y="2106990"/>
                        <a:ext cx="425336" cy="0"/>
                      </a:xfrm>
                      <a:prstGeom prst="straightConnector1">
                        <a:avLst/>
                      </a:prstGeom>
                      <a:noFill/>
                      <a:ln w="9525">
                        <a:solidFill>
                          <a:srgbClr val="000000"/>
                        </a:solidFill>
                        <a:round/>
                        <a:headEnd/>
                        <a:tailEnd/>
                      </a:ln>
                    </p:spPr>
                  </p:cxnSp>
                  <p:cxnSp>
                    <p:nvCxnSpPr>
                      <p:cNvPr id="31" name="AutoShape 31"/>
                      <p:cNvCxnSpPr>
                        <a:cxnSpLocks noChangeShapeType="1"/>
                        <a:endCxn id="26" idx="2"/>
                      </p:cNvCxnSpPr>
                      <p:nvPr/>
                    </p:nvCxnSpPr>
                    <p:spPr bwMode="auto">
                      <a:xfrm flipV="1">
                        <a:off x="8232624" y="3161104"/>
                        <a:ext cx="156138" cy="748230"/>
                      </a:xfrm>
                      <a:prstGeom prst="straightConnector1">
                        <a:avLst/>
                      </a:prstGeom>
                      <a:noFill/>
                      <a:ln w="9525">
                        <a:solidFill>
                          <a:srgbClr val="000000"/>
                        </a:solidFill>
                        <a:round/>
                        <a:headEnd/>
                        <a:tailEnd/>
                      </a:ln>
                    </p:spPr>
                  </p:cxnSp>
                  <p:sp>
                    <p:nvSpPr>
                      <p:cNvPr id="32" name="TextBox 31"/>
                      <p:cNvSpPr txBox="1"/>
                      <p:nvPr/>
                    </p:nvSpPr>
                    <p:spPr>
                      <a:xfrm>
                        <a:off x="5757359" y="4596054"/>
                        <a:ext cx="629210" cy="461665"/>
                      </a:xfrm>
                      <a:prstGeom prst="rect">
                        <a:avLst/>
                      </a:prstGeom>
                      <a:solidFill>
                        <a:srgbClr val="FFCCFF"/>
                      </a:solidFill>
                    </p:spPr>
                    <p:txBody>
                      <a:bodyPr wrap="square" rtlCol="0">
                        <a:spAutoFit/>
                      </a:bodyPr>
                      <a:lstStyle/>
                      <a:p>
                        <a:r>
                          <a:rPr lang="en-US" b="1" dirty="0">
                            <a:solidFill>
                              <a:srgbClr val="0000FF"/>
                            </a:solidFill>
                          </a:rPr>
                          <a:t>UE</a:t>
                        </a:r>
                      </a:p>
                    </p:txBody>
                  </p:sp>
                  <p:sp>
                    <p:nvSpPr>
                      <p:cNvPr id="33" name="TextBox 32"/>
                      <p:cNvSpPr txBox="1"/>
                      <p:nvPr/>
                    </p:nvSpPr>
                    <p:spPr>
                      <a:xfrm>
                        <a:off x="5986459" y="505754"/>
                        <a:ext cx="841835" cy="461665"/>
                      </a:xfrm>
                      <a:prstGeom prst="rect">
                        <a:avLst/>
                      </a:prstGeom>
                      <a:solidFill>
                        <a:srgbClr val="FFCCFF"/>
                      </a:solidFill>
                    </p:spPr>
                    <p:txBody>
                      <a:bodyPr wrap="square" rtlCol="0">
                        <a:spAutoFit/>
                      </a:bodyPr>
                      <a:lstStyle/>
                      <a:p>
                        <a:r>
                          <a:rPr lang="en-US" b="1" dirty="0">
                            <a:solidFill>
                              <a:srgbClr val="0000FF"/>
                            </a:solidFill>
                          </a:rPr>
                          <a:t>EPC</a:t>
                        </a:r>
                      </a:p>
                    </p:txBody>
                  </p:sp>
                  <p:sp>
                    <p:nvSpPr>
                      <p:cNvPr id="34" name="TextBox 33"/>
                      <p:cNvSpPr txBox="1"/>
                      <p:nvPr/>
                    </p:nvSpPr>
                    <p:spPr>
                      <a:xfrm>
                        <a:off x="2143525" y="4254209"/>
                        <a:ext cx="1578373" cy="461665"/>
                      </a:xfrm>
                      <a:prstGeom prst="rect">
                        <a:avLst/>
                      </a:prstGeom>
                      <a:solidFill>
                        <a:srgbClr val="FFCCFF"/>
                      </a:solidFill>
                    </p:spPr>
                    <p:txBody>
                      <a:bodyPr wrap="square" rtlCol="0">
                        <a:spAutoFit/>
                      </a:bodyPr>
                      <a:lstStyle/>
                      <a:p>
                        <a:r>
                          <a:rPr lang="en-US" b="1" dirty="0">
                            <a:solidFill>
                              <a:srgbClr val="0000FF"/>
                            </a:solidFill>
                          </a:rPr>
                          <a:t>E-UTRAN</a:t>
                        </a:r>
                      </a:p>
                    </p:txBody>
                  </p:sp>
                  <p:pic>
                    <p:nvPicPr>
                      <p:cNvPr id="35" name="Picture 34"/>
                      <p:cNvPicPr>
                        <a:picLocks noChangeAspect="1"/>
                      </p:cNvPicPr>
                      <p:nvPr/>
                    </p:nvPicPr>
                    <p:blipFill>
                      <a:blip r:embed="rId11"/>
                      <a:stretch>
                        <a:fillRect/>
                      </a:stretch>
                    </p:blipFill>
                    <p:spPr>
                      <a:xfrm>
                        <a:off x="5016754" y="4230688"/>
                        <a:ext cx="591499" cy="953520"/>
                      </a:xfrm>
                      <a:prstGeom prst="rect">
                        <a:avLst/>
                      </a:prstGeom>
                    </p:spPr>
                  </p:pic>
                </p:grpSp>
                <p:pic>
                  <p:nvPicPr>
                    <p:cNvPr id="12" name="Picture 11"/>
                    <p:cNvPicPr>
                      <a:picLocks noChangeAspect="1"/>
                    </p:cNvPicPr>
                    <p:nvPr/>
                  </p:nvPicPr>
                  <p:blipFill>
                    <a:blip r:embed="rId12"/>
                    <a:stretch>
                      <a:fillRect/>
                    </a:stretch>
                  </p:blipFill>
                  <p:spPr>
                    <a:xfrm>
                      <a:off x="8478513" y="3759138"/>
                      <a:ext cx="536383" cy="753553"/>
                    </a:xfrm>
                    <a:prstGeom prst="rect">
                      <a:avLst/>
                    </a:prstGeom>
                  </p:spPr>
                </p:pic>
              </p:grpSp>
              <p:cxnSp>
                <p:nvCxnSpPr>
                  <p:cNvPr id="10" name="Straight Connector 9"/>
                  <p:cNvCxnSpPr>
                    <a:cxnSpLocks/>
                    <a:stCxn id="26" idx="2"/>
                  </p:cNvCxnSpPr>
                  <p:nvPr/>
                </p:nvCxnSpPr>
                <p:spPr>
                  <a:xfrm>
                    <a:off x="8388762" y="3161104"/>
                    <a:ext cx="368217" cy="6185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5" name="Picture 4">
                  <a:extLst>
                    <a:ext uri="{FF2B5EF4-FFF2-40B4-BE49-F238E27FC236}">
                      <a16:creationId xmlns:a16="http://schemas.microsoft.com/office/drawing/2014/main" xmlns="" id="{39D9981D-1FE5-4E85-8C8D-FBEF0367779F}"/>
                    </a:ext>
                  </a:extLst>
                </p:cNvPr>
                <p:cNvPicPr>
                  <a:picLocks noChangeAspect="1"/>
                </p:cNvPicPr>
                <p:nvPr/>
              </p:nvPicPr>
              <p:blipFill>
                <a:blip r:embed="rId11"/>
                <a:stretch>
                  <a:fillRect/>
                </a:stretch>
              </p:blipFill>
              <p:spPr>
                <a:xfrm>
                  <a:off x="3932536" y="4150899"/>
                  <a:ext cx="206460" cy="332822"/>
                </a:xfrm>
                <a:prstGeom prst="rect">
                  <a:avLst/>
                </a:prstGeom>
              </p:spPr>
            </p:pic>
            <p:pic>
              <p:nvPicPr>
                <p:cNvPr id="6" name="Picture 5">
                  <a:extLst>
                    <a:ext uri="{FF2B5EF4-FFF2-40B4-BE49-F238E27FC236}">
                      <a16:creationId xmlns:a16="http://schemas.microsoft.com/office/drawing/2014/main" xmlns="" id="{76B53A5A-5531-46AC-8FFB-8CDF3E884956}"/>
                    </a:ext>
                  </a:extLst>
                </p:cNvPr>
                <p:cNvPicPr>
                  <a:picLocks noChangeAspect="1"/>
                </p:cNvPicPr>
                <p:nvPr/>
              </p:nvPicPr>
              <p:blipFill>
                <a:blip r:embed="rId11"/>
                <a:stretch>
                  <a:fillRect/>
                </a:stretch>
              </p:blipFill>
              <p:spPr>
                <a:xfrm>
                  <a:off x="1636515" y="4499836"/>
                  <a:ext cx="175091" cy="282254"/>
                </a:xfrm>
                <a:prstGeom prst="rect">
                  <a:avLst/>
                </a:prstGeom>
              </p:spPr>
            </p:pic>
            <p:sp>
              <p:nvSpPr>
                <p:cNvPr id="7" name="Freeform: Shape 10">
                  <a:extLst>
                    <a:ext uri="{FF2B5EF4-FFF2-40B4-BE49-F238E27FC236}">
                      <a16:creationId xmlns:a16="http://schemas.microsoft.com/office/drawing/2014/main" xmlns="" id="{77E5566F-529F-4BAA-9960-61BA1AA6A522}"/>
                    </a:ext>
                  </a:extLst>
                </p:cNvPr>
                <p:cNvSpPr/>
                <p:nvPr/>
              </p:nvSpPr>
              <p:spPr>
                <a:xfrm>
                  <a:off x="3386036" y="3817001"/>
                  <a:ext cx="569168" cy="448463"/>
                </a:xfrm>
                <a:custGeom>
                  <a:avLst/>
                  <a:gdLst>
                    <a:gd name="connsiteX0" fmla="*/ 569168 w 569168"/>
                    <a:gd name="connsiteY0" fmla="*/ 419877 h 448463"/>
                    <a:gd name="connsiteX1" fmla="*/ 177282 w 569168"/>
                    <a:gd name="connsiteY1" fmla="*/ 102636 h 448463"/>
                    <a:gd name="connsiteX2" fmla="*/ 233266 w 569168"/>
                    <a:gd name="connsiteY2" fmla="*/ 447869 h 448463"/>
                    <a:gd name="connsiteX3" fmla="*/ 0 w 569168"/>
                    <a:gd name="connsiteY3" fmla="*/ 0 h 448463"/>
                  </a:gdLst>
                  <a:ahLst/>
                  <a:cxnLst>
                    <a:cxn ang="0">
                      <a:pos x="connsiteX0" y="connsiteY0"/>
                    </a:cxn>
                    <a:cxn ang="0">
                      <a:pos x="connsiteX1" y="connsiteY1"/>
                    </a:cxn>
                    <a:cxn ang="0">
                      <a:pos x="connsiteX2" y="connsiteY2"/>
                    </a:cxn>
                    <a:cxn ang="0">
                      <a:pos x="connsiteX3" y="connsiteY3"/>
                    </a:cxn>
                  </a:cxnLst>
                  <a:rect l="l" t="t" r="r" b="b"/>
                  <a:pathLst>
                    <a:path w="569168" h="448463">
                      <a:moveTo>
                        <a:pt x="569168" y="419877"/>
                      </a:moveTo>
                      <a:cubicBezTo>
                        <a:pt x="401217" y="258924"/>
                        <a:pt x="233266" y="97971"/>
                        <a:pt x="177282" y="102636"/>
                      </a:cubicBezTo>
                      <a:cubicBezTo>
                        <a:pt x="121298" y="107301"/>
                        <a:pt x="262813" y="464975"/>
                        <a:pt x="233266" y="447869"/>
                      </a:cubicBezTo>
                      <a:cubicBezTo>
                        <a:pt x="203719" y="430763"/>
                        <a:pt x="101859" y="215381"/>
                        <a:pt x="0" y="0"/>
                      </a:cubicBezTo>
                    </a:path>
                  </a:pathLst>
                </a:custGeom>
                <a:noFill/>
                <a:ln w="9525">
                  <a:solidFill>
                    <a:srgbClr val="FF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xmlns="" id="{F875AA09-35AC-4B13-9E3B-AD0A21A44418}"/>
                    </a:ext>
                  </a:extLst>
                </p:cNvPr>
                <p:cNvSpPr txBox="1"/>
                <p:nvPr/>
              </p:nvSpPr>
              <p:spPr>
                <a:xfrm>
                  <a:off x="3861143" y="3793674"/>
                  <a:ext cx="492473" cy="307777"/>
                </a:xfrm>
                <a:prstGeom prst="rect">
                  <a:avLst/>
                </a:prstGeom>
                <a:solidFill>
                  <a:srgbClr val="FFCCFF"/>
                </a:solidFill>
              </p:spPr>
              <p:txBody>
                <a:bodyPr wrap="square" rtlCol="0">
                  <a:spAutoFit/>
                </a:bodyPr>
                <a:lstStyle/>
                <a:p>
                  <a:r>
                    <a:rPr lang="en-US" sz="1400" b="1" dirty="0">
                      <a:solidFill>
                        <a:srgbClr val="0000FF"/>
                      </a:solidFill>
                    </a:rPr>
                    <a:t>UE</a:t>
                  </a:r>
                </a:p>
              </p:txBody>
            </p:sp>
          </p:grpSp>
          <p:graphicFrame>
            <p:nvGraphicFramePr>
              <p:cNvPr id="45" name="Object 19">
                <a:extLst>
                  <a:ext uri="{FF2B5EF4-FFF2-40B4-BE49-F238E27FC236}">
                    <a16:creationId xmlns:a16="http://schemas.microsoft.com/office/drawing/2014/main" xmlns="" id="{57776525-865E-43B1-BAB1-9F32A457C6ED}"/>
                  </a:ext>
                </a:extLst>
              </p:cNvPr>
              <p:cNvGraphicFramePr>
                <a:graphicFrameLocks noChangeAspect="1"/>
              </p:cNvGraphicFramePr>
              <p:nvPr>
                <p:extLst>
                  <p:ext uri="{D42A27DB-BD31-4B8C-83A1-F6EECF244321}">
                    <p14:modId xmlns:p14="http://schemas.microsoft.com/office/powerpoint/2010/main" val="852265271"/>
                  </p:ext>
                </p:extLst>
              </p:nvPr>
            </p:nvGraphicFramePr>
            <p:xfrm>
              <a:off x="2035033" y="2799144"/>
              <a:ext cx="556455" cy="1449750"/>
            </p:xfrm>
            <a:graphic>
              <a:graphicData uri="http://schemas.openxmlformats.org/presentationml/2006/ole">
                <mc:AlternateContent xmlns:mc="http://schemas.openxmlformats.org/markup-compatibility/2006">
                  <mc:Choice xmlns:v="urn:schemas-microsoft-com:vml" Requires="v">
                    <p:oleObj spid="_x0000_s83523" r:id="rId13" imgW="1046480" imgH="2377440" progId="">
                      <p:embed/>
                    </p:oleObj>
                  </mc:Choice>
                  <mc:Fallback>
                    <p:oleObj r:id="rId13" imgW="1046480" imgH="2377440" progId="">
                      <p:embed/>
                      <p:pic>
                        <p:nvPicPr>
                          <p:cNvPr id="37" name="Object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5033" y="2799144"/>
                            <a:ext cx="556455" cy="1449750"/>
                          </a:xfrm>
                          <a:prstGeom prst="rect">
                            <a:avLst/>
                          </a:prstGeom>
                          <a:noFill/>
                        </p:spPr>
                      </p:pic>
                    </p:oleObj>
                  </mc:Fallback>
                </mc:AlternateContent>
              </a:graphicData>
            </a:graphic>
          </p:graphicFrame>
          <p:cxnSp>
            <p:nvCxnSpPr>
              <p:cNvPr id="46" name="AutoShape 21">
                <a:extLst>
                  <a:ext uri="{FF2B5EF4-FFF2-40B4-BE49-F238E27FC236}">
                    <a16:creationId xmlns:a16="http://schemas.microsoft.com/office/drawing/2014/main" xmlns="" id="{284E4CEF-0AB6-4032-90C9-5153F107A1D8}"/>
                  </a:ext>
                </a:extLst>
              </p:cNvPr>
              <p:cNvCxnSpPr>
                <a:cxnSpLocks noChangeShapeType="1"/>
              </p:cNvCxnSpPr>
              <p:nvPr/>
            </p:nvCxnSpPr>
            <p:spPr bwMode="auto">
              <a:xfrm flipV="1">
                <a:off x="2360779" y="1925161"/>
                <a:ext cx="2283080" cy="1369970"/>
              </a:xfrm>
              <a:prstGeom prst="straightConnector1">
                <a:avLst/>
              </a:prstGeom>
              <a:noFill/>
              <a:ln w="9525">
                <a:solidFill>
                  <a:srgbClr val="000000"/>
                </a:solidFill>
                <a:prstDash val="dash"/>
                <a:round/>
                <a:headEnd/>
                <a:tailEnd/>
              </a:ln>
            </p:spPr>
          </p:cxnSp>
          <p:cxnSp>
            <p:nvCxnSpPr>
              <p:cNvPr id="49" name="Straight Connector 48">
                <a:extLst>
                  <a:ext uri="{FF2B5EF4-FFF2-40B4-BE49-F238E27FC236}">
                    <a16:creationId xmlns:a16="http://schemas.microsoft.com/office/drawing/2014/main" xmlns="" id="{257DAFFA-3215-4069-B531-41BEB8ACC856}"/>
                  </a:ext>
                </a:extLst>
              </p:cNvPr>
              <p:cNvCxnSpPr>
                <a:cxnSpLocks/>
              </p:cNvCxnSpPr>
              <p:nvPr/>
            </p:nvCxnSpPr>
            <p:spPr>
              <a:xfrm flipV="1">
                <a:off x="2451169" y="3281247"/>
                <a:ext cx="518485" cy="72466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51" name="Object 19">
                <a:extLst>
                  <a:ext uri="{FF2B5EF4-FFF2-40B4-BE49-F238E27FC236}">
                    <a16:creationId xmlns:a16="http://schemas.microsoft.com/office/drawing/2014/main" xmlns="" id="{C61C3D22-9400-4CC9-BC00-C25D36F97FBA}"/>
                  </a:ext>
                </a:extLst>
              </p:cNvPr>
              <p:cNvGraphicFramePr>
                <a:graphicFrameLocks noChangeAspect="1"/>
              </p:cNvGraphicFramePr>
              <p:nvPr>
                <p:extLst>
                  <p:ext uri="{D42A27DB-BD31-4B8C-83A1-F6EECF244321}">
                    <p14:modId xmlns:p14="http://schemas.microsoft.com/office/powerpoint/2010/main" val="3559248497"/>
                  </p:ext>
                </p:extLst>
              </p:nvPr>
            </p:nvGraphicFramePr>
            <p:xfrm>
              <a:off x="3167972" y="2702344"/>
              <a:ext cx="556455" cy="1449750"/>
            </p:xfrm>
            <a:graphic>
              <a:graphicData uri="http://schemas.openxmlformats.org/presentationml/2006/ole">
                <mc:AlternateContent xmlns:mc="http://schemas.openxmlformats.org/markup-compatibility/2006">
                  <mc:Choice xmlns:v="urn:schemas-microsoft-com:vml" Requires="v">
                    <p:oleObj spid="_x0000_s83524" r:id="rId14" imgW="1046480" imgH="2377440" progId="">
                      <p:embed/>
                    </p:oleObj>
                  </mc:Choice>
                  <mc:Fallback>
                    <p:oleObj r:id="rId14" imgW="1046480" imgH="2377440" progId="">
                      <p:embed/>
                      <p:pic>
                        <p:nvPicPr>
                          <p:cNvPr id="45" name="Object 19">
                            <a:extLst>
                              <a:ext uri="{FF2B5EF4-FFF2-40B4-BE49-F238E27FC236}">
                                <a16:creationId xmlns:a16="http://schemas.microsoft.com/office/drawing/2014/main" xmlns="" id="{57776525-865E-43B1-BAB1-9F32A457C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972" y="2702344"/>
                            <a:ext cx="556455" cy="1449750"/>
                          </a:xfrm>
                          <a:prstGeom prst="rect">
                            <a:avLst/>
                          </a:prstGeom>
                          <a:noFill/>
                        </p:spPr>
                      </p:pic>
                    </p:oleObj>
                  </mc:Fallback>
                </mc:AlternateContent>
              </a:graphicData>
            </a:graphic>
          </p:graphicFrame>
          <p:cxnSp>
            <p:nvCxnSpPr>
              <p:cNvPr id="52" name="Straight Connector 51">
                <a:extLst>
                  <a:ext uri="{FF2B5EF4-FFF2-40B4-BE49-F238E27FC236}">
                    <a16:creationId xmlns:a16="http://schemas.microsoft.com/office/drawing/2014/main" xmlns="" id="{0C4724B8-0D1B-489E-AB25-2DF7E3BC78AC}"/>
                  </a:ext>
                </a:extLst>
              </p:cNvPr>
              <p:cNvCxnSpPr>
                <a:cxnSpLocks/>
              </p:cNvCxnSpPr>
              <p:nvPr/>
            </p:nvCxnSpPr>
            <p:spPr>
              <a:xfrm flipV="1">
                <a:off x="2483943" y="3965515"/>
                <a:ext cx="814103" cy="3924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xmlns="" id="{377E8397-D5A2-4A7D-94A2-06491FBE2297}"/>
                  </a:ext>
                </a:extLst>
              </p:cNvPr>
              <p:cNvCxnSpPr>
                <a:cxnSpLocks/>
              </p:cNvCxnSpPr>
              <p:nvPr/>
            </p:nvCxnSpPr>
            <p:spPr>
              <a:xfrm>
                <a:off x="2952810" y="3283196"/>
                <a:ext cx="353458" cy="63906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59" name="AutoShape 21">
              <a:extLst>
                <a:ext uri="{FF2B5EF4-FFF2-40B4-BE49-F238E27FC236}">
                  <a16:creationId xmlns:a16="http://schemas.microsoft.com/office/drawing/2014/main" xmlns="" id="{2F151180-F628-4F53-BAA7-A5580EDC9BEB}"/>
                </a:ext>
              </a:extLst>
            </p:cNvPr>
            <p:cNvCxnSpPr>
              <a:cxnSpLocks noChangeShapeType="1"/>
            </p:cNvCxnSpPr>
            <p:nvPr/>
          </p:nvCxnSpPr>
          <p:spPr bwMode="auto">
            <a:xfrm flipV="1">
              <a:off x="3466933" y="1889294"/>
              <a:ext cx="1232712" cy="1092321"/>
            </a:xfrm>
            <a:prstGeom prst="straightConnector1">
              <a:avLst/>
            </a:prstGeom>
            <a:noFill/>
            <a:ln w="9525">
              <a:solidFill>
                <a:srgbClr val="000000"/>
              </a:solidFill>
              <a:prstDash val="dash"/>
              <a:round/>
              <a:headEnd/>
              <a:tailEnd/>
            </a:ln>
          </p:spPr>
        </p:cxnSp>
      </p:grpSp>
      <p:sp>
        <p:nvSpPr>
          <p:cNvPr id="63" name="Rectangle 62">
            <a:extLst>
              <a:ext uri="{FF2B5EF4-FFF2-40B4-BE49-F238E27FC236}">
                <a16:creationId xmlns:a16="http://schemas.microsoft.com/office/drawing/2014/main" xmlns="" id="{391B034A-0062-416E-AD91-973B1AFFB5DC}"/>
              </a:ext>
            </a:extLst>
          </p:cNvPr>
          <p:cNvSpPr/>
          <p:nvPr/>
        </p:nvSpPr>
        <p:spPr>
          <a:xfrm>
            <a:off x="70997" y="84441"/>
            <a:ext cx="7472804" cy="1323439"/>
          </a:xfrm>
          <a:prstGeom prst="rect">
            <a:avLst/>
          </a:prstGeom>
          <a:solidFill>
            <a:srgbClr val="CCECFF"/>
          </a:solidFill>
        </p:spPr>
        <p:txBody>
          <a:bodyPr wrap="square">
            <a:spAutoFit/>
          </a:bodyPr>
          <a:lstStyle/>
          <a:p>
            <a:pPr algn="just"/>
            <a:r>
              <a:rPr lang="en-US" sz="2000" dirty="0"/>
              <a:t>The architecture of LTE consists of three major parts: </a:t>
            </a:r>
          </a:p>
          <a:p>
            <a:pPr algn="just">
              <a:buFont typeface="Wingdings" pitchFamily="2" charset="2"/>
              <a:buChar char="ü"/>
            </a:pPr>
            <a:r>
              <a:rPr lang="en-US" sz="2000" b="1" dirty="0">
                <a:solidFill>
                  <a:srgbClr val="FF0000"/>
                </a:solidFill>
              </a:rPr>
              <a:t>User Equipment (UE), </a:t>
            </a:r>
          </a:p>
          <a:p>
            <a:pPr algn="just">
              <a:buFont typeface="Wingdings" pitchFamily="2" charset="2"/>
              <a:buChar char="ü"/>
            </a:pPr>
            <a:r>
              <a:rPr lang="en-US" sz="2000" b="1" dirty="0">
                <a:solidFill>
                  <a:srgbClr val="FF0000"/>
                </a:solidFill>
              </a:rPr>
              <a:t>E-UTRAN (Evolved Universal Terrestrial Radio Access Network)</a:t>
            </a:r>
          </a:p>
          <a:p>
            <a:pPr algn="just">
              <a:buFont typeface="Wingdings" pitchFamily="2" charset="2"/>
              <a:buChar char="ü"/>
            </a:pPr>
            <a:r>
              <a:rPr lang="en-US" sz="2000" b="1" dirty="0">
                <a:solidFill>
                  <a:srgbClr val="FF0000"/>
                </a:solidFill>
              </a:rPr>
              <a:t>EPC (Evolved Packet Core)</a:t>
            </a:r>
            <a:endParaRPr lang="en-US" sz="2000" b="1" dirty="0"/>
          </a:p>
        </p:txBody>
      </p:sp>
    </p:spTree>
    <p:extLst>
      <p:ext uri="{BB962C8B-B14F-4D97-AF65-F5344CB8AC3E}">
        <p14:creationId xmlns:p14="http://schemas.microsoft.com/office/powerpoint/2010/main" val="6884239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46</a:t>
            </a:fld>
            <a:endParaRPr lang="en-US"/>
          </a:p>
        </p:txBody>
      </p:sp>
      <p:sp>
        <p:nvSpPr>
          <p:cNvPr id="3" name="TextBox 2"/>
          <p:cNvSpPr txBox="1"/>
          <p:nvPr/>
        </p:nvSpPr>
        <p:spPr>
          <a:xfrm>
            <a:off x="152400" y="457200"/>
            <a:ext cx="7239000" cy="5755422"/>
          </a:xfrm>
          <a:prstGeom prst="rect">
            <a:avLst/>
          </a:prstGeom>
          <a:solidFill>
            <a:srgbClr val="CCECFF"/>
          </a:solidFill>
        </p:spPr>
        <p:txBody>
          <a:bodyPr wrap="square" rtlCol="0">
            <a:spAutoFit/>
          </a:bodyPr>
          <a:lstStyle/>
          <a:p>
            <a:pPr algn="just"/>
            <a:r>
              <a:rPr lang="en-US" sz="3600" b="1" dirty="0">
                <a:solidFill>
                  <a:srgbClr val="FF0000"/>
                </a:solidFill>
              </a:rPr>
              <a:t>User Equipment (UE)</a:t>
            </a:r>
          </a:p>
          <a:p>
            <a:pPr algn="just">
              <a:buFont typeface="Wingdings" pitchFamily="2" charset="2"/>
              <a:buChar char="ü"/>
            </a:pPr>
            <a:r>
              <a:rPr lang="en-US" dirty="0"/>
              <a:t>The UE may take several forms; it can be a mobile phone, a tablet, or a data card used by a computer/notebook. </a:t>
            </a:r>
          </a:p>
          <a:p>
            <a:pPr algn="just">
              <a:buFont typeface="Wingdings" pitchFamily="2" charset="2"/>
              <a:buChar char="ü"/>
            </a:pPr>
            <a:r>
              <a:rPr lang="en-US" dirty="0"/>
              <a:t>Similar to all other 3GPP systems, the UE consists of two main entities: a SIM-card or what is also known as </a:t>
            </a:r>
            <a:r>
              <a:rPr lang="en-US" dirty="0">
                <a:solidFill>
                  <a:srgbClr val="FF0000"/>
                </a:solidFill>
              </a:rPr>
              <a:t>User Service Identity Module </a:t>
            </a:r>
            <a:r>
              <a:rPr lang="en-US" dirty="0"/>
              <a:t>(USIM), and the actual equipment known as </a:t>
            </a:r>
            <a:r>
              <a:rPr lang="en-US" dirty="0">
                <a:solidFill>
                  <a:srgbClr val="FF0000"/>
                </a:solidFill>
              </a:rPr>
              <a:t>Terminal Equipment</a:t>
            </a:r>
            <a:r>
              <a:rPr lang="en-US" dirty="0"/>
              <a:t> (TE).</a:t>
            </a:r>
          </a:p>
          <a:p>
            <a:pPr algn="just">
              <a:buFont typeface="Wingdings" pitchFamily="2" charset="2"/>
              <a:buChar char="ü"/>
            </a:pPr>
            <a:endParaRPr lang="en-US" dirty="0"/>
          </a:p>
          <a:p>
            <a:pPr algn="just">
              <a:buFont typeface="Wingdings" pitchFamily="2" charset="2"/>
              <a:buChar char="ü"/>
            </a:pPr>
            <a:r>
              <a:rPr lang="en-US" sz="2000" dirty="0"/>
              <a:t>SIM-card carries the necessary information provided by the operator for user identification and authentication procedures. The terminal equipment on the other hand provides the users with the necessary hardware (e.g., processing, storage, operating system) to run their applications and utilize the LTE system services. It also contains International Mobile Equipment Identity (</a:t>
            </a:r>
            <a:r>
              <a:rPr lang="en-US" sz="2000" b="1" dirty="0">
                <a:solidFill>
                  <a:srgbClr val="FF0000"/>
                </a:solidFill>
              </a:rPr>
              <a:t>IMEI</a:t>
            </a:r>
            <a:r>
              <a:rPr lang="en-US" sz="2000" dirty="0"/>
              <a:t>) number. Dial *#06# to get your IMEI. </a:t>
            </a:r>
          </a:p>
        </p:txBody>
      </p:sp>
      <p:pic>
        <p:nvPicPr>
          <p:cNvPr id="5" name="Picture 4">
            <a:extLst>
              <a:ext uri="{FF2B5EF4-FFF2-40B4-BE49-F238E27FC236}">
                <a16:creationId xmlns:a16="http://schemas.microsoft.com/office/drawing/2014/main" xmlns="" id="{A78BE36B-2CBC-4C1E-BB5B-78953A1E55F2}"/>
              </a:ext>
            </a:extLst>
          </p:cNvPr>
          <p:cNvPicPr>
            <a:picLocks noChangeAspect="1"/>
          </p:cNvPicPr>
          <p:nvPr/>
        </p:nvPicPr>
        <p:blipFill>
          <a:blip r:embed="rId2"/>
          <a:stretch>
            <a:fillRect/>
          </a:stretch>
        </p:blipFill>
        <p:spPr>
          <a:xfrm>
            <a:off x="7575188" y="2392981"/>
            <a:ext cx="958076" cy="1820344"/>
          </a:xfrm>
          <a:prstGeom prst="rect">
            <a:avLst/>
          </a:prstGeom>
        </p:spPr>
      </p:pic>
      <p:pic>
        <p:nvPicPr>
          <p:cNvPr id="6" name="Picture 5">
            <a:extLst>
              <a:ext uri="{FF2B5EF4-FFF2-40B4-BE49-F238E27FC236}">
                <a16:creationId xmlns:a16="http://schemas.microsoft.com/office/drawing/2014/main" xmlns="" id="{0E2014FE-F370-4153-A7AE-2847E30180DF}"/>
              </a:ext>
            </a:extLst>
          </p:cNvPr>
          <p:cNvPicPr>
            <a:picLocks noChangeAspect="1"/>
          </p:cNvPicPr>
          <p:nvPr/>
        </p:nvPicPr>
        <p:blipFill>
          <a:blip r:embed="rId3"/>
          <a:stretch>
            <a:fillRect/>
          </a:stretch>
        </p:blipFill>
        <p:spPr>
          <a:xfrm>
            <a:off x="7512412" y="430345"/>
            <a:ext cx="1033140" cy="1816067"/>
          </a:xfrm>
          <a:prstGeom prst="rect">
            <a:avLst/>
          </a:prstGeom>
        </p:spPr>
      </p:pic>
      <p:pic>
        <p:nvPicPr>
          <p:cNvPr id="7" name="Picture 6">
            <a:extLst>
              <a:ext uri="{FF2B5EF4-FFF2-40B4-BE49-F238E27FC236}">
                <a16:creationId xmlns:a16="http://schemas.microsoft.com/office/drawing/2014/main" xmlns="" id="{4E0FD17E-6026-4681-92F7-D639A9E07C59}"/>
              </a:ext>
            </a:extLst>
          </p:cNvPr>
          <p:cNvPicPr>
            <a:picLocks noChangeAspect="1"/>
          </p:cNvPicPr>
          <p:nvPr/>
        </p:nvPicPr>
        <p:blipFill>
          <a:blip r:embed="rId4"/>
          <a:stretch>
            <a:fillRect/>
          </a:stretch>
        </p:blipFill>
        <p:spPr>
          <a:xfrm>
            <a:off x="7607198" y="4384247"/>
            <a:ext cx="938354" cy="1693231"/>
          </a:xfrm>
          <a:prstGeom prst="rect">
            <a:avLst/>
          </a:prstGeom>
        </p:spPr>
      </p:pic>
      <p:sp>
        <p:nvSpPr>
          <p:cNvPr id="4" name="Rectangle 3"/>
          <p:cNvSpPr/>
          <p:nvPr/>
        </p:nvSpPr>
        <p:spPr>
          <a:xfrm>
            <a:off x="152400" y="6367046"/>
            <a:ext cx="3781676" cy="338554"/>
          </a:xfrm>
          <a:prstGeom prst="rect">
            <a:avLst/>
          </a:prstGeom>
          <a:solidFill>
            <a:srgbClr val="FFCCFF"/>
          </a:solidFill>
        </p:spPr>
        <p:txBody>
          <a:bodyPr wrap="none">
            <a:spAutoFit/>
          </a:bodyPr>
          <a:lstStyle/>
          <a:p>
            <a:r>
              <a:rPr lang="en-US" sz="1600" dirty="0">
                <a:latin typeface="+mj-lt"/>
              </a:rPr>
              <a:t>Android OS, Apple </a:t>
            </a:r>
            <a:r>
              <a:rPr lang="en-US" sz="1600" dirty="0" err="1">
                <a:latin typeface="+mj-lt"/>
              </a:rPr>
              <a:t>iOS</a:t>
            </a:r>
            <a:r>
              <a:rPr lang="en-US" sz="1600" dirty="0">
                <a:latin typeface="+mj-lt"/>
              </a:rPr>
              <a:t>, </a:t>
            </a:r>
            <a:r>
              <a:rPr lang="en-US" sz="1600" dirty="0">
                <a:solidFill>
                  <a:srgbClr val="202124"/>
                </a:solidFill>
                <a:latin typeface="+mj-lt"/>
              </a:rPr>
              <a:t>Blackberry OS, …</a:t>
            </a:r>
            <a:endParaRPr lang="en-US" sz="1600" dirty="0">
              <a:latin typeface="+mj-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47</a:t>
            </a:fld>
            <a:endParaRPr lang="en-US"/>
          </a:p>
        </p:txBody>
      </p:sp>
      <p:sp>
        <p:nvSpPr>
          <p:cNvPr id="3" name="TextBox 2"/>
          <p:cNvSpPr txBox="1"/>
          <p:nvPr/>
        </p:nvSpPr>
        <p:spPr>
          <a:xfrm>
            <a:off x="266700" y="122770"/>
            <a:ext cx="8610600" cy="3093154"/>
          </a:xfrm>
          <a:prstGeom prst="rect">
            <a:avLst/>
          </a:prstGeom>
          <a:solidFill>
            <a:srgbClr val="CCECFF"/>
          </a:solidFill>
        </p:spPr>
        <p:txBody>
          <a:bodyPr wrap="square" rtlCol="0">
            <a:spAutoFit/>
          </a:bodyPr>
          <a:lstStyle/>
          <a:p>
            <a:pPr algn="just"/>
            <a:r>
              <a:rPr lang="en-US" sz="3600" b="1" dirty="0">
                <a:solidFill>
                  <a:srgbClr val="FF0000"/>
                </a:solidFill>
              </a:rPr>
              <a:t>Evolved UTRAN (E-UTRAN)</a:t>
            </a:r>
          </a:p>
          <a:p>
            <a:pPr algn="just">
              <a:buFont typeface="Wingdings" pitchFamily="2" charset="2"/>
              <a:buChar char="ü"/>
            </a:pPr>
            <a:r>
              <a:rPr lang="en-US" sz="2000" dirty="0"/>
              <a:t>The E-UTRAN in LTE consists of </a:t>
            </a:r>
            <a:r>
              <a:rPr lang="en-US" sz="2000" b="1" dirty="0">
                <a:solidFill>
                  <a:srgbClr val="0000FF"/>
                </a:solidFill>
              </a:rPr>
              <a:t>directly interconnected</a:t>
            </a:r>
            <a:r>
              <a:rPr lang="en-US" sz="2000" dirty="0"/>
              <a:t> </a:t>
            </a:r>
            <a:r>
              <a:rPr lang="en-US" sz="2000" dirty="0" err="1"/>
              <a:t>eNBs</a:t>
            </a:r>
            <a:r>
              <a:rPr lang="en-US" sz="2000" dirty="0"/>
              <a:t> which are connected to each other through the X2 interface and to the core network through the S1 interface. </a:t>
            </a:r>
          </a:p>
          <a:p>
            <a:pPr algn="just"/>
            <a:endParaRPr lang="en-US" sz="900" dirty="0"/>
          </a:p>
          <a:p>
            <a:pPr algn="just">
              <a:buFont typeface="Wingdings" pitchFamily="2" charset="2"/>
              <a:buChar char="ü"/>
            </a:pPr>
            <a:r>
              <a:rPr lang="en-US" sz="2000" dirty="0"/>
              <a:t>This eliminates one of the biggest drawbacks of the former 3G systems (UMTS): the need to connect and control the NBs through the </a:t>
            </a:r>
            <a:r>
              <a:rPr lang="en-US" sz="2000" dirty="0">
                <a:solidFill>
                  <a:srgbClr val="FF0000"/>
                </a:solidFill>
              </a:rPr>
              <a:t>Radio Network Controller </a:t>
            </a:r>
            <a:r>
              <a:rPr lang="en-US" sz="2000" dirty="0"/>
              <a:t>(RNC), which make the system vulnerable to RNC failures.</a:t>
            </a:r>
          </a:p>
          <a:p>
            <a:pPr algn="just">
              <a:buFont typeface="Wingdings" pitchFamily="2" charset="2"/>
              <a:buChar char="ü"/>
            </a:pPr>
            <a:endParaRPr lang="en-US" sz="1000" dirty="0"/>
          </a:p>
          <a:p>
            <a:pPr algn="just"/>
            <a:r>
              <a:rPr lang="en-US" sz="2000" dirty="0"/>
              <a:t>The LTE E-UTRAN architecture can be seen in Figure below.</a:t>
            </a:r>
          </a:p>
        </p:txBody>
      </p:sp>
      <p:pic>
        <p:nvPicPr>
          <p:cNvPr id="87042" name="Picture 2" descr="LTE Tutorial: E-UTRAN Architecture">
            <a:extLst>
              <a:ext uri="{FF2B5EF4-FFF2-40B4-BE49-F238E27FC236}">
                <a16:creationId xmlns:a16="http://schemas.microsoft.com/office/drawing/2014/main" xmlns="" id="{67C9FC08-83BF-4034-9896-E5EA78E311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276601"/>
            <a:ext cx="6225562" cy="3429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48</a:t>
            </a:fld>
            <a:endParaRPr lang="en-US"/>
          </a:p>
        </p:txBody>
      </p:sp>
      <p:sp>
        <p:nvSpPr>
          <p:cNvPr id="3" name="TextBox 2"/>
          <p:cNvSpPr txBox="1"/>
          <p:nvPr/>
        </p:nvSpPr>
        <p:spPr>
          <a:xfrm>
            <a:off x="304801" y="179619"/>
            <a:ext cx="8610600" cy="2185214"/>
          </a:xfrm>
          <a:prstGeom prst="rect">
            <a:avLst/>
          </a:prstGeom>
          <a:solidFill>
            <a:srgbClr val="CCECFF"/>
          </a:solidFill>
        </p:spPr>
        <p:txBody>
          <a:bodyPr wrap="square" rtlCol="0">
            <a:spAutoFit/>
          </a:bodyPr>
          <a:lstStyle/>
          <a:p>
            <a:pPr algn="just"/>
            <a:r>
              <a:rPr lang="en-US" sz="3600" b="1" dirty="0">
                <a:solidFill>
                  <a:srgbClr val="FF0000"/>
                </a:solidFill>
              </a:rPr>
              <a:t>Evolved Packet Core (EPC)</a:t>
            </a:r>
          </a:p>
          <a:p>
            <a:pPr algn="just"/>
            <a:r>
              <a:rPr lang="en-US" sz="2000" dirty="0"/>
              <a:t>The EPC (also known as the LTE core network) consists of three main entities: </a:t>
            </a:r>
            <a:r>
              <a:rPr lang="en-US" sz="2000" dirty="0">
                <a:solidFill>
                  <a:srgbClr val="0000FF"/>
                </a:solidFill>
              </a:rPr>
              <a:t>Mobility Management Entity </a:t>
            </a:r>
            <a:r>
              <a:rPr lang="en-US" sz="2000" dirty="0"/>
              <a:t>(MME), </a:t>
            </a:r>
            <a:r>
              <a:rPr lang="en-US" sz="2000" dirty="0">
                <a:solidFill>
                  <a:srgbClr val="0000FF"/>
                </a:solidFill>
              </a:rPr>
              <a:t>Serving Gateway </a:t>
            </a:r>
            <a:r>
              <a:rPr lang="en-US" sz="2000" dirty="0"/>
              <a:t>(S-GW) and the </a:t>
            </a:r>
            <a:r>
              <a:rPr lang="en-US" sz="2000" dirty="0">
                <a:solidFill>
                  <a:srgbClr val="0000FF"/>
                </a:solidFill>
              </a:rPr>
              <a:t>Packet Data Network Gateway </a:t>
            </a:r>
            <a:r>
              <a:rPr lang="en-US" sz="2000" dirty="0"/>
              <a:t>(PDN-GW or P-GW). In addition, there are some other logical entities like the </a:t>
            </a:r>
            <a:r>
              <a:rPr lang="en-US" sz="2000" dirty="0">
                <a:solidFill>
                  <a:srgbClr val="0000FF"/>
                </a:solidFill>
              </a:rPr>
              <a:t>Home Subscriber Server</a:t>
            </a:r>
            <a:r>
              <a:rPr lang="en-US" sz="2000" dirty="0"/>
              <a:t> (HSS) and </a:t>
            </a:r>
            <a:r>
              <a:rPr lang="en-US" sz="2000" dirty="0">
                <a:solidFill>
                  <a:srgbClr val="0000FF"/>
                </a:solidFill>
              </a:rPr>
              <a:t>Policy and Charging Rules Function </a:t>
            </a:r>
            <a:r>
              <a:rPr lang="en-US" sz="2000" dirty="0"/>
              <a:t>(PCRF).</a:t>
            </a:r>
          </a:p>
        </p:txBody>
      </p:sp>
      <p:sp>
        <p:nvSpPr>
          <p:cNvPr id="5" name="Rectangle 4"/>
          <p:cNvSpPr/>
          <p:nvPr/>
        </p:nvSpPr>
        <p:spPr>
          <a:xfrm>
            <a:off x="304800" y="5867400"/>
            <a:ext cx="8534400" cy="892552"/>
          </a:xfrm>
          <a:prstGeom prst="rect">
            <a:avLst/>
          </a:prstGeom>
        </p:spPr>
        <p:txBody>
          <a:bodyPr wrap="square">
            <a:spAutoFit/>
          </a:bodyPr>
          <a:lstStyle/>
          <a:p>
            <a:pPr algn="just"/>
            <a:r>
              <a:rPr lang="en-US" b="1" dirty="0">
                <a:solidFill>
                  <a:schemeClr val="accent2"/>
                </a:solidFill>
              </a:rPr>
              <a:t>Home Subscriber Server (HSS)</a:t>
            </a:r>
            <a:r>
              <a:rPr lang="en-US" dirty="0">
                <a:solidFill>
                  <a:schemeClr val="accent2"/>
                </a:solidFill>
              </a:rPr>
              <a:t> </a:t>
            </a:r>
            <a:r>
              <a:rPr lang="en-US" dirty="0"/>
              <a:t>is like the combination of </a:t>
            </a:r>
            <a:r>
              <a:rPr lang="en-US" sz="2800" dirty="0"/>
              <a:t>HLR </a:t>
            </a:r>
            <a:r>
              <a:rPr lang="en-US" dirty="0"/>
              <a:t>and AUC of UMTS or GSM </a:t>
            </a:r>
          </a:p>
        </p:txBody>
      </p:sp>
      <p:pic>
        <p:nvPicPr>
          <p:cNvPr id="6" name="Picture 5">
            <a:extLst>
              <a:ext uri="{FF2B5EF4-FFF2-40B4-BE49-F238E27FC236}">
                <a16:creationId xmlns:a16="http://schemas.microsoft.com/office/drawing/2014/main" xmlns="" id="{009A3AF7-BC3D-408A-8329-740E538F8A2F}"/>
              </a:ext>
            </a:extLst>
          </p:cNvPr>
          <p:cNvPicPr>
            <a:picLocks noChangeAspect="1"/>
          </p:cNvPicPr>
          <p:nvPr/>
        </p:nvPicPr>
        <p:blipFill>
          <a:blip r:embed="rId2"/>
          <a:stretch>
            <a:fillRect/>
          </a:stretch>
        </p:blipFill>
        <p:spPr>
          <a:xfrm>
            <a:off x="914400" y="2336695"/>
            <a:ext cx="6629400" cy="3660902"/>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a:xfrm>
            <a:off x="7034212" y="6397690"/>
            <a:ext cx="1905000" cy="457200"/>
          </a:xfrm>
        </p:spPr>
        <p:txBody>
          <a:bodyPr/>
          <a:lstStyle/>
          <a:p>
            <a:pPr>
              <a:defRPr/>
            </a:pPr>
            <a:fld id="{99FE3154-E4F1-4DBC-AFFE-BDB47B1CC230}" type="slidenum">
              <a:rPr lang="en-US" smtClean="0"/>
              <a:pPr>
                <a:defRPr/>
              </a:pPr>
              <a:t>49</a:t>
            </a:fld>
            <a:endParaRPr lang="en-US"/>
          </a:p>
        </p:txBody>
      </p:sp>
      <p:sp>
        <p:nvSpPr>
          <p:cNvPr id="3" name="TextBox 2"/>
          <p:cNvSpPr txBox="1"/>
          <p:nvPr/>
        </p:nvSpPr>
        <p:spPr>
          <a:xfrm>
            <a:off x="100012" y="782433"/>
            <a:ext cx="8839200" cy="1631216"/>
          </a:xfrm>
          <a:prstGeom prst="rect">
            <a:avLst/>
          </a:prstGeom>
          <a:solidFill>
            <a:srgbClr val="FFCCFF"/>
          </a:solidFill>
        </p:spPr>
        <p:txBody>
          <a:bodyPr wrap="square" rtlCol="0">
            <a:spAutoFit/>
          </a:bodyPr>
          <a:lstStyle/>
          <a:p>
            <a:pPr marL="342900" indent="-342900" algn="just">
              <a:buFont typeface="Wingdings" panose="05000000000000000000" pitchFamily="2" charset="2"/>
              <a:buChar char="ü"/>
            </a:pPr>
            <a:r>
              <a:rPr lang="en-US" sz="2000" dirty="0"/>
              <a:t>The S-GW connects </a:t>
            </a:r>
            <a:r>
              <a:rPr lang="en-US" sz="2000" b="1" dirty="0"/>
              <a:t>E-UTRAN </a:t>
            </a:r>
            <a:r>
              <a:rPr lang="en-US" sz="2000" dirty="0"/>
              <a:t>and </a:t>
            </a:r>
            <a:r>
              <a:rPr lang="en-US" sz="2000" b="1" dirty="0"/>
              <a:t>Evolved Packet Core (EPC)</a:t>
            </a:r>
            <a:r>
              <a:rPr lang="en-US" sz="2000" dirty="0"/>
              <a:t>. </a:t>
            </a:r>
          </a:p>
          <a:p>
            <a:pPr marL="342900" indent="-342900" algn="just">
              <a:buFont typeface="Wingdings" panose="05000000000000000000" pitchFamily="2" charset="2"/>
              <a:buChar char="ü"/>
            </a:pPr>
            <a:r>
              <a:rPr lang="en-US" sz="2000" dirty="0"/>
              <a:t>When terminals move across areas served by </a:t>
            </a:r>
            <a:r>
              <a:rPr lang="en-US" sz="2000" dirty="0" err="1"/>
              <a:t>eNB</a:t>
            </a:r>
            <a:r>
              <a:rPr lang="en-US" sz="2000" dirty="0"/>
              <a:t> elements in E-UTRAN, the S-GW serves as a </a:t>
            </a:r>
            <a:r>
              <a:rPr lang="en-US" sz="2000" dirty="0">
                <a:solidFill>
                  <a:srgbClr val="FF0000"/>
                </a:solidFill>
              </a:rPr>
              <a:t>local mobility anchor</a:t>
            </a:r>
            <a:r>
              <a:rPr lang="en-US" sz="2000" dirty="0"/>
              <a:t>. This means that packets are routed through this point for intra E-UTRAN mobility (</a:t>
            </a:r>
            <a:r>
              <a:rPr lang="en-US" sz="2000" dirty="0">
                <a:solidFill>
                  <a:srgbClr val="FF0000"/>
                </a:solidFill>
              </a:rPr>
              <a:t>within tracking area</a:t>
            </a:r>
            <a:r>
              <a:rPr lang="en-US" sz="2000" dirty="0"/>
              <a:t>) and mobility with other 3GPP technologies, such as 2G/GSM and 3G/UMTS.</a:t>
            </a:r>
          </a:p>
        </p:txBody>
      </p:sp>
      <p:pic>
        <p:nvPicPr>
          <p:cNvPr id="76802" name="Picture 2"/>
          <p:cNvPicPr>
            <a:picLocks noChangeAspect="1" noChangeArrowheads="1"/>
          </p:cNvPicPr>
          <p:nvPr/>
        </p:nvPicPr>
        <p:blipFill>
          <a:blip r:embed="rId2"/>
          <a:srcRect/>
          <a:stretch>
            <a:fillRect/>
          </a:stretch>
        </p:blipFill>
        <p:spPr bwMode="auto">
          <a:xfrm>
            <a:off x="581025" y="3117030"/>
            <a:ext cx="7877175" cy="3359970"/>
          </a:xfrm>
          <a:prstGeom prst="rect">
            <a:avLst/>
          </a:prstGeom>
          <a:noFill/>
          <a:ln w="9525">
            <a:noFill/>
            <a:miter lim="800000"/>
            <a:headEnd/>
            <a:tailEnd/>
          </a:ln>
          <a:effectLst/>
        </p:spPr>
      </p:pic>
      <p:sp>
        <p:nvSpPr>
          <p:cNvPr id="4" name="Rectangle 3"/>
          <p:cNvSpPr/>
          <p:nvPr/>
        </p:nvSpPr>
        <p:spPr>
          <a:xfrm>
            <a:off x="0" y="83878"/>
            <a:ext cx="6527749" cy="707886"/>
          </a:xfrm>
          <a:prstGeom prst="rect">
            <a:avLst/>
          </a:prstGeom>
        </p:spPr>
        <p:txBody>
          <a:bodyPr wrap="none">
            <a:spAutoFit/>
          </a:bodyPr>
          <a:lstStyle/>
          <a:p>
            <a:pPr algn="just"/>
            <a:r>
              <a:rPr lang="en-US" sz="4000" b="1" dirty="0">
                <a:solidFill>
                  <a:schemeClr val="accent2"/>
                </a:solidFill>
              </a:rPr>
              <a:t>The serving gateway (S-GW)</a:t>
            </a:r>
            <a:endParaRPr lang="en-US" sz="4000" dirty="0">
              <a:solidFill>
                <a:schemeClr val="accent2"/>
              </a:solidFill>
            </a:endParaRPr>
          </a:p>
        </p:txBody>
      </p:sp>
      <p:sp>
        <p:nvSpPr>
          <p:cNvPr id="5" name="TextBox 4"/>
          <p:cNvSpPr txBox="1"/>
          <p:nvPr/>
        </p:nvSpPr>
        <p:spPr>
          <a:xfrm>
            <a:off x="126840" y="5828883"/>
            <a:ext cx="3124200" cy="830997"/>
          </a:xfrm>
          <a:prstGeom prst="rect">
            <a:avLst/>
          </a:prstGeom>
          <a:solidFill>
            <a:srgbClr val="FFCCFF"/>
          </a:solidFill>
        </p:spPr>
        <p:txBody>
          <a:bodyPr wrap="square" rtlCol="0">
            <a:spAutoFit/>
          </a:bodyPr>
          <a:lstStyle/>
          <a:p>
            <a:pPr algn="just"/>
            <a:r>
              <a:rPr lang="en-US" dirty="0"/>
              <a:t>It is also responsible for inter-</a:t>
            </a:r>
            <a:r>
              <a:rPr lang="en-US" dirty="0" err="1"/>
              <a:t>eNB</a:t>
            </a:r>
            <a:r>
              <a:rPr lang="en-US" dirty="0"/>
              <a:t> handovers.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50</a:t>
            </a:fld>
            <a:endParaRPr lang="en-US"/>
          </a:p>
        </p:txBody>
      </p:sp>
      <p:sp>
        <p:nvSpPr>
          <p:cNvPr id="3" name="TextBox 2"/>
          <p:cNvSpPr txBox="1"/>
          <p:nvPr/>
        </p:nvSpPr>
        <p:spPr>
          <a:xfrm>
            <a:off x="0" y="480536"/>
            <a:ext cx="9067800" cy="1323439"/>
          </a:xfrm>
          <a:prstGeom prst="rect">
            <a:avLst/>
          </a:prstGeom>
          <a:solidFill>
            <a:srgbClr val="FFCCFF"/>
          </a:solidFill>
        </p:spPr>
        <p:txBody>
          <a:bodyPr wrap="square" rtlCol="0">
            <a:spAutoFit/>
          </a:bodyPr>
          <a:lstStyle/>
          <a:p>
            <a:pPr algn="just">
              <a:buFont typeface="Wingdings" pitchFamily="2" charset="2"/>
              <a:buChar char="ü"/>
            </a:pPr>
            <a:r>
              <a:rPr lang="en-US" sz="2000" dirty="0"/>
              <a:t>MME is responsible for initiating </a:t>
            </a:r>
            <a:r>
              <a:rPr lang="en-US" sz="2000" b="1" dirty="0">
                <a:solidFill>
                  <a:srgbClr val="FF0000"/>
                </a:solidFill>
              </a:rPr>
              <a:t>paging and authentication </a:t>
            </a:r>
            <a:r>
              <a:rPr lang="en-US" sz="2000" dirty="0"/>
              <a:t>of the mobile device by interacting with the HSS (Home Subscriber Server). HSS has a database keeps subscription information of all users. When authentication is done then link is established between </a:t>
            </a:r>
            <a:r>
              <a:rPr lang="en-US" sz="2000" dirty="0" err="1"/>
              <a:t>eNB</a:t>
            </a:r>
            <a:r>
              <a:rPr lang="en-US" sz="2000" dirty="0"/>
              <a:t> and S-GW.</a:t>
            </a:r>
          </a:p>
        </p:txBody>
      </p:sp>
      <p:sp>
        <p:nvSpPr>
          <p:cNvPr id="7" name="TextBox 6"/>
          <p:cNvSpPr txBox="1"/>
          <p:nvPr/>
        </p:nvSpPr>
        <p:spPr>
          <a:xfrm>
            <a:off x="258355" y="5029200"/>
            <a:ext cx="8686800" cy="1569660"/>
          </a:xfrm>
          <a:prstGeom prst="rect">
            <a:avLst/>
          </a:prstGeom>
          <a:solidFill>
            <a:srgbClr val="FFCCFF"/>
          </a:solidFill>
        </p:spPr>
        <p:txBody>
          <a:bodyPr wrap="square" rtlCol="0">
            <a:spAutoFit/>
          </a:bodyPr>
          <a:lstStyle/>
          <a:p>
            <a:pPr marL="342900" indent="-342900" algn="just">
              <a:buFont typeface="Wingdings" panose="05000000000000000000" pitchFamily="2" charset="2"/>
              <a:buChar char="ü"/>
            </a:pPr>
            <a:r>
              <a:rPr lang="en-US" dirty="0"/>
              <a:t>MME retains location information at the </a:t>
            </a:r>
            <a:r>
              <a:rPr lang="en-US" b="1" i="1" dirty="0">
                <a:solidFill>
                  <a:srgbClr val="FF0000"/>
                </a:solidFill>
              </a:rPr>
              <a:t>tracking area </a:t>
            </a:r>
            <a:r>
              <a:rPr lang="en-US" dirty="0"/>
              <a:t>level for each user, which is updated with roaming of a user </a:t>
            </a:r>
            <a:r>
              <a:rPr lang="en-US" dirty="0">
                <a:solidFill>
                  <a:schemeClr val="accent2"/>
                </a:solidFill>
              </a:rPr>
              <a:t>(A large geographical region can be divided into multiple tracking areas and each </a:t>
            </a:r>
            <a:r>
              <a:rPr lang="en-US" b="1" i="1" dirty="0">
                <a:solidFill>
                  <a:srgbClr val="FF0000"/>
                </a:solidFill>
              </a:rPr>
              <a:t>tracking area</a:t>
            </a:r>
            <a:r>
              <a:rPr lang="en-US" dirty="0">
                <a:solidFill>
                  <a:schemeClr val="accent2"/>
                </a:solidFill>
              </a:rPr>
              <a:t> may have hundred of cells).</a:t>
            </a:r>
            <a:endParaRPr lang="en-US" dirty="0"/>
          </a:p>
        </p:txBody>
      </p:sp>
      <p:pic>
        <p:nvPicPr>
          <p:cNvPr id="13" name="Picture 12">
            <a:extLst>
              <a:ext uri="{FF2B5EF4-FFF2-40B4-BE49-F238E27FC236}">
                <a16:creationId xmlns:a16="http://schemas.microsoft.com/office/drawing/2014/main" xmlns="" id="{7B99F96B-B23D-4385-8087-2A78AC8A31FA}"/>
              </a:ext>
            </a:extLst>
          </p:cNvPr>
          <p:cNvPicPr>
            <a:picLocks noChangeAspect="1"/>
          </p:cNvPicPr>
          <p:nvPr/>
        </p:nvPicPr>
        <p:blipFill>
          <a:blip r:embed="rId3"/>
          <a:stretch>
            <a:fillRect/>
          </a:stretch>
        </p:blipFill>
        <p:spPr>
          <a:xfrm>
            <a:off x="4141874" y="1803975"/>
            <a:ext cx="4316326" cy="3115019"/>
          </a:xfrm>
          <a:prstGeom prst="rect">
            <a:avLst/>
          </a:prstGeom>
        </p:spPr>
      </p:pic>
      <p:pic>
        <p:nvPicPr>
          <p:cNvPr id="14" name="Picture 13">
            <a:extLst>
              <a:ext uri="{FF2B5EF4-FFF2-40B4-BE49-F238E27FC236}">
                <a16:creationId xmlns:a16="http://schemas.microsoft.com/office/drawing/2014/main" xmlns="" id="{AAD25D29-0EE0-4144-84C3-1986A35AF914}"/>
              </a:ext>
            </a:extLst>
          </p:cNvPr>
          <p:cNvPicPr>
            <a:picLocks noChangeAspect="1"/>
          </p:cNvPicPr>
          <p:nvPr/>
        </p:nvPicPr>
        <p:blipFill>
          <a:blip r:embed="rId4"/>
          <a:stretch>
            <a:fillRect/>
          </a:stretch>
        </p:blipFill>
        <p:spPr>
          <a:xfrm>
            <a:off x="408074" y="2842373"/>
            <a:ext cx="2886075" cy="1038225"/>
          </a:xfrm>
          <a:prstGeom prst="rect">
            <a:avLst/>
          </a:prstGeom>
        </p:spPr>
      </p:pic>
      <p:sp>
        <p:nvSpPr>
          <p:cNvPr id="4" name="Rectangle 3">
            <a:extLst>
              <a:ext uri="{FF2B5EF4-FFF2-40B4-BE49-F238E27FC236}">
                <a16:creationId xmlns:a16="http://schemas.microsoft.com/office/drawing/2014/main" xmlns="" id="{CD116E95-1A00-4AE3-8465-2E686EAD09CD}"/>
              </a:ext>
            </a:extLst>
          </p:cNvPr>
          <p:cNvSpPr/>
          <p:nvPr/>
        </p:nvSpPr>
        <p:spPr>
          <a:xfrm>
            <a:off x="-76200" y="28307"/>
            <a:ext cx="5181600" cy="461665"/>
          </a:xfrm>
          <a:prstGeom prst="rect">
            <a:avLst/>
          </a:prstGeom>
        </p:spPr>
        <p:txBody>
          <a:bodyPr wrap="square">
            <a:spAutoFit/>
          </a:bodyPr>
          <a:lstStyle/>
          <a:p>
            <a:r>
              <a:rPr lang="en-US" b="1" dirty="0">
                <a:solidFill>
                  <a:schemeClr val="accent2"/>
                </a:solidFill>
              </a:rPr>
              <a:t>MME (Mobility Management Entity)</a:t>
            </a:r>
            <a:endParaRPr lang="en-US" dirty="0"/>
          </a:p>
        </p:txBody>
      </p:sp>
    </p:spTree>
    <p:extLst>
      <p:ext uri="{BB962C8B-B14F-4D97-AF65-F5344CB8AC3E}">
        <p14:creationId xmlns:p14="http://schemas.microsoft.com/office/powerpoint/2010/main" val="21160973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51</a:t>
            </a:fld>
            <a:endParaRPr lang="en-US"/>
          </a:p>
        </p:txBody>
      </p:sp>
      <p:sp>
        <p:nvSpPr>
          <p:cNvPr id="3" name="TextBox 2"/>
          <p:cNvSpPr txBox="1"/>
          <p:nvPr/>
        </p:nvSpPr>
        <p:spPr>
          <a:xfrm>
            <a:off x="144055" y="4343400"/>
            <a:ext cx="8763000" cy="1477328"/>
          </a:xfrm>
          <a:prstGeom prst="rect">
            <a:avLst/>
          </a:prstGeom>
          <a:solidFill>
            <a:srgbClr val="FFCCFF"/>
          </a:solidFill>
        </p:spPr>
        <p:txBody>
          <a:bodyPr wrap="square" rtlCol="0">
            <a:spAutoFit/>
          </a:bodyPr>
          <a:lstStyle/>
          <a:p>
            <a:pPr algn="just"/>
            <a:r>
              <a:rPr lang="en-US" b="1" dirty="0">
                <a:solidFill>
                  <a:schemeClr val="accent2"/>
                </a:solidFill>
              </a:rPr>
              <a:t>MME (Mobility Management Entity)</a:t>
            </a:r>
            <a:r>
              <a:rPr lang="en-US" dirty="0"/>
              <a:t> </a:t>
            </a:r>
          </a:p>
          <a:p>
            <a:pPr algn="just">
              <a:buFont typeface="Wingdings" pitchFamily="2" charset="2"/>
              <a:buChar char="ü"/>
            </a:pPr>
            <a:r>
              <a:rPr lang="en-US" sz="2200" dirty="0"/>
              <a:t>Based on tracking area of a UE, MME provides it the appropriate S-GW. </a:t>
            </a:r>
          </a:p>
          <a:p>
            <a:pPr algn="just">
              <a:buFont typeface="Wingdings" pitchFamily="2" charset="2"/>
              <a:buChar char="ü"/>
            </a:pPr>
            <a:r>
              <a:rPr lang="en-US" sz="2200" dirty="0"/>
              <a:t>Assignment of network resources i.e. channel between </a:t>
            </a:r>
            <a:r>
              <a:rPr lang="en-US" sz="2200" dirty="0" err="1"/>
              <a:t>eNB</a:t>
            </a:r>
            <a:r>
              <a:rPr lang="en-US" sz="2200" dirty="0"/>
              <a:t> and S-GW</a:t>
            </a:r>
          </a:p>
          <a:p>
            <a:pPr algn="just">
              <a:buFont typeface="Wingdings" pitchFamily="2" charset="2"/>
              <a:buChar char="ü"/>
            </a:pPr>
            <a:r>
              <a:rPr lang="en-US" sz="2200" dirty="0"/>
              <a:t>Security for E-UTRAN access (for example negotiation of ciphering).</a:t>
            </a:r>
          </a:p>
        </p:txBody>
      </p:sp>
      <p:pic>
        <p:nvPicPr>
          <p:cNvPr id="4" name="Picture 3"/>
          <p:cNvPicPr>
            <a:picLocks noChangeAspect="1"/>
          </p:cNvPicPr>
          <p:nvPr/>
        </p:nvPicPr>
        <p:blipFill>
          <a:blip r:embed="rId2"/>
          <a:stretch>
            <a:fillRect/>
          </a:stretch>
        </p:blipFill>
        <p:spPr>
          <a:xfrm>
            <a:off x="1181100" y="258805"/>
            <a:ext cx="6324600" cy="3927039"/>
          </a:xfrm>
          <a:prstGeom prst="rect">
            <a:avLst/>
          </a:prstGeom>
        </p:spPr>
      </p:pic>
      <p:sp>
        <p:nvSpPr>
          <p:cNvPr id="5" name="Rectangle 4"/>
          <p:cNvSpPr/>
          <p:nvPr/>
        </p:nvSpPr>
        <p:spPr>
          <a:xfrm>
            <a:off x="6438900" y="172500"/>
            <a:ext cx="1066800" cy="609600"/>
          </a:xfrm>
          <a:prstGeom prst="rect">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HSS</a:t>
            </a:r>
          </a:p>
        </p:txBody>
      </p:sp>
      <p:sp>
        <p:nvSpPr>
          <p:cNvPr id="6" name="Left-Right Arrow 5"/>
          <p:cNvSpPr/>
          <p:nvPr/>
        </p:nvSpPr>
        <p:spPr>
          <a:xfrm rot="9195180">
            <a:off x="4780432" y="774272"/>
            <a:ext cx="1515585" cy="233367"/>
          </a:xfrm>
          <a:prstGeom prst="leftRightArrow">
            <a:avLst/>
          </a:prstGeom>
          <a:solidFill>
            <a:srgbClr val="FFCC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xmlns="" id="{1452B87E-75BC-4503-B288-EEC58C586643}"/>
              </a:ext>
            </a:extLst>
          </p:cNvPr>
          <p:cNvPicPr>
            <a:picLocks noChangeAspect="1"/>
          </p:cNvPicPr>
          <p:nvPr/>
        </p:nvPicPr>
        <p:blipFill>
          <a:blip r:embed="rId3"/>
          <a:stretch>
            <a:fillRect/>
          </a:stretch>
        </p:blipFill>
        <p:spPr>
          <a:xfrm>
            <a:off x="325017" y="1846418"/>
            <a:ext cx="466374" cy="751814"/>
          </a:xfrm>
          <a:prstGeom prst="rect">
            <a:avLst/>
          </a:prstGeom>
        </p:spPr>
      </p:pic>
      <p:sp>
        <p:nvSpPr>
          <p:cNvPr id="8" name="Freeform: Shape 7">
            <a:extLst>
              <a:ext uri="{FF2B5EF4-FFF2-40B4-BE49-F238E27FC236}">
                <a16:creationId xmlns:a16="http://schemas.microsoft.com/office/drawing/2014/main" xmlns="" id="{9F1E29F1-9C33-4F5E-AC9B-190A50D7FEAD}"/>
              </a:ext>
            </a:extLst>
          </p:cNvPr>
          <p:cNvSpPr/>
          <p:nvPr/>
        </p:nvSpPr>
        <p:spPr>
          <a:xfrm>
            <a:off x="838200" y="1828800"/>
            <a:ext cx="961053" cy="317753"/>
          </a:xfrm>
          <a:custGeom>
            <a:avLst/>
            <a:gdLst>
              <a:gd name="connsiteX0" fmla="*/ 0 w 961053"/>
              <a:gd name="connsiteY0" fmla="*/ 224447 h 317753"/>
              <a:gd name="connsiteX1" fmla="*/ 251926 w 961053"/>
              <a:gd name="connsiteY1" fmla="*/ 243108 h 317753"/>
              <a:gd name="connsiteX2" fmla="*/ 158620 w 961053"/>
              <a:gd name="connsiteY2" fmla="*/ 512 h 317753"/>
              <a:gd name="connsiteX3" fmla="*/ 961053 w 961053"/>
              <a:gd name="connsiteY3" fmla="*/ 317753 h 317753"/>
            </a:gdLst>
            <a:ahLst/>
            <a:cxnLst>
              <a:cxn ang="0">
                <a:pos x="connsiteX0" y="connsiteY0"/>
              </a:cxn>
              <a:cxn ang="0">
                <a:pos x="connsiteX1" y="connsiteY1"/>
              </a:cxn>
              <a:cxn ang="0">
                <a:pos x="connsiteX2" y="connsiteY2"/>
              </a:cxn>
              <a:cxn ang="0">
                <a:pos x="connsiteX3" y="connsiteY3"/>
              </a:cxn>
            </a:cxnLst>
            <a:rect l="l" t="t" r="r" b="b"/>
            <a:pathLst>
              <a:path w="961053" h="317753">
                <a:moveTo>
                  <a:pt x="0" y="224447"/>
                </a:moveTo>
                <a:cubicBezTo>
                  <a:pt x="112744" y="252438"/>
                  <a:pt x="225489" y="280430"/>
                  <a:pt x="251926" y="243108"/>
                </a:cubicBezTo>
                <a:cubicBezTo>
                  <a:pt x="278363" y="205786"/>
                  <a:pt x="40432" y="-11929"/>
                  <a:pt x="158620" y="512"/>
                </a:cubicBezTo>
                <a:cubicBezTo>
                  <a:pt x="276808" y="12953"/>
                  <a:pt x="618930" y="165353"/>
                  <a:pt x="961053" y="317753"/>
                </a:cubicBezTo>
              </a:path>
            </a:pathLst>
          </a:custGeom>
          <a:noFill/>
          <a:ln>
            <a:solidFill>
              <a:srgbClr val="FF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17068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52</a:t>
            </a:fld>
            <a:endParaRPr lang="en-US"/>
          </a:p>
        </p:txBody>
      </p:sp>
      <p:sp>
        <p:nvSpPr>
          <p:cNvPr id="3" name="TextBox 2"/>
          <p:cNvSpPr txBox="1"/>
          <p:nvPr/>
        </p:nvSpPr>
        <p:spPr>
          <a:xfrm>
            <a:off x="36922" y="143759"/>
            <a:ext cx="8954678" cy="3231654"/>
          </a:xfrm>
          <a:prstGeom prst="rect">
            <a:avLst/>
          </a:prstGeom>
          <a:solidFill>
            <a:srgbClr val="FFCCFF"/>
          </a:solidFill>
        </p:spPr>
        <p:txBody>
          <a:bodyPr wrap="square" rtlCol="0">
            <a:spAutoFit/>
          </a:bodyPr>
          <a:lstStyle/>
          <a:p>
            <a:pPr algn="just"/>
            <a:r>
              <a:rPr lang="en-US" sz="3600" b="1" dirty="0">
                <a:solidFill>
                  <a:schemeClr val="accent2"/>
                </a:solidFill>
              </a:rPr>
              <a:t>Packet Data Network Gateway (P-GW)</a:t>
            </a:r>
          </a:p>
          <a:p>
            <a:pPr marL="342900" indent="-342900" algn="just">
              <a:buFont typeface="Wingdings" panose="05000000000000000000" pitchFamily="2" charset="2"/>
              <a:buChar char="ü"/>
            </a:pPr>
            <a:r>
              <a:rPr lang="en-US" dirty="0"/>
              <a:t>Like the S-GW, the </a:t>
            </a:r>
            <a:r>
              <a:rPr lang="en-US" dirty="0">
                <a:solidFill>
                  <a:schemeClr val="accent2"/>
                </a:solidFill>
              </a:rPr>
              <a:t>Packet Data Network Gateway </a:t>
            </a:r>
            <a:r>
              <a:rPr lang="en-US" dirty="0"/>
              <a:t>(PDN GW) is the termination point of the packet data interface towards the Packet Data Network(s). As an anchor point for sessions towards the external Packet Data Networks.</a:t>
            </a:r>
          </a:p>
          <a:p>
            <a:pPr marL="342900" indent="-342900" algn="just">
              <a:buFont typeface="Wingdings" panose="05000000000000000000" pitchFamily="2" charset="2"/>
              <a:buChar char="ü"/>
            </a:pPr>
            <a:r>
              <a:rPr lang="en-US" b="1" dirty="0" err="1">
                <a:solidFill>
                  <a:schemeClr val="accent2"/>
                </a:solidFill>
              </a:rPr>
              <a:t>ePDG</a:t>
            </a:r>
            <a:r>
              <a:rPr lang="en-US" b="1" dirty="0">
                <a:solidFill>
                  <a:schemeClr val="accent2"/>
                </a:solidFill>
              </a:rPr>
              <a:t> </a:t>
            </a:r>
            <a:r>
              <a:rPr lang="en-US" dirty="0"/>
              <a:t>(Evolved Packet Data Gateway)</a:t>
            </a:r>
            <a:r>
              <a:rPr lang="en-US" b="1" dirty="0">
                <a:solidFill>
                  <a:schemeClr val="accent2"/>
                </a:solidFill>
              </a:rPr>
              <a:t> </a:t>
            </a:r>
            <a:r>
              <a:rPr lang="en-US" dirty="0"/>
              <a:t>provides secured data transmission between UE to un-trusted non-3GPP access through EPC.</a:t>
            </a:r>
          </a:p>
        </p:txBody>
      </p:sp>
      <p:pic>
        <p:nvPicPr>
          <p:cNvPr id="4" name="Picture 3">
            <a:extLst>
              <a:ext uri="{FF2B5EF4-FFF2-40B4-BE49-F238E27FC236}">
                <a16:creationId xmlns:a16="http://schemas.microsoft.com/office/drawing/2014/main" xmlns="" id="{2474AE6F-CAC0-4973-BE3C-D031A9EEA452}"/>
              </a:ext>
            </a:extLst>
          </p:cNvPr>
          <p:cNvPicPr>
            <a:picLocks noChangeAspect="1"/>
          </p:cNvPicPr>
          <p:nvPr/>
        </p:nvPicPr>
        <p:blipFill>
          <a:blip r:embed="rId2"/>
          <a:stretch>
            <a:fillRect/>
          </a:stretch>
        </p:blipFill>
        <p:spPr>
          <a:xfrm>
            <a:off x="1600200" y="3292607"/>
            <a:ext cx="5486400" cy="3029712"/>
          </a:xfrm>
          <a:prstGeom prst="rect">
            <a:avLst/>
          </a:prstGeom>
        </p:spPr>
      </p:pic>
    </p:spTree>
    <p:extLst>
      <p:ext uri="{BB962C8B-B14F-4D97-AF65-F5344CB8AC3E}">
        <p14:creationId xmlns:p14="http://schemas.microsoft.com/office/powerpoint/2010/main" val="926445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1"/>
          <p:cNvSpPr>
            <a:spLocks noGrp="1"/>
          </p:cNvSpPr>
          <p:nvPr>
            <p:ph type="sldNum" sz="quarter" idx="12"/>
          </p:nvPr>
        </p:nvSpPr>
        <p:spPr>
          <a:noFill/>
        </p:spPr>
        <p:txBody>
          <a:bodyPr/>
          <a:lstStyle/>
          <a:p>
            <a:fld id="{63702F35-5B49-4325-95F6-7C448BA1CDD6}" type="slidenum">
              <a:rPr lang="en-US" smtClean="0"/>
              <a:pPr/>
              <a:t>53</a:t>
            </a:fld>
            <a:endParaRPr lang="en-US"/>
          </a:p>
        </p:txBody>
      </p:sp>
      <p:sp>
        <p:nvSpPr>
          <p:cNvPr id="54275" name="TextBox 2"/>
          <p:cNvSpPr txBox="1">
            <a:spLocks noChangeArrowheads="1"/>
          </p:cNvSpPr>
          <p:nvPr/>
        </p:nvSpPr>
        <p:spPr bwMode="auto">
          <a:xfrm>
            <a:off x="76200" y="117049"/>
            <a:ext cx="8763000" cy="1938992"/>
          </a:xfrm>
          <a:prstGeom prst="rect">
            <a:avLst/>
          </a:prstGeom>
          <a:solidFill>
            <a:srgbClr val="CCECFF"/>
          </a:solidFill>
          <a:ln w="9525">
            <a:noFill/>
            <a:miter lim="800000"/>
            <a:headEnd/>
            <a:tailEnd/>
          </a:ln>
        </p:spPr>
        <p:txBody>
          <a:bodyPr wrap="square">
            <a:spAutoFit/>
          </a:bodyPr>
          <a:lstStyle/>
          <a:p>
            <a:pPr algn="just"/>
            <a:r>
              <a:rPr lang="en-US" b="1" dirty="0">
                <a:solidFill>
                  <a:schemeClr val="accent2"/>
                </a:solidFill>
              </a:rPr>
              <a:t>The Policy Control and Charging Rules Function (PCRF</a:t>
            </a:r>
            <a:r>
              <a:rPr lang="en-US" b="1" dirty="0"/>
              <a:t>): </a:t>
            </a:r>
            <a:r>
              <a:rPr lang="en-US" dirty="0"/>
              <a:t>The PCRF server manages the service policy like access permission of a user group, priority of some traffic, bandwidth allocation, sends QoS setting information for each user session and accounting rule information.</a:t>
            </a:r>
            <a:endParaRPr lang="en-GB" dirty="0"/>
          </a:p>
        </p:txBody>
      </p:sp>
      <p:pic>
        <p:nvPicPr>
          <p:cNvPr id="2" name="Picture 1">
            <a:extLst>
              <a:ext uri="{FF2B5EF4-FFF2-40B4-BE49-F238E27FC236}">
                <a16:creationId xmlns:a16="http://schemas.microsoft.com/office/drawing/2014/main" xmlns="" id="{CBFEDCE3-363B-4BEC-9E98-9C7B7049A891}"/>
              </a:ext>
            </a:extLst>
          </p:cNvPr>
          <p:cNvPicPr>
            <a:picLocks noChangeAspect="1"/>
          </p:cNvPicPr>
          <p:nvPr/>
        </p:nvPicPr>
        <p:blipFill>
          <a:blip r:embed="rId2"/>
          <a:stretch>
            <a:fillRect/>
          </a:stretch>
        </p:blipFill>
        <p:spPr>
          <a:xfrm>
            <a:off x="76200" y="1971675"/>
            <a:ext cx="8572500" cy="47339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99FE3154-E4F1-4DBC-AFFE-BDB47B1CC230}" type="slidenum">
              <a:rPr lang="en-US" smtClean="0"/>
              <a:pPr>
                <a:defRPr/>
              </a:pPr>
              <a:t>54</a:t>
            </a:fld>
            <a:endParaRPr lang="en-US"/>
          </a:p>
        </p:txBody>
      </p:sp>
      <p:sp>
        <p:nvSpPr>
          <p:cNvPr id="4" name="Rectangle 3"/>
          <p:cNvSpPr/>
          <p:nvPr/>
        </p:nvSpPr>
        <p:spPr>
          <a:xfrm>
            <a:off x="0" y="228600"/>
            <a:ext cx="3810000" cy="2000548"/>
          </a:xfrm>
          <a:prstGeom prst="rect">
            <a:avLst/>
          </a:prstGeom>
          <a:solidFill>
            <a:srgbClr val="CCECFF"/>
          </a:solidFill>
        </p:spPr>
        <p:txBody>
          <a:bodyPr wrap="square">
            <a:spAutoFit/>
          </a:bodyPr>
          <a:lstStyle/>
          <a:p>
            <a:r>
              <a:rPr lang="en-US" b="1" dirty="0">
                <a:solidFill>
                  <a:srgbClr val="FF0000"/>
                </a:solidFill>
              </a:rPr>
              <a:t>Interfaces</a:t>
            </a:r>
          </a:p>
          <a:p>
            <a:pPr lvl="1"/>
            <a:r>
              <a:rPr lang="en-US" sz="2000" dirty="0"/>
              <a:t>S1 (</a:t>
            </a:r>
            <a:r>
              <a:rPr lang="en-US" sz="2000" dirty="0" err="1"/>
              <a:t>eNode</a:t>
            </a:r>
            <a:r>
              <a:rPr lang="en-US" sz="2000" dirty="0"/>
              <a:t> B to SGSN)</a:t>
            </a:r>
          </a:p>
          <a:p>
            <a:pPr lvl="1"/>
            <a:r>
              <a:rPr lang="en-US" sz="2000" dirty="0"/>
              <a:t>S1 (</a:t>
            </a:r>
            <a:r>
              <a:rPr lang="en-US" sz="2000" dirty="0" err="1"/>
              <a:t>eNode</a:t>
            </a:r>
            <a:r>
              <a:rPr lang="en-US" sz="2000" dirty="0"/>
              <a:t> B to MME)</a:t>
            </a:r>
          </a:p>
          <a:p>
            <a:pPr lvl="1"/>
            <a:r>
              <a:rPr lang="en-US" sz="2000" dirty="0"/>
              <a:t>X2 between two </a:t>
            </a:r>
            <a:r>
              <a:rPr lang="en-US" sz="2000" dirty="0" err="1"/>
              <a:t>eNBs</a:t>
            </a:r>
            <a:r>
              <a:rPr lang="en-US" sz="2000" dirty="0"/>
              <a:t> (required for handover)</a:t>
            </a:r>
          </a:p>
          <a:p>
            <a:pPr lvl="1"/>
            <a:r>
              <a:rPr lang="en-US" sz="2000" dirty="0" err="1"/>
              <a:t>Uu</a:t>
            </a:r>
            <a:r>
              <a:rPr lang="en-US" sz="2000" dirty="0"/>
              <a:t> (UE to </a:t>
            </a:r>
            <a:r>
              <a:rPr lang="en-US" sz="2000" dirty="0" err="1"/>
              <a:t>eNode</a:t>
            </a:r>
            <a:r>
              <a:rPr lang="en-US" sz="2000" dirty="0"/>
              <a:t> B)</a:t>
            </a:r>
          </a:p>
        </p:txBody>
      </p:sp>
      <p:sp>
        <p:nvSpPr>
          <p:cNvPr id="7" name="AutoShape 523" descr="EPC elements, E-UTRAN, and UE are forming the LTE Communication System. |  Download Scientific Diagram">
            <a:extLst>
              <a:ext uri="{FF2B5EF4-FFF2-40B4-BE49-F238E27FC236}">
                <a16:creationId xmlns:a16="http://schemas.microsoft.com/office/drawing/2014/main" xmlns="" id="{31F73D52-4C63-41FB-9F35-FDBAEE8D98D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525" descr="EPC elements, E-UTRAN, and UE are forming the LTE Communication System. ">
            <a:extLst>
              <a:ext uri="{FF2B5EF4-FFF2-40B4-BE49-F238E27FC236}">
                <a16:creationId xmlns:a16="http://schemas.microsoft.com/office/drawing/2014/main" xmlns="" id="{FEBA5346-E513-4375-AFC6-64D022C324A2}"/>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2" name="Picture 11">
            <a:extLst>
              <a:ext uri="{FF2B5EF4-FFF2-40B4-BE49-F238E27FC236}">
                <a16:creationId xmlns:a16="http://schemas.microsoft.com/office/drawing/2014/main" xmlns="" id="{B5F3E5AC-FA70-449E-BA30-BCAC4F1A85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200" y="191429"/>
            <a:ext cx="5287204" cy="57912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52400"/>
            <a:ext cx="4953000" cy="838200"/>
          </a:xfrm>
          <a:solidFill>
            <a:srgbClr val="FFFF00"/>
          </a:solidFill>
        </p:spPr>
        <p:txBody>
          <a:bodyPr/>
          <a:lstStyle/>
          <a:p>
            <a:r>
              <a:rPr lang="en-US" dirty="0"/>
              <a:t>LTE Protocol Stack</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p:sp>
        <p:nvSpPr>
          <p:cNvPr id="7" name="TextBox 6"/>
          <p:cNvSpPr txBox="1"/>
          <p:nvPr/>
        </p:nvSpPr>
        <p:spPr>
          <a:xfrm>
            <a:off x="1219200" y="5297096"/>
            <a:ext cx="5840186" cy="1200329"/>
          </a:xfrm>
          <a:prstGeom prst="rect">
            <a:avLst/>
          </a:prstGeom>
          <a:solidFill>
            <a:srgbClr val="FFCCFF"/>
          </a:solidFill>
        </p:spPr>
        <p:txBody>
          <a:bodyPr wrap="square" rtlCol="0">
            <a:spAutoFit/>
          </a:bodyPr>
          <a:lstStyle/>
          <a:p>
            <a:pPr>
              <a:tabLst>
                <a:tab pos="685800" algn="l"/>
              </a:tabLst>
            </a:pPr>
            <a:r>
              <a:rPr lang="en-US" b="1" dirty="0">
                <a:solidFill>
                  <a:srgbClr val="FF0000"/>
                </a:solidFill>
              </a:rPr>
              <a:t>PDCP</a:t>
            </a:r>
            <a:r>
              <a:rPr lang="en-US" dirty="0"/>
              <a:t> → Packet Data Convergence Protocol</a:t>
            </a:r>
          </a:p>
          <a:p>
            <a:pPr>
              <a:tabLst>
                <a:tab pos="685800" algn="l"/>
              </a:tabLst>
            </a:pPr>
            <a:r>
              <a:rPr lang="en-US" b="1" dirty="0">
                <a:solidFill>
                  <a:srgbClr val="FF0000"/>
                </a:solidFill>
              </a:rPr>
              <a:t>RLC</a:t>
            </a:r>
            <a:r>
              <a:rPr lang="en-US" dirty="0"/>
              <a:t> → Radio Link Control</a:t>
            </a:r>
          </a:p>
          <a:p>
            <a:pPr>
              <a:tabLst>
                <a:tab pos="685800" algn="l"/>
              </a:tabLst>
            </a:pPr>
            <a:r>
              <a:rPr lang="en-US" b="1" dirty="0">
                <a:solidFill>
                  <a:srgbClr val="FF0000"/>
                </a:solidFill>
              </a:rPr>
              <a:t>MAC</a:t>
            </a:r>
            <a:r>
              <a:rPr lang="en-US" dirty="0"/>
              <a:t> →  Medium Access Control</a:t>
            </a:r>
          </a:p>
        </p:txBody>
      </p:sp>
      <p:pic>
        <p:nvPicPr>
          <p:cNvPr id="6" name="Picture 2"/>
          <p:cNvPicPr>
            <a:picLocks noChangeAspect="1" noChangeArrowheads="1"/>
          </p:cNvPicPr>
          <p:nvPr/>
        </p:nvPicPr>
        <p:blipFill>
          <a:blip r:embed="rId2"/>
          <a:srcRect/>
          <a:stretch>
            <a:fillRect/>
          </a:stretch>
        </p:blipFill>
        <p:spPr bwMode="auto">
          <a:xfrm>
            <a:off x="381000" y="1219200"/>
            <a:ext cx="8158597" cy="3733800"/>
          </a:xfrm>
          <a:prstGeom prst="rect">
            <a:avLst/>
          </a:prstGeom>
          <a:noFill/>
          <a:ln w="9525">
            <a:noFill/>
            <a:miter lim="800000"/>
            <a:headEnd/>
            <a:tailEnd/>
          </a:ln>
          <a:effec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56</a:t>
            </a:fld>
            <a:endParaRPr lang="en-US"/>
          </a:p>
        </p:txBody>
      </p:sp>
      <p:sp>
        <p:nvSpPr>
          <p:cNvPr id="5" name="TextBox 4"/>
          <p:cNvSpPr txBox="1"/>
          <p:nvPr/>
        </p:nvSpPr>
        <p:spPr>
          <a:xfrm>
            <a:off x="152400" y="152400"/>
            <a:ext cx="8839200" cy="2554545"/>
          </a:xfrm>
          <a:prstGeom prst="rect">
            <a:avLst/>
          </a:prstGeom>
          <a:solidFill>
            <a:srgbClr val="CCECFF"/>
          </a:solidFill>
        </p:spPr>
        <p:txBody>
          <a:bodyPr wrap="square" rtlCol="0">
            <a:spAutoFit/>
          </a:bodyPr>
          <a:lstStyle/>
          <a:p>
            <a:pPr algn="just">
              <a:buFont typeface="Wingdings" pitchFamily="2" charset="2"/>
              <a:buChar char="ü"/>
            </a:pPr>
            <a:r>
              <a:rPr lang="en-US" sz="2000" dirty="0"/>
              <a:t>PDCP layer or layer 2 </a:t>
            </a:r>
            <a:r>
              <a:rPr lang="en-US" sz="2000" dirty="0">
                <a:solidFill>
                  <a:schemeClr val="accent2"/>
                </a:solidFill>
              </a:rPr>
              <a:t>Packet Data Convergence Protocol </a:t>
            </a:r>
            <a:r>
              <a:rPr lang="en-US" sz="2000" dirty="0"/>
              <a:t>is responsible for data ciphering and IP header compression to reduce the IP header overhead. </a:t>
            </a:r>
          </a:p>
          <a:p>
            <a:pPr algn="just">
              <a:buFont typeface="Wingdings" pitchFamily="2" charset="2"/>
              <a:buChar char="ü"/>
            </a:pPr>
            <a:endParaRPr lang="en-US" sz="2000" dirty="0"/>
          </a:p>
          <a:p>
            <a:pPr algn="just">
              <a:buFont typeface="Wingdings" pitchFamily="2" charset="2"/>
              <a:buChar char="ü"/>
            </a:pPr>
            <a:r>
              <a:rPr lang="en-US" sz="2000" dirty="0"/>
              <a:t>RLC layer or layer 2 </a:t>
            </a:r>
            <a:r>
              <a:rPr lang="en-US" sz="2000" dirty="0">
                <a:solidFill>
                  <a:schemeClr val="accent2"/>
                </a:solidFill>
              </a:rPr>
              <a:t>Radio Link Control</a:t>
            </a:r>
            <a:r>
              <a:rPr lang="en-US" sz="2000" dirty="0"/>
              <a:t> performs the data concatenation and then generates the segmentation of packets from IP-Packets of random sizes which comprise a Transport Block (TB) of size adapted to the radio transfer. The RLC layer handles a retransmission scheme of lost data through a first level of </a:t>
            </a:r>
            <a:r>
              <a:rPr lang="en-US" sz="2000" dirty="0">
                <a:solidFill>
                  <a:srgbClr val="FF0000"/>
                </a:solidFill>
              </a:rPr>
              <a:t>Automatic Repeat </a:t>
            </a:r>
            <a:r>
              <a:rPr lang="en-US" sz="2000" dirty="0" err="1">
                <a:solidFill>
                  <a:srgbClr val="FF0000"/>
                </a:solidFill>
              </a:rPr>
              <a:t>reQuests</a:t>
            </a:r>
            <a:r>
              <a:rPr lang="en-US" sz="2000" dirty="0"/>
              <a:t> (ARQ). </a:t>
            </a:r>
          </a:p>
        </p:txBody>
      </p:sp>
      <p:pic>
        <p:nvPicPr>
          <p:cNvPr id="80898" name="Picture 2"/>
          <p:cNvPicPr>
            <a:picLocks noChangeAspect="1" noChangeArrowheads="1"/>
          </p:cNvPicPr>
          <p:nvPr/>
        </p:nvPicPr>
        <p:blipFill>
          <a:blip r:embed="rId2"/>
          <a:srcRect/>
          <a:stretch>
            <a:fillRect/>
          </a:stretch>
        </p:blipFill>
        <p:spPr bwMode="auto">
          <a:xfrm>
            <a:off x="929842" y="2971800"/>
            <a:ext cx="7492591" cy="3429001"/>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75577" y="228600"/>
            <a:ext cx="8182623" cy="6392091"/>
          </a:xfrm>
          <a:prstGeom prst="rect">
            <a:avLst/>
          </a:prstGeom>
        </p:spPr>
      </p:pic>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57</a:t>
            </a:fld>
            <a:endParaRPr lang="en-US"/>
          </a:p>
        </p:txBody>
      </p:sp>
    </p:spTree>
    <p:extLst>
      <p:ext uri="{BB962C8B-B14F-4D97-AF65-F5344CB8AC3E}">
        <p14:creationId xmlns:p14="http://schemas.microsoft.com/office/powerpoint/2010/main" val="1219148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58</a:t>
            </a:fld>
            <a:endParaRPr lang="en-US"/>
          </a:p>
        </p:txBody>
      </p:sp>
      <p:sp>
        <p:nvSpPr>
          <p:cNvPr id="5" name="TextBox 4"/>
          <p:cNvSpPr txBox="1"/>
          <p:nvPr/>
        </p:nvSpPr>
        <p:spPr>
          <a:xfrm>
            <a:off x="152400" y="609600"/>
            <a:ext cx="8839200" cy="2246769"/>
          </a:xfrm>
          <a:prstGeom prst="rect">
            <a:avLst/>
          </a:prstGeom>
          <a:solidFill>
            <a:srgbClr val="CCECFF"/>
          </a:solidFill>
        </p:spPr>
        <p:txBody>
          <a:bodyPr wrap="square" rtlCol="0">
            <a:spAutoFit/>
          </a:bodyPr>
          <a:lstStyle/>
          <a:p>
            <a:pPr algn="just"/>
            <a:r>
              <a:rPr lang="en-US" sz="2000" dirty="0"/>
              <a:t>There are two types of LTE frame structure:</a:t>
            </a:r>
          </a:p>
          <a:p>
            <a:pPr algn="just"/>
            <a:r>
              <a:rPr lang="en-US" sz="2000" b="1" i="1" dirty="0"/>
              <a:t>Type 1:</a:t>
            </a:r>
            <a:r>
              <a:rPr lang="en-US" sz="2000" dirty="0"/>
              <a:t>   used for the LTE FDD mode systems.</a:t>
            </a:r>
          </a:p>
          <a:p>
            <a:pPr algn="just"/>
            <a:r>
              <a:rPr lang="en-US" sz="2000" b="1" i="1" dirty="0"/>
              <a:t>Type 2:</a:t>
            </a:r>
            <a:r>
              <a:rPr lang="en-US" sz="2000" dirty="0"/>
              <a:t>   used for the LTE TDD systems.</a:t>
            </a:r>
          </a:p>
          <a:p>
            <a:pPr algn="just"/>
            <a:endParaRPr lang="en-US" sz="2000" dirty="0"/>
          </a:p>
          <a:p>
            <a:pPr algn="just"/>
            <a:r>
              <a:rPr lang="en-US" sz="2000" dirty="0">
                <a:solidFill>
                  <a:schemeClr val="accent2"/>
                </a:solidFill>
              </a:rPr>
              <a:t>Type 1 LTE Frame Structure</a:t>
            </a:r>
          </a:p>
          <a:p>
            <a:pPr algn="just">
              <a:buFont typeface="Wingdings" pitchFamily="2" charset="2"/>
              <a:buChar char="ü"/>
            </a:pPr>
            <a:r>
              <a:rPr lang="en-US" sz="2000" dirty="0"/>
              <a:t>The duration of one LTE radio frame is 10 </a:t>
            </a:r>
            <a:r>
              <a:rPr lang="en-US" sz="2000" dirty="0" err="1"/>
              <a:t>ms.</a:t>
            </a:r>
            <a:r>
              <a:rPr lang="en-US" sz="2000" dirty="0"/>
              <a:t> One frame is divided into 10 </a:t>
            </a:r>
            <a:r>
              <a:rPr lang="en-US" sz="2000" dirty="0" err="1"/>
              <a:t>subframes</a:t>
            </a:r>
            <a:r>
              <a:rPr lang="en-US" sz="2000" dirty="0"/>
              <a:t> of 1 ms each, and each </a:t>
            </a:r>
            <a:r>
              <a:rPr lang="en-US" sz="2000" dirty="0" err="1"/>
              <a:t>subframe</a:t>
            </a:r>
            <a:r>
              <a:rPr lang="en-US" sz="2000" dirty="0"/>
              <a:t> is divided into two slots of 0.5 ms each. </a:t>
            </a:r>
          </a:p>
        </p:txBody>
      </p:sp>
      <p:sp>
        <p:nvSpPr>
          <p:cNvPr id="6" name="Rectangle 5"/>
          <p:cNvSpPr/>
          <p:nvPr/>
        </p:nvSpPr>
        <p:spPr>
          <a:xfrm>
            <a:off x="0" y="0"/>
            <a:ext cx="4494115" cy="646331"/>
          </a:xfrm>
          <a:prstGeom prst="rect">
            <a:avLst/>
          </a:prstGeom>
          <a:solidFill>
            <a:srgbClr val="FFC000"/>
          </a:solidFill>
        </p:spPr>
        <p:txBody>
          <a:bodyPr wrap="none">
            <a:spAutoFit/>
          </a:bodyPr>
          <a:lstStyle/>
          <a:p>
            <a:r>
              <a:rPr lang="en-US" sz="3600" b="1" dirty="0">
                <a:solidFill>
                  <a:schemeClr val="accent2"/>
                </a:solidFill>
              </a:rPr>
              <a:t>LTE Frame Structure</a:t>
            </a:r>
          </a:p>
        </p:txBody>
      </p:sp>
      <p:pic>
        <p:nvPicPr>
          <p:cNvPr id="7" name="Picture 2" descr="http://lteuniversity.com/cfs-file.ashx/__key/communityserver-blogs-components-weblogfiles/00-00-00-00-92/7851.Fig_2D00_1.png"/>
          <p:cNvPicPr>
            <a:picLocks noChangeAspect="1" noChangeArrowheads="1"/>
          </p:cNvPicPr>
          <p:nvPr/>
        </p:nvPicPr>
        <p:blipFill>
          <a:blip r:embed="rId2"/>
          <a:srcRect/>
          <a:stretch>
            <a:fillRect/>
          </a:stretch>
        </p:blipFill>
        <p:spPr bwMode="auto">
          <a:xfrm>
            <a:off x="1219200" y="2819399"/>
            <a:ext cx="6248400" cy="3915037"/>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85800" y="1219200"/>
            <a:ext cx="7772400" cy="4682059"/>
          </a:xfrm>
          <a:prstGeom prst="rect">
            <a:avLst/>
          </a:prstGeom>
        </p:spPr>
      </p:pic>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59</a:t>
            </a:fld>
            <a:endParaRPr lang="en-US"/>
          </a:p>
        </p:txBody>
      </p:sp>
      <p:pic>
        <p:nvPicPr>
          <p:cNvPr id="2" name="Picture 1"/>
          <p:cNvPicPr>
            <a:picLocks noChangeAspect="1"/>
          </p:cNvPicPr>
          <p:nvPr/>
        </p:nvPicPr>
        <p:blipFill>
          <a:blip r:embed="rId3"/>
          <a:stretch>
            <a:fillRect/>
          </a:stretch>
        </p:blipFill>
        <p:spPr>
          <a:xfrm>
            <a:off x="1066800" y="-26126"/>
            <a:ext cx="6811326" cy="1066949"/>
          </a:xfrm>
          <a:prstGeom prst="rect">
            <a:avLst/>
          </a:prstGeom>
        </p:spPr>
      </p:pic>
    </p:spTree>
    <p:extLst>
      <p:ext uri="{BB962C8B-B14F-4D97-AF65-F5344CB8AC3E}">
        <p14:creationId xmlns:p14="http://schemas.microsoft.com/office/powerpoint/2010/main" val="13447014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990600" y="1066800"/>
            <a:ext cx="7398874" cy="4648200"/>
          </a:xfrm>
          <a:prstGeom prst="rect">
            <a:avLst/>
          </a:prstGeom>
        </p:spPr>
      </p:pic>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60</a:t>
            </a:fld>
            <a:endParaRPr lang="en-US"/>
          </a:p>
        </p:txBody>
      </p:sp>
    </p:spTree>
    <p:extLst>
      <p:ext uri="{BB962C8B-B14F-4D97-AF65-F5344CB8AC3E}">
        <p14:creationId xmlns:p14="http://schemas.microsoft.com/office/powerpoint/2010/main" val="159811764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61</a:t>
            </a:fld>
            <a:endParaRPr lang="en-US"/>
          </a:p>
        </p:txBody>
      </p:sp>
      <p:pic>
        <p:nvPicPr>
          <p:cNvPr id="8" name="Picture 3"/>
          <p:cNvPicPr>
            <a:picLocks noChangeAspect="1" noChangeArrowheads="1"/>
          </p:cNvPicPr>
          <p:nvPr/>
        </p:nvPicPr>
        <p:blipFill>
          <a:blip r:embed="rId2" cstate="print"/>
          <a:srcRect/>
          <a:stretch>
            <a:fillRect/>
          </a:stretch>
        </p:blipFill>
        <p:spPr bwMode="auto">
          <a:xfrm>
            <a:off x="762000" y="381000"/>
            <a:ext cx="7808763" cy="2590800"/>
          </a:xfrm>
          <a:prstGeom prst="rect">
            <a:avLst/>
          </a:prstGeom>
          <a:noFill/>
          <a:ln w="9525">
            <a:noFill/>
            <a:miter lim="800000"/>
            <a:headEnd/>
            <a:tailEnd/>
          </a:ln>
        </p:spPr>
      </p:pic>
      <p:pic>
        <p:nvPicPr>
          <p:cNvPr id="77826" name="Picture 2"/>
          <p:cNvPicPr>
            <a:picLocks noChangeAspect="1" noChangeArrowheads="1"/>
          </p:cNvPicPr>
          <p:nvPr/>
        </p:nvPicPr>
        <p:blipFill>
          <a:blip r:embed="rId3"/>
          <a:srcRect/>
          <a:stretch>
            <a:fillRect/>
          </a:stretch>
        </p:blipFill>
        <p:spPr bwMode="auto">
          <a:xfrm>
            <a:off x="304800" y="3733799"/>
            <a:ext cx="8534400" cy="1938091"/>
          </a:xfrm>
          <a:prstGeom prst="rect">
            <a:avLst/>
          </a:prstGeom>
          <a:noFill/>
          <a:ln w="9525">
            <a:noFill/>
            <a:miter lim="800000"/>
            <a:headEnd/>
            <a:tailEnd/>
          </a:ln>
          <a:effec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914400" y="990600"/>
            <a:ext cx="7197169" cy="4724400"/>
          </a:xfrm>
          <a:prstGeom prst="rect">
            <a:avLst/>
          </a:prstGeom>
        </p:spPr>
      </p:pic>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62</a:t>
            </a:fld>
            <a:endParaRPr lang="en-US"/>
          </a:p>
        </p:txBody>
      </p:sp>
    </p:spTree>
    <p:extLst>
      <p:ext uri="{BB962C8B-B14F-4D97-AF65-F5344CB8AC3E}">
        <p14:creationId xmlns:p14="http://schemas.microsoft.com/office/powerpoint/2010/main" val="12266089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63</a:t>
            </a:fld>
            <a:endParaRPr lang="en-US"/>
          </a:p>
        </p:txBody>
      </p:sp>
      <p:sp>
        <p:nvSpPr>
          <p:cNvPr id="5" name="TextBox 4"/>
          <p:cNvSpPr txBox="1"/>
          <p:nvPr/>
        </p:nvSpPr>
        <p:spPr>
          <a:xfrm>
            <a:off x="0" y="0"/>
            <a:ext cx="4907902" cy="2862322"/>
          </a:xfrm>
          <a:prstGeom prst="rect">
            <a:avLst/>
          </a:prstGeom>
          <a:solidFill>
            <a:srgbClr val="CCECFF"/>
          </a:solidFill>
        </p:spPr>
        <p:txBody>
          <a:bodyPr wrap="square" rtlCol="0">
            <a:spAutoFit/>
          </a:bodyPr>
          <a:lstStyle/>
          <a:p>
            <a:pPr algn="just">
              <a:buFont typeface="Wingdings" pitchFamily="2" charset="2"/>
              <a:buChar char="ü"/>
            </a:pPr>
            <a:r>
              <a:rPr lang="en-US" sz="2000" dirty="0"/>
              <a:t>Each slot contains either six or seven OFDM symbols, depending on the </a:t>
            </a:r>
            <a:r>
              <a:rPr lang="en-US" sz="2000" dirty="0">
                <a:solidFill>
                  <a:srgbClr val="FF0000"/>
                </a:solidFill>
              </a:rPr>
              <a:t>Cyclic Prefix (CP) </a:t>
            </a:r>
            <a:r>
              <a:rPr lang="en-US" sz="2000" dirty="0"/>
              <a:t>length. In LTE-A the separation between subcarrier </a:t>
            </a:r>
            <a:r>
              <a:rPr lang="el-GR" sz="2000" dirty="0"/>
              <a:t>Δ</a:t>
            </a:r>
            <a:r>
              <a:rPr lang="en-US" sz="2000" i="1" dirty="0"/>
              <a:t>f</a:t>
            </a:r>
            <a:r>
              <a:rPr lang="en-US" sz="2000" dirty="0"/>
              <a:t> =15KHz. The useful symbol time is 1/15 kHz = 66.6 </a:t>
            </a:r>
            <a:r>
              <a:rPr lang="en-US" sz="2000" dirty="0" err="1"/>
              <a:t>mircosec</a:t>
            </a:r>
            <a:r>
              <a:rPr lang="en-US" sz="2000" dirty="0"/>
              <a:t>. Since </a:t>
            </a:r>
            <a:r>
              <a:rPr lang="en-US" sz="2000" dirty="0">
                <a:solidFill>
                  <a:srgbClr val="FF0000"/>
                </a:solidFill>
              </a:rPr>
              <a:t>normal CP </a:t>
            </a:r>
            <a:r>
              <a:rPr lang="en-US" sz="2000" dirty="0"/>
              <a:t>is about 4.69 microsec long, seven OFDM symbols can be placed in the 0.5-ms slot as each symbol occupies (66.6 + 4.69) = 71.29 microseconds. </a:t>
            </a:r>
          </a:p>
        </p:txBody>
      </p:sp>
      <p:pic>
        <p:nvPicPr>
          <p:cNvPr id="88066" name="Picture 2" descr=" "/>
          <p:cNvPicPr>
            <a:picLocks noChangeAspect="1" noChangeArrowheads="1"/>
          </p:cNvPicPr>
          <p:nvPr/>
        </p:nvPicPr>
        <p:blipFill>
          <a:blip r:embed="rId2"/>
          <a:srcRect/>
          <a:stretch>
            <a:fillRect/>
          </a:stretch>
        </p:blipFill>
        <p:spPr bwMode="auto">
          <a:xfrm>
            <a:off x="4876800" y="152400"/>
            <a:ext cx="4267200" cy="2514189"/>
          </a:xfrm>
          <a:prstGeom prst="rect">
            <a:avLst/>
          </a:prstGeom>
          <a:noFill/>
        </p:spPr>
      </p:pic>
      <p:sp>
        <p:nvSpPr>
          <p:cNvPr id="2" name="Rectangle 1">
            <a:extLst>
              <a:ext uri="{FF2B5EF4-FFF2-40B4-BE49-F238E27FC236}">
                <a16:creationId xmlns:a16="http://schemas.microsoft.com/office/drawing/2014/main" xmlns="" id="{3002A561-0F13-4C9C-8A5A-DF158ADBD7B5}"/>
              </a:ext>
            </a:extLst>
          </p:cNvPr>
          <p:cNvSpPr/>
          <p:nvPr/>
        </p:nvSpPr>
        <p:spPr>
          <a:xfrm>
            <a:off x="5638800" y="2888492"/>
            <a:ext cx="3083986" cy="338554"/>
          </a:xfrm>
          <a:prstGeom prst="rect">
            <a:avLst/>
          </a:prstGeom>
        </p:spPr>
        <p:txBody>
          <a:bodyPr wrap="none">
            <a:spAutoFit/>
          </a:bodyPr>
          <a:lstStyle/>
          <a:p>
            <a:r>
              <a:rPr lang="en-US" sz="1600" b="1" dirty="0">
                <a:solidFill>
                  <a:srgbClr val="FF0000"/>
                </a:solidFill>
              </a:rPr>
              <a:t>Physical Resource Blocks (PRB)</a:t>
            </a:r>
            <a:endParaRPr lang="en-US" sz="1600" dirty="0"/>
          </a:p>
        </p:txBody>
      </p:sp>
      <p:sp>
        <p:nvSpPr>
          <p:cNvPr id="6" name="Rectangle 5">
            <a:extLst>
              <a:ext uri="{FF2B5EF4-FFF2-40B4-BE49-F238E27FC236}">
                <a16:creationId xmlns:a16="http://schemas.microsoft.com/office/drawing/2014/main" xmlns="" id="{03C01208-64E2-4E9E-BF45-A7C655B8717A}"/>
              </a:ext>
            </a:extLst>
          </p:cNvPr>
          <p:cNvSpPr/>
          <p:nvPr/>
        </p:nvSpPr>
        <p:spPr>
          <a:xfrm>
            <a:off x="5004266" y="4419600"/>
            <a:ext cx="4047597" cy="707886"/>
          </a:xfrm>
          <a:prstGeom prst="rect">
            <a:avLst/>
          </a:prstGeom>
          <a:solidFill>
            <a:srgbClr val="CCECFF"/>
          </a:solidFill>
        </p:spPr>
        <p:txBody>
          <a:bodyPr wrap="square">
            <a:spAutoFit/>
          </a:bodyPr>
          <a:lstStyle/>
          <a:p>
            <a:pPr algn="just"/>
            <a:r>
              <a:rPr lang="en-US" sz="2000" dirty="0"/>
              <a:t>Now, 71.29 ×7 = 500 microseconds = 0.5ms  = Length of slot</a:t>
            </a:r>
          </a:p>
        </p:txBody>
      </p:sp>
      <p:cxnSp>
        <p:nvCxnSpPr>
          <p:cNvPr id="8" name="Straight Arrow Connector 7">
            <a:extLst>
              <a:ext uri="{FF2B5EF4-FFF2-40B4-BE49-F238E27FC236}">
                <a16:creationId xmlns:a16="http://schemas.microsoft.com/office/drawing/2014/main" xmlns="" id="{65379618-34F7-4E79-9526-CD14DDDC7AAB}"/>
              </a:ext>
            </a:extLst>
          </p:cNvPr>
          <p:cNvCxnSpPr/>
          <p:nvPr/>
        </p:nvCxnSpPr>
        <p:spPr>
          <a:xfrm>
            <a:off x="5105400" y="2666589"/>
            <a:ext cx="1219200" cy="0"/>
          </a:xfrm>
          <a:prstGeom prst="straightConnector1">
            <a:avLst/>
          </a:prstGeom>
          <a:ln w="28575">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xmlns="" id="{3094FCD3-6C45-4778-8F34-4736AE4E4235}"/>
              </a:ext>
            </a:extLst>
          </p:cNvPr>
          <p:cNvSpPr txBox="1"/>
          <p:nvPr/>
        </p:nvSpPr>
        <p:spPr>
          <a:xfrm>
            <a:off x="6340151" y="2512701"/>
            <a:ext cx="685800" cy="307777"/>
          </a:xfrm>
          <a:prstGeom prst="rect">
            <a:avLst/>
          </a:prstGeom>
          <a:noFill/>
        </p:spPr>
        <p:txBody>
          <a:bodyPr wrap="square" rtlCol="0">
            <a:spAutoFit/>
          </a:bodyPr>
          <a:lstStyle/>
          <a:p>
            <a:r>
              <a:rPr lang="en-US" sz="1400" dirty="0"/>
              <a:t>Time</a:t>
            </a:r>
          </a:p>
        </p:txBody>
      </p:sp>
      <p:cxnSp>
        <p:nvCxnSpPr>
          <p:cNvPr id="11" name="Straight Arrow Connector 10">
            <a:extLst>
              <a:ext uri="{FF2B5EF4-FFF2-40B4-BE49-F238E27FC236}">
                <a16:creationId xmlns:a16="http://schemas.microsoft.com/office/drawing/2014/main" xmlns="" id="{08602BD8-FCA9-465F-BD1A-C55F75EF86A0}"/>
              </a:ext>
            </a:extLst>
          </p:cNvPr>
          <p:cNvCxnSpPr>
            <a:cxnSpLocks/>
          </p:cNvCxnSpPr>
          <p:nvPr/>
        </p:nvCxnSpPr>
        <p:spPr>
          <a:xfrm flipV="1">
            <a:off x="7134808" y="1409494"/>
            <a:ext cx="0" cy="1066800"/>
          </a:xfrm>
          <a:prstGeom prst="straightConnector1">
            <a:avLst/>
          </a:prstGeom>
          <a:ln w="28575">
            <a:solidFill>
              <a:srgbClr val="FF66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936DF503-198F-4CD3-B730-62F5FED436EE}"/>
              </a:ext>
            </a:extLst>
          </p:cNvPr>
          <p:cNvSpPr txBox="1"/>
          <p:nvPr/>
        </p:nvSpPr>
        <p:spPr>
          <a:xfrm>
            <a:off x="6858000" y="990765"/>
            <a:ext cx="1051247" cy="307777"/>
          </a:xfrm>
          <a:prstGeom prst="rect">
            <a:avLst/>
          </a:prstGeom>
          <a:noFill/>
        </p:spPr>
        <p:txBody>
          <a:bodyPr wrap="square" rtlCol="0">
            <a:spAutoFit/>
          </a:bodyPr>
          <a:lstStyle/>
          <a:p>
            <a:r>
              <a:rPr lang="en-US" sz="1400" dirty="0"/>
              <a:t>Frequency</a:t>
            </a:r>
          </a:p>
        </p:txBody>
      </p:sp>
      <p:grpSp>
        <p:nvGrpSpPr>
          <p:cNvPr id="10" name="Group 9">
            <a:extLst>
              <a:ext uri="{FF2B5EF4-FFF2-40B4-BE49-F238E27FC236}">
                <a16:creationId xmlns:a16="http://schemas.microsoft.com/office/drawing/2014/main" xmlns="" id="{D6C8FF1B-7F1C-47B3-ABAC-EFA06E97B633}"/>
              </a:ext>
            </a:extLst>
          </p:cNvPr>
          <p:cNvGrpSpPr/>
          <p:nvPr/>
        </p:nvGrpSpPr>
        <p:grpSpPr>
          <a:xfrm>
            <a:off x="5397733" y="3504954"/>
            <a:ext cx="3225334" cy="451749"/>
            <a:chOff x="5004266" y="3428999"/>
            <a:chExt cx="3225334" cy="451749"/>
          </a:xfrm>
        </p:grpSpPr>
        <p:sp>
          <p:nvSpPr>
            <p:cNvPr id="7" name="Rectangle 6">
              <a:extLst>
                <a:ext uri="{FF2B5EF4-FFF2-40B4-BE49-F238E27FC236}">
                  <a16:creationId xmlns:a16="http://schemas.microsoft.com/office/drawing/2014/main" xmlns="" id="{2F9422F5-6810-4278-8CE2-3B5BBF5A36BE}"/>
                </a:ext>
              </a:extLst>
            </p:cNvPr>
            <p:cNvSpPr/>
            <p:nvPr/>
          </p:nvSpPr>
          <p:spPr>
            <a:xfrm>
              <a:off x="5004266" y="3429000"/>
              <a:ext cx="2130542" cy="451748"/>
            </a:xfrm>
            <a:prstGeom prst="rect">
              <a:avLst/>
            </a:prstGeom>
            <a:solidFill>
              <a:srgbClr val="FF66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66.66</a:t>
              </a:r>
              <a:r>
                <a:rPr lang="el-GR" dirty="0">
                  <a:solidFill>
                    <a:schemeClr val="tx1"/>
                  </a:solidFill>
                </a:rPr>
                <a:t>μ</a:t>
              </a:r>
              <a:r>
                <a:rPr lang="en-US" dirty="0">
                  <a:solidFill>
                    <a:schemeClr val="tx1"/>
                  </a:solidFill>
                </a:rPr>
                <a:t>s</a:t>
              </a:r>
              <a:endParaRPr lang="en-US" dirty="0"/>
            </a:p>
          </p:txBody>
        </p:sp>
        <p:sp>
          <p:nvSpPr>
            <p:cNvPr id="14" name="Rectangle 13">
              <a:extLst>
                <a:ext uri="{FF2B5EF4-FFF2-40B4-BE49-F238E27FC236}">
                  <a16:creationId xmlns:a16="http://schemas.microsoft.com/office/drawing/2014/main" xmlns="" id="{31C3EE22-E35B-4FE1-83B4-14C8C9056947}"/>
                </a:ext>
              </a:extLst>
            </p:cNvPr>
            <p:cNvSpPr/>
            <p:nvPr/>
          </p:nvSpPr>
          <p:spPr>
            <a:xfrm>
              <a:off x="7134808" y="3428999"/>
              <a:ext cx="1094792" cy="451748"/>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4.69</a:t>
              </a:r>
              <a:r>
                <a:rPr lang="el-GR" dirty="0">
                  <a:solidFill>
                    <a:schemeClr val="tx1"/>
                  </a:solidFill>
                </a:rPr>
                <a:t>μ</a:t>
              </a:r>
              <a:r>
                <a:rPr lang="en-US" dirty="0">
                  <a:solidFill>
                    <a:schemeClr val="tx1"/>
                  </a:solidFill>
                </a:rPr>
                <a:t>s</a:t>
              </a:r>
              <a:endParaRPr lang="en-US" dirty="0"/>
            </a:p>
          </p:txBody>
        </p:sp>
      </p:grpSp>
      <p:pic>
        <p:nvPicPr>
          <p:cNvPr id="17" name="Picture 16">
            <a:extLst>
              <a:ext uri="{FF2B5EF4-FFF2-40B4-BE49-F238E27FC236}">
                <a16:creationId xmlns:a16="http://schemas.microsoft.com/office/drawing/2014/main" xmlns="" id="{050D6214-C57A-4D04-BCBF-583B410373CB}"/>
              </a:ext>
            </a:extLst>
          </p:cNvPr>
          <p:cNvPicPr>
            <a:picLocks noChangeAspect="1"/>
          </p:cNvPicPr>
          <p:nvPr/>
        </p:nvPicPr>
        <p:blipFill>
          <a:blip r:embed="rId3"/>
          <a:stretch>
            <a:fillRect/>
          </a:stretch>
        </p:blipFill>
        <p:spPr>
          <a:xfrm>
            <a:off x="533400" y="3057769"/>
            <a:ext cx="4223085" cy="285960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215C903B-D4AE-4443-A8A7-04DDE51008A7}"/>
              </a:ext>
            </a:extLst>
          </p:cNvPr>
          <p:cNvSpPr>
            <a:spLocks noGrp="1"/>
          </p:cNvSpPr>
          <p:nvPr>
            <p:ph type="sldNum" sz="quarter" idx="12"/>
          </p:nvPr>
        </p:nvSpPr>
        <p:spPr/>
        <p:txBody>
          <a:bodyPr/>
          <a:lstStyle/>
          <a:p>
            <a:pPr>
              <a:defRPr/>
            </a:pPr>
            <a:fld id="{4238FF85-7D5F-4211-AF5F-B3F85F4FE643}" type="slidenum">
              <a:rPr lang="en-US" smtClean="0"/>
              <a:pPr>
                <a:defRPr/>
              </a:pPr>
              <a:t>64</a:t>
            </a:fld>
            <a:endParaRPr lang="en-US"/>
          </a:p>
        </p:txBody>
      </p:sp>
      <p:sp>
        <p:nvSpPr>
          <p:cNvPr id="5" name="Rectangle 4">
            <a:extLst>
              <a:ext uri="{FF2B5EF4-FFF2-40B4-BE49-F238E27FC236}">
                <a16:creationId xmlns:a16="http://schemas.microsoft.com/office/drawing/2014/main" xmlns="" id="{6B0F605D-5686-40A5-91D9-2344B8B74E05}"/>
              </a:ext>
            </a:extLst>
          </p:cNvPr>
          <p:cNvSpPr/>
          <p:nvPr/>
        </p:nvSpPr>
        <p:spPr>
          <a:xfrm>
            <a:off x="152400" y="152400"/>
            <a:ext cx="8839200" cy="1569660"/>
          </a:xfrm>
          <a:prstGeom prst="rect">
            <a:avLst/>
          </a:prstGeom>
          <a:solidFill>
            <a:srgbClr val="CCECFF"/>
          </a:solidFill>
        </p:spPr>
        <p:txBody>
          <a:bodyPr wrap="square">
            <a:spAutoFit/>
          </a:bodyPr>
          <a:lstStyle/>
          <a:p>
            <a:pPr algn="just">
              <a:buFont typeface="Wingdings" pitchFamily="2" charset="2"/>
              <a:buChar char="ü"/>
            </a:pPr>
            <a:r>
              <a:rPr lang="en-US" dirty="0"/>
              <a:t>When </a:t>
            </a:r>
            <a:r>
              <a:rPr lang="en-US" dirty="0">
                <a:solidFill>
                  <a:srgbClr val="FF0000"/>
                </a:solidFill>
              </a:rPr>
              <a:t>extended CP </a:t>
            </a:r>
            <a:r>
              <a:rPr lang="en-US" dirty="0"/>
              <a:t>(=16.67 microsec) is used the total OFDM symbol time is (66.6 + 16.67) = 83.27 microseconds. Six OFDM symbols can then be placed in the 0.5-ms slot. Now, 83.27 ×6 = 500 microseconds = 0.5ms  = Length of slot</a:t>
            </a:r>
          </a:p>
        </p:txBody>
      </p:sp>
      <p:pic>
        <p:nvPicPr>
          <p:cNvPr id="6" name="Picture 2" descr=" ">
            <a:extLst>
              <a:ext uri="{FF2B5EF4-FFF2-40B4-BE49-F238E27FC236}">
                <a16:creationId xmlns:a16="http://schemas.microsoft.com/office/drawing/2014/main" xmlns="" id="{FE2CDF15-A232-4290-81CA-C23F31BA557F}"/>
              </a:ext>
            </a:extLst>
          </p:cNvPr>
          <p:cNvPicPr>
            <a:picLocks noChangeAspect="1" noChangeArrowheads="1"/>
          </p:cNvPicPr>
          <p:nvPr/>
        </p:nvPicPr>
        <p:blipFill>
          <a:blip r:embed="rId2"/>
          <a:srcRect/>
          <a:stretch>
            <a:fillRect/>
          </a:stretch>
        </p:blipFill>
        <p:spPr bwMode="auto">
          <a:xfrm>
            <a:off x="0" y="2222443"/>
            <a:ext cx="4637371" cy="2732290"/>
          </a:xfrm>
          <a:prstGeom prst="rect">
            <a:avLst/>
          </a:prstGeom>
          <a:noFill/>
        </p:spPr>
      </p:pic>
      <p:pic>
        <p:nvPicPr>
          <p:cNvPr id="7" name="Picture 6">
            <a:extLst>
              <a:ext uri="{FF2B5EF4-FFF2-40B4-BE49-F238E27FC236}">
                <a16:creationId xmlns:a16="http://schemas.microsoft.com/office/drawing/2014/main" xmlns="" id="{050D6214-C57A-4D04-BCBF-583B410373CB}"/>
              </a:ext>
            </a:extLst>
          </p:cNvPr>
          <p:cNvPicPr>
            <a:picLocks noChangeAspect="1"/>
          </p:cNvPicPr>
          <p:nvPr/>
        </p:nvPicPr>
        <p:blipFill>
          <a:blip r:embed="rId3"/>
          <a:stretch>
            <a:fillRect/>
          </a:stretch>
        </p:blipFill>
        <p:spPr>
          <a:xfrm>
            <a:off x="4920915" y="2222443"/>
            <a:ext cx="4223085" cy="2859605"/>
          </a:xfrm>
          <a:prstGeom prst="rect">
            <a:avLst/>
          </a:prstGeom>
        </p:spPr>
      </p:pic>
      <p:grpSp>
        <p:nvGrpSpPr>
          <p:cNvPr id="2" name="Group 1">
            <a:extLst>
              <a:ext uri="{FF2B5EF4-FFF2-40B4-BE49-F238E27FC236}">
                <a16:creationId xmlns:a16="http://schemas.microsoft.com/office/drawing/2014/main" xmlns="" id="{BC17FF16-4D8E-43FD-AFC8-7935307AAA0C}"/>
              </a:ext>
            </a:extLst>
          </p:cNvPr>
          <p:cNvGrpSpPr/>
          <p:nvPr/>
        </p:nvGrpSpPr>
        <p:grpSpPr>
          <a:xfrm>
            <a:off x="457201" y="5582431"/>
            <a:ext cx="4114800" cy="451749"/>
            <a:chOff x="457201" y="5582431"/>
            <a:chExt cx="4114800" cy="451749"/>
          </a:xfrm>
        </p:grpSpPr>
        <p:sp>
          <p:nvSpPr>
            <p:cNvPr id="9" name="Rectangle 8">
              <a:extLst>
                <a:ext uri="{FF2B5EF4-FFF2-40B4-BE49-F238E27FC236}">
                  <a16:creationId xmlns:a16="http://schemas.microsoft.com/office/drawing/2014/main" xmlns="" id="{CE011261-2EF1-4831-83D8-E0026B0B60B3}"/>
                </a:ext>
              </a:extLst>
            </p:cNvPr>
            <p:cNvSpPr/>
            <p:nvPr/>
          </p:nvSpPr>
          <p:spPr>
            <a:xfrm>
              <a:off x="457201" y="5582432"/>
              <a:ext cx="2676133" cy="451748"/>
            </a:xfrm>
            <a:prstGeom prst="rect">
              <a:avLst/>
            </a:prstGeom>
            <a:solidFill>
              <a:srgbClr val="FF66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66.66</a:t>
              </a:r>
              <a:r>
                <a:rPr lang="el-GR" dirty="0">
                  <a:solidFill>
                    <a:schemeClr val="tx1"/>
                  </a:solidFill>
                </a:rPr>
                <a:t>μ</a:t>
              </a:r>
              <a:r>
                <a:rPr lang="en-US" dirty="0">
                  <a:solidFill>
                    <a:schemeClr val="tx1"/>
                  </a:solidFill>
                </a:rPr>
                <a:t>s</a:t>
              </a:r>
              <a:endParaRPr lang="en-US" dirty="0"/>
            </a:p>
          </p:txBody>
        </p:sp>
        <p:sp>
          <p:nvSpPr>
            <p:cNvPr id="10" name="Rectangle 9">
              <a:extLst>
                <a:ext uri="{FF2B5EF4-FFF2-40B4-BE49-F238E27FC236}">
                  <a16:creationId xmlns:a16="http://schemas.microsoft.com/office/drawing/2014/main" xmlns="" id="{62C21AC0-9141-429F-BD52-6815245D923C}"/>
                </a:ext>
              </a:extLst>
            </p:cNvPr>
            <p:cNvSpPr/>
            <p:nvPr/>
          </p:nvSpPr>
          <p:spPr>
            <a:xfrm>
              <a:off x="3133333" y="5582431"/>
              <a:ext cx="1438668" cy="451748"/>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16.67 </a:t>
              </a:r>
              <a:r>
                <a:rPr lang="el-GR" dirty="0">
                  <a:solidFill>
                    <a:schemeClr val="tx1"/>
                  </a:solidFill>
                </a:rPr>
                <a:t>μ</a:t>
              </a:r>
              <a:r>
                <a:rPr lang="en-US" dirty="0">
                  <a:solidFill>
                    <a:schemeClr val="tx1"/>
                  </a:solidFill>
                </a:rPr>
                <a:t>s</a:t>
              </a:r>
            </a:p>
          </p:txBody>
        </p:sp>
      </p:grpSp>
    </p:spTree>
    <p:extLst>
      <p:ext uri="{BB962C8B-B14F-4D97-AF65-F5344CB8AC3E}">
        <p14:creationId xmlns:p14="http://schemas.microsoft.com/office/powerpoint/2010/main" val="4349603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6939181" y="6256898"/>
            <a:ext cx="1905000" cy="457200"/>
          </a:xfrm>
        </p:spPr>
        <p:txBody>
          <a:bodyPr/>
          <a:lstStyle/>
          <a:p>
            <a:fld id="{B6F15528-21DE-4FAA-801E-634DDDAF4B2B}" type="slidenum">
              <a:rPr lang="en-US" smtClean="0"/>
              <a:pPr/>
              <a:t>65</a:t>
            </a:fld>
            <a:endParaRPr lang="en-US"/>
          </a:p>
        </p:txBody>
      </p:sp>
      <p:pic>
        <p:nvPicPr>
          <p:cNvPr id="5" name="Picture 4"/>
          <p:cNvPicPr>
            <a:picLocks noChangeAspect="1"/>
          </p:cNvPicPr>
          <p:nvPr/>
        </p:nvPicPr>
        <p:blipFill>
          <a:blip r:embed="rId2"/>
          <a:stretch>
            <a:fillRect/>
          </a:stretch>
        </p:blipFill>
        <p:spPr>
          <a:xfrm>
            <a:off x="5331973" y="599703"/>
            <a:ext cx="3192859" cy="2688993"/>
          </a:xfrm>
          <a:prstGeom prst="rect">
            <a:avLst/>
          </a:prstGeom>
        </p:spPr>
      </p:pic>
      <p:cxnSp>
        <p:nvCxnSpPr>
          <p:cNvPr id="8" name="Straight Arrow Connector 7"/>
          <p:cNvCxnSpPr>
            <a:cxnSpLocks/>
          </p:cNvCxnSpPr>
          <p:nvPr/>
        </p:nvCxnSpPr>
        <p:spPr>
          <a:xfrm flipV="1">
            <a:off x="2602108" y="680628"/>
            <a:ext cx="4645645" cy="3808197"/>
          </a:xfrm>
          <a:prstGeom prst="straightConnector1">
            <a:avLst/>
          </a:prstGeom>
          <a:ln w="28575">
            <a:solidFill>
              <a:srgbClr val="33CCFF"/>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cxnSpLocks/>
          </p:cNvCxnSpPr>
          <p:nvPr/>
        </p:nvCxnSpPr>
        <p:spPr>
          <a:xfrm flipV="1">
            <a:off x="2567896" y="710604"/>
            <a:ext cx="4302105" cy="25285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V="1">
            <a:off x="2521563" y="774143"/>
            <a:ext cx="3950153" cy="1188015"/>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cxnSpLocks/>
          </p:cNvCxnSpPr>
          <p:nvPr/>
        </p:nvCxnSpPr>
        <p:spPr>
          <a:xfrm flipV="1">
            <a:off x="2467279" y="774144"/>
            <a:ext cx="5152721" cy="4864656"/>
          </a:xfrm>
          <a:prstGeom prst="straightConnector1">
            <a:avLst/>
          </a:prstGeom>
          <a:ln w="28575">
            <a:solidFill>
              <a:srgbClr val="FF00FF"/>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p:cNvCxnSpPr>
          <p:nvPr/>
        </p:nvCxnSpPr>
        <p:spPr>
          <a:xfrm flipV="1">
            <a:off x="2743200" y="685800"/>
            <a:ext cx="3361553" cy="41812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Freeform: Shape 9">
            <a:extLst>
              <a:ext uri="{FF2B5EF4-FFF2-40B4-BE49-F238E27FC236}">
                <a16:creationId xmlns:a16="http://schemas.microsoft.com/office/drawing/2014/main" xmlns="" id="{9DC8C33B-1247-4933-8316-40A7349B8AC7}"/>
              </a:ext>
            </a:extLst>
          </p:cNvPr>
          <p:cNvSpPr/>
          <p:nvPr/>
        </p:nvSpPr>
        <p:spPr>
          <a:xfrm>
            <a:off x="476766" y="617628"/>
            <a:ext cx="2192295" cy="679813"/>
          </a:xfrm>
          <a:custGeom>
            <a:avLst/>
            <a:gdLst>
              <a:gd name="connsiteX0" fmla="*/ 0 w 4974536"/>
              <a:gd name="connsiteY0" fmla="*/ 2118051 h 3601626"/>
              <a:gd name="connsiteX1" fmla="*/ 373224 w 4974536"/>
              <a:gd name="connsiteY1" fmla="*/ 37324 h 3601626"/>
              <a:gd name="connsiteX2" fmla="*/ 783771 w 4974536"/>
              <a:gd name="connsiteY2" fmla="*/ 3601618 h 3601626"/>
              <a:gd name="connsiteX3" fmla="*/ 1222310 w 4974536"/>
              <a:gd name="connsiteY3" fmla="*/ 2 h 3601626"/>
              <a:gd name="connsiteX4" fmla="*/ 1716832 w 4974536"/>
              <a:gd name="connsiteY4" fmla="*/ 3582957 h 3601626"/>
              <a:gd name="connsiteX5" fmla="*/ 2024743 w 4974536"/>
              <a:gd name="connsiteY5" fmla="*/ 9332 h 3601626"/>
              <a:gd name="connsiteX6" fmla="*/ 2519265 w 4974536"/>
              <a:gd name="connsiteY6" fmla="*/ 3508312 h 3601626"/>
              <a:gd name="connsiteX7" fmla="*/ 2752530 w 4974536"/>
              <a:gd name="connsiteY7" fmla="*/ 37324 h 3601626"/>
              <a:gd name="connsiteX8" fmla="*/ 3275045 w 4974536"/>
              <a:gd name="connsiteY8" fmla="*/ 3442998 h 3601626"/>
              <a:gd name="connsiteX9" fmla="*/ 3601616 w 4974536"/>
              <a:gd name="connsiteY9" fmla="*/ 9332 h 3601626"/>
              <a:gd name="connsiteX10" fmla="*/ 3956179 w 4974536"/>
              <a:gd name="connsiteY10" fmla="*/ 3424336 h 3601626"/>
              <a:gd name="connsiteX11" fmla="*/ 4338735 w 4974536"/>
              <a:gd name="connsiteY11" fmla="*/ 46655 h 3601626"/>
              <a:gd name="connsiteX12" fmla="*/ 4702628 w 4974536"/>
              <a:gd name="connsiteY12" fmla="*/ 3377683 h 3601626"/>
              <a:gd name="connsiteX13" fmla="*/ 4973216 w 4974536"/>
              <a:gd name="connsiteY13" fmla="*/ 1352941 h 360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4536" h="3601626">
                <a:moveTo>
                  <a:pt x="0" y="2118051"/>
                </a:moveTo>
                <a:cubicBezTo>
                  <a:pt x="121297" y="954057"/>
                  <a:pt x="242595" y="-209937"/>
                  <a:pt x="373224" y="37324"/>
                </a:cubicBezTo>
                <a:cubicBezTo>
                  <a:pt x="503853" y="284585"/>
                  <a:pt x="642257" y="3607838"/>
                  <a:pt x="783771" y="3601618"/>
                </a:cubicBezTo>
                <a:cubicBezTo>
                  <a:pt x="925285" y="3595398"/>
                  <a:pt x="1066800" y="3112"/>
                  <a:pt x="1222310" y="2"/>
                </a:cubicBezTo>
                <a:cubicBezTo>
                  <a:pt x="1377820" y="-3108"/>
                  <a:pt x="1583093" y="3581402"/>
                  <a:pt x="1716832" y="3582957"/>
                </a:cubicBezTo>
                <a:cubicBezTo>
                  <a:pt x="1850571" y="3584512"/>
                  <a:pt x="1891004" y="21773"/>
                  <a:pt x="2024743" y="9332"/>
                </a:cubicBezTo>
                <a:cubicBezTo>
                  <a:pt x="2158482" y="-3109"/>
                  <a:pt x="2397967" y="3503647"/>
                  <a:pt x="2519265" y="3508312"/>
                </a:cubicBezTo>
                <a:cubicBezTo>
                  <a:pt x="2640563" y="3512977"/>
                  <a:pt x="2626567" y="48210"/>
                  <a:pt x="2752530" y="37324"/>
                </a:cubicBezTo>
                <a:cubicBezTo>
                  <a:pt x="2878493" y="26438"/>
                  <a:pt x="3133531" y="3447663"/>
                  <a:pt x="3275045" y="3442998"/>
                </a:cubicBezTo>
                <a:cubicBezTo>
                  <a:pt x="3416559" y="3438333"/>
                  <a:pt x="3488094" y="12442"/>
                  <a:pt x="3601616" y="9332"/>
                </a:cubicBezTo>
                <a:cubicBezTo>
                  <a:pt x="3715138" y="6222"/>
                  <a:pt x="3833326" y="3418116"/>
                  <a:pt x="3956179" y="3424336"/>
                </a:cubicBezTo>
                <a:cubicBezTo>
                  <a:pt x="4079032" y="3430556"/>
                  <a:pt x="4214327" y="54430"/>
                  <a:pt x="4338735" y="46655"/>
                </a:cubicBezTo>
                <a:cubicBezTo>
                  <a:pt x="4463143" y="38880"/>
                  <a:pt x="4596881" y="3159969"/>
                  <a:pt x="4702628" y="3377683"/>
                </a:cubicBezTo>
                <a:cubicBezTo>
                  <a:pt x="4808375" y="3595397"/>
                  <a:pt x="4991877" y="1576876"/>
                  <a:pt x="4973216" y="1352941"/>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xmlns="" id="{4814731D-3991-4206-8F56-2750020D0771}"/>
              </a:ext>
            </a:extLst>
          </p:cNvPr>
          <p:cNvSpPr txBox="1"/>
          <p:nvPr/>
        </p:nvSpPr>
        <p:spPr>
          <a:xfrm>
            <a:off x="549811" y="143561"/>
            <a:ext cx="2708266" cy="461665"/>
          </a:xfrm>
          <a:prstGeom prst="rect">
            <a:avLst/>
          </a:prstGeom>
          <a:noFill/>
        </p:spPr>
        <p:txBody>
          <a:bodyPr wrap="square" rtlCol="0">
            <a:spAutoFit/>
          </a:bodyPr>
          <a:lstStyle/>
          <a:p>
            <a:r>
              <a:rPr lang="en-US" dirty="0"/>
              <a:t>Subcarrier-1</a:t>
            </a:r>
            <a:r>
              <a:rPr lang="en-US" i="1" dirty="0"/>
              <a:t>, f</a:t>
            </a:r>
            <a:r>
              <a:rPr lang="en-US" i="1" baseline="-25000" dirty="0"/>
              <a:t>c</a:t>
            </a:r>
          </a:p>
        </p:txBody>
      </p:sp>
      <p:sp>
        <p:nvSpPr>
          <p:cNvPr id="14" name="Freeform: Shape 13">
            <a:extLst>
              <a:ext uri="{FF2B5EF4-FFF2-40B4-BE49-F238E27FC236}">
                <a16:creationId xmlns:a16="http://schemas.microsoft.com/office/drawing/2014/main" xmlns="" id="{304F936F-D35B-4BB6-9610-56729BF53493}"/>
              </a:ext>
            </a:extLst>
          </p:cNvPr>
          <p:cNvSpPr/>
          <p:nvPr/>
        </p:nvSpPr>
        <p:spPr>
          <a:xfrm>
            <a:off x="384569" y="1855900"/>
            <a:ext cx="2192295" cy="676197"/>
          </a:xfrm>
          <a:custGeom>
            <a:avLst/>
            <a:gdLst>
              <a:gd name="connsiteX0" fmla="*/ 0 w 4974536"/>
              <a:gd name="connsiteY0" fmla="*/ 2118051 h 3601626"/>
              <a:gd name="connsiteX1" fmla="*/ 373224 w 4974536"/>
              <a:gd name="connsiteY1" fmla="*/ 37324 h 3601626"/>
              <a:gd name="connsiteX2" fmla="*/ 783771 w 4974536"/>
              <a:gd name="connsiteY2" fmla="*/ 3601618 h 3601626"/>
              <a:gd name="connsiteX3" fmla="*/ 1222310 w 4974536"/>
              <a:gd name="connsiteY3" fmla="*/ 2 h 3601626"/>
              <a:gd name="connsiteX4" fmla="*/ 1716832 w 4974536"/>
              <a:gd name="connsiteY4" fmla="*/ 3582957 h 3601626"/>
              <a:gd name="connsiteX5" fmla="*/ 2024743 w 4974536"/>
              <a:gd name="connsiteY5" fmla="*/ 9332 h 3601626"/>
              <a:gd name="connsiteX6" fmla="*/ 2519265 w 4974536"/>
              <a:gd name="connsiteY6" fmla="*/ 3508312 h 3601626"/>
              <a:gd name="connsiteX7" fmla="*/ 2752530 w 4974536"/>
              <a:gd name="connsiteY7" fmla="*/ 37324 h 3601626"/>
              <a:gd name="connsiteX8" fmla="*/ 3275045 w 4974536"/>
              <a:gd name="connsiteY8" fmla="*/ 3442998 h 3601626"/>
              <a:gd name="connsiteX9" fmla="*/ 3601616 w 4974536"/>
              <a:gd name="connsiteY9" fmla="*/ 9332 h 3601626"/>
              <a:gd name="connsiteX10" fmla="*/ 3956179 w 4974536"/>
              <a:gd name="connsiteY10" fmla="*/ 3424336 h 3601626"/>
              <a:gd name="connsiteX11" fmla="*/ 4338735 w 4974536"/>
              <a:gd name="connsiteY11" fmla="*/ 46655 h 3601626"/>
              <a:gd name="connsiteX12" fmla="*/ 4702628 w 4974536"/>
              <a:gd name="connsiteY12" fmla="*/ 3377683 h 3601626"/>
              <a:gd name="connsiteX13" fmla="*/ 4973216 w 4974536"/>
              <a:gd name="connsiteY13" fmla="*/ 1352941 h 360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4536" h="3601626">
                <a:moveTo>
                  <a:pt x="0" y="2118051"/>
                </a:moveTo>
                <a:cubicBezTo>
                  <a:pt x="121297" y="954057"/>
                  <a:pt x="242595" y="-209937"/>
                  <a:pt x="373224" y="37324"/>
                </a:cubicBezTo>
                <a:cubicBezTo>
                  <a:pt x="503853" y="284585"/>
                  <a:pt x="642257" y="3607838"/>
                  <a:pt x="783771" y="3601618"/>
                </a:cubicBezTo>
                <a:cubicBezTo>
                  <a:pt x="925285" y="3595398"/>
                  <a:pt x="1066800" y="3112"/>
                  <a:pt x="1222310" y="2"/>
                </a:cubicBezTo>
                <a:cubicBezTo>
                  <a:pt x="1377820" y="-3108"/>
                  <a:pt x="1583093" y="3581402"/>
                  <a:pt x="1716832" y="3582957"/>
                </a:cubicBezTo>
                <a:cubicBezTo>
                  <a:pt x="1850571" y="3584512"/>
                  <a:pt x="1891004" y="21773"/>
                  <a:pt x="2024743" y="9332"/>
                </a:cubicBezTo>
                <a:cubicBezTo>
                  <a:pt x="2158482" y="-3109"/>
                  <a:pt x="2397967" y="3503647"/>
                  <a:pt x="2519265" y="3508312"/>
                </a:cubicBezTo>
                <a:cubicBezTo>
                  <a:pt x="2640563" y="3512977"/>
                  <a:pt x="2626567" y="48210"/>
                  <a:pt x="2752530" y="37324"/>
                </a:cubicBezTo>
                <a:cubicBezTo>
                  <a:pt x="2878493" y="26438"/>
                  <a:pt x="3133531" y="3447663"/>
                  <a:pt x="3275045" y="3442998"/>
                </a:cubicBezTo>
                <a:cubicBezTo>
                  <a:pt x="3416559" y="3438333"/>
                  <a:pt x="3488094" y="12442"/>
                  <a:pt x="3601616" y="9332"/>
                </a:cubicBezTo>
                <a:cubicBezTo>
                  <a:pt x="3715138" y="6222"/>
                  <a:pt x="3833326" y="3418116"/>
                  <a:pt x="3956179" y="3424336"/>
                </a:cubicBezTo>
                <a:cubicBezTo>
                  <a:pt x="4079032" y="3430556"/>
                  <a:pt x="4214327" y="54430"/>
                  <a:pt x="4338735" y="46655"/>
                </a:cubicBezTo>
                <a:cubicBezTo>
                  <a:pt x="4463143" y="38880"/>
                  <a:pt x="4596881" y="3159969"/>
                  <a:pt x="4702628" y="3377683"/>
                </a:cubicBezTo>
                <a:cubicBezTo>
                  <a:pt x="4808375" y="3595397"/>
                  <a:pt x="4991877" y="1576876"/>
                  <a:pt x="4973216" y="1352941"/>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xmlns="" id="{94A0A2DC-C89F-4D0F-A160-8EBC7A632F1E}"/>
              </a:ext>
            </a:extLst>
          </p:cNvPr>
          <p:cNvSpPr txBox="1"/>
          <p:nvPr/>
        </p:nvSpPr>
        <p:spPr>
          <a:xfrm>
            <a:off x="438311" y="1320777"/>
            <a:ext cx="2744256" cy="461665"/>
          </a:xfrm>
          <a:prstGeom prst="rect">
            <a:avLst/>
          </a:prstGeom>
          <a:noFill/>
        </p:spPr>
        <p:txBody>
          <a:bodyPr wrap="square" rtlCol="0">
            <a:spAutoFit/>
          </a:bodyPr>
          <a:lstStyle/>
          <a:p>
            <a:r>
              <a:rPr lang="en-US" dirty="0"/>
              <a:t>Subcarrier-2, </a:t>
            </a:r>
            <a:r>
              <a:rPr lang="en-US" i="1" dirty="0"/>
              <a:t>f</a:t>
            </a:r>
            <a:r>
              <a:rPr lang="en-US" i="1" baseline="-25000" dirty="0"/>
              <a:t>c</a:t>
            </a:r>
            <a:r>
              <a:rPr lang="en-US" i="1" dirty="0"/>
              <a:t>+</a:t>
            </a:r>
            <a:r>
              <a:rPr lang="en-US" dirty="0"/>
              <a:t>1</a:t>
            </a:r>
            <a:r>
              <a:rPr lang="en-US" i="1" dirty="0"/>
              <a:t>/</a:t>
            </a:r>
            <a:r>
              <a:rPr lang="el-GR" i="1" dirty="0"/>
              <a:t>τ</a:t>
            </a:r>
            <a:endParaRPr lang="en-US" i="1" dirty="0"/>
          </a:p>
        </p:txBody>
      </p:sp>
      <p:sp>
        <p:nvSpPr>
          <p:cNvPr id="20" name="Freeform: Shape 19">
            <a:extLst>
              <a:ext uri="{FF2B5EF4-FFF2-40B4-BE49-F238E27FC236}">
                <a16:creationId xmlns:a16="http://schemas.microsoft.com/office/drawing/2014/main" xmlns="" id="{BCF9F684-D5DE-4652-BD27-153D838936BA}"/>
              </a:ext>
            </a:extLst>
          </p:cNvPr>
          <p:cNvSpPr/>
          <p:nvPr/>
        </p:nvSpPr>
        <p:spPr>
          <a:xfrm>
            <a:off x="409813" y="3095996"/>
            <a:ext cx="2192295" cy="664997"/>
          </a:xfrm>
          <a:custGeom>
            <a:avLst/>
            <a:gdLst>
              <a:gd name="connsiteX0" fmla="*/ 0 w 4974536"/>
              <a:gd name="connsiteY0" fmla="*/ 2118051 h 3601626"/>
              <a:gd name="connsiteX1" fmla="*/ 373224 w 4974536"/>
              <a:gd name="connsiteY1" fmla="*/ 37324 h 3601626"/>
              <a:gd name="connsiteX2" fmla="*/ 783771 w 4974536"/>
              <a:gd name="connsiteY2" fmla="*/ 3601618 h 3601626"/>
              <a:gd name="connsiteX3" fmla="*/ 1222310 w 4974536"/>
              <a:gd name="connsiteY3" fmla="*/ 2 h 3601626"/>
              <a:gd name="connsiteX4" fmla="*/ 1716832 w 4974536"/>
              <a:gd name="connsiteY4" fmla="*/ 3582957 h 3601626"/>
              <a:gd name="connsiteX5" fmla="*/ 2024743 w 4974536"/>
              <a:gd name="connsiteY5" fmla="*/ 9332 h 3601626"/>
              <a:gd name="connsiteX6" fmla="*/ 2519265 w 4974536"/>
              <a:gd name="connsiteY6" fmla="*/ 3508312 h 3601626"/>
              <a:gd name="connsiteX7" fmla="*/ 2752530 w 4974536"/>
              <a:gd name="connsiteY7" fmla="*/ 37324 h 3601626"/>
              <a:gd name="connsiteX8" fmla="*/ 3275045 w 4974536"/>
              <a:gd name="connsiteY8" fmla="*/ 3442998 h 3601626"/>
              <a:gd name="connsiteX9" fmla="*/ 3601616 w 4974536"/>
              <a:gd name="connsiteY9" fmla="*/ 9332 h 3601626"/>
              <a:gd name="connsiteX10" fmla="*/ 3956179 w 4974536"/>
              <a:gd name="connsiteY10" fmla="*/ 3424336 h 3601626"/>
              <a:gd name="connsiteX11" fmla="*/ 4338735 w 4974536"/>
              <a:gd name="connsiteY11" fmla="*/ 46655 h 3601626"/>
              <a:gd name="connsiteX12" fmla="*/ 4702628 w 4974536"/>
              <a:gd name="connsiteY12" fmla="*/ 3377683 h 3601626"/>
              <a:gd name="connsiteX13" fmla="*/ 4973216 w 4974536"/>
              <a:gd name="connsiteY13" fmla="*/ 1352941 h 360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4536" h="3601626">
                <a:moveTo>
                  <a:pt x="0" y="2118051"/>
                </a:moveTo>
                <a:cubicBezTo>
                  <a:pt x="121297" y="954057"/>
                  <a:pt x="242595" y="-209937"/>
                  <a:pt x="373224" y="37324"/>
                </a:cubicBezTo>
                <a:cubicBezTo>
                  <a:pt x="503853" y="284585"/>
                  <a:pt x="642257" y="3607838"/>
                  <a:pt x="783771" y="3601618"/>
                </a:cubicBezTo>
                <a:cubicBezTo>
                  <a:pt x="925285" y="3595398"/>
                  <a:pt x="1066800" y="3112"/>
                  <a:pt x="1222310" y="2"/>
                </a:cubicBezTo>
                <a:cubicBezTo>
                  <a:pt x="1377820" y="-3108"/>
                  <a:pt x="1583093" y="3581402"/>
                  <a:pt x="1716832" y="3582957"/>
                </a:cubicBezTo>
                <a:cubicBezTo>
                  <a:pt x="1850571" y="3584512"/>
                  <a:pt x="1891004" y="21773"/>
                  <a:pt x="2024743" y="9332"/>
                </a:cubicBezTo>
                <a:cubicBezTo>
                  <a:pt x="2158482" y="-3109"/>
                  <a:pt x="2397967" y="3503647"/>
                  <a:pt x="2519265" y="3508312"/>
                </a:cubicBezTo>
                <a:cubicBezTo>
                  <a:pt x="2640563" y="3512977"/>
                  <a:pt x="2626567" y="48210"/>
                  <a:pt x="2752530" y="37324"/>
                </a:cubicBezTo>
                <a:cubicBezTo>
                  <a:pt x="2878493" y="26438"/>
                  <a:pt x="3133531" y="3447663"/>
                  <a:pt x="3275045" y="3442998"/>
                </a:cubicBezTo>
                <a:cubicBezTo>
                  <a:pt x="3416559" y="3438333"/>
                  <a:pt x="3488094" y="12442"/>
                  <a:pt x="3601616" y="9332"/>
                </a:cubicBezTo>
                <a:cubicBezTo>
                  <a:pt x="3715138" y="6222"/>
                  <a:pt x="3833326" y="3418116"/>
                  <a:pt x="3956179" y="3424336"/>
                </a:cubicBezTo>
                <a:cubicBezTo>
                  <a:pt x="4079032" y="3430556"/>
                  <a:pt x="4214327" y="54430"/>
                  <a:pt x="4338735" y="46655"/>
                </a:cubicBezTo>
                <a:cubicBezTo>
                  <a:pt x="4463143" y="38880"/>
                  <a:pt x="4596881" y="3159969"/>
                  <a:pt x="4702628" y="3377683"/>
                </a:cubicBezTo>
                <a:cubicBezTo>
                  <a:pt x="4808375" y="3595397"/>
                  <a:pt x="4991877" y="1576876"/>
                  <a:pt x="4973216" y="1352941"/>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xmlns="" id="{ED48A4DF-A91E-4AFF-846E-47FE15052D94}"/>
              </a:ext>
            </a:extLst>
          </p:cNvPr>
          <p:cNvSpPr txBox="1"/>
          <p:nvPr/>
        </p:nvSpPr>
        <p:spPr>
          <a:xfrm>
            <a:off x="280421" y="2585414"/>
            <a:ext cx="2812151" cy="461665"/>
          </a:xfrm>
          <a:prstGeom prst="rect">
            <a:avLst/>
          </a:prstGeom>
          <a:noFill/>
        </p:spPr>
        <p:txBody>
          <a:bodyPr wrap="square" rtlCol="0">
            <a:spAutoFit/>
          </a:bodyPr>
          <a:lstStyle/>
          <a:p>
            <a:r>
              <a:rPr lang="en-US" dirty="0"/>
              <a:t>Subcarrier-3, </a:t>
            </a:r>
            <a:r>
              <a:rPr lang="en-US" i="1" dirty="0"/>
              <a:t>f</a:t>
            </a:r>
            <a:r>
              <a:rPr lang="en-US" i="1" baseline="-25000" dirty="0"/>
              <a:t>c</a:t>
            </a:r>
            <a:r>
              <a:rPr lang="en-US" i="1" dirty="0"/>
              <a:t>+</a:t>
            </a:r>
            <a:r>
              <a:rPr lang="en-US" dirty="0"/>
              <a:t>2</a:t>
            </a:r>
            <a:r>
              <a:rPr lang="en-US" i="1" dirty="0"/>
              <a:t>/</a:t>
            </a:r>
            <a:r>
              <a:rPr lang="el-GR" i="1" dirty="0"/>
              <a:t>τ</a:t>
            </a:r>
            <a:endParaRPr lang="en-US" i="1" dirty="0"/>
          </a:p>
        </p:txBody>
      </p:sp>
      <p:sp>
        <p:nvSpPr>
          <p:cNvPr id="26" name="Freeform: Shape 25">
            <a:extLst>
              <a:ext uri="{FF2B5EF4-FFF2-40B4-BE49-F238E27FC236}">
                <a16:creationId xmlns:a16="http://schemas.microsoft.com/office/drawing/2014/main" xmlns="" id="{CE2C5A4A-E6CB-49D7-9BB7-337C9E057DE0}"/>
              </a:ext>
            </a:extLst>
          </p:cNvPr>
          <p:cNvSpPr/>
          <p:nvPr/>
        </p:nvSpPr>
        <p:spPr>
          <a:xfrm>
            <a:off x="370962" y="4268381"/>
            <a:ext cx="2192295" cy="664998"/>
          </a:xfrm>
          <a:custGeom>
            <a:avLst/>
            <a:gdLst>
              <a:gd name="connsiteX0" fmla="*/ 0 w 4974536"/>
              <a:gd name="connsiteY0" fmla="*/ 2118051 h 3601626"/>
              <a:gd name="connsiteX1" fmla="*/ 373224 w 4974536"/>
              <a:gd name="connsiteY1" fmla="*/ 37324 h 3601626"/>
              <a:gd name="connsiteX2" fmla="*/ 783771 w 4974536"/>
              <a:gd name="connsiteY2" fmla="*/ 3601618 h 3601626"/>
              <a:gd name="connsiteX3" fmla="*/ 1222310 w 4974536"/>
              <a:gd name="connsiteY3" fmla="*/ 2 h 3601626"/>
              <a:gd name="connsiteX4" fmla="*/ 1716832 w 4974536"/>
              <a:gd name="connsiteY4" fmla="*/ 3582957 h 3601626"/>
              <a:gd name="connsiteX5" fmla="*/ 2024743 w 4974536"/>
              <a:gd name="connsiteY5" fmla="*/ 9332 h 3601626"/>
              <a:gd name="connsiteX6" fmla="*/ 2519265 w 4974536"/>
              <a:gd name="connsiteY6" fmla="*/ 3508312 h 3601626"/>
              <a:gd name="connsiteX7" fmla="*/ 2752530 w 4974536"/>
              <a:gd name="connsiteY7" fmla="*/ 37324 h 3601626"/>
              <a:gd name="connsiteX8" fmla="*/ 3275045 w 4974536"/>
              <a:gd name="connsiteY8" fmla="*/ 3442998 h 3601626"/>
              <a:gd name="connsiteX9" fmla="*/ 3601616 w 4974536"/>
              <a:gd name="connsiteY9" fmla="*/ 9332 h 3601626"/>
              <a:gd name="connsiteX10" fmla="*/ 3956179 w 4974536"/>
              <a:gd name="connsiteY10" fmla="*/ 3424336 h 3601626"/>
              <a:gd name="connsiteX11" fmla="*/ 4338735 w 4974536"/>
              <a:gd name="connsiteY11" fmla="*/ 46655 h 3601626"/>
              <a:gd name="connsiteX12" fmla="*/ 4702628 w 4974536"/>
              <a:gd name="connsiteY12" fmla="*/ 3377683 h 3601626"/>
              <a:gd name="connsiteX13" fmla="*/ 4973216 w 4974536"/>
              <a:gd name="connsiteY13" fmla="*/ 1352941 h 360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4536" h="3601626">
                <a:moveTo>
                  <a:pt x="0" y="2118051"/>
                </a:moveTo>
                <a:cubicBezTo>
                  <a:pt x="121297" y="954057"/>
                  <a:pt x="242595" y="-209937"/>
                  <a:pt x="373224" y="37324"/>
                </a:cubicBezTo>
                <a:cubicBezTo>
                  <a:pt x="503853" y="284585"/>
                  <a:pt x="642257" y="3607838"/>
                  <a:pt x="783771" y="3601618"/>
                </a:cubicBezTo>
                <a:cubicBezTo>
                  <a:pt x="925285" y="3595398"/>
                  <a:pt x="1066800" y="3112"/>
                  <a:pt x="1222310" y="2"/>
                </a:cubicBezTo>
                <a:cubicBezTo>
                  <a:pt x="1377820" y="-3108"/>
                  <a:pt x="1583093" y="3581402"/>
                  <a:pt x="1716832" y="3582957"/>
                </a:cubicBezTo>
                <a:cubicBezTo>
                  <a:pt x="1850571" y="3584512"/>
                  <a:pt x="1891004" y="21773"/>
                  <a:pt x="2024743" y="9332"/>
                </a:cubicBezTo>
                <a:cubicBezTo>
                  <a:pt x="2158482" y="-3109"/>
                  <a:pt x="2397967" y="3503647"/>
                  <a:pt x="2519265" y="3508312"/>
                </a:cubicBezTo>
                <a:cubicBezTo>
                  <a:pt x="2640563" y="3512977"/>
                  <a:pt x="2626567" y="48210"/>
                  <a:pt x="2752530" y="37324"/>
                </a:cubicBezTo>
                <a:cubicBezTo>
                  <a:pt x="2878493" y="26438"/>
                  <a:pt x="3133531" y="3447663"/>
                  <a:pt x="3275045" y="3442998"/>
                </a:cubicBezTo>
                <a:cubicBezTo>
                  <a:pt x="3416559" y="3438333"/>
                  <a:pt x="3488094" y="12442"/>
                  <a:pt x="3601616" y="9332"/>
                </a:cubicBezTo>
                <a:cubicBezTo>
                  <a:pt x="3715138" y="6222"/>
                  <a:pt x="3833326" y="3418116"/>
                  <a:pt x="3956179" y="3424336"/>
                </a:cubicBezTo>
                <a:cubicBezTo>
                  <a:pt x="4079032" y="3430556"/>
                  <a:pt x="4214327" y="54430"/>
                  <a:pt x="4338735" y="46655"/>
                </a:cubicBezTo>
                <a:cubicBezTo>
                  <a:pt x="4463143" y="38880"/>
                  <a:pt x="4596881" y="3159969"/>
                  <a:pt x="4702628" y="3377683"/>
                </a:cubicBezTo>
                <a:cubicBezTo>
                  <a:pt x="4808375" y="3595397"/>
                  <a:pt x="4991877" y="1576876"/>
                  <a:pt x="4973216" y="1352941"/>
                </a:cubicBezTo>
              </a:path>
            </a:pathLst>
          </a:custGeom>
          <a:noFill/>
          <a:ln>
            <a:solidFill>
              <a:srgbClr val="33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xmlns="" id="{969D459B-0C78-41DE-A311-B51BF8A59C65}"/>
              </a:ext>
            </a:extLst>
          </p:cNvPr>
          <p:cNvSpPr txBox="1"/>
          <p:nvPr/>
        </p:nvSpPr>
        <p:spPr>
          <a:xfrm>
            <a:off x="302192" y="3774946"/>
            <a:ext cx="2928006" cy="461665"/>
          </a:xfrm>
          <a:prstGeom prst="rect">
            <a:avLst/>
          </a:prstGeom>
          <a:noFill/>
        </p:spPr>
        <p:txBody>
          <a:bodyPr wrap="square" rtlCol="0">
            <a:spAutoFit/>
          </a:bodyPr>
          <a:lstStyle/>
          <a:p>
            <a:r>
              <a:rPr lang="en-US" dirty="0"/>
              <a:t>Subcarrier-4, </a:t>
            </a:r>
            <a:r>
              <a:rPr lang="en-US" i="1" dirty="0"/>
              <a:t>f</a:t>
            </a:r>
            <a:r>
              <a:rPr lang="en-US" i="1" baseline="-25000" dirty="0"/>
              <a:t>c</a:t>
            </a:r>
            <a:r>
              <a:rPr lang="en-US" i="1" dirty="0"/>
              <a:t>+</a:t>
            </a:r>
            <a:r>
              <a:rPr lang="en-US" dirty="0"/>
              <a:t>3</a:t>
            </a:r>
            <a:r>
              <a:rPr lang="en-US" i="1" dirty="0"/>
              <a:t>/</a:t>
            </a:r>
            <a:r>
              <a:rPr lang="el-GR" i="1" dirty="0"/>
              <a:t>τ</a:t>
            </a:r>
            <a:endParaRPr lang="en-US" i="1" dirty="0"/>
          </a:p>
        </p:txBody>
      </p:sp>
      <p:sp>
        <p:nvSpPr>
          <p:cNvPr id="31" name="Freeform: Shape 30">
            <a:extLst>
              <a:ext uri="{FF2B5EF4-FFF2-40B4-BE49-F238E27FC236}">
                <a16:creationId xmlns:a16="http://schemas.microsoft.com/office/drawing/2014/main" xmlns="" id="{1376983F-CC7B-4362-9599-ECD2CF95F5EF}"/>
              </a:ext>
            </a:extLst>
          </p:cNvPr>
          <p:cNvSpPr/>
          <p:nvPr/>
        </p:nvSpPr>
        <p:spPr>
          <a:xfrm>
            <a:off x="384569" y="5549695"/>
            <a:ext cx="2192295" cy="664998"/>
          </a:xfrm>
          <a:custGeom>
            <a:avLst/>
            <a:gdLst>
              <a:gd name="connsiteX0" fmla="*/ 0 w 4974536"/>
              <a:gd name="connsiteY0" fmla="*/ 2118051 h 3601626"/>
              <a:gd name="connsiteX1" fmla="*/ 373224 w 4974536"/>
              <a:gd name="connsiteY1" fmla="*/ 37324 h 3601626"/>
              <a:gd name="connsiteX2" fmla="*/ 783771 w 4974536"/>
              <a:gd name="connsiteY2" fmla="*/ 3601618 h 3601626"/>
              <a:gd name="connsiteX3" fmla="*/ 1222310 w 4974536"/>
              <a:gd name="connsiteY3" fmla="*/ 2 h 3601626"/>
              <a:gd name="connsiteX4" fmla="*/ 1716832 w 4974536"/>
              <a:gd name="connsiteY4" fmla="*/ 3582957 h 3601626"/>
              <a:gd name="connsiteX5" fmla="*/ 2024743 w 4974536"/>
              <a:gd name="connsiteY5" fmla="*/ 9332 h 3601626"/>
              <a:gd name="connsiteX6" fmla="*/ 2519265 w 4974536"/>
              <a:gd name="connsiteY6" fmla="*/ 3508312 h 3601626"/>
              <a:gd name="connsiteX7" fmla="*/ 2752530 w 4974536"/>
              <a:gd name="connsiteY7" fmla="*/ 37324 h 3601626"/>
              <a:gd name="connsiteX8" fmla="*/ 3275045 w 4974536"/>
              <a:gd name="connsiteY8" fmla="*/ 3442998 h 3601626"/>
              <a:gd name="connsiteX9" fmla="*/ 3601616 w 4974536"/>
              <a:gd name="connsiteY9" fmla="*/ 9332 h 3601626"/>
              <a:gd name="connsiteX10" fmla="*/ 3956179 w 4974536"/>
              <a:gd name="connsiteY10" fmla="*/ 3424336 h 3601626"/>
              <a:gd name="connsiteX11" fmla="*/ 4338735 w 4974536"/>
              <a:gd name="connsiteY11" fmla="*/ 46655 h 3601626"/>
              <a:gd name="connsiteX12" fmla="*/ 4702628 w 4974536"/>
              <a:gd name="connsiteY12" fmla="*/ 3377683 h 3601626"/>
              <a:gd name="connsiteX13" fmla="*/ 4973216 w 4974536"/>
              <a:gd name="connsiteY13" fmla="*/ 1352941 h 3601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74536" h="3601626">
                <a:moveTo>
                  <a:pt x="0" y="2118051"/>
                </a:moveTo>
                <a:cubicBezTo>
                  <a:pt x="121297" y="954057"/>
                  <a:pt x="242595" y="-209937"/>
                  <a:pt x="373224" y="37324"/>
                </a:cubicBezTo>
                <a:cubicBezTo>
                  <a:pt x="503853" y="284585"/>
                  <a:pt x="642257" y="3607838"/>
                  <a:pt x="783771" y="3601618"/>
                </a:cubicBezTo>
                <a:cubicBezTo>
                  <a:pt x="925285" y="3595398"/>
                  <a:pt x="1066800" y="3112"/>
                  <a:pt x="1222310" y="2"/>
                </a:cubicBezTo>
                <a:cubicBezTo>
                  <a:pt x="1377820" y="-3108"/>
                  <a:pt x="1583093" y="3581402"/>
                  <a:pt x="1716832" y="3582957"/>
                </a:cubicBezTo>
                <a:cubicBezTo>
                  <a:pt x="1850571" y="3584512"/>
                  <a:pt x="1891004" y="21773"/>
                  <a:pt x="2024743" y="9332"/>
                </a:cubicBezTo>
                <a:cubicBezTo>
                  <a:pt x="2158482" y="-3109"/>
                  <a:pt x="2397967" y="3503647"/>
                  <a:pt x="2519265" y="3508312"/>
                </a:cubicBezTo>
                <a:cubicBezTo>
                  <a:pt x="2640563" y="3512977"/>
                  <a:pt x="2626567" y="48210"/>
                  <a:pt x="2752530" y="37324"/>
                </a:cubicBezTo>
                <a:cubicBezTo>
                  <a:pt x="2878493" y="26438"/>
                  <a:pt x="3133531" y="3447663"/>
                  <a:pt x="3275045" y="3442998"/>
                </a:cubicBezTo>
                <a:cubicBezTo>
                  <a:pt x="3416559" y="3438333"/>
                  <a:pt x="3488094" y="12442"/>
                  <a:pt x="3601616" y="9332"/>
                </a:cubicBezTo>
                <a:cubicBezTo>
                  <a:pt x="3715138" y="6222"/>
                  <a:pt x="3833326" y="3418116"/>
                  <a:pt x="3956179" y="3424336"/>
                </a:cubicBezTo>
                <a:cubicBezTo>
                  <a:pt x="4079032" y="3430556"/>
                  <a:pt x="4214327" y="54430"/>
                  <a:pt x="4338735" y="46655"/>
                </a:cubicBezTo>
                <a:cubicBezTo>
                  <a:pt x="4463143" y="38880"/>
                  <a:pt x="4596881" y="3159969"/>
                  <a:pt x="4702628" y="3377683"/>
                </a:cubicBezTo>
                <a:cubicBezTo>
                  <a:pt x="4808375" y="3595397"/>
                  <a:pt x="4991877" y="1576876"/>
                  <a:pt x="4973216" y="1352941"/>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xmlns="" id="{93EBD8C3-056A-4E6C-92B5-EA5982D383B3}"/>
              </a:ext>
            </a:extLst>
          </p:cNvPr>
          <p:cNvSpPr txBox="1"/>
          <p:nvPr/>
        </p:nvSpPr>
        <p:spPr>
          <a:xfrm>
            <a:off x="193726" y="5035459"/>
            <a:ext cx="2660547" cy="461665"/>
          </a:xfrm>
          <a:prstGeom prst="rect">
            <a:avLst/>
          </a:prstGeom>
          <a:noFill/>
        </p:spPr>
        <p:txBody>
          <a:bodyPr wrap="square" rtlCol="0">
            <a:spAutoFit/>
          </a:bodyPr>
          <a:lstStyle/>
          <a:p>
            <a:r>
              <a:rPr lang="en-US" dirty="0"/>
              <a:t>Subcarrier-5, </a:t>
            </a:r>
            <a:r>
              <a:rPr lang="en-US" i="1" dirty="0"/>
              <a:t>f</a:t>
            </a:r>
            <a:r>
              <a:rPr lang="en-US" i="1" baseline="-25000" dirty="0"/>
              <a:t>c</a:t>
            </a:r>
            <a:r>
              <a:rPr lang="en-US" i="1" dirty="0"/>
              <a:t>+</a:t>
            </a:r>
            <a:r>
              <a:rPr lang="en-US" dirty="0"/>
              <a:t>4</a:t>
            </a:r>
            <a:r>
              <a:rPr lang="en-US" i="1" dirty="0"/>
              <a:t>/</a:t>
            </a:r>
            <a:r>
              <a:rPr lang="el-GR" i="1" dirty="0"/>
              <a:t>τ</a:t>
            </a:r>
            <a:endParaRPr lang="en-US" i="1" dirty="0"/>
          </a:p>
        </p:txBody>
      </p:sp>
      <p:sp>
        <p:nvSpPr>
          <p:cNvPr id="41" name="TextBox 40">
            <a:extLst>
              <a:ext uri="{FF2B5EF4-FFF2-40B4-BE49-F238E27FC236}">
                <a16:creationId xmlns:a16="http://schemas.microsoft.com/office/drawing/2014/main" xmlns="" id="{E94946B3-72C6-470C-8404-E78988CFBBAA}"/>
              </a:ext>
            </a:extLst>
          </p:cNvPr>
          <p:cNvSpPr txBox="1"/>
          <p:nvPr/>
        </p:nvSpPr>
        <p:spPr>
          <a:xfrm>
            <a:off x="6611587" y="199169"/>
            <a:ext cx="655188" cy="338554"/>
          </a:xfrm>
          <a:prstGeom prst="rect">
            <a:avLst/>
          </a:prstGeom>
          <a:noFill/>
        </p:spPr>
        <p:txBody>
          <a:bodyPr wrap="square" rtlCol="0">
            <a:spAutoFit/>
          </a:bodyPr>
          <a:lstStyle/>
          <a:p>
            <a:r>
              <a:rPr lang="en-US" sz="1600" i="1" dirty="0"/>
              <a:t>f</a:t>
            </a:r>
            <a:r>
              <a:rPr lang="en-US" sz="1600" i="1" baseline="-25000" dirty="0"/>
              <a:t>c</a:t>
            </a:r>
            <a:r>
              <a:rPr lang="en-US" sz="1600" dirty="0"/>
              <a:t>+2</a:t>
            </a:r>
            <a:r>
              <a:rPr lang="en-US" sz="1600" i="1" dirty="0"/>
              <a:t>/</a:t>
            </a:r>
            <a:r>
              <a:rPr lang="el-GR" sz="1600" i="1" dirty="0"/>
              <a:t>τ</a:t>
            </a:r>
            <a:endParaRPr lang="en-US" sz="1600" i="1" baseline="-25000" dirty="0"/>
          </a:p>
        </p:txBody>
      </p:sp>
      <p:sp>
        <p:nvSpPr>
          <p:cNvPr id="42" name="Rectangle 41">
            <a:extLst>
              <a:ext uri="{FF2B5EF4-FFF2-40B4-BE49-F238E27FC236}">
                <a16:creationId xmlns:a16="http://schemas.microsoft.com/office/drawing/2014/main" xmlns="" id="{B7DE5F45-6995-4403-9B9B-257A3A3EBF56}"/>
              </a:ext>
            </a:extLst>
          </p:cNvPr>
          <p:cNvSpPr/>
          <p:nvPr/>
        </p:nvSpPr>
        <p:spPr>
          <a:xfrm>
            <a:off x="6028553" y="138038"/>
            <a:ext cx="360996" cy="461665"/>
          </a:xfrm>
          <a:prstGeom prst="rect">
            <a:avLst/>
          </a:prstGeom>
        </p:spPr>
        <p:txBody>
          <a:bodyPr wrap="none">
            <a:spAutoFit/>
          </a:bodyPr>
          <a:lstStyle/>
          <a:p>
            <a:r>
              <a:rPr lang="en-US" i="1" dirty="0"/>
              <a:t>f</a:t>
            </a:r>
            <a:r>
              <a:rPr lang="en-US" i="1" baseline="-25000" dirty="0"/>
              <a:t>c</a:t>
            </a:r>
            <a:endParaRPr lang="en-US" dirty="0"/>
          </a:p>
        </p:txBody>
      </p:sp>
      <p:sp>
        <p:nvSpPr>
          <p:cNvPr id="43" name="Rectangle 42">
            <a:extLst>
              <a:ext uri="{FF2B5EF4-FFF2-40B4-BE49-F238E27FC236}">
                <a16:creationId xmlns:a16="http://schemas.microsoft.com/office/drawing/2014/main" xmlns="" id="{ABE46C2F-AB82-4550-97A7-1E4BE5FE256F}"/>
              </a:ext>
            </a:extLst>
          </p:cNvPr>
          <p:cNvSpPr/>
          <p:nvPr/>
        </p:nvSpPr>
        <p:spPr>
          <a:xfrm>
            <a:off x="6201298" y="2627027"/>
            <a:ext cx="652743" cy="338554"/>
          </a:xfrm>
          <a:prstGeom prst="rect">
            <a:avLst/>
          </a:prstGeom>
        </p:spPr>
        <p:txBody>
          <a:bodyPr wrap="none">
            <a:spAutoFit/>
          </a:bodyPr>
          <a:lstStyle/>
          <a:p>
            <a:r>
              <a:rPr lang="en-US" sz="1600" i="1" dirty="0"/>
              <a:t>f</a:t>
            </a:r>
            <a:r>
              <a:rPr lang="en-US" sz="1600" i="1" baseline="-25000" dirty="0"/>
              <a:t>c</a:t>
            </a:r>
            <a:r>
              <a:rPr lang="en-US" sz="1600" dirty="0"/>
              <a:t>+1</a:t>
            </a:r>
            <a:r>
              <a:rPr lang="en-US" sz="1600" i="1" dirty="0"/>
              <a:t>/</a:t>
            </a:r>
            <a:r>
              <a:rPr lang="el-GR" sz="1600" i="1" dirty="0"/>
              <a:t>τ</a:t>
            </a:r>
            <a:endParaRPr lang="en-US" sz="1600" dirty="0"/>
          </a:p>
        </p:txBody>
      </p:sp>
      <p:sp>
        <p:nvSpPr>
          <p:cNvPr id="44" name="TextBox 43">
            <a:extLst>
              <a:ext uri="{FF2B5EF4-FFF2-40B4-BE49-F238E27FC236}">
                <a16:creationId xmlns:a16="http://schemas.microsoft.com/office/drawing/2014/main" xmlns="" id="{233A5880-AFB3-44DA-8861-B4892215A397}"/>
              </a:ext>
            </a:extLst>
          </p:cNvPr>
          <p:cNvSpPr txBox="1"/>
          <p:nvPr/>
        </p:nvSpPr>
        <p:spPr>
          <a:xfrm>
            <a:off x="7027537" y="2688908"/>
            <a:ext cx="655188" cy="338554"/>
          </a:xfrm>
          <a:prstGeom prst="rect">
            <a:avLst/>
          </a:prstGeom>
          <a:noFill/>
        </p:spPr>
        <p:txBody>
          <a:bodyPr wrap="square" rtlCol="0">
            <a:spAutoFit/>
          </a:bodyPr>
          <a:lstStyle/>
          <a:p>
            <a:r>
              <a:rPr lang="en-US" sz="1600" i="1" dirty="0"/>
              <a:t>f</a:t>
            </a:r>
            <a:r>
              <a:rPr lang="en-US" sz="1600" i="1" baseline="-25000" dirty="0"/>
              <a:t>c</a:t>
            </a:r>
            <a:r>
              <a:rPr lang="en-US" sz="1600" dirty="0"/>
              <a:t>+3</a:t>
            </a:r>
            <a:r>
              <a:rPr lang="en-US" sz="1600" i="1" dirty="0"/>
              <a:t>/</a:t>
            </a:r>
            <a:r>
              <a:rPr lang="el-GR" sz="1600" i="1" dirty="0"/>
              <a:t>τ</a:t>
            </a:r>
            <a:endParaRPr lang="en-US" sz="1600" i="1" baseline="-25000" dirty="0"/>
          </a:p>
        </p:txBody>
      </p:sp>
      <p:sp>
        <p:nvSpPr>
          <p:cNvPr id="45" name="TextBox 44">
            <a:extLst>
              <a:ext uri="{FF2B5EF4-FFF2-40B4-BE49-F238E27FC236}">
                <a16:creationId xmlns:a16="http://schemas.microsoft.com/office/drawing/2014/main" xmlns="" id="{492EA89C-7DFC-476A-A3FB-3E7E152C66DC}"/>
              </a:ext>
            </a:extLst>
          </p:cNvPr>
          <p:cNvSpPr txBox="1"/>
          <p:nvPr/>
        </p:nvSpPr>
        <p:spPr>
          <a:xfrm>
            <a:off x="7355131" y="203597"/>
            <a:ext cx="655188" cy="338554"/>
          </a:xfrm>
          <a:prstGeom prst="rect">
            <a:avLst/>
          </a:prstGeom>
          <a:noFill/>
        </p:spPr>
        <p:txBody>
          <a:bodyPr wrap="square" rtlCol="0">
            <a:spAutoFit/>
          </a:bodyPr>
          <a:lstStyle/>
          <a:p>
            <a:r>
              <a:rPr lang="en-US" sz="1600" i="1" dirty="0"/>
              <a:t>f</a:t>
            </a:r>
            <a:r>
              <a:rPr lang="en-US" sz="1600" i="1" baseline="-25000" dirty="0"/>
              <a:t>c</a:t>
            </a:r>
            <a:r>
              <a:rPr lang="en-US" sz="1600" dirty="0"/>
              <a:t>+4</a:t>
            </a:r>
            <a:r>
              <a:rPr lang="en-US" sz="1600" i="1" dirty="0"/>
              <a:t>/</a:t>
            </a:r>
            <a:r>
              <a:rPr lang="el-GR" sz="1600" i="1" dirty="0"/>
              <a:t>τ</a:t>
            </a:r>
            <a:endParaRPr lang="en-US" sz="1600" i="1" baseline="-25000" dirty="0"/>
          </a:p>
        </p:txBody>
      </p:sp>
      <p:sp>
        <p:nvSpPr>
          <p:cNvPr id="47" name="TextBox 46">
            <a:extLst>
              <a:ext uri="{FF2B5EF4-FFF2-40B4-BE49-F238E27FC236}">
                <a16:creationId xmlns:a16="http://schemas.microsoft.com/office/drawing/2014/main" xmlns="" id="{6CBBE3F4-474A-48B7-8FCF-45054CB44F2B}"/>
              </a:ext>
            </a:extLst>
          </p:cNvPr>
          <p:cNvSpPr txBox="1"/>
          <p:nvPr/>
        </p:nvSpPr>
        <p:spPr>
          <a:xfrm>
            <a:off x="3728516" y="4413701"/>
            <a:ext cx="5221758" cy="1938992"/>
          </a:xfrm>
          <a:prstGeom prst="rect">
            <a:avLst/>
          </a:prstGeom>
          <a:noFill/>
        </p:spPr>
        <p:txBody>
          <a:bodyPr wrap="square" rtlCol="0">
            <a:spAutoFit/>
          </a:bodyPr>
          <a:lstStyle/>
          <a:p>
            <a:r>
              <a:rPr lang="en-US" dirty="0"/>
              <a:t>The separation between subcarrier,</a:t>
            </a:r>
          </a:p>
          <a:p>
            <a:r>
              <a:rPr lang="en-US" dirty="0" err="1"/>
              <a:t>Δ</a:t>
            </a:r>
            <a:r>
              <a:rPr lang="en-US" i="1" dirty="0" err="1"/>
              <a:t>f</a:t>
            </a:r>
            <a:r>
              <a:rPr lang="en-US" dirty="0"/>
              <a:t> = 1/</a:t>
            </a:r>
            <a:r>
              <a:rPr lang="el-GR" i="1" dirty="0"/>
              <a:t>τ</a:t>
            </a:r>
            <a:r>
              <a:rPr lang="en-US" i="1" dirty="0"/>
              <a:t>= </a:t>
            </a:r>
            <a:r>
              <a:rPr lang="en-US" dirty="0"/>
              <a:t>15KHz</a:t>
            </a:r>
          </a:p>
          <a:p>
            <a:r>
              <a:rPr lang="en-US" dirty="0"/>
              <a:t>Therefore the duration of symbol will be,</a:t>
            </a:r>
          </a:p>
          <a:p>
            <a:r>
              <a:rPr lang="en-US" dirty="0"/>
              <a:t>1/</a:t>
            </a:r>
            <a:r>
              <a:rPr lang="en-US" dirty="0" err="1"/>
              <a:t>Δ</a:t>
            </a:r>
            <a:r>
              <a:rPr lang="en-US" i="1" dirty="0" err="1"/>
              <a:t>f</a:t>
            </a:r>
            <a:r>
              <a:rPr lang="en-US" dirty="0"/>
              <a:t> = </a:t>
            </a:r>
            <a:r>
              <a:rPr lang="el-GR" i="1" dirty="0"/>
              <a:t>τ</a:t>
            </a:r>
            <a:r>
              <a:rPr lang="en-US" i="1" dirty="0"/>
              <a:t> = </a:t>
            </a:r>
            <a:r>
              <a:rPr lang="en-US" dirty="0"/>
              <a:t>66.6 </a:t>
            </a:r>
            <a:r>
              <a:rPr lang="el-GR" dirty="0"/>
              <a:t>μ</a:t>
            </a:r>
            <a:r>
              <a:rPr lang="en-US" dirty="0"/>
              <a:t>s </a:t>
            </a:r>
          </a:p>
          <a:p>
            <a:r>
              <a:rPr lang="en-US" dirty="0"/>
              <a:t>= duration of modulated wave or symbol</a:t>
            </a:r>
          </a:p>
        </p:txBody>
      </p:sp>
      <p:cxnSp>
        <p:nvCxnSpPr>
          <p:cNvPr id="6" name="Straight Arrow Connector 5">
            <a:extLst>
              <a:ext uri="{FF2B5EF4-FFF2-40B4-BE49-F238E27FC236}">
                <a16:creationId xmlns:a16="http://schemas.microsoft.com/office/drawing/2014/main" xmlns="" id="{7DEBCF7B-54E5-48BC-96A3-B1B6E7C93462}"/>
              </a:ext>
            </a:extLst>
          </p:cNvPr>
          <p:cNvCxnSpPr>
            <a:cxnSpLocks/>
          </p:cNvCxnSpPr>
          <p:nvPr/>
        </p:nvCxnSpPr>
        <p:spPr>
          <a:xfrm>
            <a:off x="409813" y="6400800"/>
            <a:ext cx="2167051" cy="0"/>
          </a:xfrm>
          <a:prstGeom prst="straightConnector1">
            <a:avLst/>
          </a:prstGeom>
          <a:ln w="38100">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B54B4354-E97A-4E3B-9DE9-9D283F7A7023}"/>
              </a:ext>
            </a:extLst>
          </p:cNvPr>
          <p:cNvSpPr txBox="1"/>
          <p:nvPr/>
        </p:nvSpPr>
        <p:spPr>
          <a:xfrm>
            <a:off x="1270895" y="6256898"/>
            <a:ext cx="990600" cy="584775"/>
          </a:xfrm>
          <a:prstGeom prst="rect">
            <a:avLst/>
          </a:prstGeom>
          <a:noFill/>
        </p:spPr>
        <p:txBody>
          <a:bodyPr wrap="square" rtlCol="0">
            <a:spAutoFit/>
          </a:bodyPr>
          <a:lstStyle/>
          <a:p>
            <a:r>
              <a:rPr lang="el-GR" sz="3200" dirty="0"/>
              <a:t>τ</a:t>
            </a:r>
            <a:endParaRPr lang="en-US" sz="3200" dirty="0"/>
          </a:p>
        </p:txBody>
      </p:sp>
      <p:sp>
        <p:nvSpPr>
          <p:cNvPr id="2" name="TextBox 1">
            <a:extLst>
              <a:ext uri="{FF2B5EF4-FFF2-40B4-BE49-F238E27FC236}">
                <a16:creationId xmlns:a16="http://schemas.microsoft.com/office/drawing/2014/main" xmlns="" id="{154CF891-E688-4A6A-8F64-41CD211936EC}"/>
              </a:ext>
            </a:extLst>
          </p:cNvPr>
          <p:cNvSpPr txBox="1"/>
          <p:nvPr/>
        </p:nvSpPr>
        <p:spPr>
          <a:xfrm>
            <a:off x="5199241" y="3082740"/>
            <a:ext cx="3499056" cy="1200329"/>
          </a:xfrm>
          <a:prstGeom prst="rect">
            <a:avLst/>
          </a:prstGeom>
          <a:solidFill>
            <a:srgbClr val="FFC000"/>
          </a:solidFill>
        </p:spPr>
        <p:txBody>
          <a:bodyPr wrap="square" rtlCol="0">
            <a:spAutoFit/>
          </a:bodyPr>
          <a:lstStyle/>
          <a:p>
            <a:pPr algn="just"/>
            <a:r>
              <a:rPr lang="en-US" sz="1800" dirty="0"/>
              <a:t>Only 5 spectrum are shown out of 12 spectrum. The figure shows the spectrum of modulated subcarriers of OFDMA</a:t>
            </a:r>
          </a:p>
        </p:txBody>
      </p:sp>
    </p:spTree>
    <p:extLst>
      <p:ext uri="{BB962C8B-B14F-4D97-AF65-F5344CB8AC3E}">
        <p14:creationId xmlns:p14="http://schemas.microsoft.com/office/powerpoint/2010/main" val="2948994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341968A5-2BD3-4AF1-AA7B-F78000163061}"/>
              </a:ext>
            </a:extLst>
          </p:cNvPr>
          <p:cNvSpPr>
            <a:spLocks noGrp="1"/>
          </p:cNvSpPr>
          <p:nvPr>
            <p:ph type="sldNum" sz="quarter" idx="12"/>
          </p:nvPr>
        </p:nvSpPr>
        <p:spPr/>
        <p:txBody>
          <a:bodyPr/>
          <a:lstStyle/>
          <a:p>
            <a:pPr>
              <a:defRPr/>
            </a:pPr>
            <a:fld id="{4238FF85-7D5F-4211-AF5F-B3F85F4FE643}" type="slidenum">
              <a:rPr lang="en-US" smtClean="0"/>
              <a:pPr>
                <a:defRPr/>
              </a:pPr>
              <a:t>66</a:t>
            </a:fld>
            <a:endParaRPr lang="en-US"/>
          </a:p>
        </p:txBody>
      </p:sp>
      <p:sp>
        <p:nvSpPr>
          <p:cNvPr id="5" name="TextBox 4">
            <a:extLst>
              <a:ext uri="{FF2B5EF4-FFF2-40B4-BE49-F238E27FC236}">
                <a16:creationId xmlns:a16="http://schemas.microsoft.com/office/drawing/2014/main" xmlns="" id="{0F5EA76E-C87C-4C2D-B577-6DF7D714DC22}"/>
              </a:ext>
            </a:extLst>
          </p:cNvPr>
          <p:cNvSpPr txBox="1"/>
          <p:nvPr/>
        </p:nvSpPr>
        <p:spPr>
          <a:xfrm>
            <a:off x="1752600" y="2286000"/>
            <a:ext cx="5791200" cy="830997"/>
          </a:xfrm>
          <a:prstGeom prst="rect">
            <a:avLst/>
          </a:prstGeom>
          <a:solidFill>
            <a:srgbClr val="CCECFF"/>
          </a:solidFill>
        </p:spPr>
        <p:txBody>
          <a:bodyPr wrap="square" rtlCol="0">
            <a:spAutoFit/>
          </a:bodyPr>
          <a:lstStyle/>
          <a:p>
            <a:r>
              <a:rPr lang="en-US" sz="4800" b="1" dirty="0">
                <a:solidFill>
                  <a:srgbClr val="FF0000"/>
                </a:solidFill>
              </a:rPr>
              <a:t>Basic of Cyclic Prefix</a:t>
            </a:r>
            <a:endParaRPr lang="en-US" sz="4800" b="1" dirty="0"/>
          </a:p>
        </p:txBody>
      </p:sp>
    </p:spTree>
    <p:extLst>
      <p:ext uri="{BB962C8B-B14F-4D97-AF65-F5344CB8AC3E}">
        <p14:creationId xmlns:p14="http://schemas.microsoft.com/office/powerpoint/2010/main" val="22896972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67</a:t>
            </a:fld>
            <a:endParaRPr lang="en-US"/>
          </a:p>
        </p:txBody>
      </p:sp>
      <p:pic>
        <p:nvPicPr>
          <p:cNvPr id="5" name="Content Placeholder 4"/>
          <p:cNvPicPr>
            <a:picLocks noGrp="1" noChangeAspect="1"/>
          </p:cNvPicPr>
          <p:nvPr>
            <p:ph idx="1"/>
          </p:nvPr>
        </p:nvPicPr>
        <p:blipFill>
          <a:blip r:embed="rId2"/>
          <a:stretch>
            <a:fillRect/>
          </a:stretch>
        </p:blipFill>
        <p:spPr>
          <a:xfrm>
            <a:off x="685800" y="2554535"/>
            <a:ext cx="7772400" cy="2968130"/>
          </a:xfrm>
          <a:prstGeom prst="rect">
            <a:avLst/>
          </a:prstGeom>
        </p:spPr>
      </p:pic>
    </p:spTree>
    <p:extLst>
      <p:ext uri="{BB962C8B-B14F-4D97-AF65-F5344CB8AC3E}">
        <p14:creationId xmlns:p14="http://schemas.microsoft.com/office/powerpoint/2010/main" val="19102177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065AB5F-F9D0-4D9E-8239-2E48DA1C5843}"/>
              </a:ext>
            </a:extLst>
          </p:cNvPr>
          <p:cNvSpPr>
            <a:spLocks noGrp="1"/>
          </p:cNvSpPr>
          <p:nvPr>
            <p:ph type="sldNum" sz="quarter" idx="12"/>
          </p:nvPr>
        </p:nvSpPr>
        <p:spPr/>
        <p:txBody>
          <a:bodyPr/>
          <a:lstStyle/>
          <a:p>
            <a:pPr>
              <a:defRPr/>
            </a:pPr>
            <a:fld id="{4238FF85-7D5F-4211-AF5F-B3F85F4FE643}" type="slidenum">
              <a:rPr lang="en-US" smtClean="0"/>
              <a:pPr>
                <a:defRPr/>
              </a:pPr>
              <a:t>68</a:t>
            </a:fld>
            <a:endParaRPr lang="en-US"/>
          </a:p>
        </p:txBody>
      </p:sp>
      <p:grpSp>
        <p:nvGrpSpPr>
          <p:cNvPr id="17" name="Group 16">
            <a:extLst>
              <a:ext uri="{FF2B5EF4-FFF2-40B4-BE49-F238E27FC236}">
                <a16:creationId xmlns:a16="http://schemas.microsoft.com/office/drawing/2014/main" xmlns="" id="{98283E0B-1A91-4E3E-BE22-B1895C558734}"/>
              </a:ext>
            </a:extLst>
          </p:cNvPr>
          <p:cNvGrpSpPr/>
          <p:nvPr/>
        </p:nvGrpSpPr>
        <p:grpSpPr>
          <a:xfrm>
            <a:off x="251927" y="1243592"/>
            <a:ext cx="6595181" cy="1600200"/>
            <a:chOff x="328127" y="533400"/>
            <a:chExt cx="6595181" cy="1600200"/>
          </a:xfrm>
        </p:grpSpPr>
        <p:cxnSp>
          <p:nvCxnSpPr>
            <p:cNvPr id="6" name="Straight Arrow Connector 5">
              <a:extLst>
                <a:ext uri="{FF2B5EF4-FFF2-40B4-BE49-F238E27FC236}">
                  <a16:creationId xmlns:a16="http://schemas.microsoft.com/office/drawing/2014/main" xmlns="" id="{71D2F8F5-606C-4204-B2FB-99AB87E5B5D0}"/>
                </a:ext>
              </a:extLst>
            </p:cNvPr>
            <p:cNvCxnSpPr/>
            <p:nvPr/>
          </p:nvCxnSpPr>
          <p:spPr>
            <a:xfrm flipV="1">
              <a:off x="838200" y="533400"/>
              <a:ext cx="0" cy="160020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xmlns="" id="{CCFF155A-7179-4C5C-BE5B-66CED46DE6E0}"/>
                </a:ext>
              </a:extLst>
            </p:cNvPr>
            <p:cNvCxnSpPr>
              <a:cxnSpLocks/>
            </p:cNvCxnSpPr>
            <p:nvPr/>
          </p:nvCxnSpPr>
          <p:spPr>
            <a:xfrm flipV="1">
              <a:off x="328127" y="1442502"/>
              <a:ext cx="6595181" cy="41843"/>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xmlns="" id="{8C73DA9D-A08A-41E1-9DAA-B9E3FB3897E7}"/>
                </a:ext>
              </a:extLst>
            </p:cNvPr>
            <p:cNvSpPr/>
            <p:nvPr/>
          </p:nvSpPr>
          <p:spPr>
            <a:xfrm>
              <a:off x="838200" y="1066800"/>
              <a:ext cx="5246911" cy="758891"/>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xmlns="" id="{7EC5AD0F-C0C9-4C3E-8831-2D4B55575C1A}"/>
              </a:ext>
            </a:extLst>
          </p:cNvPr>
          <p:cNvGrpSpPr/>
          <p:nvPr/>
        </p:nvGrpSpPr>
        <p:grpSpPr>
          <a:xfrm>
            <a:off x="609600" y="2453749"/>
            <a:ext cx="6324600" cy="1674845"/>
            <a:chOff x="328127" y="458755"/>
            <a:chExt cx="6324600" cy="1674845"/>
          </a:xfrm>
        </p:grpSpPr>
        <p:cxnSp>
          <p:nvCxnSpPr>
            <p:cNvPr id="19" name="Straight Arrow Connector 18">
              <a:extLst>
                <a:ext uri="{FF2B5EF4-FFF2-40B4-BE49-F238E27FC236}">
                  <a16:creationId xmlns:a16="http://schemas.microsoft.com/office/drawing/2014/main" xmlns="" id="{E4BCCB2A-85DB-4DBE-B0B4-DF65EA4396EA}"/>
                </a:ext>
              </a:extLst>
            </p:cNvPr>
            <p:cNvCxnSpPr>
              <a:cxnSpLocks/>
            </p:cNvCxnSpPr>
            <p:nvPr/>
          </p:nvCxnSpPr>
          <p:spPr>
            <a:xfrm flipV="1">
              <a:off x="838200" y="458755"/>
              <a:ext cx="0" cy="167484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F0026E16-E753-4A4A-83FB-9E0BF919FD38}"/>
                </a:ext>
              </a:extLst>
            </p:cNvPr>
            <p:cNvCxnSpPr>
              <a:cxnSpLocks/>
            </p:cNvCxnSpPr>
            <p:nvPr/>
          </p:nvCxnSpPr>
          <p:spPr>
            <a:xfrm flipV="1">
              <a:off x="328127" y="1446245"/>
              <a:ext cx="6324600" cy="3810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xmlns="" id="{2461B96D-FD80-4C0B-86B9-5C79036F142A}"/>
                </a:ext>
              </a:extLst>
            </p:cNvPr>
            <p:cNvSpPr/>
            <p:nvPr/>
          </p:nvSpPr>
          <p:spPr>
            <a:xfrm>
              <a:off x="838200" y="1066800"/>
              <a:ext cx="5246911" cy="758891"/>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5" name="Straight Connector 24">
            <a:extLst>
              <a:ext uri="{FF2B5EF4-FFF2-40B4-BE49-F238E27FC236}">
                <a16:creationId xmlns:a16="http://schemas.microsoft.com/office/drawing/2014/main" xmlns="" id="{A2647C2A-F581-4567-92A8-CF245E2B4831}"/>
              </a:ext>
            </a:extLst>
          </p:cNvPr>
          <p:cNvCxnSpPr/>
          <p:nvPr/>
        </p:nvCxnSpPr>
        <p:spPr>
          <a:xfrm>
            <a:off x="5991802" y="1395992"/>
            <a:ext cx="0" cy="289560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xmlns="" id="{CF119727-C9A2-45CA-ABF8-4CF6A39568C3}"/>
              </a:ext>
            </a:extLst>
          </p:cNvPr>
          <p:cNvCxnSpPr/>
          <p:nvPr/>
        </p:nvCxnSpPr>
        <p:spPr>
          <a:xfrm>
            <a:off x="1107226" y="1091192"/>
            <a:ext cx="0" cy="2895600"/>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xmlns="" id="{7E6BC606-6DD3-470B-91CC-2E6EB6FD4134}"/>
              </a:ext>
            </a:extLst>
          </p:cNvPr>
          <p:cNvSpPr txBox="1"/>
          <p:nvPr/>
        </p:nvSpPr>
        <p:spPr>
          <a:xfrm>
            <a:off x="2438400" y="1066800"/>
            <a:ext cx="3049557" cy="461665"/>
          </a:xfrm>
          <a:prstGeom prst="rect">
            <a:avLst/>
          </a:prstGeom>
          <a:noFill/>
        </p:spPr>
        <p:txBody>
          <a:bodyPr wrap="square" rtlCol="0">
            <a:spAutoFit/>
          </a:bodyPr>
          <a:lstStyle/>
          <a:p>
            <a:r>
              <a:rPr lang="en-US" i="1" dirty="0"/>
              <a:t>S</a:t>
            </a:r>
            <a:r>
              <a:rPr lang="en-US" baseline="-25000" dirty="0"/>
              <a:t>1</a:t>
            </a:r>
            <a:r>
              <a:rPr lang="en-US" dirty="0"/>
              <a:t>(</a:t>
            </a:r>
            <a:r>
              <a:rPr lang="en-US" i="1" dirty="0"/>
              <a:t>t</a:t>
            </a:r>
            <a:r>
              <a:rPr lang="en-US" dirty="0"/>
              <a:t>) = </a:t>
            </a:r>
            <a:r>
              <a:rPr lang="en-US" i="1" dirty="0" err="1"/>
              <a:t>A</a:t>
            </a:r>
            <a:r>
              <a:rPr lang="en-US" dirty="0" err="1"/>
              <a:t>cos</a:t>
            </a:r>
            <a:r>
              <a:rPr lang="en-US" dirty="0"/>
              <a:t>(2</a:t>
            </a:r>
            <a:r>
              <a:rPr lang="el-GR" dirty="0"/>
              <a:t>π</a:t>
            </a:r>
            <a:r>
              <a:rPr lang="en-US" i="1" dirty="0" err="1"/>
              <a:t>f</a:t>
            </a:r>
            <a:r>
              <a:rPr lang="en-US" i="1" baseline="-25000" dirty="0" err="1"/>
              <a:t>c</a:t>
            </a:r>
            <a:r>
              <a:rPr lang="en-US" i="1" dirty="0" err="1"/>
              <a:t>t</a:t>
            </a:r>
            <a:r>
              <a:rPr lang="en-US" dirty="0"/>
              <a:t>+</a:t>
            </a:r>
            <a:r>
              <a:rPr lang="el-GR" i="1" dirty="0"/>
              <a:t>α</a:t>
            </a:r>
            <a:r>
              <a:rPr lang="en-US" dirty="0"/>
              <a:t>)</a:t>
            </a:r>
          </a:p>
        </p:txBody>
      </p:sp>
      <p:sp>
        <p:nvSpPr>
          <p:cNvPr id="28" name="TextBox 27">
            <a:extLst>
              <a:ext uri="{FF2B5EF4-FFF2-40B4-BE49-F238E27FC236}">
                <a16:creationId xmlns:a16="http://schemas.microsoft.com/office/drawing/2014/main" xmlns="" id="{9A56D162-035F-481D-B848-AB6DDFA14CC7}"/>
              </a:ext>
            </a:extLst>
          </p:cNvPr>
          <p:cNvSpPr txBox="1"/>
          <p:nvPr/>
        </p:nvSpPr>
        <p:spPr>
          <a:xfrm>
            <a:off x="2438400" y="2539969"/>
            <a:ext cx="3049557" cy="461665"/>
          </a:xfrm>
          <a:prstGeom prst="rect">
            <a:avLst/>
          </a:prstGeom>
          <a:noFill/>
        </p:spPr>
        <p:txBody>
          <a:bodyPr wrap="square" rtlCol="0">
            <a:spAutoFit/>
          </a:bodyPr>
          <a:lstStyle/>
          <a:p>
            <a:r>
              <a:rPr lang="en-US" i="1" dirty="0"/>
              <a:t>S′</a:t>
            </a:r>
            <a:r>
              <a:rPr lang="en-US" baseline="-25000" dirty="0"/>
              <a:t>1</a:t>
            </a:r>
            <a:r>
              <a:rPr lang="en-US" dirty="0"/>
              <a:t>(</a:t>
            </a:r>
            <a:r>
              <a:rPr lang="en-US" i="1" dirty="0"/>
              <a:t>t</a:t>
            </a:r>
            <a:r>
              <a:rPr lang="en-US" dirty="0"/>
              <a:t>) = </a:t>
            </a:r>
            <a:r>
              <a:rPr lang="en-US" i="1" dirty="0" err="1"/>
              <a:t>C</a:t>
            </a:r>
            <a:r>
              <a:rPr lang="en-US" dirty="0" err="1"/>
              <a:t>cos</a:t>
            </a:r>
            <a:r>
              <a:rPr lang="en-US" dirty="0"/>
              <a:t>(2</a:t>
            </a:r>
            <a:r>
              <a:rPr lang="el-GR" dirty="0"/>
              <a:t>π</a:t>
            </a:r>
            <a:r>
              <a:rPr lang="en-US" i="1" dirty="0" err="1"/>
              <a:t>f</a:t>
            </a:r>
            <a:r>
              <a:rPr lang="en-US" i="1" baseline="-25000" dirty="0" err="1"/>
              <a:t>c</a:t>
            </a:r>
            <a:r>
              <a:rPr lang="en-US" i="1" dirty="0" err="1"/>
              <a:t>t</a:t>
            </a:r>
            <a:r>
              <a:rPr lang="en-US" dirty="0"/>
              <a:t>+</a:t>
            </a:r>
            <a:r>
              <a:rPr lang="el-GR" i="1" dirty="0"/>
              <a:t>β</a:t>
            </a:r>
            <a:r>
              <a:rPr lang="en-US" dirty="0"/>
              <a:t>)</a:t>
            </a:r>
          </a:p>
        </p:txBody>
      </p:sp>
      <p:sp>
        <p:nvSpPr>
          <p:cNvPr id="31" name="TextBox 30">
            <a:extLst>
              <a:ext uri="{FF2B5EF4-FFF2-40B4-BE49-F238E27FC236}">
                <a16:creationId xmlns:a16="http://schemas.microsoft.com/office/drawing/2014/main" xmlns="" id="{D10544D5-2A1A-4D35-B305-6A118D236581}"/>
              </a:ext>
            </a:extLst>
          </p:cNvPr>
          <p:cNvSpPr txBox="1"/>
          <p:nvPr/>
        </p:nvSpPr>
        <p:spPr>
          <a:xfrm>
            <a:off x="6248400" y="1528465"/>
            <a:ext cx="1142997" cy="461665"/>
          </a:xfrm>
          <a:prstGeom prst="rect">
            <a:avLst/>
          </a:prstGeom>
          <a:noFill/>
        </p:spPr>
        <p:txBody>
          <a:bodyPr wrap="square" rtlCol="0">
            <a:spAutoFit/>
          </a:bodyPr>
          <a:lstStyle/>
          <a:p>
            <a:r>
              <a:rPr lang="en-US" dirty="0"/>
              <a:t>Path-1</a:t>
            </a:r>
          </a:p>
        </p:txBody>
      </p:sp>
      <p:sp>
        <p:nvSpPr>
          <p:cNvPr id="32" name="TextBox 31">
            <a:extLst>
              <a:ext uri="{FF2B5EF4-FFF2-40B4-BE49-F238E27FC236}">
                <a16:creationId xmlns:a16="http://schemas.microsoft.com/office/drawing/2014/main" xmlns="" id="{B696A63C-4BB8-4F56-B084-935A861C7E4C}"/>
              </a:ext>
            </a:extLst>
          </p:cNvPr>
          <p:cNvSpPr txBox="1"/>
          <p:nvPr/>
        </p:nvSpPr>
        <p:spPr>
          <a:xfrm>
            <a:off x="6235184" y="2529663"/>
            <a:ext cx="1142997" cy="461665"/>
          </a:xfrm>
          <a:prstGeom prst="rect">
            <a:avLst/>
          </a:prstGeom>
          <a:noFill/>
        </p:spPr>
        <p:txBody>
          <a:bodyPr wrap="square" rtlCol="0">
            <a:spAutoFit/>
          </a:bodyPr>
          <a:lstStyle/>
          <a:p>
            <a:r>
              <a:rPr lang="en-US" dirty="0"/>
              <a:t>Path-2</a:t>
            </a:r>
          </a:p>
        </p:txBody>
      </p:sp>
      <p:sp>
        <p:nvSpPr>
          <p:cNvPr id="33" name="Rectangle 32">
            <a:extLst>
              <a:ext uri="{FF2B5EF4-FFF2-40B4-BE49-F238E27FC236}">
                <a16:creationId xmlns:a16="http://schemas.microsoft.com/office/drawing/2014/main" xmlns="" id="{B749F0BD-24C3-447B-9EE6-C3FB80261D2E}"/>
              </a:ext>
            </a:extLst>
          </p:cNvPr>
          <p:cNvSpPr/>
          <p:nvPr/>
        </p:nvSpPr>
        <p:spPr>
          <a:xfrm>
            <a:off x="251926" y="4489923"/>
            <a:ext cx="8663472" cy="1569660"/>
          </a:xfrm>
          <a:prstGeom prst="rect">
            <a:avLst/>
          </a:prstGeom>
          <a:solidFill>
            <a:srgbClr val="FFCCFF"/>
          </a:solidFill>
        </p:spPr>
        <p:txBody>
          <a:bodyPr wrap="square">
            <a:spAutoFit/>
          </a:bodyPr>
          <a:lstStyle/>
          <a:p>
            <a:pPr algn="just"/>
            <a:r>
              <a:rPr lang="en-US" dirty="0"/>
              <a:t>The received signal on the range of continuous part of waves,</a:t>
            </a:r>
          </a:p>
          <a:p>
            <a:pPr algn="just"/>
            <a:r>
              <a:rPr lang="en-US" i="1" dirty="0"/>
              <a:t>S</a:t>
            </a:r>
            <a:r>
              <a:rPr lang="en-US" baseline="-25000" dirty="0"/>
              <a:t>1</a:t>
            </a:r>
            <a:r>
              <a:rPr lang="en-US" i="1" baseline="-25000" dirty="0"/>
              <a:t>r</a:t>
            </a:r>
            <a:r>
              <a:rPr lang="en-US" dirty="0"/>
              <a:t>(</a:t>
            </a:r>
            <a:r>
              <a:rPr lang="en-US" i="1" dirty="0"/>
              <a:t>t</a:t>
            </a:r>
            <a:r>
              <a:rPr lang="en-US" dirty="0"/>
              <a:t>)</a:t>
            </a:r>
            <a:r>
              <a:rPr lang="en-US" i="1" dirty="0"/>
              <a:t>= </a:t>
            </a:r>
            <a:r>
              <a:rPr lang="en-US" i="1" dirty="0" err="1"/>
              <a:t>A</a:t>
            </a:r>
            <a:r>
              <a:rPr lang="en-US" dirty="0" err="1"/>
              <a:t>cos</a:t>
            </a:r>
            <a:r>
              <a:rPr lang="en-US" dirty="0"/>
              <a:t>(2</a:t>
            </a:r>
            <a:r>
              <a:rPr lang="el-GR" dirty="0"/>
              <a:t>π</a:t>
            </a:r>
            <a:r>
              <a:rPr lang="en-US" i="1" dirty="0" err="1"/>
              <a:t>f</a:t>
            </a:r>
            <a:r>
              <a:rPr lang="en-US" i="1" baseline="-25000" dirty="0" err="1"/>
              <a:t>c</a:t>
            </a:r>
            <a:r>
              <a:rPr lang="en-US" i="1" dirty="0" err="1"/>
              <a:t>t</a:t>
            </a:r>
            <a:r>
              <a:rPr lang="en-US" dirty="0"/>
              <a:t>+</a:t>
            </a:r>
            <a:r>
              <a:rPr lang="el-GR" i="1" dirty="0"/>
              <a:t>α</a:t>
            </a:r>
            <a:r>
              <a:rPr lang="en-US" dirty="0"/>
              <a:t>)+</a:t>
            </a:r>
            <a:r>
              <a:rPr lang="en-US" i="1" dirty="0"/>
              <a:t> </a:t>
            </a:r>
            <a:r>
              <a:rPr lang="en-US" i="1" dirty="0" err="1"/>
              <a:t>C</a:t>
            </a:r>
            <a:r>
              <a:rPr lang="en-US" dirty="0" err="1"/>
              <a:t>cos</a:t>
            </a:r>
            <a:r>
              <a:rPr lang="en-US" dirty="0"/>
              <a:t>(2</a:t>
            </a:r>
            <a:r>
              <a:rPr lang="el-GR" dirty="0"/>
              <a:t>π</a:t>
            </a:r>
            <a:r>
              <a:rPr lang="en-US" i="1" dirty="0" err="1"/>
              <a:t>f</a:t>
            </a:r>
            <a:r>
              <a:rPr lang="en-US" i="1" baseline="-25000" dirty="0" err="1"/>
              <a:t>c</a:t>
            </a:r>
            <a:r>
              <a:rPr lang="en-US" i="1" dirty="0" err="1"/>
              <a:t>t</a:t>
            </a:r>
            <a:r>
              <a:rPr lang="en-US" dirty="0"/>
              <a:t>+</a:t>
            </a:r>
            <a:r>
              <a:rPr lang="el-GR" i="1" dirty="0"/>
              <a:t>β</a:t>
            </a:r>
            <a:r>
              <a:rPr lang="en-US" dirty="0"/>
              <a:t>)</a:t>
            </a:r>
          </a:p>
          <a:p>
            <a:pPr algn="just"/>
            <a:r>
              <a:rPr lang="en-US" dirty="0"/>
              <a:t>= </a:t>
            </a:r>
            <a:r>
              <a:rPr lang="en-US" i="1" dirty="0" err="1"/>
              <a:t>D</a:t>
            </a:r>
            <a:r>
              <a:rPr lang="en-US" dirty="0" err="1"/>
              <a:t>cos</a:t>
            </a:r>
            <a:r>
              <a:rPr lang="en-US" dirty="0"/>
              <a:t>(2</a:t>
            </a:r>
            <a:r>
              <a:rPr lang="el-GR" dirty="0"/>
              <a:t>π</a:t>
            </a:r>
            <a:r>
              <a:rPr lang="en-US" i="1" dirty="0" err="1"/>
              <a:t>f</a:t>
            </a:r>
            <a:r>
              <a:rPr lang="en-US" i="1" baseline="-25000" dirty="0" err="1"/>
              <a:t>c</a:t>
            </a:r>
            <a:r>
              <a:rPr lang="en-US" i="1" dirty="0" err="1"/>
              <a:t>t</a:t>
            </a:r>
            <a:r>
              <a:rPr lang="en-US" dirty="0"/>
              <a:t>+</a:t>
            </a:r>
            <a:r>
              <a:rPr lang="el-GR" i="1" dirty="0"/>
              <a:t>θ</a:t>
            </a:r>
            <a:r>
              <a:rPr lang="en-US" dirty="0"/>
              <a:t>)</a:t>
            </a:r>
            <a:r>
              <a:rPr lang="en-US" i="1" dirty="0"/>
              <a:t>, </a:t>
            </a:r>
            <a:r>
              <a:rPr lang="en-US" dirty="0"/>
              <a:t>where only amplitude and phase angle is changed</a:t>
            </a:r>
          </a:p>
          <a:p>
            <a:pPr algn="just"/>
            <a:r>
              <a:rPr lang="en-US" dirty="0"/>
              <a:t>hence it is linear distortion, which can be eliminated by equalizer. </a:t>
            </a:r>
          </a:p>
        </p:txBody>
      </p:sp>
      <p:sp>
        <p:nvSpPr>
          <p:cNvPr id="2" name="TextBox 1">
            <a:extLst>
              <a:ext uri="{FF2B5EF4-FFF2-40B4-BE49-F238E27FC236}">
                <a16:creationId xmlns:a16="http://schemas.microsoft.com/office/drawing/2014/main" xmlns="" id="{91557610-A902-4EC9-9ECE-183B48BBF1DE}"/>
              </a:ext>
            </a:extLst>
          </p:cNvPr>
          <p:cNvSpPr txBox="1"/>
          <p:nvPr/>
        </p:nvSpPr>
        <p:spPr>
          <a:xfrm>
            <a:off x="251926" y="152400"/>
            <a:ext cx="8739672" cy="830997"/>
          </a:xfrm>
          <a:prstGeom prst="rect">
            <a:avLst/>
          </a:prstGeom>
          <a:solidFill>
            <a:srgbClr val="FFCCFF"/>
          </a:solidFill>
        </p:spPr>
        <p:txBody>
          <a:bodyPr wrap="square" rtlCol="0">
            <a:spAutoFit/>
          </a:bodyPr>
          <a:lstStyle/>
          <a:p>
            <a:pPr algn="just"/>
            <a:r>
              <a:rPr lang="en-US" dirty="0"/>
              <a:t>Let us consider a modulated wave of a symbol and it propagates along two paths. </a:t>
            </a:r>
          </a:p>
        </p:txBody>
      </p:sp>
    </p:spTree>
    <p:extLst>
      <p:ext uri="{BB962C8B-B14F-4D97-AF65-F5344CB8AC3E}">
        <p14:creationId xmlns:p14="http://schemas.microsoft.com/office/powerpoint/2010/main" val="508862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8A2ECB38-7967-4EB9-8B8C-4E55F47C8E8E}"/>
              </a:ext>
            </a:extLst>
          </p:cNvPr>
          <p:cNvSpPr>
            <a:spLocks noGrp="1"/>
          </p:cNvSpPr>
          <p:nvPr>
            <p:ph type="sldNum" sz="quarter" idx="12"/>
          </p:nvPr>
        </p:nvSpPr>
        <p:spPr/>
        <p:txBody>
          <a:bodyPr/>
          <a:lstStyle/>
          <a:p>
            <a:pPr>
              <a:defRPr/>
            </a:pPr>
            <a:fld id="{4238FF85-7D5F-4211-AF5F-B3F85F4FE643}" type="slidenum">
              <a:rPr lang="en-US" smtClean="0"/>
              <a:pPr>
                <a:defRPr/>
              </a:pPr>
              <a:t>69</a:t>
            </a:fld>
            <a:endParaRPr lang="en-US"/>
          </a:p>
        </p:txBody>
      </p:sp>
      <p:sp>
        <p:nvSpPr>
          <p:cNvPr id="5" name="TextBox 4">
            <a:extLst>
              <a:ext uri="{FF2B5EF4-FFF2-40B4-BE49-F238E27FC236}">
                <a16:creationId xmlns:a16="http://schemas.microsoft.com/office/drawing/2014/main" xmlns="" id="{A582940E-1FF1-4568-AF05-BD49C3AE1F62}"/>
              </a:ext>
            </a:extLst>
          </p:cNvPr>
          <p:cNvSpPr txBox="1"/>
          <p:nvPr/>
        </p:nvSpPr>
        <p:spPr>
          <a:xfrm>
            <a:off x="0" y="101654"/>
            <a:ext cx="9104728" cy="2308324"/>
          </a:xfrm>
          <a:prstGeom prst="rect">
            <a:avLst/>
          </a:prstGeom>
          <a:solidFill>
            <a:srgbClr val="FFCCFF"/>
          </a:solidFill>
        </p:spPr>
        <p:txBody>
          <a:bodyPr wrap="square" rtlCol="0">
            <a:spAutoFit/>
          </a:bodyPr>
          <a:lstStyle/>
          <a:p>
            <a:pPr marL="342900" indent="-342900" algn="just">
              <a:buFont typeface="Wingdings" panose="05000000000000000000" pitchFamily="2" charset="2"/>
              <a:buChar char="ü"/>
            </a:pPr>
            <a:r>
              <a:rPr lang="en-US" dirty="0"/>
              <a:t>In OFDM, the subcarrier signal is extended by cyclic prefix is also called </a:t>
            </a:r>
            <a:r>
              <a:rPr lang="en-US" b="1" dirty="0">
                <a:solidFill>
                  <a:srgbClr val="FF0000"/>
                </a:solidFill>
              </a:rPr>
              <a:t>guard interval </a:t>
            </a:r>
            <a:r>
              <a:rPr lang="en-US" i="1" dirty="0"/>
              <a:t>T</a:t>
            </a:r>
            <a:r>
              <a:rPr lang="en-US" i="1" baseline="-25000" dirty="0"/>
              <a:t>G </a:t>
            </a:r>
            <a:r>
              <a:rPr lang="en-US" dirty="0"/>
              <a:t>i.e. duration of practical symbol becomes </a:t>
            </a:r>
            <a:r>
              <a:rPr lang="en-US" i="1" dirty="0" err="1"/>
              <a:t>T</a:t>
            </a:r>
            <a:r>
              <a:rPr lang="en-US" i="1" baseline="-25000" dirty="0" err="1"/>
              <a:t>s</a:t>
            </a:r>
            <a:r>
              <a:rPr lang="en-US" dirty="0" err="1"/>
              <a:t>+</a:t>
            </a:r>
            <a:r>
              <a:rPr lang="en-US" i="1" dirty="0" err="1"/>
              <a:t>T</a:t>
            </a:r>
            <a:r>
              <a:rPr lang="en-US" i="1" baseline="-25000" dirty="0" err="1"/>
              <a:t>G</a:t>
            </a:r>
            <a:r>
              <a:rPr lang="en-US" dirty="0"/>
              <a:t>.  This guard interval is provided to avoid ISI which occurs due to multipath channels. </a:t>
            </a:r>
          </a:p>
          <a:p>
            <a:pPr marL="342900" indent="-342900" algn="just">
              <a:buFont typeface="Wingdings" panose="05000000000000000000" pitchFamily="2" charset="2"/>
              <a:buChar char="ü"/>
            </a:pPr>
            <a:r>
              <a:rPr lang="en-US" dirty="0"/>
              <a:t>At receiver the guard interval is removed and only the time interval of symbol is evaluated. The guard interval is a pure system overhead.  </a:t>
            </a:r>
          </a:p>
        </p:txBody>
      </p:sp>
      <p:grpSp>
        <p:nvGrpSpPr>
          <p:cNvPr id="88" name="Group 87">
            <a:extLst>
              <a:ext uri="{FF2B5EF4-FFF2-40B4-BE49-F238E27FC236}">
                <a16:creationId xmlns:a16="http://schemas.microsoft.com/office/drawing/2014/main" xmlns="" id="{2BBB5F56-02FF-4598-8429-048AEEE53072}"/>
              </a:ext>
            </a:extLst>
          </p:cNvPr>
          <p:cNvGrpSpPr/>
          <p:nvPr/>
        </p:nvGrpSpPr>
        <p:grpSpPr>
          <a:xfrm>
            <a:off x="990600" y="2472894"/>
            <a:ext cx="6634943" cy="2358434"/>
            <a:chOff x="1193661" y="1811338"/>
            <a:chExt cx="6634943" cy="2358434"/>
          </a:xfrm>
        </p:grpSpPr>
        <p:grpSp>
          <p:nvGrpSpPr>
            <p:cNvPr id="53" name="Group 52">
              <a:extLst>
                <a:ext uri="{FF2B5EF4-FFF2-40B4-BE49-F238E27FC236}">
                  <a16:creationId xmlns:a16="http://schemas.microsoft.com/office/drawing/2014/main" xmlns="" id="{79C0336B-678B-4046-B11B-ABA32DCB963D}"/>
                </a:ext>
              </a:extLst>
            </p:cNvPr>
            <p:cNvGrpSpPr/>
            <p:nvPr/>
          </p:nvGrpSpPr>
          <p:grpSpPr>
            <a:xfrm>
              <a:off x="1193661" y="1950247"/>
              <a:ext cx="6634943" cy="2219525"/>
              <a:chOff x="905118" y="2407190"/>
              <a:chExt cx="6756678" cy="2690008"/>
            </a:xfrm>
          </p:grpSpPr>
          <p:cxnSp>
            <p:nvCxnSpPr>
              <p:cNvPr id="9" name="Straight Arrow Connector 8">
                <a:extLst>
                  <a:ext uri="{FF2B5EF4-FFF2-40B4-BE49-F238E27FC236}">
                    <a16:creationId xmlns:a16="http://schemas.microsoft.com/office/drawing/2014/main" xmlns="" id="{79135918-623D-4E03-81F5-C813C7075922}"/>
                  </a:ext>
                </a:extLst>
              </p:cNvPr>
              <p:cNvCxnSpPr>
                <a:cxnSpLocks/>
              </p:cNvCxnSpPr>
              <p:nvPr/>
            </p:nvCxnSpPr>
            <p:spPr>
              <a:xfrm flipV="1">
                <a:off x="905118" y="3616332"/>
                <a:ext cx="6756678" cy="21147"/>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5696FC9B-7AF2-4420-B1CE-9EC7F3968C28}"/>
                  </a:ext>
                </a:extLst>
              </p:cNvPr>
              <p:cNvCxnSpPr>
                <a:cxnSpLocks/>
              </p:cNvCxnSpPr>
              <p:nvPr/>
            </p:nvCxnSpPr>
            <p:spPr>
              <a:xfrm>
                <a:off x="1587370" y="2407190"/>
                <a:ext cx="5860" cy="2279727"/>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xmlns="" id="{6E264184-39C0-41FD-BC7B-4A9ED49A6380}"/>
                  </a:ext>
                </a:extLst>
              </p:cNvPr>
              <p:cNvGrpSpPr/>
              <p:nvPr/>
            </p:nvGrpSpPr>
            <p:grpSpPr>
              <a:xfrm>
                <a:off x="1604865" y="2808514"/>
                <a:ext cx="5257800" cy="1586431"/>
                <a:chOff x="1604865" y="2808514"/>
                <a:chExt cx="5929606" cy="2195807"/>
              </a:xfrm>
            </p:grpSpPr>
            <p:sp>
              <p:nvSpPr>
                <p:cNvPr id="13" name="Freeform: Shape 12">
                  <a:extLst>
                    <a:ext uri="{FF2B5EF4-FFF2-40B4-BE49-F238E27FC236}">
                      <a16:creationId xmlns:a16="http://schemas.microsoft.com/office/drawing/2014/main" xmlns="" id="{E71B5A29-D363-4908-8845-9F480D943D11}"/>
                    </a:ext>
                  </a:extLst>
                </p:cNvPr>
                <p:cNvSpPr/>
                <p:nvPr/>
              </p:nvSpPr>
              <p:spPr>
                <a:xfrm>
                  <a:off x="1604865" y="2808514"/>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xmlns="" id="{284FA2DA-82C5-4ABA-AC1F-52294D03B870}"/>
                    </a:ext>
                  </a:extLst>
                </p:cNvPr>
                <p:cNvSpPr/>
                <p:nvPr/>
              </p:nvSpPr>
              <p:spPr>
                <a:xfrm>
                  <a:off x="2351314" y="285516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xmlns="" id="{E5E93542-3390-47E1-9C62-98DA1C9A19A1}"/>
                    </a:ext>
                  </a:extLst>
                </p:cNvPr>
                <p:cNvSpPr/>
                <p:nvPr/>
              </p:nvSpPr>
              <p:spPr>
                <a:xfrm>
                  <a:off x="3102427" y="2855160"/>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A86D56BC-B0F0-47FE-9D8F-8E8FFFA72F5F}"/>
                    </a:ext>
                  </a:extLst>
                </p:cNvPr>
                <p:cNvSpPr/>
                <p:nvPr/>
              </p:nvSpPr>
              <p:spPr>
                <a:xfrm>
                  <a:off x="3833326" y="288004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28366FDF-8A93-468A-AC56-9AE2536C80B9}"/>
                    </a:ext>
                  </a:extLst>
                </p:cNvPr>
                <p:cNvSpPr/>
                <p:nvPr/>
              </p:nvSpPr>
              <p:spPr>
                <a:xfrm>
                  <a:off x="4579775" y="2880040"/>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xmlns="" id="{34FE7AA6-68D2-40A2-AC20-BE0B19FFF532}"/>
                    </a:ext>
                  </a:extLst>
                </p:cNvPr>
                <p:cNvSpPr/>
                <p:nvPr/>
              </p:nvSpPr>
              <p:spPr>
                <a:xfrm>
                  <a:off x="5321558" y="289559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xmlns="" id="{893BD132-B282-447F-821C-B51449447AE3}"/>
                    </a:ext>
                  </a:extLst>
                </p:cNvPr>
                <p:cNvSpPr/>
                <p:nvPr/>
              </p:nvSpPr>
              <p:spPr>
                <a:xfrm>
                  <a:off x="6057123" y="2911142"/>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xmlns="" id="{61274D35-72DF-4742-85D7-02A08C3B6DD7}"/>
                    </a:ext>
                  </a:extLst>
                </p:cNvPr>
                <p:cNvSpPr/>
                <p:nvPr/>
              </p:nvSpPr>
              <p:spPr>
                <a:xfrm>
                  <a:off x="6788022" y="2942244"/>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xmlns="" id="{940E52CC-2382-40EE-A440-DA9DCED79CF3}"/>
                  </a:ext>
                </a:extLst>
              </p:cNvPr>
              <p:cNvGrpSpPr/>
              <p:nvPr/>
            </p:nvGrpSpPr>
            <p:grpSpPr>
              <a:xfrm>
                <a:off x="1828800" y="2875378"/>
                <a:ext cx="5257800" cy="1586431"/>
                <a:chOff x="1604865" y="2808514"/>
                <a:chExt cx="5929606" cy="2195807"/>
              </a:xfrm>
            </p:grpSpPr>
            <p:sp>
              <p:nvSpPr>
                <p:cNvPr id="23" name="Freeform: Shape 22">
                  <a:extLst>
                    <a:ext uri="{FF2B5EF4-FFF2-40B4-BE49-F238E27FC236}">
                      <a16:creationId xmlns:a16="http://schemas.microsoft.com/office/drawing/2014/main" xmlns="" id="{C8F0A65D-71C4-4E47-B136-8DDC932AE4B1}"/>
                    </a:ext>
                  </a:extLst>
                </p:cNvPr>
                <p:cNvSpPr/>
                <p:nvPr/>
              </p:nvSpPr>
              <p:spPr>
                <a:xfrm>
                  <a:off x="1604865" y="2808514"/>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xmlns="" id="{79D0CF4F-01EF-48D7-9C0F-D254DBE3AA50}"/>
                    </a:ext>
                  </a:extLst>
                </p:cNvPr>
                <p:cNvSpPr/>
                <p:nvPr/>
              </p:nvSpPr>
              <p:spPr>
                <a:xfrm>
                  <a:off x="2351314" y="285516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xmlns="" id="{4F931073-03A1-43BC-958F-8D3ACC934818}"/>
                    </a:ext>
                  </a:extLst>
                </p:cNvPr>
                <p:cNvSpPr/>
                <p:nvPr/>
              </p:nvSpPr>
              <p:spPr>
                <a:xfrm>
                  <a:off x="3102427" y="2855160"/>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xmlns="" id="{AB4DA8AD-AEEE-4A23-86E2-D6D25325E8CC}"/>
                    </a:ext>
                  </a:extLst>
                </p:cNvPr>
                <p:cNvSpPr/>
                <p:nvPr/>
              </p:nvSpPr>
              <p:spPr>
                <a:xfrm>
                  <a:off x="3833326" y="288004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xmlns="" id="{99870CBD-C661-4E9C-9DCB-9F6EAB67ECF3}"/>
                    </a:ext>
                  </a:extLst>
                </p:cNvPr>
                <p:cNvSpPr/>
                <p:nvPr/>
              </p:nvSpPr>
              <p:spPr>
                <a:xfrm>
                  <a:off x="4579775" y="2880040"/>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xmlns="" id="{FB837619-77C4-4546-9DB8-4C6BA883EEE9}"/>
                    </a:ext>
                  </a:extLst>
                </p:cNvPr>
                <p:cNvSpPr/>
                <p:nvPr/>
              </p:nvSpPr>
              <p:spPr>
                <a:xfrm>
                  <a:off x="5321558" y="289559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xmlns="" id="{308B466D-FC57-492A-AF2D-DC9CD466CC49}"/>
                    </a:ext>
                  </a:extLst>
                </p:cNvPr>
                <p:cNvSpPr/>
                <p:nvPr/>
              </p:nvSpPr>
              <p:spPr>
                <a:xfrm>
                  <a:off x="6057123" y="2911142"/>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xmlns="" id="{A546EA88-A36C-4EF6-89C8-938D2840787C}"/>
                    </a:ext>
                  </a:extLst>
                </p:cNvPr>
                <p:cNvSpPr/>
                <p:nvPr/>
              </p:nvSpPr>
              <p:spPr>
                <a:xfrm>
                  <a:off x="6788022" y="2942244"/>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5" name="Straight Connector 34">
                <a:extLst>
                  <a:ext uri="{FF2B5EF4-FFF2-40B4-BE49-F238E27FC236}">
                    <a16:creationId xmlns:a16="http://schemas.microsoft.com/office/drawing/2014/main" xmlns="" id="{0ED55AEC-B9EE-45C8-8C6F-CA76D4F5B3B7}"/>
                  </a:ext>
                </a:extLst>
              </p:cNvPr>
              <p:cNvCxnSpPr>
                <a:cxnSpLocks/>
              </p:cNvCxnSpPr>
              <p:nvPr/>
            </p:nvCxnSpPr>
            <p:spPr>
              <a:xfrm>
                <a:off x="2131654" y="2457831"/>
                <a:ext cx="9998" cy="2192573"/>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2D697F09-6582-4141-A0B9-2163C04FC0D6}"/>
                  </a:ext>
                </a:extLst>
              </p:cNvPr>
              <p:cNvCxnSpPr>
                <a:cxnSpLocks/>
              </p:cNvCxnSpPr>
              <p:nvPr/>
            </p:nvCxnSpPr>
            <p:spPr>
              <a:xfrm>
                <a:off x="6864923" y="2693350"/>
                <a:ext cx="31026" cy="1868434"/>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xmlns="" id="{D17E2600-A219-4B3E-9079-6685ACA97D0D}"/>
                  </a:ext>
                </a:extLst>
              </p:cNvPr>
              <p:cNvCxnSpPr>
                <a:cxnSpLocks/>
              </p:cNvCxnSpPr>
              <p:nvPr/>
            </p:nvCxnSpPr>
            <p:spPr>
              <a:xfrm>
                <a:off x="1613212" y="4631738"/>
                <a:ext cx="513644"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xmlns="" id="{E7F55778-F3E8-455A-98D2-3D6C3E88D3A1}"/>
                  </a:ext>
                </a:extLst>
              </p:cNvPr>
              <p:cNvCxnSpPr>
                <a:cxnSpLocks/>
              </p:cNvCxnSpPr>
              <p:nvPr/>
            </p:nvCxnSpPr>
            <p:spPr>
              <a:xfrm>
                <a:off x="2141652" y="4631738"/>
                <a:ext cx="4702786"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xmlns="" id="{6BCAD16A-7FEE-466A-B43F-6EA786B5407C}"/>
                  </a:ext>
                </a:extLst>
              </p:cNvPr>
              <p:cNvSpPr txBox="1"/>
              <p:nvPr/>
            </p:nvSpPr>
            <p:spPr>
              <a:xfrm>
                <a:off x="4353674" y="4548469"/>
                <a:ext cx="587418" cy="461665"/>
              </a:xfrm>
              <a:prstGeom prst="rect">
                <a:avLst/>
              </a:prstGeom>
              <a:noFill/>
            </p:spPr>
            <p:txBody>
              <a:bodyPr wrap="square" rtlCol="0">
                <a:spAutoFit/>
              </a:bodyPr>
              <a:lstStyle/>
              <a:p>
                <a:r>
                  <a:rPr lang="en-US" i="1" dirty="0"/>
                  <a:t>T</a:t>
                </a:r>
                <a:r>
                  <a:rPr lang="en-US" i="1" baseline="-25000" dirty="0"/>
                  <a:t>S</a:t>
                </a:r>
              </a:p>
            </p:txBody>
          </p:sp>
          <p:sp>
            <p:nvSpPr>
              <p:cNvPr id="46" name="TextBox 45">
                <a:extLst>
                  <a:ext uri="{FF2B5EF4-FFF2-40B4-BE49-F238E27FC236}">
                    <a16:creationId xmlns:a16="http://schemas.microsoft.com/office/drawing/2014/main" xmlns="" id="{697E31D8-5DF2-4B51-AABB-D984A98DAE4F}"/>
                  </a:ext>
                </a:extLst>
              </p:cNvPr>
              <p:cNvSpPr txBox="1"/>
              <p:nvPr/>
            </p:nvSpPr>
            <p:spPr>
              <a:xfrm>
                <a:off x="1663776" y="4635533"/>
                <a:ext cx="587418" cy="461665"/>
              </a:xfrm>
              <a:prstGeom prst="rect">
                <a:avLst/>
              </a:prstGeom>
              <a:noFill/>
            </p:spPr>
            <p:txBody>
              <a:bodyPr wrap="square" rtlCol="0">
                <a:spAutoFit/>
              </a:bodyPr>
              <a:lstStyle/>
              <a:p>
                <a:r>
                  <a:rPr lang="en-US" i="1" dirty="0"/>
                  <a:t>T</a:t>
                </a:r>
                <a:r>
                  <a:rPr lang="en-US" i="1" baseline="-25000" dirty="0"/>
                  <a:t>G</a:t>
                </a:r>
              </a:p>
            </p:txBody>
          </p:sp>
        </p:grpSp>
        <p:cxnSp>
          <p:nvCxnSpPr>
            <p:cNvPr id="83" name="Straight Arrow Connector 82">
              <a:extLst>
                <a:ext uri="{FF2B5EF4-FFF2-40B4-BE49-F238E27FC236}">
                  <a16:creationId xmlns:a16="http://schemas.microsoft.com/office/drawing/2014/main" xmlns="" id="{713CE864-F4DC-448E-8B94-640D73B66070}"/>
                </a:ext>
              </a:extLst>
            </p:cNvPr>
            <p:cNvCxnSpPr>
              <a:cxnSpLocks/>
              <a:stCxn id="16" idx="1"/>
              <a:endCxn id="85" idx="1"/>
            </p:cNvCxnSpPr>
            <p:nvPr/>
          </p:nvCxnSpPr>
          <p:spPr>
            <a:xfrm flipV="1">
              <a:off x="3967423" y="1965227"/>
              <a:ext cx="585746" cy="3587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xmlns="" id="{2C47D0D3-E2AD-47D9-937D-362907523FB2}"/>
                </a:ext>
              </a:extLst>
            </p:cNvPr>
            <p:cNvSpPr txBox="1"/>
            <p:nvPr/>
          </p:nvSpPr>
          <p:spPr>
            <a:xfrm>
              <a:off x="4553169" y="1811338"/>
              <a:ext cx="699445" cy="307777"/>
            </a:xfrm>
            <a:prstGeom prst="rect">
              <a:avLst/>
            </a:prstGeom>
            <a:noFill/>
          </p:spPr>
          <p:txBody>
            <a:bodyPr wrap="square" rtlCol="0">
              <a:spAutoFit/>
            </a:bodyPr>
            <a:lstStyle/>
            <a:p>
              <a:r>
                <a:rPr lang="en-US" sz="1400" dirty="0"/>
                <a:t>Path-1</a:t>
              </a:r>
            </a:p>
          </p:txBody>
        </p:sp>
        <p:cxnSp>
          <p:nvCxnSpPr>
            <p:cNvPr id="86" name="Straight Arrow Connector 85">
              <a:extLst>
                <a:ext uri="{FF2B5EF4-FFF2-40B4-BE49-F238E27FC236}">
                  <a16:creationId xmlns:a16="http://schemas.microsoft.com/office/drawing/2014/main" xmlns="" id="{78019C9D-B060-4272-AF70-90E73EB851EA}"/>
                </a:ext>
              </a:extLst>
            </p:cNvPr>
            <p:cNvCxnSpPr/>
            <p:nvPr/>
          </p:nvCxnSpPr>
          <p:spPr>
            <a:xfrm flipV="1">
              <a:off x="5519833" y="2097190"/>
              <a:ext cx="553845" cy="3319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xmlns="" id="{B06869EA-CAD3-42FA-AD21-E3F3D4517D3F}"/>
                </a:ext>
              </a:extLst>
            </p:cNvPr>
            <p:cNvSpPr txBox="1"/>
            <p:nvPr/>
          </p:nvSpPr>
          <p:spPr>
            <a:xfrm>
              <a:off x="6044194" y="1850873"/>
              <a:ext cx="699445" cy="307777"/>
            </a:xfrm>
            <a:prstGeom prst="rect">
              <a:avLst/>
            </a:prstGeom>
            <a:noFill/>
          </p:spPr>
          <p:txBody>
            <a:bodyPr wrap="square" rtlCol="0">
              <a:spAutoFit/>
            </a:bodyPr>
            <a:lstStyle/>
            <a:p>
              <a:r>
                <a:rPr lang="en-US" sz="1400" dirty="0"/>
                <a:t>Path-2</a:t>
              </a:r>
            </a:p>
          </p:txBody>
        </p:sp>
      </p:grpSp>
      <p:grpSp>
        <p:nvGrpSpPr>
          <p:cNvPr id="91" name="Group 90">
            <a:extLst>
              <a:ext uri="{FF2B5EF4-FFF2-40B4-BE49-F238E27FC236}">
                <a16:creationId xmlns:a16="http://schemas.microsoft.com/office/drawing/2014/main" xmlns="" id="{EBD2F16E-FDEF-4C1D-80D3-CDED92D83E8D}"/>
              </a:ext>
            </a:extLst>
          </p:cNvPr>
          <p:cNvGrpSpPr/>
          <p:nvPr/>
        </p:nvGrpSpPr>
        <p:grpSpPr>
          <a:xfrm>
            <a:off x="1496527" y="4775468"/>
            <a:ext cx="5946860" cy="1900585"/>
            <a:chOff x="1718873" y="4143248"/>
            <a:chExt cx="5946860" cy="1900585"/>
          </a:xfrm>
        </p:grpSpPr>
        <p:cxnSp>
          <p:nvCxnSpPr>
            <p:cNvPr id="55" name="Straight Arrow Connector 54">
              <a:extLst>
                <a:ext uri="{FF2B5EF4-FFF2-40B4-BE49-F238E27FC236}">
                  <a16:creationId xmlns:a16="http://schemas.microsoft.com/office/drawing/2014/main" xmlns="" id="{8D3DF153-1653-40C7-873B-B26578179CD2}"/>
                </a:ext>
              </a:extLst>
            </p:cNvPr>
            <p:cNvCxnSpPr>
              <a:cxnSpLocks/>
            </p:cNvCxnSpPr>
            <p:nvPr/>
          </p:nvCxnSpPr>
          <p:spPr>
            <a:xfrm>
              <a:off x="1718873" y="5018931"/>
              <a:ext cx="5792175" cy="1"/>
            </a:xfrm>
            <a:prstGeom prst="straightConnector1">
              <a:avLst/>
            </a:prstGeom>
            <a:ln w="38100">
              <a:solidFill>
                <a:srgbClr val="FF6600"/>
              </a:solidFill>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xmlns="" id="{3B9ED1D8-586C-488E-9376-1472EC0CEA4E}"/>
                </a:ext>
              </a:extLst>
            </p:cNvPr>
            <p:cNvGrpSpPr/>
            <p:nvPr/>
          </p:nvGrpSpPr>
          <p:grpSpPr>
            <a:xfrm>
              <a:off x="2009366" y="4284233"/>
              <a:ext cx="5656367" cy="1759600"/>
              <a:chOff x="1948431" y="4412599"/>
              <a:chExt cx="5275710" cy="2328610"/>
            </a:xfrm>
          </p:grpSpPr>
          <p:grpSp>
            <p:nvGrpSpPr>
              <p:cNvPr id="58" name="Group 57">
                <a:extLst>
                  <a:ext uri="{FF2B5EF4-FFF2-40B4-BE49-F238E27FC236}">
                    <a16:creationId xmlns:a16="http://schemas.microsoft.com/office/drawing/2014/main" xmlns="" id="{F5AD92BD-EF7A-436A-813E-2FE469B649C2}"/>
                  </a:ext>
                </a:extLst>
              </p:cNvPr>
              <p:cNvGrpSpPr/>
              <p:nvPr/>
            </p:nvGrpSpPr>
            <p:grpSpPr>
              <a:xfrm>
                <a:off x="2425196" y="4600372"/>
                <a:ext cx="4798945" cy="1552730"/>
                <a:chOff x="2351314" y="2855160"/>
                <a:chExt cx="5183157" cy="2149161"/>
              </a:xfrm>
            </p:grpSpPr>
            <p:sp>
              <p:nvSpPr>
                <p:cNvPr id="66" name="Freeform: Shape 65">
                  <a:extLst>
                    <a:ext uri="{FF2B5EF4-FFF2-40B4-BE49-F238E27FC236}">
                      <a16:creationId xmlns:a16="http://schemas.microsoft.com/office/drawing/2014/main" xmlns="" id="{0DBE259F-5ADD-449F-A67E-3C5F0D4C298E}"/>
                    </a:ext>
                  </a:extLst>
                </p:cNvPr>
                <p:cNvSpPr/>
                <p:nvPr/>
              </p:nvSpPr>
              <p:spPr>
                <a:xfrm>
                  <a:off x="2351314" y="285516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xmlns="" id="{46E46EE7-DC3B-40B3-A3E4-F72B370D3448}"/>
                    </a:ext>
                  </a:extLst>
                </p:cNvPr>
                <p:cNvSpPr/>
                <p:nvPr/>
              </p:nvSpPr>
              <p:spPr>
                <a:xfrm>
                  <a:off x="3102427" y="2855160"/>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xmlns="" id="{F2F72007-E33E-46FF-8DB8-8CBF71432BCF}"/>
                    </a:ext>
                  </a:extLst>
                </p:cNvPr>
                <p:cNvSpPr/>
                <p:nvPr/>
              </p:nvSpPr>
              <p:spPr>
                <a:xfrm>
                  <a:off x="3833326" y="288004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Shape 68">
                  <a:extLst>
                    <a:ext uri="{FF2B5EF4-FFF2-40B4-BE49-F238E27FC236}">
                      <a16:creationId xmlns:a16="http://schemas.microsoft.com/office/drawing/2014/main" xmlns="" id="{652C7E8C-67CE-4A9B-8D2E-2AE1D3243821}"/>
                    </a:ext>
                  </a:extLst>
                </p:cNvPr>
                <p:cNvSpPr/>
                <p:nvPr/>
              </p:nvSpPr>
              <p:spPr>
                <a:xfrm>
                  <a:off x="4579775" y="2880040"/>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Shape 69">
                  <a:extLst>
                    <a:ext uri="{FF2B5EF4-FFF2-40B4-BE49-F238E27FC236}">
                      <a16:creationId xmlns:a16="http://schemas.microsoft.com/office/drawing/2014/main" xmlns="" id="{35962398-B836-41C6-AC31-680719D71A22}"/>
                    </a:ext>
                  </a:extLst>
                </p:cNvPr>
                <p:cNvSpPr/>
                <p:nvPr/>
              </p:nvSpPr>
              <p:spPr>
                <a:xfrm>
                  <a:off x="5321558" y="2895591"/>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Shape 70">
                  <a:extLst>
                    <a:ext uri="{FF2B5EF4-FFF2-40B4-BE49-F238E27FC236}">
                      <a16:creationId xmlns:a16="http://schemas.microsoft.com/office/drawing/2014/main" xmlns="" id="{5DCCEDB5-001F-44F2-BACD-8270DCD1B160}"/>
                    </a:ext>
                  </a:extLst>
                </p:cNvPr>
                <p:cNvSpPr/>
                <p:nvPr/>
              </p:nvSpPr>
              <p:spPr>
                <a:xfrm>
                  <a:off x="6057123" y="2911142"/>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Shape 71">
                  <a:extLst>
                    <a:ext uri="{FF2B5EF4-FFF2-40B4-BE49-F238E27FC236}">
                      <a16:creationId xmlns:a16="http://schemas.microsoft.com/office/drawing/2014/main" xmlns="" id="{B5F0750E-139B-4037-A7E6-49188B8928CF}"/>
                    </a:ext>
                  </a:extLst>
                </p:cNvPr>
                <p:cNvSpPr/>
                <p:nvPr/>
              </p:nvSpPr>
              <p:spPr>
                <a:xfrm>
                  <a:off x="6788022" y="2942244"/>
                  <a:ext cx="746449" cy="2062077"/>
                </a:xfrm>
                <a:custGeom>
                  <a:avLst/>
                  <a:gdLst>
                    <a:gd name="connsiteX0" fmla="*/ 0 w 746449"/>
                    <a:gd name="connsiteY0" fmla="*/ 1073021 h 2062077"/>
                    <a:gd name="connsiteX1" fmla="*/ 167951 w 746449"/>
                    <a:gd name="connsiteY1" fmla="*/ 0 h 2062077"/>
                    <a:gd name="connsiteX2" fmla="*/ 354564 w 746449"/>
                    <a:gd name="connsiteY2" fmla="*/ 1073021 h 2062077"/>
                    <a:gd name="connsiteX3" fmla="*/ 606490 w 746449"/>
                    <a:gd name="connsiteY3" fmla="*/ 2062066 h 2062077"/>
                    <a:gd name="connsiteX4" fmla="*/ 746449 w 746449"/>
                    <a:gd name="connsiteY4" fmla="*/ 1054359 h 2062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6449" h="2062077">
                      <a:moveTo>
                        <a:pt x="0" y="1073021"/>
                      </a:moveTo>
                      <a:cubicBezTo>
                        <a:pt x="54428" y="536510"/>
                        <a:pt x="108857" y="0"/>
                        <a:pt x="167951" y="0"/>
                      </a:cubicBezTo>
                      <a:cubicBezTo>
                        <a:pt x="227045" y="0"/>
                        <a:pt x="281474" y="729343"/>
                        <a:pt x="354564" y="1073021"/>
                      </a:cubicBezTo>
                      <a:cubicBezTo>
                        <a:pt x="427654" y="1416699"/>
                        <a:pt x="541176" y="2065176"/>
                        <a:pt x="606490" y="2062066"/>
                      </a:cubicBezTo>
                      <a:cubicBezTo>
                        <a:pt x="671804" y="2058956"/>
                        <a:pt x="710682" y="1362269"/>
                        <a:pt x="746449" y="1054359"/>
                      </a:cubicBez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9" name="Straight Connector 58">
                <a:extLst>
                  <a:ext uri="{FF2B5EF4-FFF2-40B4-BE49-F238E27FC236}">
                    <a16:creationId xmlns:a16="http://schemas.microsoft.com/office/drawing/2014/main" xmlns="" id="{A28C937E-3BC9-47D0-AF39-A3ABF50E6777}"/>
                  </a:ext>
                </a:extLst>
              </p:cNvPr>
              <p:cNvCxnSpPr>
                <a:cxnSpLocks/>
              </p:cNvCxnSpPr>
              <p:nvPr/>
            </p:nvCxnSpPr>
            <p:spPr>
              <a:xfrm>
                <a:off x="2394983" y="4548636"/>
                <a:ext cx="9998" cy="2192573"/>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xmlns="" id="{DDAD6865-7FFA-427E-8C33-67DE78FF6359}"/>
                  </a:ext>
                </a:extLst>
              </p:cNvPr>
              <p:cNvCxnSpPr>
                <a:cxnSpLocks/>
              </p:cNvCxnSpPr>
              <p:nvPr/>
            </p:nvCxnSpPr>
            <p:spPr>
              <a:xfrm>
                <a:off x="6671702" y="4412599"/>
                <a:ext cx="31026" cy="1868434"/>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xmlns="" id="{CE7A1613-7578-4DE1-B0BA-2CE8F543FEF1}"/>
                  </a:ext>
                </a:extLst>
              </p:cNvPr>
              <p:cNvCxnSpPr>
                <a:cxnSpLocks/>
              </p:cNvCxnSpPr>
              <p:nvPr/>
            </p:nvCxnSpPr>
            <p:spPr>
              <a:xfrm>
                <a:off x="1948431" y="6350987"/>
                <a:ext cx="4702786"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xmlns="" id="{C843DE8A-9E77-45AD-BD7D-3D0DB198C5D6}"/>
                  </a:ext>
                </a:extLst>
              </p:cNvPr>
              <p:cNvSpPr txBox="1"/>
              <p:nvPr/>
            </p:nvSpPr>
            <p:spPr>
              <a:xfrm>
                <a:off x="4160453" y="6267718"/>
                <a:ext cx="587418" cy="461665"/>
              </a:xfrm>
              <a:prstGeom prst="rect">
                <a:avLst/>
              </a:prstGeom>
              <a:noFill/>
            </p:spPr>
            <p:txBody>
              <a:bodyPr wrap="square" rtlCol="0">
                <a:spAutoFit/>
              </a:bodyPr>
              <a:lstStyle/>
              <a:p>
                <a:r>
                  <a:rPr lang="en-US" i="1" dirty="0"/>
                  <a:t>T</a:t>
                </a:r>
                <a:r>
                  <a:rPr lang="en-US" i="1" baseline="-25000" dirty="0"/>
                  <a:t>S</a:t>
                </a:r>
              </a:p>
            </p:txBody>
          </p:sp>
        </p:grpSp>
        <p:sp>
          <p:nvSpPr>
            <p:cNvPr id="89" name="TextBox 88">
              <a:extLst>
                <a:ext uri="{FF2B5EF4-FFF2-40B4-BE49-F238E27FC236}">
                  <a16:creationId xmlns:a16="http://schemas.microsoft.com/office/drawing/2014/main" xmlns="" id="{BA6F8E40-7998-4CA5-A7E6-7652F7F781B7}"/>
                </a:ext>
              </a:extLst>
            </p:cNvPr>
            <p:cNvSpPr txBox="1"/>
            <p:nvPr/>
          </p:nvSpPr>
          <p:spPr>
            <a:xfrm>
              <a:off x="5496473" y="4143248"/>
              <a:ext cx="1480822" cy="338554"/>
            </a:xfrm>
            <a:prstGeom prst="rect">
              <a:avLst/>
            </a:prstGeom>
            <a:noFill/>
          </p:spPr>
          <p:txBody>
            <a:bodyPr wrap="square" rtlCol="0">
              <a:spAutoFit/>
            </a:bodyPr>
            <a:lstStyle/>
            <a:p>
              <a:r>
                <a:rPr lang="en-US" sz="1600" dirty="0"/>
                <a:t>Superposition</a:t>
              </a:r>
            </a:p>
          </p:txBody>
        </p:sp>
      </p:grpSp>
    </p:spTree>
    <p:extLst>
      <p:ext uri="{BB962C8B-B14F-4D97-AF65-F5344CB8AC3E}">
        <p14:creationId xmlns:p14="http://schemas.microsoft.com/office/powerpoint/2010/main" val="33958022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709D509B-474C-4E2A-8473-2CF298091A2F}"/>
              </a:ext>
            </a:extLst>
          </p:cNvPr>
          <p:cNvSpPr>
            <a:spLocks noGrp="1"/>
          </p:cNvSpPr>
          <p:nvPr>
            <p:ph type="sldNum" sz="quarter" idx="12"/>
          </p:nvPr>
        </p:nvSpPr>
        <p:spPr/>
        <p:txBody>
          <a:bodyPr/>
          <a:lstStyle/>
          <a:p>
            <a:pPr>
              <a:defRPr/>
            </a:pPr>
            <a:fld id="{4238FF85-7D5F-4211-AF5F-B3F85F4FE643}" type="slidenum">
              <a:rPr lang="en-US" smtClean="0"/>
              <a:pPr>
                <a:defRPr/>
              </a:pPr>
              <a:t>70</a:t>
            </a:fld>
            <a:endParaRPr lang="en-US"/>
          </a:p>
        </p:txBody>
      </p:sp>
      <p:sp>
        <p:nvSpPr>
          <p:cNvPr id="5" name="Rectangle 4">
            <a:extLst>
              <a:ext uri="{FF2B5EF4-FFF2-40B4-BE49-F238E27FC236}">
                <a16:creationId xmlns:a16="http://schemas.microsoft.com/office/drawing/2014/main" xmlns="" id="{AF5E1E7B-F521-498A-A35F-DD955CBD4DE8}"/>
              </a:ext>
            </a:extLst>
          </p:cNvPr>
          <p:cNvSpPr/>
          <p:nvPr/>
        </p:nvSpPr>
        <p:spPr>
          <a:xfrm>
            <a:off x="13116" y="147911"/>
            <a:ext cx="9054684" cy="3046988"/>
          </a:xfrm>
          <a:prstGeom prst="rect">
            <a:avLst/>
          </a:prstGeom>
        </p:spPr>
        <p:txBody>
          <a:bodyPr wrap="square">
            <a:spAutoFit/>
          </a:bodyPr>
          <a:lstStyle/>
          <a:p>
            <a:pPr marL="342900" indent="-342900" algn="just">
              <a:buFont typeface="Wingdings" panose="05000000000000000000" pitchFamily="2" charset="2"/>
              <a:buChar char="ü"/>
            </a:pPr>
            <a:r>
              <a:rPr lang="en-US" dirty="0"/>
              <a:t>In CP tail of the wave (one or more cycle) is copied on the head of the wave for each symbol then the length of wave against each symbol is extended (</a:t>
            </a:r>
            <a:r>
              <a:rPr lang="en-US" i="1" dirty="0"/>
              <a:t>T</a:t>
            </a:r>
            <a:r>
              <a:rPr lang="en-US" i="1" baseline="-25000" dirty="0"/>
              <a:t>G</a:t>
            </a:r>
            <a:r>
              <a:rPr lang="en-US" dirty="0"/>
              <a:t>+</a:t>
            </a:r>
            <a:r>
              <a:rPr lang="en-US" i="1" dirty="0"/>
              <a:t>T</a:t>
            </a:r>
            <a:r>
              <a:rPr lang="en-US" i="1" baseline="-25000" dirty="0"/>
              <a:t>S</a:t>
            </a:r>
            <a:r>
              <a:rPr lang="en-US" dirty="0"/>
              <a:t>) but the range of linear distortion becomes equal to the width of symbol (</a:t>
            </a:r>
            <a:r>
              <a:rPr lang="en-US" i="1" dirty="0"/>
              <a:t>T</a:t>
            </a:r>
            <a:r>
              <a:rPr lang="en-US" i="1" baseline="-25000" dirty="0"/>
              <a:t>S</a:t>
            </a:r>
            <a:r>
              <a:rPr lang="en-US" dirty="0"/>
              <a:t>) of 7 cycles. The phenomenon is shown in next slide. </a:t>
            </a:r>
          </a:p>
          <a:p>
            <a:pPr marL="342900" indent="-342900" algn="just">
              <a:buFont typeface="Wingdings" panose="05000000000000000000" pitchFamily="2" charset="2"/>
              <a:buChar char="ü"/>
            </a:pPr>
            <a:r>
              <a:rPr lang="en-US" dirty="0"/>
              <a:t>Now the length of discontinuous part becomes less significant compared to continuous part of previous case, the receiver becomes less panelized in detection of symbol. </a:t>
            </a:r>
          </a:p>
        </p:txBody>
      </p:sp>
      <p:grpSp>
        <p:nvGrpSpPr>
          <p:cNvPr id="69" name="Group 68">
            <a:extLst>
              <a:ext uri="{FF2B5EF4-FFF2-40B4-BE49-F238E27FC236}">
                <a16:creationId xmlns:a16="http://schemas.microsoft.com/office/drawing/2014/main" xmlns="" id="{B02E19DC-3FA5-410A-B131-93D64B8A5123}"/>
              </a:ext>
            </a:extLst>
          </p:cNvPr>
          <p:cNvGrpSpPr/>
          <p:nvPr/>
        </p:nvGrpSpPr>
        <p:grpSpPr>
          <a:xfrm>
            <a:off x="540288" y="3429000"/>
            <a:ext cx="8305800" cy="3359036"/>
            <a:chOff x="685800" y="1891446"/>
            <a:chExt cx="8305800" cy="3359036"/>
          </a:xfrm>
        </p:grpSpPr>
        <p:sp>
          <p:nvSpPr>
            <p:cNvPr id="16" name="TextBox 15">
              <a:extLst>
                <a:ext uri="{FF2B5EF4-FFF2-40B4-BE49-F238E27FC236}">
                  <a16:creationId xmlns:a16="http://schemas.microsoft.com/office/drawing/2014/main" xmlns="" id="{192D91FB-10C2-41D6-B4F1-866397D14D0D}"/>
                </a:ext>
              </a:extLst>
            </p:cNvPr>
            <p:cNvSpPr txBox="1"/>
            <p:nvPr/>
          </p:nvSpPr>
          <p:spPr>
            <a:xfrm>
              <a:off x="1169101" y="4711516"/>
              <a:ext cx="1803111" cy="538966"/>
            </a:xfrm>
            <a:prstGeom prst="rect">
              <a:avLst/>
            </a:prstGeom>
            <a:noFill/>
          </p:spPr>
          <p:txBody>
            <a:bodyPr wrap="square" rtlCol="0">
              <a:spAutoFit/>
            </a:bodyPr>
            <a:lstStyle/>
            <a:p>
              <a:r>
                <a:rPr lang="en-US" sz="1200" dirty="0"/>
                <a:t>Range of linear distortion</a:t>
              </a:r>
            </a:p>
          </p:txBody>
        </p:sp>
        <p:sp>
          <p:nvSpPr>
            <p:cNvPr id="20" name="TextBox 19">
              <a:extLst>
                <a:ext uri="{FF2B5EF4-FFF2-40B4-BE49-F238E27FC236}">
                  <a16:creationId xmlns:a16="http://schemas.microsoft.com/office/drawing/2014/main" xmlns="" id="{3A247A88-397D-4F94-9A6A-B036EB839082}"/>
                </a:ext>
              </a:extLst>
            </p:cNvPr>
            <p:cNvSpPr txBox="1"/>
            <p:nvPr/>
          </p:nvSpPr>
          <p:spPr>
            <a:xfrm>
              <a:off x="3905271" y="4636972"/>
              <a:ext cx="1803111" cy="538966"/>
            </a:xfrm>
            <a:prstGeom prst="rect">
              <a:avLst/>
            </a:prstGeom>
            <a:noFill/>
          </p:spPr>
          <p:txBody>
            <a:bodyPr wrap="square" rtlCol="0">
              <a:spAutoFit/>
            </a:bodyPr>
            <a:lstStyle/>
            <a:p>
              <a:r>
                <a:rPr lang="en-US" sz="1200" dirty="0"/>
                <a:t>Range of linear distortion</a:t>
              </a:r>
            </a:p>
          </p:txBody>
        </p:sp>
        <p:grpSp>
          <p:nvGrpSpPr>
            <p:cNvPr id="63" name="Group 62">
              <a:extLst>
                <a:ext uri="{FF2B5EF4-FFF2-40B4-BE49-F238E27FC236}">
                  <a16:creationId xmlns:a16="http://schemas.microsoft.com/office/drawing/2014/main" xmlns="" id="{7B814C71-31A7-4D7D-8A93-32295A6D93B5}"/>
                </a:ext>
              </a:extLst>
            </p:cNvPr>
            <p:cNvGrpSpPr/>
            <p:nvPr/>
          </p:nvGrpSpPr>
          <p:grpSpPr>
            <a:xfrm>
              <a:off x="685800" y="2273422"/>
              <a:ext cx="8305800" cy="2606311"/>
              <a:chOff x="363257" y="2262128"/>
              <a:chExt cx="8305800" cy="2606311"/>
            </a:xfrm>
          </p:grpSpPr>
          <p:sp>
            <p:nvSpPr>
              <p:cNvPr id="34" name="Freeform: Shape 33">
                <a:extLst>
                  <a:ext uri="{FF2B5EF4-FFF2-40B4-BE49-F238E27FC236}">
                    <a16:creationId xmlns:a16="http://schemas.microsoft.com/office/drawing/2014/main" xmlns="" id="{CA4BC474-E1B2-4E7F-80D4-4C8F867E6AB4}"/>
                  </a:ext>
                </a:extLst>
              </p:cNvPr>
              <p:cNvSpPr/>
              <p:nvPr/>
            </p:nvSpPr>
            <p:spPr>
              <a:xfrm rot="10800000">
                <a:off x="3412603" y="2471829"/>
                <a:ext cx="2071361" cy="680917"/>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5" name="Freeform: Shape 34">
                <a:extLst>
                  <a:ext uri="{FF2B5EF4-FFF2-40B4-BE49-F238E27FC236}">
                    <a16:creationId xmlns:a16="http://schemas.microsoft.com/office/drawing/2014/main" xmlns="" id="{817D979E-CF28-4D82-9B14-F66A885452B8}"/>
                  </a:ext>
                </a:extLst>
              </p:cNvPr>
              <p:cNvSpPr/>
              <p:nvPr/>
            </p:nvSpPr>
            <p:spPr>
              <a:xfrm>
                <a:off x="904305" y="2498597"/>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36" name="Straight Arrow Connector 35">
                <a:extLst>
                  <a:ext uri="{FF2B5EF4-FFF2-40B4-BE49-F238E27FC236}">
                    <a16:creationId xmlns:a16="http://schemas.microsoft.com/office/drawing/2014/main" xmlns="" id="{D8D0809A-2DD7-4FE7-9DFA-AF1BCE5A0DD6}"/>
                  </a:ext>
                </a:extLst>
              </p:cNvPr>
              <p:cNvCxnSpPr>
                <a:cxnSpLocks/>
              </p:cNvCxnSpPr>
              <p:nvPr/>
            </p:nvCxnSpPr>
            <p:spPr>
              <a:xfrm flipV="1">
                <a:off x="501720" y="2291537"/>
                <a:ext cx="0" cy="88797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xmlns="" id="{F29B38ED-E644-4D16-B56A-65287D51028D}"/>
                  </a:ext>
                </a:extLst>
              </p:cNvPr>
              <p:cNvCxnSpPr>
                <a:cxnSpLocks/>
              </p:cNvCxnSpPr>
              <p:nvPr/>
            </p:nvCxnSpPr>
            <p:spPr>
              <a:xfrm>
                <a:off x="363257" y="3323203"/>
                <a:ext cx="7772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xmlns="" id="{DF3D284C-9AD9-4A09-BBFD-B9E048982C6E}"/>
                  </a:ext>
                </a:extLst>
              </p:cNvPr>
              <p:cNvCxnSpPr>
                <a:stCxn id="35" idx="14"/>
              </p:cNvCxnSpPr>
              <p:nvPr/>
            </p:nvCxnSpPr>
            <p:spPr>
              <a:xfrm>
                <a:off x="2988287" y="2502278"/>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32" name="Freeform: Shape 31">
                <a:extLst>
                  <a:ext uri="{FF2B5EF4-FFF2-40B4-BE49-F238E27FC236}">
                    <a16:creationId xmlns:a16="http://schemas.microsoft.com/office/drawing/2014/main" xmlns="" id="{1B05E9B2-14CA-4F4A-A848-B60DB1C39BF6}"/>
                  </a:ext>
                </a:extLst>
              </p:cNvPr>
              <p:cNvSpPr/>
              <p:nvPr/>
            </p:nvSpPr>
            <p:spPr>
              <a:xfrm>
                <a:off x="5885143" y="2395067"/>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33" name="Straight Connector 32">
                <a:extLst>
                  <a:ext uri="{FF2B5EF4-FFF2-40B4-BE49-F238E27FC236}">
                    <a16:creationId xmlns:a16="http://schemas.microsoft.com/office/drawing/2014/main" xmlns="" id="{DA72CDF3-F779-4D16-A7E7-29D190CD9763}"/>
                  </a:ext>
                </a:extLst>
              </p:cNvPr>
              <p:cNvCxnSpPr/>
              <p:nvPr/>
            </p:nvCxnSpPr>
            <p:spPr>
              <a:xfrm>
                <a:off x="5493109" y="2502278"/>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xmlns="" id="{ED2BA8B5-9C50-4DCB-83E7-F14A53AC1EC5}"/>
                  </a:ext>
                </a:extLst>
              </p:cNvPr>
              <p:cNvCxnSpPr/>
              <p:nvPr/>
            </p:nvCxnSpPr>
            <p:spPr>
              <a:xfrm>
                <a:off x="798872" y="2262128"/>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86BB1416-1154-4352-BF6C-3687B7AF3E15}"/>
                  </a:ext>
                </a:extLst>
              </p:cNvPr>
              <p:cNvCxnSpPr/>
              <p:nvPr/>
            </p:nvCxnSpPr>
            <p:spPr>
              <a:xfrm>
                <a:off x="2987680" y="2324856"/>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xmlns="" id="{A28F3BB4-AD9E-4189-B3E3-3F5694D77D58}"/>
                  </a:ext>
                </a:extLst>
              </p:cNvPr>
              <p:cNvCxnSpPr/>
              <p:nvPr/>
            </p:nvCxnSpPr>
            <p:spPr>
              <a:xfrm>
                <a:off x="3290810" y="2324856"/>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15B0AC26-BA4F-498A-BF0A-50D8619CA25C}"/>
                  </a:ext>
                </a:extLst>
              </p:cNvPr>
              <p:cNvCxnSpPr/>
              <p:nvPr/>
            </p:nvCxnSpPr>
            <p:spPr>
              <a:xfrm>
                <a:off x="5493109" y="2417102"/>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xmlns="" id="{5E1D17A6-B743-45A5-88B5-FA63123BF884}"/>
                  </a:ext>
                </a:extLst>
              </p:cNvPr>
              <p:cNvSpPr txBox="1"/>
              <p:nvPr/>
            </p:nvSpPr>
            <p:spPr>
              <a:xfrm>
                <a:off x="3923981" y="4253565"/>
                <a:ext cx="807730" cy="323379"/>
              </a:xfrm>
              <a:prstGeom prst="rect">
                <a:avLst/>
              </a:prstGeom>
              <a:noFill/>
            </p:spPr>
            <p:txBody>
              <a:bodyPr wrap="square" rtlCol="0">
                <a:spAutoFit/>
              </a:bodyPr>
              <a:lstStyle/>
              <a:p>
                <a:r>
                  <a:rPr lang="en-US" sz="1200" dirty="0"/>
                  <a:t>Path-2</a:t>
                </a:r>
              </a:p>
            </p:txBody>
          </p:sp>
          <p:cxnSp>
            <p:nvCxnSpPr>
              <p:cNvPr id="15" name="Straight Arrow Connector 14">
                <a:extLst>
                  <a:ext uri="{FF2B5EF4-FFF2-40B4-BE49-F238E27FC236}">
                    <a16:creationId xmlns:a16="http://schemas.microsoft.com/office/drawing/2014/main" xmlns="" id="{FF96217A-3910-4215-A6D5-B7079FB7AC76}"/>
                  </a:ext>
                </a:extLst>
              </p:cNvPr>
              <p:cNvCxnSpPr>
                <a:cxnSpLocks/>
              </p:cNvCxnSpPr>
              <p:nvPr/>
            </p:nvCxnSpPr>
            <p:spPr>
              <a:xfrm>
                <a:off x="798872" y="4605494"/>
                <a:ext cx="218237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69B14A0E-6B05-404F-831B-0113253F3B24}"/>
                  </a:ext>
                </a:extLst>
              </p:cNvPr>
              <p:cNvCxnSpPr>
                <a:cxnSpLocks/>
              </p:cNvCxnSpPr>
              <p:nvPr/>
            </p:nvCxnSpPr>
            <p:spPr>
              <a:xfrm>
                <a:off x="3290810" y="4585782"/>
                <a:ext cx="2193154" cy="1971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91E6AF29-547E-49B3-9D92-E8505822B1EC}"/>
                  </a:ext>
                </a:extLst>
              </p:cNvPr>
              <p:cNvCxnSpPr/>
              <p:nvPr/>
            </p:nvCxnSpPr>
            <p:spPr>
              <a:xfrm>
                <a:off x="5803398" y="2324856"/>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xmlns="" id="{D2EB5F24-5CA7-43DD-B48E-AEEF99B60CA2}"/>
                  </a:ext>
                </a:extLst>
              </p:cNvPr>
              <p:cNvSpPr/>
              <p:nvPr/>
            </p:nvSpPr>
            <p:spPr>
              <a:xfrm>
                <a:off x="503273" y="2512578"/>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xmlns="" id="{E3BA9678-976E-4864-9DAA-5FB6300FAFBF}"/>
                  </a:ext>
                </a:extLst>
              </p:cNvPr>
              <p:cNvSpPr/>
              <p:nvPr/>
            </p:nvSpPr>
            <p:spPr>
              <a:xfrm>
                <a:off x="2975577" y="2476277"/>
                <a:ext cx="429209"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xmlns="" id="{034A0FCA-DF3E-4487-86CE-7205283C396E}"/>
                  </a:ext>
                </a:extLst>
              </p:cNvPr>
              <p:cNvSpPr/>
              <p:nvPr/>
            </p:nvSpPr>
            <p:spPr>
              <a:xfrm>
                <a:off x="5497979" y="2425324"/>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xmlns="" id="{45A47937-4919-4EE6-91C2-7A617FDADDD6}"/>
                  </a:ext>
                </a:extLst>
              </p:cNvPr>
              <p:cNvSpPr/>
              <p:nvPr/>
            </p:nvSpPr>
            <p:spPr>
              <a:xfrm rot="10800000">
                <a:off x="3699660" y="3556873"/>
                <a:ext cx="2071361" cy="680917"/>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46" name="Freeform: Shape 45">
                <a:extLst>
                  <a:ext uri="{FF2B5EF4-FFF2-40B4-BE49-F238E27FC236}">
                    <a16:creationId xmlns:a16="http://schemas.microsoft.com/office/drawing/2014/main" xmlns="" id="{11F82E90-63BC-45B4-84ED-BC70CF22BC40}"/>
                  </a:ext>
                </a:extLst>
              </p:cNvPr>
              <p:cNvSpPr/>
              <p:nvPr/>
            </p:nvSpPr>
            <p:spPr>
              <a:xfrm>
                <a:off x="1191362" y="3583641"/>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47" name="Straight Arrow Connector 46">
                <a:extLst>
                  <a:ext uri="{FF2B5EF4-FFF2-40B4-BE49-F238E27FC236}">
                    <a16:creationId xmlns:a16="http://schemas.microsoft.com/office/drawing/2014/main" xmlns="" id="{04703406-527A-4E91-8B65-9A0BBD9226FA}"/>
                  </a:ext>
                </a:extLst>
              </p:cNvPr>
              <p:cNvCxnSpPr>
                <a:cxnSpLocks/>
              </p:cNvCxnSpPr>
              <p:nvPr/>
            </p:nvCxnSpPr>
            <p:spPr>
              <a:xfrm flipV="1">
                <a:off x="802052" y="3376581"/>
                <a:ext cx="0" cy="88797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xmlns="" id="{A234631C-2B46-49A4-B6C6-EF45740D7171}"/>
                  </a:ext>
                </a:extLst>
              </p:cNvPr>
              <p:cNvCxnSpPr>
                <a:cxnSpLocks/>
              </p:cNvCxnSpPr>
              <p:nvPr/>
            </p:nvCxnSpPr>
            <p:spPr>
              <a:xfrm>
                <a:off x="896657" y="3876798"/>
                <a:ext cx="7772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xmlns="" id="{EBC05D91-DDEC-4B59-A036-5E9B59CFFA8B}"/>
                  </a:ext>
                </a:extLst>
              </p:cNvPr>
              <p:cNvCxnSpPr>
                <a:stCxn id="46" idx="14"/>
              </p:cNvCxnSpPr>
              <p:nvPr/>
            </p:nvCxnSpPr>
            <p:spPr>
              <a:xfrm>
                <a:off x="3275344" y="3587322"/>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50" name="Freeform: Shape 49">
                <a:extLst>
                  <a:ext uri="{FF2B5EF4-FFF2-40B4-BE49-F238E27FC236}">
                    <a16:creationId xmlns:a16="http://schemas.microsoft.com/office/drawing/2014/main" xmlns="" id="{28E2D8C6-8689-44F8-A9BC-CF2E51BA18D2}"/>
                  </a:ext>
                </a:extLst>
              </p:cNvPr>
              <p:cNvSpPr/>
              <p:nvPr/>
            </p:nvSpPr>
            <p:spPr>
              <a:xfrm>
                <a:off x="6172200" y="3480111"/>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51" name="Straight Connector 50">
                <a:extLst>
                  <a:ext uri="{FF2B5EF4-FFF2-40B4-BE49-F238E27FC236}">
                    <a16:creationId xmlns:a16="http://schemas.microsoft.com/office/drawing/2014/main" xmlns="" id="{96F03346-407D-493D-B996-68405CD85658}"/>
                  </a:ext>
                </a:extLst>
              </p:cNvPr>
              <p:cNvCxnSpPr/>
              <p:nvPr/>
            </p:nvCxnSpPr>
            <p:spPr>
              <a:xfrm>
                <a:off x="5780166" y="3587322"/>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54" name="Freeform: Shape 53">
                <a:extLst>
                  <a:ext uri="{FF2B5EF4-FFF2-40B4-BE49-F238E27FC236}">
                    <a16:creationId xmlns:a16="http://schemas.microsoft.com/office/drawing/2014/main" xmlns="" id="{B638FCB4-1E34-403D-89A2-301289941AD1}"/>
                  </a:ext>
                </a:extLst>
              </p:cNvPr>
              <p:cNvSpPr/>
              <p:nvPr/>
            </p:nvSpPr>
            <p:spPr>
              <a:xfrm>
                <a:off x="798872" y="3571322"/>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xmlns="" id="{22C475D4-BC99-4B5C-978E-9F58862BD742}"/>
                  </a:ext>
                </a:extLst>
              </p:cNvPr>
              <p:cNvSpPr/>
              <p:nvPr/>
            </p:nvSpPr>
            <p:spPr>
              <a:xfrm>
                <a:off x="3262634" y="3561321"/>
                <a:ext cx="429209"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Shape 55">
                <a:extLst>
                  <a:ext uri="{FF2B5EF4-FFF2-40B4-BE49-F238E27FC236}">
                    <a16:creationId xmlns:a16="http://schemas.microsoft.com/office/drawing/2014/main" xmlns="" id="{FBC044F4-ACDD-48FC-BE54-654C0E182A65}"/>
                  </a:ext>
                </a:extLst>
              </p:cNvPr>
              <p:cNvSpPr/>
              <p:nvPr/>
            </p:nvSpPr>
            <p:spPr>
              <a:xfrm>
                <a:off x="5785036" y="3510368"/>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Shape 58">
                <a:extLst>
                  <a:ext uri="{FF2B5EF4-FFF2-40B4-BE49-F238E27FC236}">
                    <a16:creationId xmlns:a16="http://schemas.microsoft.com/office/drawing/2014/main" xmlns="" id="{0CCAAA8A-3538-4B39-B8EC-5D20CC93ED17}"/>
                  </a:ext>
                </a:extLst>
              </p:cNvPr>
              <p:cNvSpPr/>
              <p:nvPr/>
            </p:nvSpPr>
            <p:spPr>
              <a:xfrm>
                <a:off x="2719776" y="2446975"/>
                <a:ext cx="334840" cy="675156"/>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Shape 59">
                <a:extLst>
                  <a:ext uri="{FF2B5EF4-FFF2-40B4-BE49-F238E27FC236}">
                    <a16:creationId xmlns:a16="http://schemas.microsoft.com/office/drawing/2014/main" xmlns="" id="{7D80B636-7353-4B9B-A1DC-3C68F9E5DED7}"/>
                  </a:ext>
                </a:extLst>
              </p:cNvPr>
              <p:cNvSpPr/>
              <p:nvPr/>
            </p:nvSpPr>
            <p:spPr>
              <a:xfrm>
                <a:off x="3010912" y="3577552"/>
                <a:ext cx="315223" cy="675156"/>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xmlns="" id="{2293AF11-ED93-4E84-85BE-AD396FAF6B35}"/>
                  </a:ext>
                </a:extLst>
              </p:cNvPr>
              <p:cNvSpPr/>
              <p:nvPr/>
            </p:nvSpPr>
            <p:spPr>
              <a:xfrm>
                <a:off x="5114290" y="2413332"/>
                <a:ext cx="406698"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Shape 61">
                <a:extLst>
                  <a:ext uri="{FF2B5EF4-FFF2-40B4-BE49-F238E27FC236}">
                    <a16:creationId xmlns:a16="http://schemas.microsoft.com/office/drawing/2014/main" xmlns="" id="{C2890DB0-2606-4ECD-A57F-DFA9379098F0}"/>
                  </a:ext>
                </a:extLst>
              </p:cNvPr>
              <p:cNvSpPr/>
              <p:nvPr/>
            </p:nvSpPr>
            <p:spPr>
              <a:xfrm>
                <a:off x="5416190" y="3517083"/>
                <a:ext cx="406698"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Freeform: Shape 63">
              <a:extLst>
                <a:ext uri="{FF2B5EF4-FFF2-40B4-BE49-F238E27FC236}">
                  <a16:creationId xmlns:a16="http://schemas.microsoft.com/office/drawing/2014/main" xmlns="" id="{52DEA4BA-4936-4A14-B876-571FBC73D9A0}"/>
                </a:ext>
              </a:extLst>
            </p:cNvPr>
            <p:cNvSpPr/>
            <p:nvPr/>
          </p:nvSpPr>
          <p:spPr>
            <a:xfrm>
              <a:off x="1035698" y="1990529"/>
              <a:ext cx="2202024" cy="528736"/>
            </a:xfrm>
            <a:custGeom>
              <a:avLst/>
              <a:gdLst>
                <a:gd name="connsiteX0" fmla="*/ 2202024 w 2202024"/>
                <a:gd name="connsiteY0" fmla="*/ 472753 h 528736"/>
                <a:gd name="connsiteX1" fmla="*/ 1670180 w 2202024"/>
                <a:gd name="connsiteY1" fmla="*/ 90198 h 528736"/>
                <a:gd name="connsiteX2" fmla="*/ 597159 w 2202024"/>
                <a:gd name="connsiteY2" fmla="*/ 34214 h 528736"/>
                <a:gd name="connsiteX3" fmla="*/ 0 w 2202024"/>
                <a:gd name="connsiteY3" fmla="*/ 528736 h 528736"/>
              </a:gdLst>
              <a:ahLst/>
              <a:cxnLst>
                <a:cxn ang="0">
                  <a:pos x="connsiteX0" y="connsiteY0"/>
                </a:cxn>
                <a:cxn ang="0">
                  <a:pos x="connsiteX1" y="connsiteY1"/>
                </a:cxn>
                <a:cxn ang="0">
                  <a:pos x="connsiteX2" y="connsiteY2"/>
                </a:cxn>
                <a:cxn ang="0">
                  <a:pos x="connsiteX3" y="connsiteY3"/>
                </a:cxn>
              </a:cxnLst>
              <a:rect l="l" t="t" r="r" b="b"/>
              <a:pathLst>
                <a:path w="2202024" h="528736">
                  <a:moveTo>
                    <a:pt x="2202024" y="472753"/>
                  </a:moveTo>
                  <a:cubicBezTo>
                    <a:pt x="2069840" y="318020"/>
                    <a:pt x="1937657" y="163288"/>
                    <a:pt x="1670180" y="90198"/>
                  </a:cubicBezTo>
                  <a:cubicBezTo>
                    <a:pt x="1402702" y="17108"/>
                    <a:pt x="875522" y="-38876"/>
                    <a:pt x="597159" y="34214"/>
                  </a:cubicBezTo>
                  <a:cubicBezTo>
                    <a:pt x="318796" y="107304"/>
                    <a:pt x="159398" y="318020"/>
                    <a:pt x="0" y="528736"/>
                  </a:cubicBezTo>
                </a:path>
              </a:pathLst>
            </a:custGeom>
            <a:noFill/>
            <a:ln w="12700">
              <a:solidFill>
                <a:schemeClr val="tx1"/>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xmlns="" id="{D405655E-E89B-4506-BB65-AC36A0B8195A}"/>
                </a:ext>
              </a:extLst>
            </p:cNvPr>
            <p:cNvSpPr/>
            <p:nvPr/>
          </p:nvSpPr>
          <p:spPr>
            <a:xfrm>
              <a:off x="3491066" y="1891446"/>
              <a:ext cx="2202024" cy="528736"/>
            </a:xfrm>
            <a:custGeom>
              <a:avLst/>
              <a:gdLst>
                <a:gd name="connsiteX0" fmla="*/ 2202024 w 2202024"/>
                <a:gd name="connsiteY0" fmla="*/ 472753 h 528736"/>
                <a:gd name="connsiteX1" fmla="*/ 1670180 w 2202024"/>
                <a:gd name="connsiteY1" fmla="*/ 90198 h 528736"/>
                <a:gd name="connsiteX2" fmla="*/ 597159 w 2202024"/>
                <a:gd name="connsiteY2" fmla="*/ 34214 h 528736"/>
                <a:gd name="connsiteX3" fmla="*/ 0 w 2202024"/>
                <a:gd name="connsiteY3" fmla="*/ 528736 h 528736"/>
              </a:gdLst>
              <a:ahLst/>
              <a:cxnLst>
                <a:cxn ang="0">
                  <a:pos x="connsiteX0" y="connsiteY0"/>
                </a:cxn>
                <a:cxn ang="0">
                  <a:pos x="connsiteX1" y="connsiteY1"/>
                </a:cxn>
                <a:cxn ang="0">
                  <a:pos x="connsiteX2" y="connsiteY2"/>
                </a:cxn>
                <a:cxn ang="0">
                  <a:pos x="connsiteX3" y="connsiteY3"/>
                </a:cxn>
              </a:cxnLst>
              <a:rect l="l" t="t" r="r" b="b"/>
              <a:pathLst>
                <a:path w="2202024" h="528736">
                  <a:moveTo>
                    <a:pt x="2202024" y="472753"/>
                  </a:moveTo>
                  <a:cubicBezTo>
                    <a:pt x="2069840" y="318020"/>
                    <a:pt x="1937657" y="163288"/>
                    <a:pt x="1670180" y="90198"/>
                  </a:cubicBezTo>
                  <a:cubicBezTo>
                    <a:pt x="1402702" y="17108"/>
                    <a:pt x="875522" y="-38876"/>
                    <a:pt x="597159" y="34214"/>
                  </a:cubicBezTo>
                  <a:cubicBezTo>
                    <a:pt x="318796" y="107304"/>
                    <a:pt x="159398" y="318020"/>
                    <a:pt x="0" y="528736"/>
                  </a:cubicBezTo>
                </a:path>
              </a:pathLst>
            </a:custGeom>
            <a:noFill/>
            <a:ln w="12700">
              <a:solidFill>
                <a:schemeClr val="tx1"/>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xmlns="" id="{48B3FD3B-0636-4270-968D-7EADB07D0199}"/>
                </a:ext>
              </a:extLst>
            </p:cNvPr>
            <p:cNvSpPr txBox="1"/>
            <p:nvPr/>
          </p:nvSpPr>
          <p:spPr>
            <a:xfrm>
              <a:off x="1629339" y="2089233"/>
              <a:ext cx="1242988" cy="400110"/>
            </a:xfrm>
            <a:prstGeom prst="rect">
              <a:avLst/>
            </a:prstGeom>
            <a:noFill/>
          </p:spPr>
          <p:txBody>
            <a:bodyPr wrap="square" rtlCol="0">
              <a:spAutoFit/>
            </a:bodyPr>
            <a:lstStyle/>
            <a:p>
              <a:r>
                <a:rPr lang="en-US" sz="2000" dirty="0"/>
                <a:t>Copied</a:t>
              </a:r>
            </a:p>
          </p:txBody>
        </p:sp>
        <p:sp>
          <p:nvSpPr>
            <p:cNvPr id="67" name="TextBox 66">
              <a:extLst>
                <a:ext uri="{FF2B5EF4-FFF2-40B4-BE49-F238E27FC236}">
                  <a16:creationId xmlns:a16="http://schemas.microsoft.com/office/drawing/2014/main" xmlns="" id="{EB5CFE98-0417-43F1-9738-F311C6CBC9BC}"/>
                </a:ext>
              </a:extLst>
            </p:cNvPr>
            <p:cNvSpPr txBox="1"/>
            <p:nvPr/>
          </p:nvSpPr>
          <p:spPr>
            <a:xfrm>
              <a:off x="3983911" y="1990529"/>
              <a:ext cx="1242988" cy="400110"/>
            </a:xfrm>
            <a:prstGeom prst="rect">
              <a:avLst/>
            </a:prstGeom>
            <a:noFill/>
          </p:spPr>
          <p:txBody>
            <a:bodyPr wrap="square" rtlCol="0">
              <a:spAutoFit/>
            </a:bodyPr>
            <a:lstStyle/>
            <a:p>
              <a:r>
                <a:rPr lang="en-US" sz="2000" dirty="0"/>
                <a:t>Copied</a:t>
              </a:r>
            </a:p>
          </p:txBody>
        </p:sp>
        <p:sp>
          <p:nvSpPr>
            <p:cNvPr id="68" name="TextBox 67">
              <a:extLst>
                <a:ext uri="{FF2B5EF4-FFF2-40B4-BE49-F238E27FC236}">
                  <a16:creationId xmlns:a16="http://schemas.microsoft.com/office/drawing/2014/main" xmlns="" id="{328673EE-5F03-4950-8510-608CFA2859A8}"/>
                </a:ext>
              </a:extLst>
            </p:cNvPr>
            <p:cNvSpPr txBox="1"/>
            <p:nvPr/>
          </p:nvSpPr>
          <p:spPr>
            <a:xfrm>
              <a:off x="4170087" y="3306974"/>
              <a:ext cx="807730" cy="276999"/>
            </a:xfrm>
            <a:prstGeom prst="rect">
              <a:avLst/>
            </a:prstGeom>
            <a:noFill/>
          </p:spPr>
          <p:txBody>
            <a:bodyPr wrap="square" rtlCol="0">
              <a:spAutoFit/>
            </a:bodyPr>
            <a:lstStyle/>
            <a:p>
              <a:r>
                <a:rPr lang="en-US" sz="1200" dirty="0"/>
                <a:t>Path-1</a:t>
              </a:r>
            </a:p>
          </p:txBody>
        </p:sp>
      </p:grpSp>
    </p:spTree>
    <p:extLst>
      <p:ext uri="{BB962C8B-B14F-4D97-AF65-F5344CB8AC3E}">
        <p14:creationId xmlns:p14="http://schemas.microsoft.com/office/powerpoint/2010/main" val="18862905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DA245A3F-A3CC-4B9A-B772-2A20B8600935}"/>
              </a:ext>
            </a:extLst>
          </p:cNvPr>
          <p:cNvSpPr>
            <a:spLocks noGrp="1"/>
          </p:cNvSpPr>
          <p:nvPr>
            <p:ph type="sldNum" sz="quarter" idx="12"/>
          </p:nvPr>
        </p:nvSpPr>
        <p:spPr/>
        <p:txBody>
          <a:bodyPr/>
          <a:lstStyle/>
          <a:p>
            <a:pPr>
              <a:defRPr/>
            </a:pPr>
            <a:fld id="{4238FF85-7D5F-4211-AF5F-B3F85F4FE643}" type="slidenum">
              <a:rPr lang="en-US" smtClean="0"/>
              <a:pPr>
                <a:defRPr/>
              </a:pPr>
              <a:t>71</a:t>
            </a:fld>
            <a:endParaRPr lang="en-US"/>
          </a:p>
        </p:txBody>
      </p:sp>
      <p:sp>
        <p:nvSpPr>
          <p:cNvPr id="5" name="TextBox 4">
            <a:extLst>
              <a:ext uri="{FF2B5EF4-FFF2-40B4-BE49-F238E27FC236}">
                <a16:creationId xmlns:a16="http://schemas.microsoft.com/office/drawing/2014/main" xmlns="" id="{98F4D995-3856-40A4-9AF0-32B7018C8B5F}"/>
              </a:ext>
            </a:extLst>
          </p:cNvPr>
          <p:cNvSpPr txBox="1"/>
          <p:nvPr/>
        </p:nvSpPr>
        <p:spPr>
          <a:xfrm>
            <a:off x="228605" y="304800"/>
            <a:ext cx="8686790" cy="1200329"/>
          </a:xfrm>
          <a:prstGeom prst="rect">
            <a:avLst/>
          </a:prstGeom>
          <a:noFill/>
        </p:spPr>
        <p:txBody>
          <a:bodyPr wrap="square" rtlCol="0">
            <a:spAutoFit/>
          </a:bodyPr>
          <a:lstStyle/>
          <a:p>
            <a:pPr marL="342900" indent="-342900" algn="just">
              <a:buFont typeface="Wingdings" panose="05000000000000000000" pitchFamily="2" charset="2"/>
              <a:buChar char="ü"/>
            </a:pPr>
            <a:r>
              <a:rPr lang="en-US" dirty="0"/>
              <a:t>Now the common continuous part is 7 cycles as the length of symbol (</a:t>
            </a:r>
            <a:r>
              <a:rPr lang="en-US" i="1" dirty="0"/>
              <a:t>T</a:t>
            </a:r>
            <a:r>
              <a:rPr lang="en-US" i="1" baseline="-25000" dirty="0"/>
              <a:t>S</a:t>
            </a:r>
            <a:r>
              <a:rPr lang="en-US" dirty="0"/>
              <a:t>). The duration of head of the wave to be copied depends on delay difference of multipath environment.    </a:t>
            </a:r>
          </a:p>
        </p:txBody>
      </p:sp>
      <p:grpSp>
        <p:nvGrpSpPr>
          <p:cNvPr id="6" name="Group 5">
            <a:extLst>
              <a:ext uri="{FF2B5EF4-FFF2-40B4-BE49-F238E27FC236}">
                <a16:creationId xmlns:a16="http://schemas.microsoft.com/office/drawing/2014/main" xmlns="" id="{17C53ECB-662A-4263-8836-CC183126380A}"/>
              </a:ext>
            </a:extLst>
          </p:cNvPr>
          <p:cNvGrpSpPr/>
          <p:nvPr/>
        </p:nvGrpSpPr>
        <p:grpSpPr>
          <a:xfrm>
            <a:off x="419100" y="1538354"/>
            <a:ext cx="8305800" cy="3359036"/>
            <a:chOff x="685800" y="1891446"/>
            <a:chExt cx="8305800" cy="3359036"/>
          </a:xfrm>
        </p:grpSpPr>
        <p:sp>
          <p:nvSpPr>
            <p:cNvPr id="7" name="TextBox 6">
              <a:extLst>
                <a:ext uri="{FF2B5EF4-FFF2-40B4-BE49-F238E27FC236}">
                  <a16:creationId xmlns:a16="http://schemas.microsoft.com/office/drawing/2014/main" xmlns="" id="{36FAE943-7A78-48DD-A555-D30A907C3185}"/>
                </a:ext>
              </a:extLst>
            </p:cNvPr>
            <p:cNvSpPr txBox="1"/>
            <p:nvPr/>
          </p:nvSpPr>
          <p:spPr>
            <a:xfrm>
              <a:off x="1169101" y="4711516"/>
              <a:ext cx="1803111" cy="538966"/>
            </a:xfrm>
            <a:prstGeom prst="rect">
              <a:avLst/>
            </a:prstGeom>
            <a:noFill/>
          </p:spPr>
          <p:txBody>
            <a:bodyPr wrap="square" rtlCol="0">
              <a:spAutoFit/>
            </a:bodyPr>
            <a:lstStyle/>
            <a:p>
              <a:r>
                <a:rPr lang="en-US" sz="1200" dirty="0"/>
                <a:t>Range of linear distortion</a:t>
              </a:r>
            </a:p>
          </p:txBody>
        </p:sp>
        <p:sp>
          <p:nvSpPr>
            <p:cNvPr id="8" name="TextBox 7">
              <a:extLst>
                <a:ext uri="{FF2B5EF4-FFF2-40B4-BE49-F238E27FC236}">
                  <a16:creationId xmlns:a16="http://schemas.microsoft.com/office/drawing/2014/main" xmlns="" id="{67DDFA6A-9124-47D6-9FF0-8A8C984AD519}"/>
                </a:ext>
              </a:extLst>
            </p:cNvPr>
            <p:cNvSpPr txBox="1"/>
            <p:nvPr/>
          </p:nvSpPr>
          <p:spPr>
            <a:xfrm>
              <a:off x="3905271" y="4636972"/>
              <a:ext cx="1803111" cy="538966"/>
            </a:xfrm>
            <a:prstGeom prst="rect">
              <a:avLst/>
            </a:prstGeom>
            <a:noFill/>
          </p:spPr>
          <p:txBody>
            <a:bodyPr wrap="square" rtlCol="0">
              <a:spAutoFit/>
            </a:bodyPr>
            <a:lstStyle/>
            <a:p>
              <a:r>
                <a:rPr lang="en-US" sz="1200" dirty="0"/>
                <a:t>Range of linear distortion</a:t>
              </a:r>
            </a:p>
          </p:txBody>
        </p:sp>
        <p:grpSp>
          <p:nvGrpSpPr>
            <p:cNvPr id="9" name="Group 8">
              <a:extLst>
                <a:ext uri="{FF2B5EF4-FFF2-40B4-BE49-F238E27FC236}">
                  <a16:creationId xmlns:a16="http://schemas.microsoft.com/office/drawing/2014/main" xmlns="" id="{2AC3B093-52FD-468E-B30A-6D8601C3B8EF}"/>
                </a:ext>
              </a:extLst>
            </p:cNvPr>
            <p:cNvGrpSpPr/>
            <p:nvPr/>
          </p:nvGrpSpPr>
          <p:grpSpPr>
            <a:xfrm>
              <a:off x="685800" y="2273422"/>
              <a:ext cx="8305800" cy="2606311"/>
              <a:chOff x="363257" y="2262128"/>
              <a:chExt cx="8305800" cy="2606311"/>
            </a:xfrm>
          </p:grpSpPr>
          <p:sp>
            <p:nvSpPr>
              <p:cNvPr id="15" name="Freeform: Shape 14">
                <a:extLst>
                  <a:ext uri="{FF2B5EF4-FFF2-40B4-BE49-F238E27FC236}">
                    <a16:creationId xmlns:a16="http://schemas.microsoft.com/office/drawing/2014/main" xmlns="" id="{B73429C2-1E27-4A48-805E-DFF14D6BF349}"/>
                  </a:ext>
                </a:extLst>
              </p:cNvPr>
              <p:cNvSpPr/>
              <p:nvPr/>
            </p:nvSpPr>
            <p:spPr>
              <a:xfrm rot="10800000">
                <a:off x="3412603" y="2471829"/>
                <a:ext cx="2071361" cy="680917"/>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6" name="Freeform: Shape 15">
                <a:extLst>
                  <a:ext uri="{FF2B5EF4-FFF2-40B4-BE49-F238E27FC236}">
                    <a16:creationId xmlns:a16="http://schemas.microsoft.com/office/drawing/2014/main" xmlns="" id="{2CD362FD-2251-4CCC-A3C6-4D184C93AA69}"/>
                  </a:ext>
                </a:extLst>
              </p:cNvPr>
              <p:cNvSpPr/>
              <p:nvPr/>
            </p:nvSpPr>
            <p:spPr>
              <a:xfrm>
                <a:off x="904305" y="2498597"/>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17" name="Straight Arrow Connector 16">
                <a:extLst>
                  <a:ext uri="{FF2B5EF4-FFF2-40B4-BE49-F238E27FC236}">
                    <a16:creationId xmlns:a16="http://schemas.microsoft.com/office/drawing/2014/main" xmlns="" id="{EE138F16-AA10-4E9D-B8AF-08F9C1441747}"/>
                  </a:ext>
                </a:extLst>
              </p:cNvPr>
              <p:cNvCxnSpPr>
                <a:cxnSpLocks/>
              </p:cNvCxnSpPr>
              <p:nvPr/>
            </p:nvCxnSpPr>
            <p:spPr>
              <a:xfrm flipV="1">
                <a:off x="501720" y="2291537"/>
                <a:ext cx="0" cy="88797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B6CD33E6-EC90-411A-B963-3E86CE8D9BBA}"/>
                  </a:ext>
                </a:extLst>
              </p:cNvPr>
              <p:cNvCxnSpPr>
                <a:cxnSpLocks/>
              </p:cNvCxnSpPr>
              <p:nvPr/>
            </p:nvCxnSpPr>
            <p:spPr>
              <a:xfrm>
                <a:off x="363257" y="3323203"/>
                <a:ext cx="7772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xmlns="" id="{0F45610D-8389-4BE7-A8D7-10BC006E505F}"/>
                  </a:ext>
                </a:extLst>
              </p:cNvPr>
              <p:cNvCxnSpPr>
                <a:stCxn id="16" idx="14"/>
              </p:cNvCxnSpPr>
              <p:nvPr/>
            </p:nvCxnSpPr>
            <p:spPr>
              <a:xfrm>
                <a:off x="2988287" y="2502278"/>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xmlns="" id="{EFD3AC08-DACF-4A49-8973-E9D6C87BCD2D}"/>
                  </a:ext>
                </a:extLst>
              </p:cNvPr>
              <p:cNvSpPr/>
              <p:nvPr/>
            </p:nvSpPr>
            <p:spPr>
              <a:xfrm>
                <a:off x="5885143" y="2395067"/>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21" name="Straight Connector 20">
                <a:extLst>
                  <a:ext uri="{FF2B5EF4-FFF2-40B4-BE49-F238E27FC236}">
                    <a16:creationId xmlns:a16="http://schemas.microsoft.com/office/drawing/2014/main" xmlns="" id="{17EE3E97-4DA1-4731-98C3-0734EC882F13}"/>
                  </a:ext>
                </a:extLst>
              </p:cNvPr>
              <p:cNvCxnSpPr/>
              <p:nvPr/>
            </p:nvCxnSpPr>
            <p:spPr>
              <a:xfrm>
                <a:off x="5493109" y="2502278"/>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xmlns="" id="{029DFD6A-4D76-40F0-9E15-EDBAB08353E5}"/>
                  </a:ext>
                </a:extLst>
              </p:cNvPr>
              <p:cNvCxnSpPr/>
              <p:nvPr/>
            </p:nvCxnSpPr>
            <p:spPr>
              <a:xfrm>
                <a:off x="798872" y="2262128"/>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xmlns="" id="{316D0E70-DF9B-428B-95AA-D745CB6103A3}"/>
                  </a:ext>
                </a:extLst>
              </p:cNvPr>
              <p:cNvCxnSpPr/>
              <p:nvPr/>
            </p:nvCxnSpPr>
            <p:spPr>
              <a:xfrm>
                <a:off x="2987680" y="2324856"/>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A473C2B2-82E5-438A-B623-88D0A679429D}"/>
                  </a:ext>
                </a:extLst>
              </p:cNvPr>
              <p:cNvCxnSpPr/>
              <p:nvPr/>
            </p:nvCxnSpPr>
            <p:spPr>
              <a:xfrm>
                <a:off x="3290810" y="2324856"/>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xmlns="" id="{7238D693-86FC-43BF-A397-94BCCFA27C1B}"/>
                  </a:ext>
                </a:extLst>
              </p:cNvPr>
              <p:cNvCxnSpPr/>
              <p:nvPr/>
            </p:nvCxnSpPr>
            <p:spPr>
              <a:xfrm>
                <a:off x="5493109" y="2417102"/>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xmlns="" id="{EA131C74-CF6B-4577-80DC-3B94033A780B}"/>
                  </a:ext>
                </a:extLst>
              </p:cNvPr>
              <p:cNvSpPr txBox="1"/>
              <p:nvPr/>
            </p:nvSpPr>
            <p:spPr>
              <a:xfrm>
                <a:off x="3923981" y="4253565"/>
                <a:ext cx="807730" cy="323379"/>
              </a:xfrm>
              <a:prstGeom prst="rect">
                <a:avLst/>
              </a:prstGeom>
              <a:noFill/>
            </p:spPr>
            <p:txBody>
              <a:bodyPr wrap="square" rtlCol="0">
                <a:spAutoFit/>
              </a:bodyPr>
              <a:lstStyle/>
              <a:p>
                <a:r>
                  <a:rPr lang="en-US" sz="1200" dirty="0"/>
                  <a:t>Path-2</a:t>
                </a:r>
              </a:p>
            </p:txBody>
          </p:sp>
          <p:cxnSp>
            <p:nvCxnSpPr>
              <p:cNvPr id="27" name="Straight Arrow Connector 26">
                <a:extLst>
                  <a:ext uri="{FF2B5EF4-FFF2-40B4-BE49-F238E27FC236}">
                    <a16:creationId xmlns:a16="http://schemas.microsoft.com/office/drawing/2014/main" xmlns="" id="{6B7EADC1-D751-474A-999E-8E6321566868}"/>
                  </a:ext>
                </a:extLst>
              </p:cNvPr>
              <p:cNvCxnSpPr>
                <a:cxnSpLocks/>
              </p:cNvCxnSpPr>
              <p:nvPr/>
            </p:nvCxnSpPr>
            <p:spPr>
              <a:xfrm>
                <a:off x="798872" y="4605494"/>
                <a:ext cx="218237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xmlns="" id="{F3F51091-D2CE-462A-848E-D4E67AB78409}"/>
                  </a:ext>
                </a:extLst>
              </p:cNvPr>
              <p:cNvCxnSpPr>
                <a:cxnSpLocks/>
              </p:cNvCxnSpPr>
              <p:nvPr/>
            </p:nvCxnSpPr>
            <p:spPr>
              <a:xfrm>
                <a:off x="3290810" y="4585782"/>
                <a:ext cx="2193154" cy="19712"/>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xmlns="" id="{A5E67697-33F7-49B0-8FCC-E3DC4FAD92F8}"/>
                  </a:ext>
                </a:extLst>
              </p:cNvPr>
              <p:cNvCxnSpPr/>
              <p:nvPr/>
            </p:nvCxnSpPr>
            <p:spPr>
              <a:xfrm>
                <a:off x="5803398" y="2324856"/>
                <a:ext cx="0" cy="245133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xmlns="" id="{32639A18-28F3-4C2B-91E6-CD0B7706E3FF}"/>
                  </a:ext>
                </a:extLst>
              </p:cNvPr>
              <p:cNvSpPr/>
              <p:nvPr/>
            </p:nvSpPr>
            <p:spPr>
              <a:xfrm>
                <a:off x="503273" y="2512578"/>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xmlns="" id="{FDF58D4B-7AE7-4190-B172-4C29BCDC62CA}"/>
                  </a:ext>
                </a:extLst>
              </p:cNvPr>
              <p:cNvSpPr/>
              <p:nvPr/>
            </p:nvSpPr>
            <p:spPr>
              <a:xfrm>
                <a:off x="2975577" y="2476277"/>
                <a:ext cx="429209"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xmlns="" id="{CA5D7FEC-0AC1-4695-B9AC-6A8B54627954}"/>
                  </a:ext>
                </a:extLst>
              </p:cNvPr>
              <p:cNvSpPr/>
              <p:nvPr/>
            </p:nvSpPr>
            <p:spPr>
              <a:xfrm>
                <a:off x="5497979" y="2425324"/>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xmlns="" id="{9359FDB5-5B75-4A55-9BF4-625751AD0AAD}"/>
                  </a:ext>
                </a:extLst>
              </p:cNvPr>
              <p:cNvSpPr/>
              <p:nvPr/>
            </p:nvSpPr>
            <p:spPr>
              <a:xfrm rot="10800000">
                <a:off x="3699660" y="3556873"/>
                <a:ext cx="2071361" cy="680917"/>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4" name="Freeform: Shape 33">
                <a:extLst>
                  <a:ext uri="{FF2B5EF4-FFF2-40B4-BE49-F238E27FC236}">
                    <a16:creationId xmlns:a16="http://schemas.microsoft.com/office/drawing/2014/main" xmlns="" id="{2EC94CCB-0EDA-4B24-B4D4-1C3D8A383A6C}"/>
                  </a:ext>
                </a:extLst>
              </p:cNvPr>
              <p:cNvSpPr/>
              <p:nvPr/>
            </p:nvSpPr>
            <p:spPr>
              <a:xfrm>
                <a:off x="1191362" y="3583641"/>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35" name="Straight Arrow Connector 34">
                <a:extLst>
                  <a:ext uri="{FF2B5EF4-FFF2-40B4-BE49-F238E27FC236}">
                    <a16:creationId xmlns:a16="http://schemas.microsoft.com/office/drawing/2014/main" xmlns="" id="{E547C8FD-9970-4CDD-B162-F7F96EC53C8F}"/>
                  </a:ext>
                </a:extLst>
              </p:cNvPr>
              <p:cNvCxnSpPr>
                <a:cxnSpLocks/>
              </p:cNvCxnSpPr>
              <p:nvPr/>
            </p:nvCxnSpPr>
            <p:spPr>
              <a:xfrm flipV="1">
                <a:off x="802052" y="3376581"/>
                <a:ext cx="0" cy="88797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xmlns="" id="{CEC210AC-F731-4DEF-AFF2-87167727F55A}"/>
                  </a:ext>
                </a:extLst>
              </p:cNvPr>
              <p:cNvCxnSpPr>
                <a:cxnSpLocks/>
              </p:cNvCxnSpPr>
              <p:nvPr/>
            </p:nvCxnSpPr>
            <p:spPr>
              <a:xfrm>
                <a:off x="896657" y="3876798"/>
                <a:ext cx="77724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359409E4-F8F7-42C4-B2D2-BF64F349200A}"/>
                  </a:ext>
                </a:extLst>
              </p:cNvPr>
              <p:cNvCxnSpPr>
                <a:stCxn id="34" idx="14"/>
              </p:cNvCxnSpPr>
              <p:nvPr/>
            </p:nvCxnSpPr>
            <p:spPr>
              <a:xfrm>
                <a:off x="3275344" y="3587322"/>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38" name="Freeform: Shape 37">
                <a:extLst>
                  <a:ext uri="{FF2B5EF4-FFF2-40B4-BE49-F238E27FC236}">
                    <a16:creationId xmlns:a16="http://schemas.microsoft.com/office/drawing/2014/main" xmlns="" id="{7DC8FCFF-779C-44D2-A60C-A31F8063140E}"/>
                  </a:ext>
                </a:extLst>
              </p:cNvPr>
              <p:cNvSpPr/>
              <p:nvPr/>
            </p:nvSpPr>
            <p:spPr>
              <a:xfrm>
                <a:off x="6172200" y="3480111"/>
                <a:ext cx="2083981" cy="680916"/>
              </a:xfrm>
              <a:custGeom>
                <a:avLst/>
                <a:gdLst>
                  <a:gd name="connsiteX0" fmla="*/ 0 w 6708710"/>
                  <a:gd name="connsiteY0" fmla="*/ 74646 h 1726164"/>
                  <a:gd name="connsiteX1" fmla="*/ 597159 w 6708710"/>
                  <a:gd name="connsiteY1" fmla="*/ 1726164 h 1726164"/>
                  <a:gd name="connsiteX2" fmla="*/ 1101012 w 6708710"/>
                  <a:gd name="connsiteY2" fmla="*/ 74646 h 1726164"/>
                  <a:gd name="connsiteX3" fmla="*/ 1660849 w 6708710"/>
                  <a:gd name="connsiteY3" fmla="*/ 1688842 h 1726164"/>
                  <a:gd name="connsiteX4" fmla="*/ 2080726 w 6708710"/>
                  <a:gd name="connsiteY4" fmla="*/ 74646 h 1726164"/>
                  <a:gd name="connsiteX5" fmla="*/ 2621902 w 6708710"/>
                  <a:gd name="connsiteY5" fmla="*/ 1698173 h 1726164"/>
                  <a:gd name="connsiteX6" fmla="*/ 3004457 w 6708710"/>
                  <a:gd name="connsiteY6" fmla="*/ 46654 h 1726164"/>
                  <a:gd name="connsiteX7" fmla="*/ 3536302 w 6708710"/>
                  <a:gd name="connsiteY7" fmla="*/ 1660850 h 1726164"/>
                  <a:gd name="connsiteX8" fmla="*/ 3909526 w 6708710"/>
                  <a:gd name="connsiteY8" fmla="*/ 1 h 1726164"/>
                  <a:gd name="connsiteX9" fmla="*/ 4553338 w 6708710"/>
                  <a:gd name="connsiteY9" fmla="*/ 1651520 h 1726164"/>
                  <a:gd name="connsiteX10" fmla="*/ 4879910 w 6708710"/>
                  <a:gd name="connsiteY10" fmla="*/ 37324 h 1726164"/>
                  <a:gd name="connsiteX11" fmla="*/ 5327779 w 6708710"/>
                  <a:gd name="connsiteY11" fmla="*/ 1660850 h 1726164"/>
                  <a:gd name="connsiteX12" fmla="*/ 5766318 w 6708710"/>
                  <a:gd name="connsiteY12" fmla="*/ 9332 h 1726164"/>
                  <a:gd name="connsiteX13" fmla="*/ 6251510 w 6708710"/>
                  <a:gd name="connsiteY13" fmla="*/ 1642189 h 1726164"/>
                  <a:gd name="connsiteX14" fmla="*/ 6708710 w 6708710"/>
                  <a:gd name="connsiteY14" fmla="*/ 9332 h 1726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708710" h="1726164">
                    <a:moveTo>
                      <a:pt x="0" y="74646"/>
                    </a:moveTo>
                    <a:cubicBezTo>
                      <a:pt x="206828" y="900405"/>
                      <a:pt x="413657" y="1726164"/>
                      <a:pt x="597159" y="1726164"/>
                    </a:cubicBezTo>
                    <a:cubicBezTo>
                      <a:pt x="780661" y="1726164"/>
                      <a:pt x="923730" y="80866"/>
                      <a:pt x="1101012" y="74646"/>
                    </a:cubicBezTo>
                    <a:cubicBezTo>
                      <a:pt x="1278294" y="68426"/>
                      <a:pt x="1497563" y="1688842"/>
                      <a:pt x="1660849" y="1688842"/>
                    </a:cubicBezTo>
                    <a:cubicBezTo>
                      <a:pt x="1824135" y="1688842"/>
                      <a:pt x="1920551" y="73091"/>
                      <a:pt x="2080726" y="74646"/>
                    </a:cubicBezTo>
                    <a:cubicBezTo>
                      <a:pt x="2240901" y="76201"/>
                      <a:pt x="2467947" y="1702838"/>
                      <a:pt x="2621902" y="1698173"/>
                    </a:cubicBezTo>
                    <a:cubicBezTo>
                      <a:pt x="2775857" y="1693508"/>
                      <a:pt x="2852057" y="52874"/>
                      <a:pt x="3004457" y="46654"/>
                    </a:cubicBezTo>
                    <a:cubicBezTo>
                      <a:pt x="3156857" y="40433"/>
                      <a:pt x="3385457" y="1668626"/>
                      <a:pt x="3536302" y="1660850"/>
                    </a:cubicBezTo>
                    <a:cubicBezTo>
                      <a:pt x="3687147" y="1653075"/>
                      <a:pt x="3740020" y="1556"/>
                      <a:pt x="3909526" y="1"/>
                    </a:cubicBezTo>
                    <a:cubicBezTo>
                      <a:pt x="4079032" y="-1554"/>
                      <a:pt x="4391607" y="1645300"/>
                      <a:pt x="4553338" y="1651520"/>
                    </a:cubicBezTo>
                    <a:cubicBezTo>
                      <a:pt x="4715069" y="1657741"/>
                      <a:pt x="4750837" y="35769"/>
                      <a:pt x="4879910" y="37324"/>
                    </a:cubicBezTo>
                    <a:cubicBezTo>
                      <a:pt x="5008983" y="38879"/>
                      <a:pt x="5180044" y="1665515"/>
                      <a:pt x="5327779" y="1660850"/>
                    </a:cubicBezTo>
                    <a:cubicBezTo>
                      <a:pt x="5475514" y="1656185"/>
                      <a:pt x="5612363" y="12442"/>
                      <a:pt x="5766318" y="9332"/>
                    </a:cubicBezTo>
                    <a:cubicBezTo>
                      <a:pt x="5920273" y="6222"/>
                      <a:pt x="6094445" y="1642189"/>
                      <a:pt x="6251510" y="1642189"/>
                    </a:cubicBezTo>
                    <a:cubicBezTo>
                      <a:pt x="6408575" y="1642189"/>
                      <a:pt x="6626290" y="276809"/>
                      <a:pt x="6708710" y="933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cxnSp>
            <p:nvCxnSpPr>
              <p:cNvPr id="39" name="Straight Connector 38">
                <a:extLst>
                  <a:ext uri="{FF2B5EF4-FFF2-40B4-BE49-F238E27FC236}">
                    <a16:creationId xmlns:a16="http://schemas.microsoft.com/office/drawing/2014/main" xmlns="" id="{59BEC153-9B30-4458-A681-1063D03E7D71}"/>
                  </a:ext>
                </a:extLst>
              </p:cNvPr>
              <p:cNvCxnSpPr/>
              <p:nvPr/>
            </p:nvCxnSpPr>
            <p:spPr>
              <a:xfrm>
                <a:off x="5780166" y="3587322"/>
                <a:ext cx="0" cy="677235"/>
              </a:xfrm>
              <a:prstGeom prst="line">
                <a:avLst/>
              </a:prstGeom>
              <a:ln w="28575">
                <a:solidFill>
                  <a:srgbClr val="0000FF"/>
                </a:solidFill>
                <a:prstDash val="dash"/>
              </a:ln>
            </p:spPr>
            <p:style>
              <a:lnRef idx="1">
                <a:schemeClr val="accent1"/>
              </a:lnRef>
              <a:fillRef idx="0">
                <a:schemeClr val="accent1"/>
              </a:fillRef>
              <a:effectRef idx="0">
                <a:schemeClr val="accent1"/>
              </a:effectRef>
              <a:fontRef idx="minor">
                <a:schemeClr val="tx1"/>
              </a:fontRef>
            </p:style>
          </p:cxnSp>
          <p:sp>
            <p:nvSpPr>
              <p:cNvPr id="40" name="Freeform: Shape 39">
                <a:extLst>
                  <a:ext uri="{FF2B5EF4-FFF2-40B4-BE49-F238E27FC236}">
                    <a16:creationId xmlns:a16="http://schemas.microsoft.com/office/drawing/2014/main" xmlns="" id="{5360E5AA-387E-4ED9-B9E6-765D8E76D2F5}"/>
                  </a:ext>
                </a:extLst>
              </p:cNvPr>
              <p:cNvSpPr/>
              <p:nvPr/>
            </p:nvSpPr>
            <p:spPr>
              <a:xfrm>
                <a:off x="798872" y="3571322"/>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xmlns="" id="{496852A5-ECD8-4178-9A69-B56976AA7A10}"/>
                  </a:ext>
                </a:extLst>
              </p:cNvPr>
              <p:cNvSpPr/>
              <p:nvPr/>
            </p:nvSpPr>
            <p:spPr>
              <a:xfrm>
                <a:off x="3262634" y="3561321"/>
                <a:ext cx="429209"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xmlns="" id="{8687E304-4B93-42A9-8E07-B37A159283FB}"/>
                  </a:ext>
                </a:extLst>
              </p:cNvPr>
              <p:cNvSpPr/>
              <p:nvPr/>
            </p:nvSpPr>
            <p:spPr>
              <a:xfrm>
                <a:off x="5785036" y="3510368"/>
                <a:ext cx="391885" cy="680788"/>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Freeform: Shape 42">
                <a:extLst>
                  <a:ext uri="{FF2B5EF4-FFF2-40B4-BE49-F238E27FC236}">
                    <a16:creationId xmlns:a16="http://schemas.microsoft.com/office/drawing/2014/main" xmlns="" id="{6CB8B347-CD86-4DB9-AE3B-61796E9566C2}"/>
                  </a:ext>
                </a:extLst>
              </p:cNvPr>
              <p:cNvSpPr/>
              <p:nvPr/>
            </p:nvSpPr>
            <p:spPr>
              <a:xfrm>
                <a:off x="2719776" y="2446975"/>
                <a:ext cx="334840" cy="675156"/>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xmlns="" id="{4ABCD260-F294-4A1A-A89D-A72EDC34BD70}"/>
                  </a:ext>
                </a:extLst>
              </p:cNvPr>
              <p:cNvSpPr/>
              <p:nvPr/>
            </p:nvSpPr>
            <p:spPr>
              <a:xfrm>
                <a:off x="3010912" y="3577552"/>
                <a:ext cx="315223" cy="675156"/>
              </a:xfrm>
              <a:custGeom>
                <a:avLst/>
                <a:gdLst>
                  <a:gd name="connsiteX0" fmla="*/ 0 w 391885"/>
                  <a:gd name="connsiteY0" fmla="*/ 64967 h 680788"/>
                  <a:gd name="connsiteX1" fmla="*/ 167951 w 391885"/>
                  <a:gd name="connsiteY1" fmla="*/ 680788 h 680788"/>
                  <a:gd name="connsiteX2" fmla="*/ 317241 w 391885"/>
                  <a:gd name="connsiteY2" fmla="*/ 64967 h 680788"/>
                  <a:gd name="connsiteX3" fmla="*/ 363894 w 391885"/>
                  <a:gd name="connsiteY3" fmla="*/ 18314 h 680788"/>
                  <a:gd name="connsiteX4" fmla="*/ 391885 w 391885"/>
                  <a:gd name="connsiteY4" fmla="*/ 55637 h 6807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885" h="680788">
                    <a:moveTo>
                      <a:pt x="0" y="64967"/>
                    </a:moveTo>
                    <a:cubicBezTo>
                      <a:pt x="57539" y="372877"/>
                      <a:pt x="115078" y="680788"/>
                      <a:pt x="167951" y="680788"/>
                    </a:cubicBezTo>
                    <a:cubicBezTo>
                      <a:pt x="220824" y="680788"/>
                      <a:pt x="284584" y="175379"/>
                      <a:pt x="317241" y="64967"/>
                    </a:cubicBezTo>
                    <a:cubicBezTo>
                      <a:pt x="349898" y="-45445"/>
                      <a:pt x="363894" y="18314"/>
                      <a:pt x="363894" y="18314"/>
                    </a:cubicBezTo>
                    <a:cubicBezTo>
                      <a:pt x="376335" y="16759"/>
                      <a:pt x="384110" y="36198"/>
                      <a:pt x="391885" y="55637"/>
                    </a:cubicBezTo>
                  </a:path>
                </a:pathLst>
              </a:custGeom>
              <a:no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xmlns="" id="{C7C56483-2EEF-4BBB-9A82-25317B6BD5D8}"/>
                  </a:ext>
                </a:extLst>
              </p:cNvPr>
              <p:cNvSpPr/>
              <p:nvPr/>
            </p:nvSpPr>
            <p:spPr>
              <a:xfrm>
                <a:off x="5114290" y="2413332"/>
                <a:ext cx="406698"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xmlns="" id="{7F784F35-D0F8-4E07-9C30-80931FC234EF}"/>
                  </a:ext>
                </a:extLst>
              </p:cNvPr>
              <p:cNvSpPr/>
              <p:nvPr/>
            </p:nvSpPr>
            <p:spPr>
              <a:xfrm>
                <a:off x="5416190" y="3517083"/>
                <a:ext cx="406698" cy="716366"/>
              </a:xfrm>
              <a:custGeom>
                <a:avLst/>
                <a:gdLst>
                  <a:gd name="connsiteX0" fmla="*/ 0 w 429209"/>
                  <a:gd name="connsiteY0" fmla="*/ 599083 h 716366"/>
                  <a:gd name="connsiteX1" fmla="*/ 46653 w 429209"/>
                  <a:gd name="connsiteY1" fmla="*/ 673727 h 716366"/>
                  <a:gd name="connsiteX2" fmla="*/ 186613 w 429209"/>
                  <a:gd name="connsiteY2" fmla="*/ 20585 h 716366"/>
                  <a:gd name="connsiteX3" fmla="*/ 261258 w 429209"/>
                  <a:gd name="connsiteY3" fmla="*/ 207197 h 716366"/>
                  <a:gd name="connsiteX4" fmla="*/ 373225 w 429209"/>
                  <a:gd name="connsiteY4" fmla="*/ 645736 h 716366"/>
                  <a:gd name="connsiteX5" fmla="*/ 429209 w 429209"/>
                  <a:gd name="connsiteY5" fmla="*/ 664397 h 716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9209" h="716366">
                    <a:moveTo>
                      <a:pt x="0" y="599083"/>
                    </a:moveTo>
                    <a:cubicBezTo>
                      <a:pt x="7775" y="684613"/>
                      <a:pt x="15551" y="770143"/>
                      <a:pt x="46653" y="673727"/>
                    </a:cubicBezTo>
                    <a:cubicBezTo>
                      <a:pt x="77755" y="577311"/>
                      <a:pt x="150845" y="98340"/>
                      <a:pt x="186613" y="20585"/>
                    </a:cubicBezTo>
                    <a:cubicBezTo>
                      <a:pt x="222381" y="-57170"/>
                      <a:pt x="230156" y="103005"/>
                      <a:pt x="261258" y="207197"/>
                    </a:cubicBezTo>
                    <a:cubicBezTo>
                      <a:pt x="292360" y="311389"/>
                      <a:pt x="345233" y="569536"/>
                      <a:pt x="373225" y="645736"/>
                    </a:cubicBezTo>
                    <a:cubicBezTo>
                      <a:pt x="401217" y="721936"/>
                      <a:pt x="415213" y="693166"/>
                      <a:pt x="429209" y="664397"/>
                    </a:cubicBez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Shape 9">
              <a:extLst>
                <a:ext uri="{FF2B5EF4-FFF2-40B4-BE49-F238E27FC236}">
                  <a16:creationId xmlns:a16="http://schemas.microsoft.com/office/drawing/2014/main" xmlns="" id="{E6CDC81A-2F44-4F96-994C-A93381D676E5}"/>
                </a:ext>
              </a:extLst>
            </p:cNvPr>
            <p:cNvSpPr/>
            <p:nvPr/>
          </p:nvSpPr>
          <p:spPr>
            <a:xfrm>
              <a:off x="1035698" y="1990529"/>
              <a:ext cx="2202024" cy="528736"/>
            </a:xfrm>
            <a:custGeom>
              <a:avLst/>
              <a:gdLst>
                <a:gd name="connsiteX0" fmla="*/ 2202024 w 2202024"/>
                <a:gd name="connsiteY0" fmla="*/ 472753 h 528736"/>
                <a:gd name="connsiteX1" fmla="*/ 1670180 w 2202024"/>
                <a:gd name="connsiteY1" fmla="*/ 90198 h 528736"/>
                <a:gd name="connsiteX2" fmla="*/ 597159 w 2202024"/>
                <a:gd name="connsiteY2" fmla="*/ 34214 h 528736"/>
                <a:gd name="connsiteX3" fmla="*/ 0 w 2202024"/>
                <a:gd name="connsiteY3" fmla="*/ 528736 h 528736"/>
              </a:gdLst>
              <a:ahLst/>
              <a:cxnLst>
                <a:cxn ang="0">
                  <a:pos x="connsiteX0" y="connsiteY0"/>
                </a:cxn>
                <a:cxn ang="0">
                  <a:pos x="connsiteX1" y="connsiteY1"/>
                </a:cxn>
                <a:cxn ang="0">
                  <a:pos x="connsiteX2" y="connsiteY2"/>
                </a:cxn>
                <a:cxn ang="0">
                  <a:pos x="connsiteX3" y="connsiteY3"/>
                </a:cxn>
              </a:cxnLst>
              <a:rect l="l" t="t" r="r" b="b"/>
              <a:pathLst>
                <a:path w="2202024" h="528736">
                  <a:moveTo>
                    <a:pt x="2202024" y="472753"/>
                  </a:moveTo>
                  <a:cubicBezTo>
                    <a:pt x="2069840" y="318020"/>
                    <a:pt x="1937657" y="163288"/>
                    <a:pt x="1670180" y="90198"/>
                  </a:cubicBezTo>
                  <a:cubicBezTo>
                    <a:pt x="1402702" y="17108"/>
                    <a:pt x="875522" y="-38876"/>
                    <a:pt x="597159" y="34214"/>
                  </a:cubicBezTo>
                  <a:cubicBezTo>
                    <a:pt x="318796" y="107304"/>
                    <a:pt x="159398" y="318020"/>
                    <a:pt x="0" y="528736"/>
                  </a:cubicBezTo>
                </a:path>
              </a:pathLst>
            </a:custGeom>
            <a:noFill/>
            <a:ln w="12700">
              <a:solidFill>
                <a:schemeClr val="tx1"/>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2FBCB4AE-E280-455E-BFFD-F515D22ED9FE}"/>
                </a:ext>
              </a:extLst>
            </p:cNvPr>
            <p:cNvSpPr/>
            <p:nvPr/>
          </p:nvSpPr>
          <p:spPr>
            <a:xfrm>
              <a:off x="3491066" y="1891446"/>
              <a:ext cx="2202024" cy="528736"/>
            </a:xfrm>
            <a:custGeom>
              <a:avLst/>
              <a:gdLst>
                <a:gd name="connsiteX0" fmla="*/ 2202024 w 2202024"/>
                <a:gd name="connsiteY0" fmla="*/ 472753 h 528736"/>
                <a:gd name="connsiteX1" fmla="*/ 1670180 w 2202024"/>
                <a:gd name="connsiteY1" fmla="*/ 90198 h 528736"/>
                <a:gd name="connsiteX2" fmla="*/ 597159 w 2202024"/>
                <a:gd name="connsiteY2" fmla="*/ 34214 h 528736"/>
                <a:gd name="connsiteX3" fmla="*/ 0 w 2202024"/>
                <a:gd name="connsiteY3" fmla="*/ 528736 h 528736"/>
              </a:gdLst>
              <a:ahLst/>
              <a:cxnLst>
                <a:cxn ang="0">
                  <a:pos x="connsiteX0" y="connsiteY0"/>
                </a:cxn>
                <a:cxn ang="0">
                  <a:pos x="connsiteX1" y="connsiteY1"/>
                </a:cxn>
                <a:cxn ang="0">
                  <a:pos x="connsiteX2" y="connsiteY2"/>
                </a:cxn>
                <a:cxn ang="0">
                  <a:pos x="connsiteX3" y="connsiteY3"/>
                </a:cxn>
              </a:cxnLst>
              <a:rect l="l" t="t" r="r" b="b"/>
              <a:pathLst>
                <a:path w="2202024" h="528736">
                  <a:moveTo>
                    <a:pt x="2202024" y="472753"/>
                  </a:moveTo>
                  <a:cubicBezTo>
                    <a:pt x="2069840" y="318020"/>
                    <a:pt x="1937657" y="163288"/>
                    <a:pt x="1670180" y="90198"/>
                  </a:cubicBezTo>
                  <a:cubicBezTo>
                    <a:pt x="1402702" y="17108"/>
                    <a:pt x="875522" y="-38876"/>
                    <a:pt x="597159" y="34214"/>
                  </a:cubicBezTo>
                  <a:cubicBezTo>
                    <a:pt x="318796" y="107304"/>
                    <a:pt x="159398" y="318020"/>
                    <a:pt x="0" y="528736"/>
                  </a:cubicBezTo>
                </a:path>
              </a:pathLst>
            </a:custGeom>
            <a:noFill/>
            <a:ln w="12700">
              <a:solidFill>
                <a:schemeClr val="tx1"/>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xmlns="" id="{13F8A86F-25AB-485D-90EB-1BC01D2EB0A4}"/>
                </a:ext>
              </a:extLst>
            </p:cNvPr>
            <p:cNvSpPr txBox="1"/>
            <p:nvPr/>
          </p:nvSpPr>
          <p:spPr>
            <a:xfrm>
              <a:off x="1629339" y="2089233"/>
              <a:ext cx="1242988" cy="400110"/>
            </a:xfrm>
            <a:prstGeom prst="rect">
              <a:avLst/>
            </a:prstGeom>
            <a:noFill/>
          </p:spPr>
          <p:txBody>
            <a:bodyPr wrap="square" rtlCol="0">
              <a:spAutoFit/>
            </a:bodyPr>
            <a:lstStyle/>
            <a:p>
              <a:r>
                <a:rPr lang="en-US" sz="2000" dirty="0"/>
                <a:t>Copied</a:t>
              </a:r>
            </a:p>
          </p:txBody>
        </p:sp>
        <p:sp>
          <p:nvSpPr>
            <p:cNvPr id="13" name="TextBox 12">
              <a:extLst>
                <a:ext uri="{FF2B5EF4-FFF2-40B4-BE49-F238E27FC236}">
                  <a16:creationId xmlns:a16="http://schemas.microsoft.com/office/drawing/2014/main" xmlns="" id="{E429DD06-AB9A-44F4-A50F-6BD8A8F098EA}"/>
                </a:ext>
              </a:extLst>
            </p:cNvPr>
            <p:cNvSpPr txBox="1"/>
            <p:nvPr/>
          </p:nvSpPr>
          <p:spPr>
            <a:xfrm>
              <a:off x="3983911" y="1990529"/>
              <a:ext cx="1242988" cy="400110"/>
            </a:xfrm>
            <a:prstGeom prst="rect">
              <a:avLst/>
            </a:prstGeom>
            <a:noFill/>
          </p:spPr>
          <p:txBody>
            <a:bodyPr wrap="square" rtlCol="0">
              <a:spAutoFit/>
            </a:bodyPr>
            <a:lstStyle/>
            <a:p>
              <a:r>
                <a:rPr lang="en-US" sz="2000" dirty="0"/>
                <a:t>Copied</a:t>
              </a:r>
            </a:p>
          </p:txBody>
        </p:sp>
        <p:sp>
          <p:nvSpPr>
            <p:cNvPr id="14" name="TextBox 13">
              <a:extLst>
                <a:ext uri="{FF2B5EF4-FFF2-40B4-BE49-F238E27FC236}">
                  <a16:creationId xmlns:a16="http://schemas.microsoft.com/office/drawing/2014/main" xmlns="" id="{8DCC4F26-74EB-4A03-9965-86BA2F05F78B}"/>
                </a:ext>
              </a:extLst>
            </p:cNvPr>
            <p:cNvSpPr txBox="1"/>
            <p:nvPr/>
          </p:nvSpPr>
          <p:spPr>
            <a:xfrm>
              <a:off x="4170087" y="3306974"/>
              <a:ext cx="807730" cy="276999"/>
            </a:xfrm>
            <a:prstGeom prst="rect">
              <a:avLst/>
            </a:prstGeom>
            <a:noFill/>
          </p:spPr>
          <p:txBody>
            <a:bodyPr wrap="square" rtlCol="0">
              <a:spAutoFit/>
            </a:bodyPr>
            <a:lstStyle/>
            <a:p>
              <a:r>
                <a:rPr lang="en-US" sz="1200" dirty="0"/>
                <a:t>Path-1</a:t>
              </a:r>
            </a:p>
          </p:txBody>
        </p:sp>
      </p:grpSp>
      <p:sp>
        <p:nvSpPr>
          <p:cNvPr id="47" name="TextBox 46">
            <a:extLst>
              <a:ext uri="{FF2B5EF4-FFF2-40B4-BE49-F238E27FC236}">
                <a16:creationId xmlns:a16="http://schemas.microsoft.com/office/drawing/2014/main" xmlns="" id="{C74045C1-8A7C-4E24-B9CC-205CEC08A8AD}"/>
              </a:ext>
            </a:extLst>
          </p:cNvPr>
          <p:cNvSpPr txBox="1"/>
          <p:nvPr/>
        </p:nvSpPr>
        <p:spPr>
          <a:xfrm>
            <a:off x="108089" y="4930616"/>
            <a:ext cx="8864073" cy="1569660"/>
          </a:xfrm>
          <a:prstGeom prst="rect">
            <a:avLst/>
          </a:prstGeom>
          <a:noFill/>
        </p:spPr>
        <p:txBody>
          <a:bodyPr wrap="square" rtlCol="0">
            <a:spAutoFit/>
          </a:bodyPr>
          <a:lstStyle/>
          <a:p>
            <a:pPr marL="342900" indent="-342900" algn="just">
              <a:buFont typeface="Wingdings" panose="05000000000000000000" pitchFamily="2" charset="2"/>
              <a:buChar char="ü"/>
            </a:pPr>
            <a:r>
              <a:rPr lang="en-US" dirty="0">
                <a:solidFill>
                  <a:srgbClr val="FF0000"/>
                </a:solidFill>
              </a:rPr>
              <a:t>If the user is at the cell boundary then delay difference is high and has to used extended CP, whereas user at the vicinity of the </a:t>
            </a:r>
            <a:r>
              <a:rPr lang="en-US" dirty="0" err="1">
                <a:solidFill>
                  <a:srgbClr val="FF0000"/>
                </a:solidFill>
              </a:rPr>
              <a:t>eNB</a:t>
            </a:r>
            <a:r>
              <a:rPr lang="en-US" dirty="0">
                <a:solidFill>
                  <a:srgbClr val="FF0000"/>
                </a:solidFill>
              </a:rPr>
              <a:t> use normal CP because of low delay difference is experienced by the user. </a:t>
            </a:r>
          </a:p>
        </p:txBody>
      </p:sp>
    </p:spTree>
    <p:extLst>
      <p:ext uri="{BB962C8B-B14F-4D97-AF65-F5344CB8AC3E}">
        <p14:creationId xmlns:p14="http://schemas.microsoft.com/office/powerpoint/2010/main" val="42888709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xmlns="" id="{AAD3A843-1CDD-46EE-A4AA-1D80B17ACF14}"/>
              </a:ext>
            </a:extLst>
          </p:cNvPr>
          <p:cNvSpPr>
            <a:spLocks noGrp="1"/>
          </p:cNvSpPr>
          <p:nvPr>
            <p:ph type="sldNum" sz="quarter" idx="12"/>
          </p:nvPr>
        </p:nvSpPr>
        <p:spPr/>
        <p:txBody>
          <a:bodyPr/>
          <a:lstStyle/>
          <a:p>
            <a:pPr>
              <a:defRPr/>
            </a:pPr>
            <a:fld id="{4238FF85-7D5F-4211-AF5F-B3F85F4FE643}" type="slidenum">
              <a:rPr lang="en-US" smtClean="0"/>
              <a:pPr>
                <a:defRPr/>
              </a:pPr>
              <a:t>72</a:t>
            </a:fld>
            <a:endParaRPr lang="en-US"/>
          </a:p>
        </p:txBody>
      </p:sp>
      <p:sp>
        <p:nvSpPr>
          <p:cNvPr id="5" name="TextBox 4">
            <a:extLst>
              <a:ext uri="{FF2B5EF4-FFF2-40B4-BE49-F238E27FC236}">
                <a16:creationId xmlns:a16="http://schemas.microsoft.com/office/drawing/2014/main" xmlns="" id="{9C99FF53-2427-4A7B-A323-03F106C9CF1E}"/>
              </a:ext>
            </a:extLst>
          </p:cNvPr>
          <p:cNvSpPr txBox="1"/>
          <p:nvPr/>
        </p:nvSpPr>
        <p:spPr>
          <a:xfrm>
            <a:off x="32657" y="152400"/>
            <a:ext cx="8882744" cy="4893647"/>
          </a:xfrm>
          <a:prstGeom prst="rect">
            <a:avLst/>
          </a:prstGeom>
          <a:noFill/>
        </p:spPr>
        <p:txBody>
          <a:bodyPr wrap="square" rtlCol="0">
            <a:spAutoFit/>
          </a:bodyPr>
          <a:lstStyle/>
          <a:p>
            <a:pPr marL="342900" indent="-342900" algn="just">
              <a:buFont typeface="Wingdings" panose="05000000000000000000" pitchFamily="2" charset="2"/>
              <a:buChar char="ü"/>
            </a:pPr>
            <a:r>
              <a:rPr lang="en-US" dirty="0"/>
              <a:t>The purpose of the cyclic prefix is to combat ISI, where same content is transmitted twice as the CP is a copy of the tail of a symbol (modulated wave) placed at its beginning. Consider combined signal of 12 subcarrier (output of IDFT) as shown in fig. below. </a:t>
            </a:r>
          </a:p>
          <a:p>
            <a:pPr marL="342900" indent="-342900" algn="just">
              <a:buFont typeface="Wingdings" panose="05000000000000000000" pitchFamily="2" charset="2"/>
              <a:buChar char="ü"/>
            </a:pPr>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marL="342900" indent="-342900" algn="just">
              <a:buFont typeface="Wingdings" panose="05000000000000000000" pitchFamily="2" charset="2"/>
              <a:buChar char="ü"/>
            </a:pPr>
            <a:r>
              <a:rPr lang="en-US" dirty="0"/>
              <a:t>The duration of the cyclic prefix is chosen such that it is longer than the maximum delay spread </a:t>
            </a:r>
            <a:r>
              <a:rPr lang="el-GR" i="1" dirty="0"/>
              <a:t>τ</a:t>
            </a:r>
            <a:r>
              <a:rPr lang="en-US" i="1" baseline="-25000" dirty="0"/>
              <a:t>max</a:t>
            </a:r>
            <a:r>
              <a:rPr lang="en-US" i="1" dirty="0"/>
              <a:t> </a:t>
            </a:r>
            <a:r>
              <a:rPr lang="en-US" dirty="0"/>
              <a:t>caused by the multipath channel.</a:t>
            </a:r>
          </a:p>
        </p:txBody>
      </p:sp>
      <p:pic>
        <p:nvPicPr>
          <p:cNvPr id="80898" name="Picture 2" descr="ShareTechnote">
            <a:extLst>
              <a:ext uri="{FF2B5EF4-FFF2-40B4-BE49-F238E27FC236}">
                <a16:creationId xmlns:a16="http://schemas.microsoft.com/office/drawing/2014/main" xmlns="" id="{667F1AD2-B0DC-4CA8-8540-748BA58C5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76400"/>
            <a:ext cx="5498123" cy="2438400"/>
          </a:xfrm>
          <a:prstGeom prst="rect">
            <a:avLst/>
          </a:prstGeom>
          <a:noFill/>
          <a:extLst>
            <a:ext uri="{909E8E84-426E-40DD-AFC4-6F175D3DCCD1}">
              <a14:hiddenFill xmlns:a14="http://schemas.microsoft.com/office/drawing/2010/main">
                <a:solidFill>
                  <a:srgbClr val="FFFFFF"/>
                </a:solidFill>
              </a14:hiddenFill>
            </a:ext>
          </a:extLst>
        </p:spPr>
      </p:pic>
      <p:pic>
        <p:nvPicPr>
          <p:cNvPr id="80900" name="Picture 4">
            <a:extLst>
              <a:ext uri="{FF2B5EF4-FFF2-40B4-BE49-F238E27FC236}">
                <a16:creationId xmlns:a16="http://schemas.microsoft.com/office/drawing/2014/main" xmlns="" id="{2B569CE4-6166-40A1-AA95-2391F14ED5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0700" y="5049157"/>
            <a:ext cx="5715000" cy="1718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75340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73</a:t>
            </a:fld>
            <a:endParaRPr lang="en-US"/>
          </a:p>
        </p:txBody>
      </p:sp>
      <p:sp>
        <p:nvSpPr>
          <p:cNvPr id="5" name="TextBox 4"/>
          <p:cNvSpPr txBox="1"/>
          <p:nvPr/>
        </p:nvSpPr>
        <p:spPr>
          <a:xfrm>
            <a:off x="0" y="304800"/>
            <a:ext cx="9144000" cy="830997"/>
          </a:xfrm>
          <a:prstGeom prst="rect">
            <a:avLst/>
          </a:prstGeom>
          <a:solidFill>
            <a:srgbClr val="CCECFF"/>
          </a:solidFill>
        </p:spPr>
        <p:txBody>
          <a:bodyPr wrap="square" rtlCol="0">
            <a:spAutoFit/>
          </a:bodyPr>
          <a:lstStyle/>
          <a:p>
            <a:pPr algn="just"/>
            <a:r>
              <a:rPr lang="en-US" dirty="0"/>
              <a:t>In LTE, radio resources are allocated in units of </a:t>
            </a:r>
            <a:r>
              <a:rPr lang="en-US" b="1" dirty="0">
                <a:solidFill>
                  <a:srgbClr val="FF0000"/>
                </a:solidFill>
              </a:rPr>
              <a:t>Physical Resource Blocks (PRBs)</a:t>
            </a:r>
            <a:r>
              <a:rPr lang="en-US" dirty="0"/>
              <a:t>. Each PRB contains 12 subcarriers and one slot. </a:t>
            </a:r>
          </a:p>
        </p:txBody>
      </p:sp>
      <p:pic>
        <p:nvPicPr>
          <p:cNvPr id="6" name="Picture 2"/>
          <p:cNvPicPr>
            <a:picLocks noChangeAspect="1" noChangeArrowheads="1"/>
          </p:cNvPicPr>
          <p:nvPr/>
        </p:nvPicPr>
        <p:blipFill>
          <a:blip r:embed="rId2"/>
          <a:srcRect/>
          <a:stretch>
            <a:fillRect/>
          </a:stretch>
        </p:blipFill>
        <p:spPr bwMode="auto">
          <a:xfrm>
            <a:off x="304800" y="1447800"/>
            <a:ext cx="8390928" cy="4343400"/>
          </a:xfrm>
          <a:prstGeom prst="rect">
            <a:avLst/>
          </a:prstGeom>
          <a:noFill/>
          <a:ln w="9525">
            <a:noFill/>
            <a:miter lim="800000"/>
            <a:headEnd/>
            <a:tailEnd/>
          </a:ln>
          <a:effectLst/>
        </p:spPr>
      </p:pic>
      <p:cxnSp>
        <p:nvCxnSpPr>
          <p:cNvPr id="3" name="Straight Arrow Connector 2">
            <a:extLst>
              <a:ext uri="{FF2B5EF4-FFF2-40B4-BE49-F238E27FC236}">
                <a16:creationId xmlns:a16="http://schemas.microsoft.com/office/drawing/2014/main" xmlns="" id="{85EFA124-4168-4D57-A264-F39EB476C101}"/>
              </a:ext>
            </a:extLst>
          </p:cNvPr>
          <p:cNvCxnSpPr/>
          <p:nvPr/>
        </p:nvCxnSpPr>
        <p:spPr>
          <a:xfrm>
            <a:off x="4648200" y="5943600"/>
            <a:ext cx="2438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xmlns="" id="{8D421B46-E2F9-415B-8BF9-FAA1A5D6EEDA}"/>
              </a:ext>
            </a:extLst>
          </p:cNvPr>
          <p:cNvSpPr txBox="1"/>
          <p:nvPr/>
        </p:nvSpPr>
        <p:spPr>
          <a:xfrm>
            <a:off x="7260771" y="5712767"/>
            <a:ext cx="1578429" cy="461665"/>
          </a:xfrm>
          <a:prstGeom prst="rect">
            <a:avLst/>
          </a:prstGeom>
          <a:noFill/>
        </p:spPr>
        <p:txBody>
          <a:bodyPr wrap="square" rtlCol="0">
            <a:spAutoFit/>
          </a:bodyPr>
          <a:lstStyle/>
          <a:p>
            <a:r>
              <a:rPr lang="en-US" dirty="0"/>
              <a:t>Frequency</a:t>
            </a:r>
          </a:p>
        </p:txBody>
      </p:sp>
      <p:cxnSp>
        <p:nvCxnSpPr>
          <p:cNvPr id="8" name="Straight Arrow Connector 7">
            <a:extLst>
              <a:ext uri="{FF2B5EF4-FFF2-40B4-BE49-F238E27FC236}">
                <a16:creationId xmlns:a16="http://schemas.microsoft.com/office/drawing/2014/main" xmlns="" id="{B837DD16-3741-4EC9-AA58-116624FD9DC5}"/>
              </a:ext>
            </a:extLst>
          </p:cNvPr>
          <p:cNvCxnSpPr>
            <a:cxnSpLocks/>
          </p:cNvCxnSpPr>
          <p:nvPr/>
        </p:nvCxnSpPr>
        <p:spPr>
          <a:xfrm flipH="1" flipV="1">
            <a:off x="938799" y="4909073"/>
            <a:ext cx="1600200" cy="76511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xmlns="" id="{C4080D6A-76B3-404F-B2A0-9BA573870280}"/>
              </a:ext>
            </a:extLst>
          </p:cNvPr>
          <p:cNvSpPr txBox="1"/>
          <p:nvPr/>
        </p:nvSpPr>
        <p:spPr>
          <a:xfrm rot="1824595">
            <a:off x="164599" y="4366236"/>
            <a:ext cx="914400" cy="461665"/>
          </a:xfrm>
          <a:prstGeom prst="rect">
            <a:avLst/>
          </a:prstGeom>
          <a:noFill/>
        </p:spPr>
        <p:txBody>
          <a:bodyPr wrap="square" rtlCol="0">
            <a:spAutoFit/>
          </a:bodyPr>
          <a:lstStyle/>
          <a:p>
            <a:r>
              <a:rPr lang="en-US" dirty="0"/>
              <a:t>Time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74</a:t>
            </a:fld>
            <a:endParaRPr lang="en-US"/>
          </a:p>
        </p:txBody>
      </p:sp>
      <p:sp>
        <p:nvSpPr>
          <p:cNvPr id="5" name="Content Placeholder 2"/>
          <p:cNvSpPr>
            <a:spLocks noGrp="1"/>
          </p:cNvSpPr>
          <p:nvPr>
            <p:ph idx="1"/>
          </p:nvPr>
        </p:nvSpPr>
        <p:spPr>
          <a:xfrm>
            <a:off x="381000" y="4267200"/>
            <a:ext cx="7848600" cy="2590800"/>
          </a:xfrm>
          <a:solidFill>
            <a:srgbClr val="CCECFF"/>
          </a:solidFill>
        </p:spPr>
        <p:txBody>
          <a:bodyPr>
            <a:noAutofit/>
          </a:bodyPr>
          <a:lstStyle/>
          <a:p>
            <a:r>
              <a:rPr lang="en-US" sz="2000" dirty="0"/>
              <a:t>LTE – radio resource = “time-frequency chunk”</a:t>
            </a:r>
          </a:p>
          <a:p>
            <a:r>
              <a:rPr lang="en-US" sz="2000" dirty="0"/>
              <a:t>Resource Block (RB) = 12 subcarriers in one TS (12*15KHz x 0.5ms)</a:t>
            </a:r>
          </a:p>
          <a:p>
            <a:pPr lvl="0" eaLnBrk="1" fontAlgn="auto" hangingPunct="1">
              <a:spcAft>
                <a:spcPts val="0"/>
              </a:spcAft>
              <a:buFont typeface="Arial" pitchFamily="34" charset="0"/>
              <a:buChar char="•"/>
              <a:defRPr/>
            </a:pPr>
            <a:r>
              <a:rPr lang="en-US" sz="1600" kern="1200" dirty="0">
                <a:cs typeface="Arial" pitchFamily="34" charset="0"/>
              </a:rPr>
              <a:t>Time domain</a:t>
            </a:r>
          </a:p>
          <a:p>
            <a:pPr marL="800100" lvl="1" indent="-342900">
              <a:buFont typeface="Wingdings" pitchFamily="2" charset="2"/>
              <a:buChar char="ü"/>
            </a:pPr>
            <a:r>
              <a:rPr lang="en-US" sz="1600" dirty="0">
                <a:cs typeface="Arial" pitchFamily="34" charset="0"/>
              </a:rPr>
              <a:t>1 frame = 10 sub-frames</a:t>
            </a:r>
          </a:p>
          <a:p>
            <a:pPr marL="800100" lvl="1" indent="-342900">
              <a:buFont typeface="Wingdings" pitchFamily="2" charset="2"/>
              <a:buChar char="ü"/>
            </a:pPr>
            <a:r>
              <a:rPr lang="en-US" sz="1600" dirty="0">
                <a:cs typeface="Arial" pitchFamily="34" charset="0"/>
              </a:rPr>
              <a:t>1 </a:t>
            </a:r>
            <a:r>
              <a:rPr lang="en-US" sz="1600" dirty="0" err="1">
                <a:cs typeface="Arial" pitchFamily="34" charset="0"/>
              </a:rPr>
              <a:t>subframe</a:t>
            </a:r>
            <a:r>
              <a:rPr lang="en-US" sz="1600" dirty="0">
                <a:cs typeface="Arial" pitchFamily="34" charset="0"/>
              </a:rPr>
              <a:t> = 2 slots</a:t>
            </a:r>
          </a:p>
          <a:p>
            <a:pPr marL="800100" lvl="1" indent="-342900">
              <a:buFont typeface="Wingdings" pitchFamily="2" charset="2"/>
              <a:buChar char="ü"/>
            </a:pPr>
            <a:r>
              <a:rPr lang="en-US" sz="1600" dirty="0">
                <a:cs typeface="Arial" pitchFamily="34" charset="0"/>
              </a:rPr>
              <a:t> 1 slot = 7 (or 6) OFDM symbols </a:t>
            </a:r>
          </a:p>
          <a:p>
            <a:pPr>
              <a:buFont typeface="Arial" pitchFamily="34" charset="0"/>
              <a:buChar char="•"/>
            </a:pPr>
            <a:r>
              <a:rPr lang="en-US" sz="1600" kern="1200" dirty="0">
                <a:cs typeface="Arial" pitchFamily="34" charset="0"/>
              </a:rPr>
              <a:t>Frequency domain</a:t>
            </a:r>
          </a:p>
          <a:p>
            <a:pPr marL="800100" lvl="1" indent="-342900">
              <a:buFont typeface="Wingdings" pitchFamily="2" charset="2"/>
              <a:buChar char="ü"/>
            </a:pPr>
            <a:r>
              <a:rPr lang="en-US" sz="1600" dirty="0">
                <a:cs typeface="Arial" pitchFamily="34" charset="0"/>
              </a:rPr>
              <a:t>1 OFDM carrier = 15KHz</a:t>
            </a:r>
            <a:endParaRPr lang="en-US" sz="2000" dirty="0"/>
          </a:p>
        </p:txBody>
      </p:sp>
      <p:pic>
        <p:nvPicPr>
          <p:cNvPr id="6" name="Picture 2"/>
          <p:cNvPicPr>
            <a:picLocks noChangeAspect="1" noChangeArrowheads="1"/>
          </p:cNvPicPr>
          <p:nvPr/>
        </p:nvPicPr>
        <p:blipFill>
          <a:blip r:embed="rId2" cstate="print"/>
          <a:srcRect/>
          <a:stretch>
            <a:fillRect/>
          </a:stretch>
        </p:blipFill>
        <p:spPr bwMode="auto">
          <a:xfrm>
            <a:off x="1981200" y="533400"/>
            <a:ext cx="5325114" cy="3581400"/>
          </a:xfrm>
          <a:prstGeom prst="rect">
            <a:avLst/>
          </a:prstGeom>
          <a:noFill/>
          <a:ln w="9525">
            <a:noFill/>
            <a:miter lim="800000"/>
            <a:headEnd/>
            <a:tailEnd/>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75</a:t>
            </a:fld>
            <a:endParaRPr lang="en-US"/>
          </a:p>
        </p:txBody>
      </p:sp>
      <p:sp>
        <p:nvSpPr>
          <p:cNvPr id="5" name="TextBox 4"/>
          <p:cNvSpPr txBox="1"/>
          <p:nvPr/>
        </p:nvSpPr>
        <p:spPr>
          <a:xfrm>
            <a:off x="0" y="0"/>
            <a:ext cx="7924800" cy="3416320"/>
          </a:xfrm>
          <a:prstGeom prst="rect">
            <a:avLst/>
          </a:prstGeom>
          <a:solidFill>
            <a:srgbClr val="CCECFF"/>
          </a:solidFill>
        </p:spPr>
        <p:txBody>
          <a:bodyPr wrap="square" rtlCol="0">
            <a:spAutoFit/>
          </a:bodyPr>
          <a:lstStyle/>
          <a:p>
            <a:r>
              <a:rPr lang="en-US" b="1" dirty="0">
                <a:solidFill>
                  <a:srgbClr val="FF0000"/>
                </a:solidFill>
              </a:rPr>
              <a:t>Time Unit			Value</a:t>
            </a:r>
          </a:p>
          <a:p>
            <a:pPr fontAlgn="t"/>
            <a:r>
              <a:rPr lang="en-US" dirty="0"/>
              <a:t>Frame				10 ms</a:t>
            </a:r>
          </a:p>
          <a:p>
            <a:pPr fontAlgn="t"/>
            <a:r>
              <a:rPr lang="en-US" dirty="0"/>
              <a:t>Half-frame			5 ms</a:t>
            </a:r>
          </a:p>
          <a:p>
            <a:pPr fontAlgn="t"/>
            <a:r>
              <a:rPr lang="en-US" dirty="0" err="1"/>
              <a:t>Subframe</a:t>
            </a:r>
            <a:r>
              <a:rPr lang="en-US" dirty="0"/>
              <a:t>			1 ms</a:t>
            </a:r>
          </a:p>
          <a:p>
            <a:pPr fontAlgn="t"/>
            <a:r>
              <a:rPr lang="en-US" dirty="0"/>
              <a:t>Slot				0.5 ms</a:t>
            </a:r>
          </a:p>
          <a:p>
            <a:pPr fontAlgn="t"/>
            <a:r>
              <a:rPr lang="en-US" dirty="0"/>
              <a:t>Symbol			(0.5 ms) / 7 for normal CP</a:t>
            </a:r>
          </a:p>
          <a:p>
            <a:pPr fontAlgn="t"/>
            <a:r>
              <a:rPr lang="en-US" dirty="0"/>
              <a:t>				(0.5 ms) / 6 for extended CP</a:t>
            </a:r>
          </a:p>
          <a:p>
            <a:r>
              <a:rPr lang="en-US" dirty="0"/>
              <a:t>Basic timing unit: </a:t>
            </a:r>
            <a:r>
              <a:rPr lang="en-US" dirty="0">
                <a:solidFill>
                  <a:srgbClr val="FF0000"/>
                </a:solidFill>
              </a:rPr>
              <a:t>T</a:t>
            </a:r>
            <a:r>
              <a:rPr lang="en-US" baseline="-25000" dirty="0">
                <a:solidFill>
                  <a:srgbClr val="FF0000"/>
                </a:solidFill>
              </a:rPr>
              <a:t>s		</a:t>
            </a:r>
            <a:r>
              <a:rPr lang="en-US" dirty="0">
                <a:solidFill>
                  <a:srgbClr val="FF0000"/>
                </a:solidFill>
              </a:rPr>
              <a:t>1/(15000 * 2048) sec » 32.6 </a:t>
            </a:r>
            <a:r>
              <a:rPr lang="en-US" dirty="0" smtClean="0">
                <a:solidFill>
                  <a:srgbClr val="FF0000"/>
                </a:solidFill>
              </a:rPr>
              <a:t>ns</a:t>
            </a:r>
            <a:endParaRPr lang="en-US" dirty="0">
              <a:solidFill>
                <a:srgbClr val="FF0000"/>
              </a:solidFill>
            </a:endParaRPr>
          </a:p>
          <a:p>
            <a:r>
              <a:rPr lang="en-US" dirty="0" smtClean="0">
                <a:solidFill>
                  <a:srgbClr val="FF0000"/>
                </a:solidFill>
              </a:rPr>
              <a:t>FFT size =2048 , Subcarrier spacing 15kHZ. </a:t>
            </a:r>
            <a:endParaRPr lang="en-US" dirty="0">
              <a:solidFill>
                <a:srgbClr val="FF0000"/>
              </a:solidFill>
            </a:endParaRPr>
          </a:p>
        </p:txBody>
      </p:sp>
      <p:pic>
        <p:nvPicPr>
          <p:cNvPr id="75778" name="Picture 2"/>
          <p:cNvPicPr>
            <a:picLocks noChangeAspect="1" noChangeArrowheads="1"/>
          </p:cNvPicPr>
          <p:nvPr/>
        </p:nvPicPr>
        <p:blipFill>
          <a:blip r:embed="rId2"/>
          <a:srcRect/>
          <a:stretch>
            <a:fillRect/>
          </a:stretch>
        </p:blipFill>
        <p:spPr bwMode="auto">
          <a:xfrm>
            <a:off x="1219200" y="3505200"/>
            <a:ext cx="5723712" cy="3060680"/>
          </a:xfrm>
          <a:prstGeom prst="rect">
            <a:avLst/>
          </a:prstGeom>
          <a:noFill/>
          <a:ln w="9525">
            <a:noFill/>
            <a:miter lim="800000"/>
            <a:headEnd/>
            <a:tailEnd/>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772400" cy="762000"/>
          </a:xfrm>
          <a:solidFill>
            <a:srgbClr val="FFFF00"/>
          </a:solidFill>
        </p:spPr>
        <p:txBody>
          <a:bodyPr>
            <a:normAutofit fontScale="90000"/>
          </a:bodyPr>
          <a:lstStyle/>
          <a:p>
            <a:r>
              <a:rPr lang="en-US" dirty="0"/>
              <a:t>OFDMA time-frequency scheduling</a:t>
            </a:r>
          </a:p>
        </p:txBody>
      </p:sp>
      <p:sp>
        <p:nvSpPr>
          <p:cNvPr id="3" name="Content Placeholder 2"/>
          <p:cNvSpPr>
            <a:spLocks noGrp="1"/>
          </p:cNvSpPr>
          <p:nvPr>
            <p:ph idx="1"/>
          </p:nvPr>
        </p:nvSpPr>
        <p:spPr>
          <a:xfrm>
            <a:off x="0" y="1066800"/>
            <a:ext cx="4343400" cy="4495800"/>
          </a:xfrm>
          <a:solidFill>
            <a:srgbClr val="CCECFF"/>
          </a:solidFill>
        </p:spPr>
        <p:txBody>
          <a:bodyPr>
            <a:noAutofit/>
          </a:bodyPr>
          <a:lstStyle/>
          <a:p>
            <a:pPr algn="just">
              <a:buFont typeface="Wingdings" pitchFamily="2" charset="2"/>
              <a:buChar char="ü"/>
            </a:pPr>
            <a:r>
              <a:rPr lang="en-US" sz="1800" dirty="0"/>
              <a:t>Minimum allocate-able resource in LTE is </a:t>
            </a:r>
            <a:r>
              <a:rPr lang="en-US" sz="1800" dirty="0">
                <a:solidFill>
                  <a:schemeClr val="accent2"/>
                </a:solidFill>
              </a:rPr>
              <a:t>Resource Block pair</a:t>
            </a:r>
          </a:p>
          <a:p>
            <a:pPr algn="just">
              <a:buFont typeface="Wingdings" pitchFamily="2" charset="2"/>
              <a:buChar char="ü"/>
            </a:pPr>
            <a:r>
              <a:rPr lang="en-US" sz="1800" dirty="0"/>
              <a:t>Resource block pair is 12 subcarriers wide in frequency domain and lasts for two time slots (1ms)</a:t>
            </a:r>
          </a:p>
          <a:p>
            <a:pPr algn="just">
              <a:buFont typeface="Wingdings" pitchFamily="2" charset="2"/>
              <a:buChar char="ü"/>
            </a:pPr>
            <a:r>
              <a:rPr lang="en-US" sz="1800" dirty="0"/>
              <a:t>Depending on the length of cyclic prefix RB pair may have 14 or 12 OFDM symbols</a:t>
            </a:r>
          </a:p>
          <a:p>
            <a:pPr algn="just">
              <a:buFont typeface="Wingdings" pitchFamily="2" charset="2"/>
              <a:buChar char="ü"/>
            </a:pPr>
            <a:r>
              <a:rPr lang="en-US" sz="1800" dirty="0"/>
              <a:t>PHY channels consist of certain number of allocated RB pairs</a:t>
            </a:r>
          </a:p>
          <a:p>
            <a:pPr algn="just">
              <a:buFont typeface="Wingdings" pitchFamily="2" charset="2"/>
              <a:buChar char="ü"/>
            </a:pPr>
            <a:r>
              <a:rPr lang="en-US" sz="1800" dirty="0"/>
              <a:t>Overhead channels are typically in a predetermined location in time frequency domain</a:t>
            </a:r>
          </a:p>
          <a:p>
            <a:pPr algn="just">
              <a:buFont typeface="Wingdings" pitchFamily="2" charset="2"/>
              <a:buChar char="ü"/>
            </a:pPr>
            <a:r>
              <a:rPr lang="en-US" sz="1800" dirty="0"/>
              <a:t>Allocation of the radio block is done by scheduler at </a:t>
            </a:r>
            <a:r>
              <a:rPr lang="en-US" sz="1800" dirty="0" err="1"/>
              <a:t>eNode</a:t>
            </a:r>
            <a:r>
              <a:rPr lang="en-US" sz="1800" dirty="0"/>
              <a:t> B</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4419600" y="1709596"/>
            <a:ext cx="4648200" cy="4538804"/>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77</a:t>
            </a:fld>
            <a:endParaRPr lang="en-US"/>
          </a:p>
        </p:txBody>
      </p:sp>
      <p:sp>
        <p:nvSpPr>
          <p:cNvPr id="5" name="TextBox 4"/>
          <p:cNvSpPr txBox="1"/>
          <p:nvPr/>
        </p:nvSpPr>
        <p:spPr>
          <a:xfrm>
            <a:off x="0" y="0"/>
            <a:ext cx="8991600" cy="1938992"/>
          </a:xfrm>
          <a:prstGeom prst="rect">
            <a:avLst/>
          </a:prstGeom>
          <a:solidFill>
            <a:srgbClr val="CCECFF"/>
          </a:solidFill>
        </p:spPr>
        <p:txBody>
          <a:bodyPr wrap="square" rtlCol="0">
            <a:spAutoFit/>
          </a:bodyPr>
          <a:lstStyle/>
          <a:p>
            <a:pPr algn="just"/>
            <a:r>
              <a:rPr lang="en-US" b="1" dirty="0">
                <a:solidFill>
                  <a:srgbClr val="FF0000"/>
                </a:solidFill>
              </a:rPr>
              <a:t>Type 2 LTE Frame Structure</a:t>
            </a:r>
          </a:p>
          <a:p>
            <a:pPr algn="just"/>
            <a:r>
              <a:rPr lang="en-US" dirty="0"/>
              <a:t>The frame structure for the type 2 frames used on LTE TDD is somewhat different. The 10 ms frame comprises two half frames, each 5 ms long. The LTE half-frames are further split into five </a:t>
            </a:r>
            <a:r>
              <a:rPr lang="en-US" dirty="0" err="1"/>
              <a:t>subframes</a:t>
            </a:r>
            <a:r>
              <a:rPr lang="en-US" dirty="0"/>
              <a:t>, each 1ms long.</a:t>
            </a:r>
          </a:p>
        </p:txBody>
      </p:sp>
      <p:pic>
        <p:nvPicPr>
          <p:cNvPr id="86018" name="Picture 2" descr="Type 2 LTE Frame Structure"/>
          <p:cNvPicPr>
            <a:picLocks noChangeAspect="1" noChangeArrowheads="1"/>
          </p:cNvPicPr>
          <p:nvPr/>
        </p:nvPicPr>
        <p:blipFill>
          <a:blip r:embed="rId2"/>
          <a:srcRect/>
          <a:stretch>
            <a:fillRect/>
          </a:stretch>
        </p:blipFill>
        <p:spPr bwMode="auto">
          <a:xfrm>
            <a:off x="2057400" y="2133600"/>
            <a:ext cx="5001843" cy="3048000"/>
          </a:xfrm>
          <a:prstGeom prst="rect">
            <a:avLst/>
          </a:prstGeom>
          <a:noFill/>
        </p:spPr>
      </p:pic>
      <p:sp>
        <p:nvSpPr>
          <p:cNvPr id="7" name="TextBox 6"/>
          <p:cNvSpPr txBox="1"/>
          <p:nvPr/>
        </p:nvSpPr>
        <p:spPr>
          <a:xfrm>
            <a:off x="228600" y="5257800"/>
            <a:ext cx="8686800" cy="1631216"/>
          </a:xfrm>
          <a:prstGeom prst="rect">
            <a:avLst/>
          </a:prstGeom>
          <a:solidFill>
            <a:srgbClr val="CCECFF"/>
          </a:solidFill>
        </p:spPr>
        <p:txBody>
          <a:bodyPr wrap="square" rtlCol="0">
            <a:spAutoFit/>
          </a:bodyPr>
          <a:lstStyle/>
          <a:p>
            <a:r>
              <a:rPr lang="en-US" sz="2000" dirty="0"/>
              <a:t>The </a:t>
            </a:r>
            <a:r>
              <a:rPr lang="en-US" sz="2000" dirty="0" err="1"/>
              <a:t>subframes</a:t>
            </a:r>
            <a:r>
              <a:rPr lang="en-US" sz="2000" dirty="0"/>
              <a:t> may be divided into standard </a:t>
            </a:r>
            <a:r>
              <a:rPr lang="en-US" sz="2000" dirty="0" err="1"/>
              <a:t>subframes</a:t>
            </a:r>
            <a:r>
              <a:rPr lang="en-US" sz="2000" dirty="0"/>
              <a:t> of special </a:t>
            </a:r>
            <a:r>
              <a:rPr lang="en-US" sz="2000" dirty="0" err="1"/>
              <a:t>subframes</a:t>
            </a:r>
            <a:r>
              <a:rPr lang="en-US" sz="2000" dirty="0"/>
              <a:t>. </a:t>
            </a:r>
          </a:p>
          <a:p>
            <a:r>
              <a:rPr lang="en-US" sz="2000" dirty="0"/>
              <a:t>The special </a:t>
            </a:r>
            <a:r>
              <a:rPr lang="en-US" sz="2000" dirty="0" err="1"/>
              <a:t>subframes</a:t>
            </a:r>
            <a:r>
              <a:rPr lang="en-US" sz="2000" dirty="0"/>
              <a:t> consist of three fields;</a:t>
            </a:r>
          </a:p>
          <a:p>
            <a:r>
              <a:rPr lang="en-US" sz="2000" dirty="0" err="1"/>
              <a:t>DwPTS</a:t>
            </a:r>
            <a:r>
              <a:rPr lang="en-US" sz="2000" dirty="0"/>
              <a:t> - Downlink Pilot Time Slot</a:t>
            </a:r>
          </a:p>
          <a:p>
            <a:r>
              <a:rPr lang="en-US" sz="2000" dirty="0"/>
              <a:t>GP - Guard Period</a:t>
            </a:r>
          </a:p>
          <a:p>
            <a:r>
              <a:rPr lang="en-US" sz="2000" dirty="0" err="1"/>
              <a:t>UpPTS</a:t>
            </a:r>
            <a:r>
              <a:rPr lang="en-US" sz="2000" dirty="0"/>
              <a:t> - Uplink Pilot Time </a:t>
            </a:r>
            <a:r>
              <a:rPr lang="en-US" sz="2000" dirty="0" err="1"/>
              <a:t>Stot</a:t>
            </a:r>
            <a:r>
              <a:rPr lang="en-US" sz="2000" dirty="0"/>
              <a:t>.</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477000" cy="685800"/>
          </a:xfrm>
          <a:solidFill>
            <a:srgbClr val="CCECFF"/>
          </a:solidFill>
        </p:spPr>
        <p:txBody>
          <a:bodyPr/>
          <a:lstStyle/>
          <a:p>
            <a:r>
              <a:rPr lang="en-US" sz="3600" b="1" dirty="0">
                <a:solidFill>
                  <a:schemeClr val="accent2"/>
                </a:solidFill>
              </a:rPr>
              <a:t/>
            </a:r>
            <a:br>
              <a:rPr lang="en-US" sz="3600" b="1" dirty="0">
                <a:solidFill>
                  <a:schemeClr val="accent2"/>
                </a:solidFill>
              </a:rPr>
            </a:br>
            <a:r>
              <a:rPr lang="en-US" sz="3600" b="1" dirty="0">
                <a:solidFill>
                  <a:schemeClr val="accent2"/>
                </a:solidFill>
              </a:rPr>
              <a:t>Downlink Reference Signals</a:t>
            </a:r>
            <a:br>
              <a:rPr lang="en-US" sz="3600" b="1" dirty="0">
                <a:solidFill>
                  <a:schemeClr val="accent2"/>
                </a:solidFill>
              </a:rPr>
            </a:br>
            <a:endParaRPr lang="en-US" sz="3600" b="1" dirty="0">
              <a:solidFill>
                <a:schemeClr val="accent2"/>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5410200" y="1634006"/>
            <a:ext cx="3581400" cy="4538194"/>
          </a:xfrm>
          <a:prstGeom prst="rect">
            <a:avLst/>
          </a:prstGeom>
          <a:noFill/>
          <a:ln w="9525">
            <a:noFill/>
            <a:miter lim="800000"/>
            <a:headEnd/>
            <a:tailEnd/>
          </a:ln>
        </p:spPr>
      </p:pic>
      <p:sp>
        <p:nvSpPr>
          <p:cNvPr id="6" name="TextBox 5"/>
          <p:cNvSpPr txBox="1"/>
          <p:nvPr/>
        </p:nvSpPr>
        <p:spPr>
          <a:xfrm>
            <a:off x="0" y="2057400"/>
            <a:ext cx="5257800" cy="3785652"/>
          </a:xfrm>
          <a:prstGeom prst="rect">
            <a:avLst/>
          </a:prstGeom>
          <a:solidFill>
            <a:srgbClr val="FFCCFF"/>
          </a:solidFill>
        </p:spPr>
        <p:txBody>
          <a:bodyPr wrap="square" rtlCol="0">
            <a:spAutoFit/>
          </a:bodyPr>
          <a:lstStyle/>
          <a:p>
            <a:pPr algn="just">
              <a:buFont typeface="Wingdings" pitchFamily="2" charset="2"/>
              <a:buChar char="ü"/>
            </a:pPr>
            <a:r>
              <a:rPr lang="en-US" sz="2000" dirty="0"/>
              <a:t>Cell specific reference signal (at physical layer) is not for delivering any specific information. The purpose of this </a:t>
            </a:r>
            <a:r>
              <a:rPr lang="en-US" sz="2000" b="1" dirty="0">
                <a:solidFill>
                  <a:srgbClr val="0000FF"/>
                </a:solidFill>
              </a:rPr>
              <a:t>Reference Signal </a:t>
            </a:r>
            <a:r>
              <a:rPr lang="en-US" sz="2000" dirty="0"/>
              <a:t>is to deliver the reference point for the downlink power.  </a:t>
            </a:r>
          </a:p>
          <a:p>
            <a:pPr algn="just">
              <a:buFont typeface="Wingdings" pitchFamily="2" charset="2"/>
              <a:buChar char="ü"/>
            </a:pPr>
            <a:endParaRPr lang="en-US" sz="2000" dirty="0"/>
          </a:p>
          <a:p>
            <a:pPr algn="just">
              <a:buFont typeface="Wingdings" pitchFamily="2" charset="2"/>
              <a:buChar char="ü"/>
            </a:pPr>
            <a:r>
              <a:rPr lang="en-US" sz="2000" dirty="0"/>
              <a:t>Therefore, there are four reference symbols within each </a:t>
            </a:r>
            <a:r>
              <a:rPr lang="en-US" sz="2000" b="1" dirty="0">
                <a:solidFill>
                  <a:srgbClr val="0000FF"/>
                </a:solidFill>
              </a:rPr>
              <a:t>Resource Block </a:t>
            </a:r>
            <a:r>
              <a:rPr lang="en-US" sz="2000" dirty="0"/>
              <a:t>for single antenna communication. Figure shows the resource elements  of reference signal where three sub-carriers separation is maintained between the first and second reference symbols. . </a:t>
            </a:r>
          </a:p>
          <a:p>
            <a:pPr algn="just"/>
            <a:endParaRPr lang="en-US" sz="2000" dirty="0"/>
          </a:p>
        </p:txBody>
      </p:sp>
      <p:sp>
        <p:nvSpPr>
          <p:cNvPr id="7" name="Rectangle 6"/>
          <p:cNvSpPr/>
          <p:nvPr/>
        </p:nvSpPr>
        <p:spPr>
          <a:xfrm>
            <a:off x="0" y="1524000"/>
            <a:ext cx="4023922" cy="461665"/>
          </a:xfrm>
          <a:prstGeom prst="rect">
            <a:avLst/>
          </a:prstGeom>
        </p:spPr>
        <p:txBody>
          <a:bodyPr wrap="none">
            <a:spAutoFit/>
          </a:bodyPr>
          <a:lstStyle/>
          <a:p>
            <a:r>
              <a:rPr lang="en-US" b="1" dirty="0">
                <a:solidFill>
                  <a:srgbClr val="FF0000"/>
                </a:solidFill>
              </a:rPr>
              <a:t>Cell specific reference signals</a:t>
            </a:r>
            <a:endParaRPr lang="en-US" dirty="0">
              <a:solidFill>
                <a:srgbClr val="FF0000"/>
              </a:solidFill>
            </a:endParaRPr>
          </a:p>
        </p:txBody>
      </p:sp>
      <p:sp>
        <p:nvSpPr>
          <p:cNvPr id="3" name="TextBox 2"/>
          <p:cNvSpPr txBox="1"/>
          <p:nvPr/>
        </p:nvSpPr>
        <p:spPr>
          <a:xfrm>
            <a:off x="5676900" y="1143000"/>
            <a:ext cx="1638300" cy="457201"/>
          </a:xfrm>
          <a:prstGeom prst="rect">
            <a:avLst/>
          </a:prstGeom>
          <a:solidFill>
            <a:srgbClr val="CCECFF"/>
          </a:solidFill>
        </p:spPr>
        <p:txBody>
          <a:bodyPr wrap="square" rtlCol="0">
            <a:spAutoFit/>
          </a:bodyPr>
          <a:lstStyle/>
          <a:p>
            <a:pPr algn="ctr"/>
            <a:r>
              <a:rPr lang="en-US" dirty="0"/>
              <a:t>RB-1</a:t>
            </a:r>
          </a:p>
        </p:txBody>
      </p:sp>
      <p:sp>
        <p:nvSpPr>
          <p:cNvPr id="9" name="TextBox 8"/>
          <p:cNvSpPr txBox="1"/>
          <p:nvPr/>
        </p:nvSpPr>
        <p:spPr>
          <a:xfrm>
            <a:off x="7315200" y="1143802"/>
            <a:ext cx="1447800" cy="457201"/>
          </a:xfrm>
          <a:prstGeom prst="rect">
            <a:avLst/>
          </a:prstGeom>
          <a:solidFill>
            <a:srgbClr val="FFCCCC"/>
          </a:solidFill>
        </p:spPr>
        <p:txBody>
          <a:bodyPr wrap="square" rtlCol="0">
            <a:spAutoFit/>
          </a:bodyPr>
          <a:lstStyle/>
          <a:p>
            <a:pPr algn="ctr"/>
            <a:r>
              <a:rPr lang="en-US" dirty="0"/>
              <a:t>RB-2</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79</a:t>
            </a:fld>
            <a:endParaRPr lang="en-US"/>
          </a:p>
        </p:txBody>
      </p:sp>
      <p:sp>
        <p:nvSpPr>
          <p:cNvPr id="5" name="TextBox 4"/>
          <p:cNvSpPr txBox="1"/>
          <p:nvPr/>
        </p:nvSpPr>
        <p:spPr>
          <a:xfrm>
            <a:off x="0" y="228600"/>
            <a:ext cx="5943600" cy="3785652"/>
          </a:xfrm>
          <a:prstGeom prst="rect">
            <a:avLst/>
          </a:prstGeom>
          <a:solidFill>
            <a:srgbClr val="FFCCFF"/>
          </a:solidFill>
        </p:spPr>
        <p:txBody>
          <a:bodyPr wrap="square" rtlCol="0">
            <a:spAutoFit/>
          </a:bodyPr>
          <a:lstStyle/>
          <a:p>
            <a:pPr algn="just">
              <a:buFont typeface="Wingdings" pitchFamily="2" charset="2"/>
              <a:buChar char="ü"/>
            </a:pPr>
            <a:r>
              <a:rPr lang="en-US" sz="2000" dirty="0"/>
              <a:t>To allow for coherent demodulation at the user equipment, reference symbols (or pilot symbols) are inserted in the OFDM time-frequency grid to allow for channel estimation. </a:t>
            </a:r>
          </a:p>
          <a:p>
            <a:pPr algn="just"/>
            <a:endParaRPr lang="en-US" sz="2000" dirty="0"/>
          </a:p>
          <a:p>
            <a:pPr algn="just">
              <a:buFont typeface="Wingdings" pitchFamily="2" charset="2"/>
              <a:buChar char="ü"/>
            </a:pPr>
            <a:r>
              <a:rPr lang="en-US" sz="2000" dirty="0"/>
              <a:t>In case of two transmit antennas, reference signals are inserted from each antenna where the reference signals on the second antenna are offset in the frequency domain by three sub-carriers. To allow the user equipment to accurately estimate the channel coefficients, nothing is transmitted on the other antenna at the same time-frequency location of reference signals.</a:t>
            </a:r>
          </a:p>
        </p:txBody>
      </p:sp>
      <p:pic>
        <p:nvPicPr>
          <p:cNvPr id="6" name="Segnaposto contenuto 3" descr="resource block.png"/>
          <p:cNvPicPr>
            <a:picLocks noGrp="1" noChangeAspect="1"/>
          </p:cNvPicPr>
          <p:nvPr>
            <p:ph idx="1"/>
          </p:nvPr>
        </p:nvPicPr>
        <p:blipFill>
          <a:blip r:embed="rId2"/>
          <a:stretch>
            <a:fillRect/>
          </a:stretch>
        </p:blipFill>
        <p:spPr>
          <a:xfrm>
            <a:off x="5943600" y="533400"/>
            <a:ext cx="2862487" cy="2490820"/>
          </a:xfrm>
        </p:spPr>
      </p:pic>
      <p:pic>
        <p:nvPicPr>
          <p:cNvPr id="7" name="Immagine 3" descr="mimo2.png"/>
          <p:cNvPicPr>
            <a:picLocks noChangeAspect="1"/>
          </p:cNvPicPr>
          <p:nvPr/>
        </p:nvPicPr>
        <p:blipFill>
          <a:blip r:embed="rId3"/>
          <a:stretch>
            <a:fillRect/>
          </a:stretch>
        </p:blipFill>
        <p:spPr>
          <a:xfrm>
            <a:off x="762000" y="4038600"/>
            <a:ext cx="6838100" cy="2612121"/>
          </a:xfrm>
          <a:prstGeom prst="rect">
            <a:avLst/>
          </a:prstGeom>
        </p:spPr>
      </p:pic>
      <p:sp>
        <p:nvSpPr>
          <p:cNvPr id="8" name="TextBox 7"/>
          <p:cNvSpPr txBox="1"/>
          <p:nvPr/>
        </p:nvSpPr>
        <p:spPr>
          <a:xfrm>
            <a:off x="6248400" y="3124200"/>
            <a:ext cx="2667000" cy="461665"/>
          </a:xfrm>
          <a:prstGeom prst="rect">
            <a:avLst/>
          </a:prstGeom>
          <a:noFill/>
        </p:spPr>
        <p:txBody>
          <a:bodyPr wrap="square" rtlCol="0">
            <a:spAutoFit/>
          </a:bodyPr>
          <a:lstStyle/>
          <a:p>
            <a:r>
              <a:rPr lang="en-US" dirty="0"/>
              <a:t>Single antenna case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5334000" cy="3200400"/>
          </a:xfrm>
          <a:solidFill>
            <a:srgbClr val="CCECFF"/>
          </a:solidFill>
        </p:spPr>
        <p:txBody>
          <a:bodyPr>
            <a:noAutofit/>
          </a:bodyPr>
          <a:lstStyle/>
          <a:p>
            <a:pPr>
              <a:buFont typeface="Wingdings" pitchFamily="2" charset="2"/>
              <a:buChar char="ü"/>
            </a:pPr>
            <a:r>
              <a:rPr lang="en-US" sz="1600" dirty="0"/>
              <a:t>DL transmission may use up to four antennas</a:t>
            </a:r>
          </a:p>
          <a:p>
            <a:r>
              <a:rPr lang="en-US" sz="1600" dirty="0"/>
              <a:t>Each antenna port has its own pattern of reference signals</a:t>
            </a:r>
          </a:p>
          <a:p>
            <a:r>
              <a:rPr lang="en-US" sz="1600" dirty="0"/>
              <a:t>Reference signals are transmitted at higher power in multi-antenna case</a:t>
            </a:r>
          </a:p>
          <a:p>
            <a:r>
              <a:rPr lang="en-US" sz="1600" dirty="0"/>
              <a:t>Reference signals introduce overhead</a:t>
            </a:r>
          </a:p>
          <a:p>
            <a:pPr lvl="1"/>
            <a:r>
              <a:rPr lang="en-US" sz="1600" dirty="0"/>
              <a:t>4.8% for 1 antenna port</a:t>
            </a:r>
          </a:p>
          <a:p>
            <a:pPr lvl="1"/>
            <a:r>
              <a:rPr lang="en-US" sz="1600" dirty="0"/>
              <a:t>9.5% for 2 antenna ports</a:t>
            </a:r>
          </a:p>
          <a:p>
            <a:pPr lvl="1"/>
            <a:r>
              <a:rPr lang="en-US" sz="1600" dirty="0"/>
              <a:t>14.3 % for 4 antenna ports</a:t>
            </a:r>
          </a:p>
          <a:p>
            <a:r>
              <a:rPr lang="en-US" sz="1600" dirty="0"/>
              <a:t>Reference symbols vary from position to position and from cell to cell.</a:t>
            </a:r>
          </a:p>
          <a:p>
            <a:r>
              <a:rPr lang="en-US" sz="1600" dirty="0"/>
              <a:t>Period of the sequence is one frame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80</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5715000" y="2819400"/>
            <a:ext cx="3125561" cy="2964126"/>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5715000" y="609600"/>
            <a:ext cx="3090862" cy="1441220"/>
          </a:xfrm>
          <a:prstGeom prst="rect">
            <a:avLst/>
          </a:prstGeom>
          <a:noFill/>
          <a:ln w="9525">
            <a:noFill/>
            <a:miter lim="800000"/>
            <a:headEnd/>
            <a:tailEnd/>
          </a:ln>
        </p:spPr>
      </p:pic>
      <p:sp>
        <p:nvSpPr>
          <p:cNvPr id="7" name="TextBox 6"/>
          <p:cNvSpPr txBox="1"/>
          <p:nvPr/>
        </p:nvSpPr>
        <p:spPr>
          <a:xfrm>
            <a:off x="6781800" y="5943600"/>
            <a:ext cx="1089529" cy="307777"/>
          </a:xfrm>
          <a:prstGeom prst="rect">
            <a:avLst/>
          </a:prstGeom>
          <a:noFill/>
        </p:spPr>
        <p:txBody>
          <a:bodyPr wrap="none" rtlCol="0">
            <a:spAutoFit/>
          </a:bodyPr>
          <a:lstStyle/>
          <a:p>
            <a:r>
              <a:rPr lang="en-US" sz="1400" dirty="0"/>
              <a:t>Four port TX</a:t>
            </a:r>
          </a:p>
        </p:txBody>
      </p:sp>
      <p:sp>
        <p:nvSpPr>
          <p:cNvPr id="8" name="TextBox 7"/>
          <p:cNvSpPr txBox="1"/>
          <p:nvPr/>
        </p:nvSpPr>
        <p:spPr>
          <a:xfrm>
            <a:off x="6705600" y="2133600"/>
            <a:ext cx="1060290" cy="307777"/>
          </a:xfrm>
          <a:prstGeom prst="rect">
            <a:avLst/>
          </a:prstGeom>
          <a:noFill/>
        </p:spPr>
        <p:txBody>
          <a:bodyPr wrap="none" rtlCol="0">
            <a:spAutoFit/>
          </a:bodyPr>
          <a:lstStyle/>
          <a:p>
            <a:r>
              <a:rPr lang="en-US" sz="1400" dirty="0"/>
              <a:t>Two port TX</a:t>
            </a:r>
          </a:p>
        </p:txBody>
      </p:sp>
      <p:pic>
        <p:nvPicPr>
          <p:cNvPr id="3076" name="Picture 4"/>
          <p:cNvPicPr>
            <a:picLocks noChangeAspect="1" noChangeArrowheads="1"/>
          </p:cNvPicPr>
          <p:nvPr/>
        </p:nvPicPr>
        <p:blipFill>
          <a:blip r:embed="rId4" cstate="print"/>
          <a:srcRect/>
          <a:stretch>
            <a:fillRect/>
          </a:stretch>
        </p:blipFill>
        <p:spPr bwMode="auto">
          <a:xfrm>
            <a:off x="609600" y="5029200"/>
            <a:ext cx="2224792" cy="1228725"/>
          </a:xfrm>
          <a:prstGeom prst="rect">
            <a:avLst/>
          </a:prstGeom>
          <a:noFill/>
          <a:ln w="9525">
            <a:noFill/>
            <a:miter lim="800000"/>
            <a:headEnd/>
            <a:tailEnd/>
          </a:ln>
        </p:spPr>
      </p:pic>
      <p:pic>
        <p:nvPicPr>
          <p:cNvPr id="3077" name="Picture 5"/>
          <p:cNvPicPr>
            <a:picLocks noChangeAspect="1" noChangeArrowheads="1"/>
          </p:cNvPicPr>
          <p:nvPr/>
        </p:nvPicPr>
        <p:blipFill>
          <a:blip r:embed="rId5" cstate="print"/>
          <a:srcRect/>
          <a:stretch>
            <a:fillRect/>
          </a:stretch>
        </p:blipFill>
        <p:spPr bwMode="auto">
          <a:xfrm>
            <a:off x="3276600" y="5399572"/>
            <a:ext cx="1447800" cy="1245881"/>
          </a:xfrm>
          <a:prstGeom prst="rect">
            <a:avLst/>
          </a:prstGeom>
          <a:noFill/>
          <a:ln w="9525">
            <a:noFill/>
            <a:miter lim="800000"/>
            <a:headEnd/>
            <a:tailEnd/>
          </a:ln>
        </p:spPr>
      </p:pic>
      <p:sp>
        <p:nvSpPr>
          <p:cNvPr id="11" name="TextBox 10"/>
          <p:cNvSpPr txBox="1"/>
          <p:nvPr/>
        </p:nvSpPr>
        <p:spPr>
          <a:xfrm>
            <a:off x="3505200" y="4953000"/>
            <a:ext cx="1061509" cy="307777"/>
          </a:xfrm>
          <a:prstGeom prst="rect">
            <a:avLst/>
          </a:prstGeom>
          <a:noFill/>
        </p:spPr>
        <p:txBody>
          <a:bodyPr wrap="none" rtlCol="0">
            <a:spAutoFit/>
          </a:bodyPr>
          <a:lstStyle/>
          <a:p>
            <a:r>
              <a:rPr lang="en-US" sz="1400" dirty="0"/>
              <a:t>One port TX</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724400" cy="533400"/>
          </a:xfrm>
        </p:spPr>
        <p:txBody>
          <a:bodyPr/>
          <a:lstStyle/>
          <a:p>
            <a:r>
              <a:rPr lang="en-US" sz="2400" b="1" dirty="0">
                <a:solidFill>
                  <a:srgbClr val="FF0000"/>
                </a:solidFill>
              </a:rPr>
              <a:t>UE Specific Reference Signal RS</a:t>
            </a:r>
          </a:p>
        </p:txBody>
      </p:sp>
      <p:sp>
        <p:nvSpPr>
          <p:cNvPr id="3" name="Content Placeholder 2"/>
          <p:cNvSpPr>
            <a:spLocks noGrp="1"/>
          </p:cNvSpPr>
          <p:nvPr>
            <p:ph idx="1"/>
          </p:nvPr>
        </p:nvSpPr>
        <p:spPr>
          <a:xfrm>
            <a:off x="28876" y="1650831"/>
            <a:ext cx="4466924" cy="711369"/>
          </a:xfrm>
          <a:solidFill>
            <a:srgbClr val="CCECFF"/>
          </a:solidFill>
        </p:spPr>
        <p:txBody>
          <a:bodyPr>
            <a:normAutofit/>
          </a:bodyPr>
          <a:lstStyle/>
          <a:p>
            <a:pPr>
              <a:buFont typeface="Wingdings" pitchFamily="2" charset="2"/>
              <a:buChar char="ü"/>
            </a:pPr>
            <a:r>
              <a:rPr lang="en-US" sz="1800" dirty="0"/>
              <a:t>UE specific RS – used for beam forming</a:t>
            </a:r>
          </a:p>
          <a:p>
            <a:pPr>
              <a:buFont typeface="Wingdings" pitchFamily="2" charset="2"/>
              <a:buChar char="ü"/>
            </a:pPr>
            <a:r>
              <a:rPr lang="en-US" sz="1800" dirty="0"/>
              <a:t>Provided in addition to cell specific RS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a:p>
        </p:txBody>
      </p:sp>
      <p:pic>
        <p:nvPicPr>
          <p:cNvPr id="5122" name="Picture 2"/>
          <p:cNvPicPr>
            <a:picLocks noChangeAspect="1" noChangeArrowheads="1"/>
          </p:cNvPicPr>
          <p:nvPr/>
        </p:nvPicPr>
        <p:blipFill>
          <a:blip r:embed="rId2" cstate="print"/>
          <a:srcRect/>
          <a:stretch>
            <a:fillRect/>
          </a:stretch>
        </p:blipFill>
        <p:spPr bwMode="auto">
          <a:xfrm>
            <a:off x="533400" y="3505200"/>
            <a:ext cx="2819400" cy="2819400"/>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3810000" y="4648200"/>
            <a:ext cx="2914650" cy="1609725"/>
          </a:xfrm>
          <a:prstGeom prst="rect">
            <a:avLst/>
          </a:prstGeom>
          <a:noFill/>
          <a:ln w="9525">
            <a:noFill/>
            <a:miter lim="800000"/>
            <a:headEnd/>
            <a:tailEnd/>
          </a:ln>
        </p:spPr>
      </p:pic>
      <p:sp>
        <p:nvSpPr>
          <p:cNvPr id="7" name="TextBox 6"/>
          <p:cNvSpPr txBox="1"/>
          <p:nvPr/>
        </p:nvSpPr>
        <p:spPr>
          <a:xfrm>
            <a:off x="4114800" y="3221504"/>
            <a:ext cx="4800600" cy="923330"/>
          </a:xfrm>
          <a:prstGeom prst="rect">
            <a:avLst/>
          </a:prstGeom>
          <a:noFill/>
        </p:spPr>
        <p:txBody>
          <a:bodyPr wrap="square" rtlCol="0">
            <a:spAutoFit/>
          </a:bodyPr>
          <a:lstStyle/>
          <a:p>
            <a:pPr algn="just"/>
            <a:r>
              <a:rPr lang="en-US" sz="1800" dirty="0"/>
              <a:t>Note: additional reference signals increase overhead.  One of the most beneficial use of beam forming is at the cell edge – improves SNR</a:t>
            </a:r>
          </a:p>
        </p:txBody>
      </p:sp>
      <p:sp>
        <p:nvSpPr>
          <p:cNvPr id="8" name="TextBox 7"/>
          <p:cNvSpPr txBox="1"/>
          <p:nvPr/>
        </p:nvSpPr>
        <p:spPr>
          <a:xfrm>
            <a:off x="0" y="520615"/>
            <a:ext cx="8915400" cy="1015663"/>
          </a:xfrm>
          <a:prstGeom prst="rect">
            <a:avLst/>
          </a:prstGeom>
          <a:noFill/>
        </p:spPr>
        <p:txBody>
          <a:bodyPr wrap="square" rtlCol="0">
            <a:spAutoFit/>
          </a:bodyPr>
          <a:lstStyle/>
          <a:p>
            <a:pPr algn="just"/>
            <a:r>
              <a:rPr lang="en-US" sz="2000" dirty="0"/>
              <a:t>In addition to the Cell-specific RS, the base station may transmit UE-specific RS in RBs allocated to the PDSCH (Physical Downlink Shared Channel, which carries user data) of a UE.</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82</a:t>
            </a:fld>
            <a:endParaRPr lang="en-US"/>
          </a:p>
        </p:txBody>
      </p:sp>
      <p:sp>
        <p:nvSpPr>
          <p:cNvPr id="5" name="TextBox 4"/>
          <p:cNvSpPr txBox="1"/>
          <p:nvPr/>
        </p:nvSpPr>
        <p:spPr>
          <a:xfrm>
            <a:off x="-5615" y="0"/>
            <a:ext cx="5181600" cy="646331"/>
          </a:xfrm>
          <a:prstGeom prst="rect">
            <a:avLst/>
          </a:prstGeom>
          <a:noFill/>
        </p:spPr>
        <p:txBody>
          <a:bodyPr wrap="square" rtlCol="0">
            <a:spAutoFit/>
          </a:bodyPr>
          <a:lstStyle/>
          <a:p>
            <a:r>
              <a:rPr lang="en-US" sz="3600" b="1" dirty="0">
                <a:solidFill>
                  <a:schemeClr val="accent2"/>
                </a:solidFill>
              </a:rPr>
              <a:t>Uplink Reference Signal</a:t>
            </a:r>
          </a:p>
        </p:txBody>
      </p:sp>
      <p:sp>
        <p:nvSpPr>
          <p:cNvPr id="6" name="TextBox 5"/>
          <p:cNvSpPr txBox="1"/>
          <p:nvPr/>
        </p:nvSpPr>
        <p:spPr>
          <a:xfrm>
            <a:off x="-5615" y="533618"/>
            <a:ext cx="8839200" cy="1200329"/>
          </a:xfrm>
          <a:prstGeom prst="rect">
            <a:avLst/>
          </a:prstGeom>
          <a:noFill/>
        </p:spPr>
        <p:txBody>
          <a:bodyPr wrap="square" rtlCol="0">
            <a:spAutoFit/>
          </a:bodyPr>
          <a:lstStyle/>
          <a:p>
            <a:pPr algn="just"/>
            <a:r>
              <a:rPr lang="en-US" dirty="0"/>
              <a:t>There are two types of reference signals for uplink in LTE. </a:t>
            </a:r>
          </a:p>
          <a:p>
            <a:pPr marL="342900" indent="-342900" algn="just">
              <a:buFont typeface="Wingdings" panose="05000000000000000000" pitchFamily="2" charset="2"/>
              <a:buChar char="ü"/>
            </a:pPr>
            <a:r>
              <a:rPr lang="en-US" dirty="0"/>
              <a:t>The first is </a:t>
            </a:r>
            <a:r>
              <a:rPr lang="en-US" dirty="0">
                <a:solidFill>
                  <a:srgbClr val="0000FF"/>
                </a:solidFill>
              </a:rPr>
              <a:t>Demodulation Reference Signals (DM-RS) </a:t>
            </a:r>
            <a:r>
              <a:rPr lang="en-US" dirty="0"/>
              <a:t>which are used to enable coherent signal demodulation at the </a:t>
            </a:r>
            <a:r>
              <a:rPr lang="en-US" dirty="0" err="1"/>
              <a:t>eNodeB</a:t>
            </a:r>
            <a:r>
              <a:rPr lang="en-US" dirty="0"/>
              <a:t>. </a:t>
            </a:r>
          </a:p>
        </p:txBody>
      </p:sp>
      <p:sp>
        <p:nvSpPr>
          <p:cNvPr id="7" name="TextBox 6"/>
          <p:cNvSpPr txBox="1"/>
          <p:nvPr/>
        </p:nvSpPr>
        <p:spPr>
          <a:xfrm>
            <a:off x="70585" y="1996401"/>
            <a:ext cx="8763000" cy="2308324"/>
          </a:xfrm>
          <a:prstGeom prst="rect">
            <a:avLst/>
          </a:prstGeom>
          <a:noFill/>
        </p:spPr>
        <p:txBody>
          <a:bodyPr wrap="square" rtlCol="0">
            <a:spAutoFit/>
          </a:bodyPr>
          <a:lstStyle/>
          <a:p>
            <a:pPr algn="just">
              <a:buFont typeface="Wingdings" pitchFamily="2" charset="2"/>
              <a:buChar char="ü"/>
            </a:pPr>
            <a:r>
              <a:rPr lang="en-US" dirty="0"/>
              <a:t>The second is </a:t>
            </a:r>
            <a:r>
              <a:rPr lang="en-US" dirty="0">
                <a:solidFill>
                  <a:srgbClr val="0000FF"/>
                </a:solidFill>
              </a:rPr>
              <a:t>Sounding Reference Signal (SRS) </a:t>
            </a:r>
            <a:r>
              <a:rPr lang="en-US" dirty="0"/>
              <a:t>transmitted by UE to report the channel quality of over all bandwidth (frequency selective channel case). It is typically transmitted in the last SC-FDMA symbol of a 1 </a:t>
            </a:r>
            <a:r>
              <a:rPr lang="en-US" dirty="0" err="1"/>
              <a:t>ms</a:t>
            </a:r>
            <a:r>
              <a:rPr lang="en-US" dirty="0"/>
              <a:t> </a:t>
            </a:r>
            <a:r>
              <a:rPr lang="en-US" dirty="0" err="1"/>
              <a:t>subframe</a:t>
            </a:r>
            <a:r>
              <a:rPr lang="en-US" dirty="0"/>
              <a:t> and using this information </a:t>
            </a:r>
            <a:r>
              <a:rPr lang="en-US" dirty="0" err="1"/>
              <a:t>eNB</a:t>
            </a:r>
            <a:r>
              <a:rPr lang="en-US" dirty="0"/>
              <a:t> assign the resource (to UE for uplink transmission) has better channel quality comparing to  other bandwidth  region.</a:t>
            </a:r>
          </a:p>
        </p:txBody>
      </p:sp>
      <p:pic>
        <p:nvPicPr>
          <p:cNvPr id="8" name="Picture 7"/>
          <p:cNvPicPr>
            <a:picLocks noChangeAspect="1"/>
          </p:cNvPicPr>
          <p:nvPr/>
        </p:nvPicPr>
        <p:blipFill>
          <a:blip r:embed="rId2"/>
          <a:stretch>
            <a:fillRect/>
          </a:stretch>
        </p:blipFill>
        <p:spPr>
          <a:xfrm>
            <a:off x="3124200" y="4210555"/>
            <a:ext cx="3657600" cy="258263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4238FF85-7D5F-4211-AF5F-B3F85F4FE643}" type="slidenum">
              <a:rPr lang="en-US" smtClean="0"/>
              <a:pPr>
                <a:defRPr/>
              </a:pPr>
              <a:t>83</a:t>
            </a:fld>
            <a:endParaRPr lang="en-US"/>
          </a:p>
        </p:txBody>
      </p:sp>
      <p:sp>
        <p:nvSpPr>
          <p:cNvPr id="5" name="TextBox 4"/>
          <p:cNvSpPr txBox="1"/>
          <p:nvPr/>
        </p:nvSpPr>
        <p:spPr>
          <a:xfrm>
            <a:off x="152400" y="76200"/>
            <a:ext cx="8763000" cy="2862322"/>
          </a:xfrm>
          <a:prstGeom prst="rect">
            <a:avLst/>
          </a:prstGeom>
          <a:noFill/>
        </p:spPr>
        <p:txBody>
          <a:bodyPr wrap="square" rtlCol="0">
            <a:spAutoFit/>
          </a:bodyPr>
          <a:lstStyle/>
          <a:p>
            <a:pPr algn="just"/>
            <a:r>
              <a:rPr lang="en-US" sz="3600" b="1" dirty="0">
                <a:solidFill>
                  <a:schemeClr val="accent2"/>
                </a:solidFill>
              </a:rPr>
              <a:t>Relays and Repeaters</a:t>
            </a:r>
          </a:p>
          <a:p>
            <a:pPr algn="just"/>
            <a:r>
              <a:rPr lang="en-US" dirty="0"/>
              <a:t>Relaying is used in order to deploy cells in areas where no (or very expensive) wired backhaul exists. It is often used to improve the coverage and throughput, for example, in urban, and rural scenarios. Figure below shows a typical scenario where a Relay Node (RN) is connected to an </a:t>
            </a:r>
            <a:r>
              <a:rPr lang="en-US" dirty="0" err="1"/>
              <a:t>eNodeB</a:t>
            </a:r>
            <a:r>
              <a:rPr lang="en-US" dirty="0"/>
              <a:t> wirelessly. The </a:t>
            </a:r>
            <a:r>
              <a:rPr lang="en-US" dirty="0" err="1"/>
              <a:t>eNodeB</a:t>
            </a:r>
            <a:r>
              <a:rPr lang="en-US" dirty="0"/>
              <a:t> that the RN is connected to is called in that case, a Donor </a:t>
            </a:r>
            <a:r>
              <a:rPr lang="en-US" dirty="0" err="1"/>
              <a:t>eNodeB</a:t>
            </a:r>
            <a:r>
              <a:rPr lang="en-US" dirty="0"/>
              <a:t> (</a:t>
            </a:r>
            <a:r>
              <a:rPr lang="en-US" dirty="0" err="1"/>
              <a:t>DeNB</a:t>
            </a:r>
            <a:r>
              <a:rPr lang="en-US" dirty="0"/>
              <a:t>).</a:t>
            </a:r>
          </a:p>
        </p:txBody>
      </p:sp>
      <p:pic>
        <p:nvPicPr>
          <p:cNvPr id="79874" name="Picture 2"/>
          <p:cNvPicPr>
            <a:picLocks noChangeAspect="1" noChangeArrowheads="1"/>
          </p:cNvPicPr>
          <p:nvPr/>
        </p:nvPicPr>
        <p:blipFill>
          <a:blip r:embed="rId2"/>
          <a:srcRect/>
          <a:stretch>
            <a:fillRect/>
          </a:stretch>
        </p:blipFill>
        <p:spPr bwMode="auto">
          <a:xfrm>
            <a:off x="1143000" y="3048000"/>
            <a:ext cx="6905625" cy="3616832"/>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6413</TotalTime>
  <Words>5076</Words>
  <Application>Microsoft Office PowerPoint</Application>
  <PresentationFormat>On-screen Show (4:3)</PresentationFormat>
  <Paragraphs>702</Paragraphs>
  <Slides>83</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0</vt:i4>
      </vt:variant>
      <vt:variant>
        <vt:lpstr>Slide Titles</vt:lpstr>
      </vt:variant>
      <vt:variant>
        <vt:i4>83</vt:i4>
      </vt:variant>
    </vt:vector>
  </HeadingPairs>
  <TitlesOfParts>
    <vt:vector size="94" baseType="lpstr">
      <vt:lpstr>ＭＳ Ｐゴシック</vt:lpstr>
      <vt:lpstr>SimSun</vt:lpstr>
      <vt:lpstr>Arial</vt:lpstr>
      <vt:lpstr>Calibri</vt:lpstr>
      <vt:lpstr>Cambria Math</vt:lpstr>
      <vt:lpstr>Comic Sans MS</vt:lpstr>
      <vt:lpstr>新細明體</vt:lpstr>
      <vt:lpstr>Tahoma</vt:lpstr>
      <vt:lpstr>Times New Roman</vt:lpstr>
      <vt:lpstr>Wingdings</vt:lpstr>
      <vt:lpstr>Default Design</vt:lpstr>
      <vt:lpstr>4G Mobile Communications (WiMAX and LTE)</vt:lpstr>
      <vt:lpstr>PowerPoint Presentation</vt:lpstr>
      <vt:lpstr>PowerPoint Presentation</vt:lpstr>
      <vt:lpstr>Some Key Challenges</vt:lpstr>
      <vt:lpstr>PowerPoint Presentation</vt:lpstr>
      <vt:lpstr>WiMAX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Wireless Technology Evolution to 3.9G</vt:lpstr>
      <vt:lpstr>PowerPoint Presentation</vt:lpstr>
      <vt:lpstr>PowerPoint Presentation</vt:lpstr>
      <vt:lpstr>Layers of WiMAX</vt:lpstr>
      <vt:lpstr>802.16 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Long Term Evolution (LTE)</vt:lpstr>
      <vt:lpstr>Evolution of LTE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LTE Protocol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OFDMA time-frequency scheduling</vt:lpstr>
      <vt:lpstr>PowerPoint Presentation</vt:lpstr>
      <vt:lpstr> Downlink Reference Signals </vt:lpstr>
      <vt:lpstr>PowerPoint Presentation</vt:lpstr>
      <vt:lpstr>PowerPoint Presentation</vt:lpstr>
      <vt:lpstr>UE Specific Reference Signal RS</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CSEJU</cp:lastModifiedBy>
  <cp:revision>626</cp:revision>
  <dcterms:created xsi:type="dcterms:W3CDTF">1601-01-01T00:00:00Z</dcterms:created>
  <dcterms:modified xsi:type="dcterms:W3CDTF">2025-07-30T08:08:11Z</dcterms:modified>
</cp:coreProperties>
</file>