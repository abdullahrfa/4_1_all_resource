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1"/>
  </p:notesMasterIdLst>
  <p:handoutMasterIdLst>
    <p:handoutMasterId r:id="rId72"/>
  </p:handoutMasterIdLst>
  <p:sldIdLst>
    <p:sldId id="393" r:id="rId2"/>
    <p:sldId id="302" r:id="rId3"/>
    <p:sldId id="394" r:id="rId4"/>
    <p:sldId id="259" r:id="rId5"/>
    <p:sldId id="264" r:id="rId6"/>
    <p:sldId id="265" r:id="rId7"/>
    <p:sldId id="268" r:id="rId8"/>
    <p:sldId id="390" r:id="rId9"/>
    <p:sldId id="391" r:id="rId10"/>
    <p:sldId id="395" r:id="rId11"/>
    <p:sldId id="396" r:id="rId12"/>
    <p:sldId id="327" r:id="rId13"/>
    <p:sldId id="270" r:id="rId14"/>
    <p:sldId id="397" r:id="rId15"/>
    <p:sldId id="314" r:id="rId16"/>
    <p:sldId id="398" r:id="rId17"/>
    <p:sldId id="399" r:id="rId18"/>
    <p:sldId id="400" r:id="rId19"/>
    <p:sldId id="299" r:id="rId20"/>
    <p:sldId id="274" r:id="rId21"/>
    <p:sldId id="323" r:id="rId22"/>
    <p:sldId id="300" r:id="rId23"/>
    <p:sldId id="341" r:id="rId24"/>
    <p:sldId id="342" r:id="rId25"/>
    <p:sldId id="343" r:id="rId26"/>
    <p:sldId id="339" r:id="rId27"/>
    <p:sldId id="324" r:id="rId28"/>
    <p:sldId id="333" r:id="rId29"/>
    <p:sldId id="402" r:id="rId30"/>
    <p:sldId id="403" r:id="rId31"/>
    <p:sldId id="404" r:id="rId32"/>
    <p:sldId id="405" r:id="rId33"/>
    <p:sldId id="406" r:id="rId34"/>
    <p:sldId id="334" r:id="rId35"/>
    <p:sldId id="401" r:id="rId36"/>
    <p:sldId id="331" r:id="rId37"/>
    <p:sldId id="381" r:id="rId38"/>
    <p:sldId id="407" r:id="rId39"/>
    <p:sldId id="408" r:id="rId40"/>
    <p:sldId id="382" r:id="rId41"/>
    <p:sldId id="383" r:id="rId42"/>
    <p:sldId id="385" r:id="rId43"/>
    <p:sldId id="387" r:id="rId44"/>
    <p:sldId id="307" r:id="rId45"/>
    <p:sldId id="281" r:id="rId46"/>
    <p:sldId id="340" r:id="rId47"/>
    <p:sldId id="282" r:id="rId48"/>
    <p:sldId id="283" r:id="rId49"/>
    <p:sldId id="409" r:id="rId50"/>
    <p:sldId id="411" r:id="rId51"/>
    <p:sldId id="410" r:id="rId52"/>
    <p:sldId id="392" r:id="rId53"/>
    <p:sldId id="412" r:id="rId54"/>
    <p:sldId id="413" r:id="rId55"/>
    <p:sldId id="414" r:id="rId56"/>
    <p:sldId id="415" r:id="rId57"/>
    <p:sldId id="416" r:id="rId58"/>
    <p:sldId id="417" r:id="rId59"/>
    <p:sldId id="367" r:id="rId60"/>
    <p:sldId id="374" r:id="rId61"/>
    <p:sldId id="375" r:id="rId62"/>
    <p:sldId id="376" r:id="rId63"/>
    <p:sldId id="377" r:id="rId64"/>
    <p:sldId id="369" r:id="rId65"/>
    <p:sldId id="370" r:id="rId66"/>
    <p:sldId id="371" r:id="rId67"/>
    <p:sldId id="378" r:id="rId68"/>
    <p:sldId id="389" r:id="rId69"/>
    <p:sldId id="373"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FF"/>
    <a:srgbClr val="CCCCFF"/>
    <a:srgbClr val="66CCFF"/>
    <a:srgbClr val="CCECFF"/>
    <a:srgbClr val="FFCCFF"/>
    <a:srgbClr val="00CCFF"/>
    <a:srgbClr val="0000FF"/>
    <a:srgbClr val="FF9999"/>
    <a:srgbClr val="FFCCCC"/>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87"/>
  </p:normalViewPr>
  <p:slideViewPr>
    <p:cSldViewPr snapToGrid="0">
      <p:cViewPr varScale="1">
        <p:scale>
          <a:sx n="74" d="100"/>
          <a:sy n="74" d="100"/>
        </p:scale>
        <p:origin x="176" y="10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B537449-EA89-424B-9AAC-96B8C9E803C6}" type="datetimeFigureOut">
              <a:rPr lang="en-US" smtClean="0"/>
              <a:t>10/12/25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47E5664-9EB3-40FF-B7BA-CA74288439D6}" type="slidenum">
              <a:rPr lang="en-US" smtClean="0"/>
              <a:t>‹#›</a:t>
            </a:fld>
            <a:endParaRPr lang="en-US"/>
          </a:p>
        </p:txBody>
      </p:sp>
    </p:spTree>
    <p:extLst>
      <p:ext uri="{BB962C8B-B14F-4D97-AF65-F5344CB8AC3E}">
        <p14:creationId xmlns:p14="http://schemas.microsoft.com/office/powerpoint/2010/main" val="39907998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2B94AE-A184-4A45-B4CC-E8F656D95F24}" type="datetimeFigureOut">
              <a:rPr lang="en-US" smtClean="0"/>
              <a:t>10/12/25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7CB9A-D5E4-4E8B-8CE6-38BAF4BF7F33}" type="slidenum">
              <a:rPr lang="en-US" smtClean="0"/>
              <a:t>‹#›</a:t>
            </a:fld>
            <a:endParaRPr lang="en-US"/>
          </a:p>
        </p:txBody>
      </p:sp>
    </p:spTree>
    <p:extLst>
      <p:ext uri="{BB962C8B-B14F-4D97-AF65-F5344CB8AC3E}">
        <p14:creationId xmlns:p14="http://schemas.microsoft.com/office/powerpoint/2010/main" val="2968143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13C29C3-1C66-4062-824A-A70994BCFFE0}" type="slidenum">
              <a:rPr lang="en-US" smtClean="0"/>
              <a:pPr>
                <a:defRPr/>
              </a:pPr>
              <a:t>2</a:t>
            </a:fld>
            <a:endParaRPr lang="en-US"/>
          </a:p>
        </p:txBody>
      </p:sp>
    </p:spTree>
    <p:extLst>
      <p:ext uri="{BB962C8B-B14F-4D97-AF65-F5344CB8AC3E}">
        <p14:creationId xmlns:p14="http://schemas.microsoft.com/office/powerpoint/2010/main" val="1010853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287CB9A-D5E4-4E8B-8CE6-38BAF4BF7F33}" type="slidenum">
              <a:rPr lang="en-US" smtClean="0"/>
              <a:t>5</a:t>
            </a:fld>
            <a:endParaRPr lang="en-US"/>
          </a:p>
        </p:txBody>
      </p:sp>
    </p:spTree>
    <p:extLst>
      <p:ext uri="{BB962C8B-B14F-4D97-AF65-F5344CB8AC3E}">
        <p14:creationId xmlns:p14="http://schemas.microsoft.com/office/powerpoint/2010/main" val="6236410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215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C73AD8D-998F-4E75-BEE4-18A14DF7FE68}" type="slidenum">
              <a:rPr lang="en-US" smtClean="0">
                <a:latin typeface="Times New Roman" panose="02020603050405020304" pitchFamily="18" charset="0"/>
              </a:rPr>
              <a:pPr>
                <a:spcBef>
                  <a:spcPct val="0"/>
                </a:spcBef>
              </a:pPr>
              <a:t>13</a:t>
            </a:fld>
            <a:endParaRPr lang="en-US">
              <a:latin typeface="Times New Roman" panose="02020603050405020304" pitchFamily="18" charset="0"/>
            </a:endParaRPr>
          </a:p>
        </p:txBody>
      </p:sp>
    </p:spTree>
    <p:extLst>
      <p:ext uri="{BB962C8B-B14F-4D97-AF65-F5344CB8AC3E}">
        <p14:creationId xmlns:p14="http://schemas.microsoft.com/office/powerpoint/2010/main" val="3216578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337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DB15385-5D72-4787-99E0-B9FD7817F017}" type="slidenum">
              <a:rPr lang="en-US" smtClean="0">
                <a:latin typeface="Times New Roman" panose="02020603050405020304" pitchFamily="18" charset="0"/>
              </a:rPr>
              <a:pPr>
                <a:spcBef>
                  <a:spcPct val="0"/>
                </a:spcBef>
              </a:pPr>
              <a:t>22</a:t>
            </a:fld>
            <a:endParaRPr lang="en-US">
              <a:latin typeface="Times New Roman" panose="02020603050405020304" pitchFamily="18" charset="0"/>
            </a:endParaRPr>
          </a:p>
        </p:txBody>
      </p:sp>
    </p:spTree>
    <p:extLst>
      <p:ext uri="{BB962C8B-B14F-4D97-AF65-F5344CB8AC3E}">
        <p14:creationId xmlns:p14="http://schemas.microsoft.com/office/powerpoint/2010/main" val="2793187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359A6-D16C-4EFF-A640-DB88153F17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0BF1EDC-2244-4B6F-B267-F32062C3B2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908C8B-A21B-4CA1-BCC0-563EE629DBE4}"/>
              </a:ext>
            </a:extLst>
          </p:cNvPr>
          <p:cNvSpPr>
            <a:spLocks noGrp="1"/>
          </p:cNvSpPr>
          <p:nvPr>
            <p:ph type="dt" sz="half" idx="10"/>
          </p:nvPr>
        </p:nvSpPr>
        <p:spPr/>
        <p:txBody>
          <a:bodyPr/>
          <a:lstStyle/>
          <a:p>
            <a:fld id="{98F729B2-CAF6-48F4-A860-4CE2BAC0DF9E}" type="datetime1">
              <a:rPr lang="en-US" smtClean="0"/>
              <a:t>10/12/25</a:t>
            </a:fld>
            <a:endParaRPr lang="en-US"/>
          </a:p>
        </p:txBody>
      </p:sp>
      <p:sp>
        <p:nvSpPr>
          <p:cNvPr id="5" name="Footer Placeholder 4">
            <a:extLst>
              <a:ext uri="{FF2B5EF4-FFF2-40B4-BE49-F238E27FC236}">
                <a16:creationId xmlns:a16="http://schemas.microsoft.com/office/drawing/2014/main" id="{56C1D910-C2B0-4B4E-A09B-07BC6310CC8D}"/>
              </a:ext>
            </a:extLst>
          </p:cNvPr>
          <p:cNvSpPr>
            <a:spLocks noGrp="1"/>
          </p:cNvSpPr>
          <p:nvPr>
            <p:ph type="ftr" sz="quarter" idx="11"/>
          </p:nvPr>
        </p:nvSpPr>
        <p:spPr/>
        <p:txBody>
          <a:bodyPr/>
          <a:lstStyle/>
          <a:p>
            <a:r>
              <a:rPr lang="en-US"/>
              <a:t>Prof. Dr. Md. Imdadul Islam</a:t>
            </a:r>
          </a:p>
        </p:txBody>
      </p:sp>
      <p:sp>
        <p:nvSpPr>
          <p:cNvPr id="6" name="Slide Number Placeholder 5">
            <a:extLst>
              <a:ext uri="{FF2B5EF4-FFF2-40B4-BE49-F238E27FC236}">
                <a16:creationId xmlns:a16="http://schemas.microsoft.com/office/drawing/2014/main" id="{371B6BA2-C692-4BF6-BBDA-BBC7EC29E47C}"/>
              </a:ext>
            </a:extLst>
          </p:cNvPr>
          <p:cNvSpPr>
            <a:spLocks noGrp="1"/>
          </p:cNvSpPr>
          <p:nvPr>
            <p:ph type="sldNum" sz="quarter" idx="12"/>
          </p:nvPr>
        </p:nvSpPr>
        <p:spPr/>
        <p:txBody>
          <a:bodyPr/>
          <a:lstStyle/>
          <a:p>
            <a:fld id="{C3F1913A-7668-436E-8561-76A60B792217}" type="slidenum">
              <a:rPr lang="en-US" smtClean="0"/>
              <a:t>‹#›</a:t>
            </a:fld>
            <a:endParaRPr lang="en-US"/>
          </a:p>
        </p:txBody>
      </p:sp>
    </p:spTree>
    <p:extLst>
      <p:ext uri="{BB962C8B-B14F-4D97-AF65-F5344CB8AC3E}">
        <p14:creationId xmlns:p14="http://schemas.microsoft.com/office/powerpoint/2010/main" val="2314930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7D861-349D-443D-96B2-1A5DBDE253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567769-FC0A-4EA8-A84B-F8A6E33456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12B292-ECA2-42EA-A2DC-3F7647C87E87}"/>
              </a:ext>
            </a:extLst>
          </p:cNvPr>
          <p:cNvSpPr>
            <a:spLocks noGrp="1"/>
          </p:cNvSpPr>
          <p:nvPr>
            <p:ph type="dt" sz="half" idx="10"/>
          </p:nvPr>
        </p:nvSpPr>
        <p:spPr/>
        <p:txBody>
          <a:bodyPr/>
          <a:lstStyle/>
          <a:p>
            <a:fld id="{4FD68A46-B145-4E27-AB94-25A79AE933D6}" type="datetime1">
              <a:rPr lang="en-US" smtClean="0"/>
              <a:t>10/12/25</a:t>
            </a:fld>
            <a:endParaRPr lang="en-US"/>
          </a:p>
        </p:txBody>
      </p:sp>
      <p:sp>
        <p:nvSpPr>
          <p:cNvPr id="5" name="Footer Placeholder 4">
            <a:extLst>
              <a:ext uri="{FF2B5EF4-FFF2-40B4-BE49-F238E27FC236}">
                <a16:creationId xmlns:a16="http://schemas.microsoft.com/office/drawing/2014/main" id="{2EF01D0B-1C5F-426B-9523-84DABF6E8B60}"/>
              </a:ext>
            </a:extLst>
          </p:cNvPr>
          <p:cNvSpPr>
            <a:spLocks noGrp="1"/>
          </p:cNvSpPr>
          <p:nvPr>
            <p:ph type="ftr" sz="quarter" idx="11"/>
          </p:nvPr>
        </p:nvSpPr>
        <p:spPr/>
        <p:txBody>
          <a:bodyPr/>
          <a:lstStyle/>
          <a:p>
            <a:r>
              <a:rPr lang="en-US"/>
              <a:t>Prof. Dr. Md. Imdadul Islam</a:t>
            </a:r>
          </a:p>
        </p:txBody>
      </p:sp>
      <p:sp>
        <p:nvSpPr>
          <p:cNvPr id="6" name="Slide Number Placeholder 5">
            <a:extLst>
              <a:ext uri="{FF2B5EF4-FFF2-40B4-BE49-F238E27FC236}">
                <a16:creationId xmlns:a16="http://schemas.microsoft.com/office/drawing/2014/main" id="{454BC3E0-846F-4F39-A998-C846E5AB64BA}"/>
              </a:ext>
            </a:extLst>
          </p:cNvPr>
          <p:cNvSpPr>
            <a:spLocks noGrp="1"/>
          </p:cNvSpPr>
          <p:nvPr>
            <p:ph type="sldNum" sz="quarter" idx="12"/>
          </p:nvPr>
        </p:nvSpPr>
        <p:spPr/>
        <p:txBody>
          <a:bodyPr/>
          <a:lstStyle/>
          <a:p>
            <a:fld id="{C3F1913A-7668-436E-8561-76A60B792217}" type="slidenum">
              <a:rPr lang="en-US" smtClean="0"/>
              <a:t>‹#›</a:t>
            </a:fld>
            <a:endParaRPr lang="en-US"/>
          </a:p>
        </p:txBody>
      </p:sp>
    </p:spTree>
    <p:extLst>
      <p:ext uri="{BB962C8B-B14F-4D97-AF65-F5344CB8AC3E}">
        <p14:creationId xmlns:p14="http://schemas.microsoft.com/office/powerpoint/2010/main" val="1574070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8FB02-5A76-4826-8490-0D63E16237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AD4E13-DE28-4B23-94E4-662A64C0D2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0A908E-6A06-4359-82EF-895E5378251A}"/>
              </a:ext>
            </a:extLst>
          </p:cNvPr>
          <p:cNvSpPr>
            <a:spLocks noGrp="1"/>
          </p:cNvSpPr>
          <p:nvPr>
            <p:ph type="dt" sz="half" idx="10"/>
          </p:nvPr>
        </p:nvSpPr>
        <p:spPr/>
        <p:txBody>
          <a:bodyPr/>
          <a:lstStyle/>
          <a:p>
            <a:fld id="{0C26B323-B1C2-4B7A-B158-FE4B72129BA6}" type="datetime1">
              <a:rPr lang="en-US" smtClean="0"/>
              <a:t>10/12/25</a:t>
            </a:fld>
            <a:endParaRPr lang="en-US"/>
          </a:p>
        </p:txBody>
      </p:sp>
      <p:sp>
        <p:nvSpPr>
          <p:cNvPr id="5" name="Footer Placeholder 4">
            <a:extLst>
              <a:ext uri="{FF2B5EF4-FFF2-40B4-BE49-F238E27FC236}">
                <a16:creationId xmlns:a16="http://schemas.microsoft.com/office/drawing/2014/main" id="{AC2D1DAF-9533-4F3A-B8D3-2D504909EEB9}"/>
              </a:ext>
            </a:extLst>
          </p:cNvPr>
          <p:cNvSpPr>
            <a:spLocks noGrp="1"/>
          </p:cNvSpPr>
          <p:nvPr>
            <p:ph type="ftr" sz="quarter" idx="11"/>
          </p:nvPr>
        </p:nvSpPr>
        <p:spPr/>
        <p:txBody>
          <a:bodyPr/>
          <a:lstStyle/>
          <a:p>
            <a:r>
              <a:rPr lang="en-US"/>
              <a:t>Prof. Dr. Md. Imdadul Islam</a:t>
            </a:r>
          </a:p>
        </p:txBody>
      </p:sp>
      <p:sp>
        <p:nvSpPr>
          <p:cNvPr id="6" name="Slide Number Placeholder 5">
            <a:extLst>
              <a:ext uri="{FF2B5EF4-FFF2-40B4-BE49-F238E27FC236}">
                <a16:creationId xmlns:a16="http://schemas.microsoft.com/office/drawing/2014/main" id="{DB294DC4-2A90-4721-B781-89F23AC2031A}"/>
              </a:ext>
            </a:extLst>
          </p:cNvPr>
          <p:cNvSpPr>
            <a:spLocks noGrp="1"/>
          </p:cNvSpPr>
          <p:nvPr>
            <p:ph type="sldNum" sz="quarter" idx="12"/>
          </p:nvPr>
        </p:nvSpPr>
        <p:spPr/>
        <p:txBody>
          <a:bodyPr/>
          <a:lstStyle/>
          <a:p>
            <a:fld id="{C3F1913A-7668-436E-8561-76A60B792217}" type="slidenum">
              <a:rPr lang="en-US" smtClean="0"/>
              <a:t>‹#›</a:t>
            </a:fld>
            <a:endParaRPr lang="en-US"/>
          </a:p>
        </p:txBody>
      </p:sp>
    </p:spTree>
    <p:extLst>
      <p:ext uri="{BB962C8B-B14F-4D97-AF65-F5344CB8AC3E}">
        <p14:creationId xmlns:p14="http://schemas.microsoft.com/office/powerpoint/2010/main" val="1926591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B6CA2-7ABF-4776-AE1A-5BFCA0FB7D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78BF04-4ACD-4CB7-ADF9-D67AD6EDF0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E5713C-BA1F-4897-9240-B5BF8A26FD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12A134-7AAB-4192-8715-E4D5597B9531}"/>
              </a:ext>
            </a:extLst>
          </p:cNvPr>
          <p:cNvSpPr>
            <a:spLocks noGrp="1"/>
          </p:cNvSpPr>
          <p:nvPr>
            <p:ph type="dt" sz="half" idx="10"/>
          </p:nvPr>
        </p:nvSpPr>
        <p:spPr/>
        <p:txBody>
          <a:bodyPr/>
          <a:lstStyle/>
          <a:p>
            <a:fld id="{0BF46FE4-CE1C-46BA-88E8-553A31E9F592}" type="datetime1">
              <a:rPr lang="en-US" smtClean="0"/>
              <a:t>10/12/25</a:t>
            </a:fld>
            <a:endParaRPr lang="en-US"/>
          </a:p>
        </p:txBody>
      </p:sp>
      <p:sp>
        <p:nvSpPr>
          <p:cNvPr id="6" name="Footer Placeholder 5">
            <a:extLst>
              <a:ext uri="{FF2B5EF4-FFF2-40B4-BE49-F238E27FC236}">
                <a16:creationId xmlns:a16="http://schemas.microsoft.com/office/drawing/2014/main" id="{F85602BF-45C2-4498-BA3A-56636AAD5B66}"/>
              </a:ext>
            </a:extLst>
          </p:cNvPr>
          <p:cNvSpPr>
            <a:spLocks noGrp="1"/>
          </p:cNvSpPr>
          <p:nvPr>
            <p:ph type="ftr" sz="quarter" idx="11"/>
          </p:nvPr>
        </p:nvSpPr>
        <p:spPr/>
        <p:txBody>
          <a:bodyPr/>
          <a:lstStyle/>
          <a:p>
            <a:r>
              <a:rPr lang="en-US"/>
              <a:t>Prof. Dr. Md. Imdadul Islam</a:t>
            </a:r>
          </a:p>
        </p:txBody>
      </p:sp>
      <p:sp>
        <p:nvSpPr>
          <p:cNvPr id="7" name="Slide Number Placeholder 6">
            <a:extLst>
              <a:ext uri="{FF2B5EF4-FFF2-40B4-BE49-F238E27FC236}">
                <a16:creationId xmlns:a16="http://schemas.microsoft.com/office/drawing/2014/main" id="{646638A0-8BEB-4F7E-BFD4-332A6CC90B82}"/>
              </a:ext>
            </a:extLst>
          </p:cNvPr>
          <p:cNvSpPr>
            <a:spLocks noGrp="1"/>
          </p:cNvSpPr>
          <p:nvPr>
            <p:ph type="sldNum" sz="quarter" idx="12"/>
          </p:nvPr>
        </p:nvSpPr>
        <p:spPr/>
        <p:txBody>
          <a:bodyPr/>
          <a:lstStyle/>
          <a:p>
            <a:fld id="{C3F1913A-7668-436E-8561-76A60B792217}" type="slidenum">
              <a:rPr lang="en-US" smtClean="0"/>
              <a:t>‹#›</a:t>
            </a:fld>
            <a:endParaRPr lang="en-US"/>
          </a:p>
        </p:txBody>
      </p:sp>
    </p:spTree>
    <p:extLst>
      <p:ext uri="{BB962C8B-B14F-4D97-AF65-F5344CB8AC3E}">
        <p14:creationId xmlns:p14="http://schemas.microsoft.com/office/powerpoint/2010/main" val="1650489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26BAC-EDB0-4A96-9BD7-E56AEC425D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FE0EE98-7D8D-47A6-80A2-DE904E22FD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227D47-26DB-4453-AFCD-D7B196D928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114055-5831-46D8-B612-4F2CB08D84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CBA04B-B2E4-43D3-BF2B-021A2542AD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1FED84-9B35-488B-BC54-2463881BC8EF}"/>
              </a:ext>
            </a:extLst>
          </p:cNvPr>
          <p:cNvSpPr>
            <a:spLocks noGrp="1"/>
          </p:cNvSpPr>
          <p:nvPr>
            <p:ph type="dt" sz="half" idx="10"/>
          </p:nvPr>
        </p:nvSpPr>
        <p:spPr/>
        <p:txBody>
          <a:bodyPr/>
          <a:lstStyle/>
          <a:p>
            <a:fld id="{E643D9D0-B359-4677-8ED2-1D97C128FFBC}" type="datetime1">
              <a:rPr lang="en-US" smtClean="0"/>
              <a:t>10/12/25</a:t>
            </a:fld>
            <a:endParaRPr lang="en-US"/>
          </a:p>
        </p:txBody>
      </p:sp>
      <p:sp>
        <p:nvSpPr>
          <p:cNvPr id="8" name="Footer Placeholder 7">
            <a:extLst>
              <a:ext uri="{FF2B5EF4-FFF2-40B4-BE49-F238E27FC236}">
                <a16:creationId xmlns:a16="http://schemas.microsoft.com/office/drawing/2014/main" id="{DCBD06CD-5A89-45CB-BFCA-EF75BEF127CF}"/>
              </a:ext>
            </a:extLst>
          </p:cNvPr>
          <p:cNvSpPr>
            <a:spLocks noGrp="1"/>
          </p:cNvSpPr>
          <p:nvPr>
            <p:ph type="ftr" sz="quarter" idx="11"/>
          </p:nvPr>
        </p:nvSpPr>
        <p:spPr/>
        <p:txBody>
          <a:bodyPr/>
          <a:lstStyle/>
          <a:p>
            <a:r>
              <a:rPr lang="en-US"/>
              <a:t>Prof. Dr. Md. Imdadul Islam</a:t>
            </a:r>
          </a:p>
        </p:txBody>
      </p:sp>
      <p:sp>
        <p:nvSpPr>
          <p:cNvPr id="9" name="Slide Number Placeholder 8">
            <a:extLst>
              <a:ext uri="{FF2B5EF4-FFF2-40B4-BE49-F238E27FC236}">
                <a16:creationId xmlns:a16="http://schemas.microsoft.com/office/drawing/2014/main" id="{34421380-6438-4DDE-8094-3427F36EDD3C}"/>
              </a:ext>
            </a:extLst>
          </p:cNvPr>
          <p:cNvSpPr>
            <a:spLocks noGrp="1"/>
          </p:cNvSpPr>
          <p:nvPr>
            <p:ph type="sldNum" sz="quarter" idx="12"/>
          </p:nvPr>
        </p:nvSpPr>
        <p:spPr/>
        <p:txBody>
          <a:bodyPr/>
          <a:lstStyle/>
          <a:p>
            <a:fld id="{C3F1913A-7668-436E-8561-76A60B792217}" type="slidenum">
              <a:rPr lang="en-US" smtClean="0"/>
              <a:t>‹#›</a:t>
            </a:fld>
            <a:endParaRPr lang="en-US"/>
          </a:p>
        </p:txBody>
      </p:sp>
    </p:spTree>
    <p:extLst>
      <p:ext uri="{BB962C8B-B14F-4D97-AF65-F5344CB8AC3E}">
        <p14:creationId xmlns:p14="http://schemas.microsoft.com/office/powerpoint/2010/main" val="1806391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D95DD-B9A2-47ED-91DA-5058B63EE0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8ED463-4E55-4BDF-9F83-7503F93B6700}"/>
              </a:ext>
            </a:extLst>
          </p:cNvPr>
          <p:cNvSpPr>
            <a:spLocks noGrp="1"/>
          </p:cNvSpPr>
          <p:nvPr>
            <p:ph type="dt" sz="half" idx="10"/>
          </p:nvPr>
        </p:nvSpPr>
        <p:spPr/>
        <p:txBody>
          <a:bodyPr/>
          <a:lstStyle/>
          <a:p>
            <a:fld id="{8F730D3D-143E-46CC-A8A6-6733167C27FA}" type="datetime1">
              <a:rPr lang="en-US" smtClean="0"/>
              <a:t>10/12/25</a:t>
            </a:fld>
            <a:endParaRPr lang="en-US"/>
          </a:p>
        </p:txBody>
      </p:sp>
      <p:sp>
        <p:nvSpPr>
          <p:cNvPr id="4" name="Footer Placeholder 3">
            <a:extLst>
              <a:ext uri="{FF2B5EF4-FFF2-40B4-BE49-F238E27FC236}">
                <a16:creationId xmlns:a16="http://schemas.microsoft.com/office/drawing/2014/main" id="{34681B92-70DA-45C8-AF24-CFE50A75F31C}"/>
              </a:ext>
            </a:extLst>
          </p:cNvPr>
          <p:cNvSpPr>
            <a:spLocks noGrp="1"/>
          </p:cNvSpPr>
          <p:nvPr>
            <p:ph type="ftr" sz="quarter" idx="11"/>
          </p:nvPr>
        </p:nvSpPr>
        <p:spPr/>
        <p:txBody>
          <a:bodyPr/>
          <a:lstStyle/>
          <a:p>
            <a:r>
              <a:rPr lang="en-US"/>
              <a:t>Prof. Dr. Md. Imdadul Islam</a:t>
            </a:r>
          </a:p>
        </p:txBody>
      </p:sp>
      <p:sp>
        <p:nvSpPr>
          <p:cNvPr id="5" name="Slide Number Placeholder 4">
            <a:extLst>
              <a:ext uri="{FF2B5EF4-FFF2-40B4-BE49-F238E27FC236}">
                <a16:creationId xmlns:a16="http://schemas.microsoft.com/office/drawing/2014/main" id="{56F7B146-C8F8-45A0-9C24-6B528873CBA2}"/>
              </a:ext>
            </a:extLst>
          </p:cNvPr>
          <p:cNvSpPr>
            <a:spLocks noGrp="1"/>
          </p:cNvSpPr>
          <p:nvPr>
            <p:ph type="sldNum" sz="quarter" idx="12"/>
          </p:nvPr>
        </p:nvSpPr>
        <p:spPr/>
        <p:txBody>
          <a:bodyPr/>
          <a:lstStyle/>
          <a:p>
            <a:fld id="{C3F1913A-7668-436E-8561-76A60B792217}" type="slidenum">
              <a:rPr lang="en-US" smtClean="0"/>
              <a:t>‹#›</a:t>
            </a:fld>
            <a:endParaRPr lang="en-US"/>
          </a:p>
        </p:txBody>
      </p:sp>
    </p:spTree>
    <p:extLst>
      <p:ext uri="{BB962C8B-B14F-4D97-AF65-F5344CB8AC3E}">
        <p14:creationId xmlns:p14="http://schemas.microsoft.com/office/powerpoint/2010/main" val="4127447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9D33E0-0101-43BF-AD01-D847FCCC93AD}"/>
              </a:ext>
            </a:extLst>
          </p:cNvPr>
          <p:cNvSpPr>
            <a:spLocks noGrp="1"/>
          </p:cNvSpPr>
          <p:nvPr>
            <p:ph type="dt" sz="half" idx="10"/>
          </p:nvPr>
        </p:nvSpPr>
        <p:spPr/>
        <p:txBody>
          <a:bodyPr/>
          <a:lstStyle/>
          <a:p>
            <a:fld id="{D7CED995-88BF-49C9-9B5C-BAA9AFEAA6CD}" type="datetime1">
              <a:rPr lang="en-US" smtClean="0"/>
              <a:t>10/12/25</a:t>
            </a:fld>
            <a:endParaRPr lang="en-US"/>
          </a:p>
        </p:txBody>
      </p:sp>
      <p:sp>
        <p:nvSpPr>
          <p:cNvPr id="3" name="Footer Placeholder 2">
            <a:extLst>
              <a:ext uri="{FF2B5EF4-FFF2-40B4-BE49-F238E27FC236}">
                <a16:creationId xmlns:a16="http://schemas.microsoft.com/office/drawing/2014/main" id="{28769C97-5753-4193-8B08-7CFF365C7EC0}"/>
              </a:ext>
            </a:extLst>
          </p:cNvPr>
          <p:cNvSpPr>
            <a:spLocks noGrp="1"/>
          </p:cNvSpPr>
          <p:nvPr>
            <p:ph type="ftr" sz="quarter" idx="11"/>
          </p:nvPr>
        </p:nvSpPr>
        <p:spPr/>
        <p:txBody>
          <a:bodyPr/>
          <a:lstStyle/>
          <a:p>
            <a:r>
              <a:rPr lang="en-US"/>
              <a:t>Prof. Dr. Md. Imdadul Islam</a:t>
            </a:r>
          </a:p>
        </p:txBody>
      </p:sp>
      <p:sp>
        <p:nvSpPr>
          <p:cNvPr id="4" name="Slide Number Placeholder 3">
            <a:extLst>
              <a:ext uri="{FF2B5EF4-FFF2-40B4-BE49-F238E27FC236}">
                <a16:creationId xmlns:a16="http://schemas.microsoft.com/office/drawing/2014/main" id="{603EC850-CA7C-4C02-8C17-912ACF62575E}"/>
              </a:ext>
            </a:extLst>
          </p:cNvPr>
          <p:cNvSpPr>
            <a:spLocks noGrp="1"/>
          </p:cNvSpPr>
          <p:nvPr>
            <p:ph type="sldNum" sz="quarter" idx="12"/>
          </p:nvPr>
        </p:nvSpPr>
        <p:spPr/>
        <p:txBody>
          <a:bodyPr/>
          <a:lstStyle/>
          <a:p>
            <a:fld id="{C3F1913A-7668-436E-8561-76A60B792217}" type="slidenum">
              <a:rPr lang="en-US" smtClean="0"/>
              <a:t>‹#›</a:t>
            </a:fld>
            <a:endParaRPr lang="en-US"/>
          </a:p>
        </p:txBody>
      </p:sp>
    </p:spTree>
    <p:extLst>
      <p:ext uri="{BB962C8B-B14F-4D97-AF65-F5344CB8AC3E}">
        <p14:creationId xmlns:p14="http://schemas.microsoft.com/office/powerpoint/2010/main" val="1563201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F4926-A451-469F-B00A-B15C5C90D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995835-57F1-4744-BA77-EE0EA5F754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637DD5-DF46-43B5-8B24-F993721ACC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A0B422-32BF-4063-ACB8-FE4FA7A5EF83}"/>
              </a:ext>
            </a:extLst>
          </p:cNvPr>
          <p:cNvSpPr>
            <a:spLocks noGrp="1"/>
          </p:cNvSpPr>
          <p:nvPr>
            <p:ph type="dt" sz="half" idx="10"/>
          </p:nvPr>
        </p:nvSpPr>
        <p:spPr/>
        <p:txBody>
          <a:bodyPr/>
          <a:lstStyle/>
          <a:p>
            <a:fld id="{B90EADA9-54EA-459D-9DC6-9EF2970782F7}" type="datetime1">
              <a:rPr lang="en-US" smtClean="0"/>
              <a:t>10/12/25</a:t>
            </a:fld>
            <a:endParaRPr lang="en-US"/>
          </a:p>
        </p:txBody>
      </p:sp>
      <p:sp>
        <p:nvSpPr>
          <p:cNvPr id="6" name="Footer Placeholder 5">
            <a:extLst>
              <a:ext uri="{FF2B5EF4-FFF2-40B4-BE49-F238E27FC236}">
                <a16:creationId xmlns:a16="http://schemas.microsoft.com/office/drawing/2014/main" id="{9ACA5031-1296-4026-A934-378B3C18BC24}"/>
              </a:ext>
            </a:extLst>
          </p:cNvPr>
          <p:cNvSpPr>
            <a:spLocks noGrp="1"/>
          </p:cNvSpPr>
          <p:nvPr>
            <p:ph type="ftr" sz="quarter" idx="11"/>
          </p:nvPr>
        </p:nvSpPr>
        <p:spPr/>
        <p:txBody>
          <a:bodyPr/>
          <a:lstStyle/>
          <a:p>
            <a:r>
              <a:rPr lang="en-US"/>
              <a:t>Prof. Dr. Md. Imdadul Islam</a:t>
            </a:r>
          </a:p>
        </p:txBody>
      </p:sp>
      <p:sp>
        <p:nvSpPr>
          <p:cNvPr id="7" name="Slide Number Placeholder 6">
            <a:extLst>
              <a:ext uri="{FF2B5EF4-FFF2-40B4-BE49-F238E27FC236}">
                <a16:creationId xmlns:a16="http://schemas.microsoft.com/office/drawing/2014/main" id="{21412DD1-D162-4224-A95A-939F2BD16C9A}"/>
              </a:ext>
            </a:extLst>
          </p:cNvPr>
          <p:cNvSpPr>
            <a:spLocks noGrp="1"/>
          </p:cNvSpPr>
          <p:nvPr>
            <p:ph type="sldNum" sz="quarter" idx="12"/>
          </p:nvPr>
        </p:nvSpPr>
        <p:spPr/>
        <p:txBody>
          <a:bodyPr/>
          <a:lstStyle/>
          <a:p>
            <a:fld id="{C3F1913A-7668-436E-8561-76A60B792217}" type="slidenum">
              <a:rPr lang="en-US" smtClean="0"/>
              <a:t>‹#›</a:t>
            </a:fld>
            <a:endParaRPr lang="en-US"/>
          </a:p>
        </p:txBody>
      </p:sp>
    </p:spTree>
    <p:extLst>
      <p:ext uri="{BB962C8B-B14F-4D97-AF65-F5344CB8AC3E}">
        <p14:creationId xmlns:p14="http://schemas.microsoft.com/office/powerpoint/2010/main" val="1997838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374F6-7426-48DF-B5DE-1E86FEA457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BDEF8C0-6C1D-4F62-84C1-D36D8E0727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41BA9E-235E-41B8-A7A5-49C6B65244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E74A4E-CC10-4E4E-9932-A1B1A7D8C445}"/>
              </a:ext>
            </a:extLst>
          </p:cNvPr>
          <p:cNvSpPr>
            <a:spLocks noGrp="1"/>
          </p:cNvSpPr>
          <p:nvPr>
            <p:ph type="dt" sz="half" idx="10"/>
          </p:nvPr>
        </p:nvSpPr>
        <p:spPr/>
        <p:txBody>
          <a:bodyPr/>
          <a:lstStyle/>
          <a:p>
            <a:fld id="{404CF364-5C1C-4093-A330-4774206E6BD1}" type="datetime1">
              <a:rPr lang="en-US" smtClean="0"/>
              <a:t>10/12/25</a:t>
            </a:fld>
            <a:endParaRPr lang="en-US"/>
          </a:p>
        </p:txBody>
      </p:sp>
      <p:sp>
        <p:nvSpPr>
          <p:cNvPr id="6" name="Footer Placeholder 5">
            <a:extLst>
              <a:ext uri="{FF2B5EF4-FFF2-40B4-BE49-F238E27FC236}">
                <a16:creationId xmlns:a16="http://schemas.microsoft.com/office/drawing/2014/main" id="{D170B375-1704-488B-A95F-67037FF42BD3}"/>
              </a:ext>
            </a:extLst>
          </p:cNvPr>
          <p:cNvSpPr>
            <a:spLocks noGrp="1"/>
          </p:cNvSpPr>
          <p:nvPr>
            <p:ph type="ftr" sz="quarter" idx="11"/>
          </p:nvPr>
        </p:nvSpPr>
        <p:spPr/>
        <p:txBody>
          <a:bodyPr/>
          <a:lstStyle/>
          <a:p>
            <a:r>
              <a:rPr lang="en-US"/>
              <a:t>Prof. Dr. Md. Imdadul Islam</a:t>
            </a:r>
          </a:p>
        </p:txBody>
      </p:sp>
      <p:sp>
        <p:nvSpPr>
          <p:cNvPr id="7" name="Slide Number Placeholder 6">
            <a:extLst>
              <a:ext uri="{FF2B5EF4-FFF2-40B4-BE49-F238E27FC236}">
                <a16:creationId xmlns:a16="http://schemas.microsoft.com/office/drawing/2014/main" id="{C3B8461D-DE0B-4806-B7A9-D5059992BDAF}"/>
              </a:ext>
            </a:extLst>
          </p:cNvPr>
          <p:cNvSpPr>
            <a:spLocks noGrp="1"/>
          </p:cNvSpPr>
          <p:nvPr>
            <p:ph type="sldNum" sz="quarter" idx="12"/>
          </p:nvPr>
        </p:nvSpPr>
        <p:spPr/>
        <p:txBody>
          <a:bodyPr/>
          <a:lstStyle/>
          <a:p>
            <a:fld id="{C3F1913A-7668-436E-8561-76A60B792217}" type="slidenum">
              <a:rPr lang="en-US" smtClean="0"/>
              <a:t>‹#›</a:t>
            </a:fld>
            <a:endParaRPr lang="en-US"/>
          </a:p>
        </p:txBody>
      </p:sp>
    </p:spTree>
    <p:extLst>
      <p:ext uri="{BB962C8B-B14F-4D97-AF65-F5344CB8AC3E}">
        <p14:creationId xmlns:p14="http://schemas.microsoft.com/office/powerpoint/2010/main" val="3730788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B41DA-28EB-4A52-9C19-4501DF6C44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F38629-C3B0-411A-9F34-9FC68504F9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39624D-C5A5-4EB0-A1B1-61E3647A8460}"/>
              </a:ext>
            </a:extLst>
          </p:cNvPr>
          <p:cNvSpPr>
            <a:spLocks noGrp="1"/>
          </p:cNvSpPr>
          <p:nvPr>
            <p:ph type="dt" sz="half" idx="10"/>
          </p:nvPr>
        </p:nvSpPr>
        <p:spPr/>
        <p:txBody>
          <a:bodyPr/>
          <a:lstStyle/>
          <a:p>
            <a:fld id="{5A4E47D0-3226-4B5C-A611-9971EAF3EAEE}" type="datetime1">
              <a:rPr lang="en-US" smtClean="0"/>
              <a:t>10/12/25</a:t>
            </a:fld>
            <a:endParaRPr lang="en-US"/>
          </a:p>
        </p:txBody>
      </p:sp>
      <p:sp>
        <p:nvSpPr>
          <p:cNvPr id="5" name="Footer Placeholder 4">
            <a:extLst>
              <a:ext uri="{FF2B5EF4-FFF2-40B4-BE49-F238E27FC236}">
                <a16:creationId xmlns:a16="http://schemas.microsoft.com/office/drawing/2014/main" id="{A1A3514D-DD39-4B81-B443-0A39AFEF7750}"/>
              </a:ext>
            </a:extLst>
          </p:cNvPr>
          <p:cNvSpPr>
            <a:spLocks noGrp="1"/>
          </p:cNvSpPr>
          <p:nvPr>
            <p:ph type="ftr" sz="quarter" idx="11"/>
          </p:nvPr>
        </p:nvSpPr>
        <p:spPr/>
        <p:txBody>
          <a:bodyPr/>
          <a:lstStyle/>
          <a:p>
            <a:r>
              <a:rPr lang="en-US"/>
              <a:t>Prof. Dr. Md. Imdadul Islam</a:t>
            </a:r>
          </a:p>
        </p:txBody>
      </p:sp>
      <p:sp>
        <p:nvSpPr>
          <p:cNvPr id="6" name="Slide Number Placeholder 5">
            <a:extLst>
              <a:ext uri="{FF2B5EF4-FFF2-40B4-BE49-F238E27FC236}">
                <a16:creationId xmlns:a16="http://schemas.microsoft.com/office/drawing/2014/main" id="{CE617BD5-B681-4776-A613-3314E1C35F5A}"/>
              </a:ext>
            </a:extLst>
          </p:cNvPr>
          <p:cNvSpPr>
            <a:spLocks noGrp="1"/>
          </p:cNvSpPr>
          <p:nvPr>
            <p:ph type="sldNum" sz="quarter" idx="12"/>
          </p:nvPr>
        </p:nvSpPr>
        <p:spPr/>
        <p:txBody>
          <a:bodyPr/>
          <a:lstStyle/>
          <a:p>
            <a:fld id="{C3F1913A-7668-436E-8561-76A60B792217}" type="slidenum">
              <a:rPr lang="en-US" smtClean="0"/>
              <a:t>‹#›</a:t>
            </a:fld>
            <a:endParaRPr lang="en-US"/>
          </a:p>
        </p:txBody>
      </p:sp>
    </p:spTree>
    <p:extLst>
      <p:ext uri="{BB962C8B-B14F-4D97-AF65-F5344CB8AC3E}">
        <p14:creationId xmlns:p14="http://schemas.microsoft.com/office/powerpoint/2010/main" val="931936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5FA4F8-5A00-4BA1-9371-C63094F374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797164-EC49-437E-B1D3-E0029F91E6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BFE140-B002-474D-8530-ECA72DE50C75}"/>
              </a:ext>
            </a:extLst>
          </p:cNvPr>
          <p:cNvSpPr>
            <a:spLocks noGrp="1"/>
          </p:cNvSpPr>
          <p:nvPr>
            <p:ph type="dt" sz="half" idx="10"/>
          </p:nvPr>
        </p:nvSpPr>
        <p:spPr/>
        <p:txBody>
          <a:bodyPr/>
          <a:lstStyle/>
          <a:p>
            <a:fld id="{47F0F42D-3B88-40ED-9900-8A1FCAC6E471}" type="datetime1">
              <a:rPr lang="en-US" smtClean="0"/>
              <a:t>10/12/25</a:t>
            </a:fld>
            <a:endParaRPr lang="en-US"/>
          </a:p>
        </p:txBody>
      </p:sp>
      <p:sp>
        <p:nvSpPr>
          <p:cNvPr id="5" name="Footer Placeholder 4">
            <a:extLst>
              <a:ext uri="{FF2B5EF4-FFF2-40B4-BE49-F238E27FC236}">
                <a16:creationId xmlns:a16="http://schemas.microsoft.com/office/drawing/2014/main" id="{0AAF6226-3AF2-4D67-B5E8-D5D668191C6C}"/>
              </a:ext>
            </a:extLst>
          </p:cNvPr>
          <p:cNvSpPr>
            <a:spLocks noGrp="1"/>
          </p:cNvSpPr>
          <p:nvPr>
            <p:ph type="ftr" sz="quarter" idx="11"/>
          </p:nvPr>
        </p:nvSpPr>
        <p:spPr/>
        <p:txBody>
          <a:bodyPr/>
          <a:lstStyle/>
          <a:p>
            <a:r>
              <a:rPr lang="en-US"/>
              <a:t>Prof. Dr. Md. Imdadul Islam</a:t>
            </a:r>
          </a:p>
        </p:txBody>
      </p:sp>
      <p:sp>
        <p:nvSpPr>
          <p:cNvPr id="6" name="Slide Number Placeholder 5">
            <a:extLst>
              <a:ext uri="{FF2B5EF4-FFF2-40B4-BE49-F238E27FC236}">
                <a16:creationId xmlns:a16="http://schemas.microsoft.com/office/drawing/2014/main" id="{B15FD23A-D6EB-416D-8CC0-6C8EC9678673}"/>
              </a:ext>
            </a:extLst>
          </p:cNvPr>
          <p:cNvSpPr>
            <a:spLocks noGrp="1"/>
          </p:cNvSpPr>
          <p:nvPr>
            <p:ph type="sldNum" sz="quarter" idx="12"/>
          </p:nvPr>
        </p:nvSpPr>
        <p:spPr/>
        <p:txBody>
          <a:bodyPr/>
          <a:lstStyle/>
          <a:p>
            <a:fld id="{C3F1913A-7668-436E-8561-76A60B792217}" type="slidenum">
              <a:rPr lang="en-US" smtClean="0"/>
              <a:t>‹#›</a:t>
            </a:fld>
            <a:endParaRPr lang="en-US"/>
          </a:p>
        </p:txBody>
      </p:sp>
    </p:spTree>
    <p:extLst>
      <p:ext uri="{BB962C8B-B14F-4D97-AF65-F5344CB8AC3E}">
        <p14:creationId xmlns:p14="http://schemas.microsoft.com/office/powerpoint/2010/main" val="2483365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609600"/>
            <a:ext cx="103632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pPr>
              <a:defRPr/>
            </a:pPr>
            <a:fld id="{728AFB90-8EBF-4C1E-A90C-BF08ABF03028}" type="datetime1">
              <a:rPr lang="en-US" smtClean="0"/>
              <a:t>10/12/25</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Prof. Dr. Md. Imdadul Islam</a:t>
            </a:r>
          </a:p>
        </p:txBody>
      </p:sp>
      <p:sp>
        <p:nvSpPr>
          <p:cNvPr id="5" name="Rectangle 6"/>
          <p:cNvSpPr>
            <a:spLocks noGrp="1" noChangeArrowheads="1"/>
          </p:cNvSpPr>
          <p:nvPr>
            <p:ph type="sldNum" sz="quarter" idx="12"/>
          </p:nvPr>
        </p:nvSpPr>
        <p:spPr>
          <a:ln/>
        </p:spPr>
        <p:txBody>
          <a:bodyPr/>
          <a:lstStyle>
            <a:lvl1pPr>
              <a:defRPr/>
            </a:lvl1pPr>
          </a:lstStyle>
          <a:p>
            <a:pPr>
              <a:defRPr/>
            </a:pPr>
            <a:fld id="{13CC66DC-C496-4A87-A4D6-24BBFECA0FB1}" type="slidenum">
              <a:rPr lang="en-US"/>
              <a:pPr>
                <a:defRPr/>
              </a:pPr>
              <a:t>‹#›</a:t>
            </a:fld>
            <a:endParaRPr lang="en-US"/>
          </a:p>
        </p:txBody>
      </p:sp>
    </p:spTree>
    <p:extLst>
      <p:ext uri="{BB962C8B-B14F-4D97-AF65-F5344CB8AC3E}">
        <p14:creationId xmlns:p14="http://schemas.microsoft.com/office/powerpoint/2010/main" val="2271020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39C25A-1910-4C95-8AC2-BF7653D66B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EEE8FF2-0FA7-426F-9504-899697905A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F5F68A-3543-4308-833B-E691E31EB1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7B63D5-793D-41D3-BBEB-C57E6ACCFEF2}" type="datetime1">
              <a:rPr lang="en-US" smtClean="0"/>
              <a:t>10/12/25</a:t>
            </a:fld>
            <a:endParaRPr lang="en-US"/>
          </a:p>
        </p:txBody>
      </p:sp>
      <p:sp>
        <p:nvSpPr>
          <p:cNvPr id="5" name="Footer Placeholder 4">
            <a:extLst>
              <a:ext uri="{FF2B5EF4-FFF2-40B4-BE49-F238E27FC236}">
                <a16:creationId xmlns:a16="http://schemas.microsoft.com/office/drawing/2014/main" id="{ACB3DD6D-8104-4F9A-B673-A075361ECF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Prof. Dr. Md. Imdadul Islam</a:t>
            </a:r>
          </a:p>
        </p:txBody>
      </p:sp>
      <p:sp>
        <p:nvSpPr>
          <p:cNvPr id="6" name="Slide Number Placeholder 5">
            <a:extLst>
              <a:ext uri="{FF2B5EF4-FFF2-40B4-BE49-F238E27FC236}">
                <a16:creationId xmlns:a16="http://schemas.microsoft.com/office/drawing/2014/main" id="{8E48FC34-461A-49D2-8752-AB2F955E01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F1913A-7668-436E-8561-76A60B792217}" type="slidenum">
              <a:rPr lang="en-US" smtClean="0"/>
              <a:t>‹#›</a:t>
            </a:fld>
            <a:endParaRPr lang="en-US"/>
          </a:p>
        </p:txBody>
      </p:sp>
    </p:spTree>
    <p:extLst>
      <p:ext uri="{BB962C8B-B14F-4D97-AF65-F5344CB8AC3E}">
        <p14:creationId xmlns:p14="http://schemas.microsoft.com/office/powerpoint/2010/main" val="19220631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0.png"/><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9.emf"/><Relationship Id="rId1" Type="http://schemas.openxmlformats.org/officeDocument/2006/relationships/slideLayout" Target="../slideLayouts/slideLayout2.xml"/><Relationship Id="rId4" Type="http://schemas.openxmlformats.org/officeDocument/2006/relationships/image" Target="../media/image10.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20.wmf"/><Relationship Id="rId4" Type="http://schemas.openxmlformats.org/officeDocument/2006/relationships/oleObject" Target="../embeddings/oleObject4.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79744CA-D4BC-4768-8211-3D37566E22CC}"/>
              </a:ext>
            </a:extLst>
          </p:cNvPr>
          <p:cNvSpPr txBox="1"/>
          <p:nvPr/>
        </p:nvSpPr>
        <p:spPr>
          <a:xfrm>
            <a:off x="1110344" y="2043404"/>
            <a:ext cx="9106677" cy="2123658"/>
          </a:xfrm>
          <a:prstGeom prst="rect">
            <a:avLst/>
          </a:prstGeom>
          <a:solidFill>
            <a:srgbClr val="FF9999"/>
          </a:solidFill>
        </p:spPr>
        <p:txBody>
          <a:bodyPr wrap="square" rtlCol="0">
            <a:spAutoFit/>
          </a:bodyPr>
          <a:lstStyle/>
          <a:p>
            <a:pPr algn="ctr"/>
            <a:r>
              <a:rPr lang="en-US" sz="6600" dirty="0">
                <a:latin typeface="Times New Roman" panose="02020603050405020304" pitchFamily="18" charset="0"/>
                <a:cs typeface="Times New Roman" panose="02020603050405020304" pitchFamily="18" charset="0"/>
              </a:rPr>
              <a:t>Wireless Sensor Network (WSN)</a:t>
            </a:r>
          </a:p>
        </p:txBody>
      </p:sp>
    </p:spTree>
    <p:extLst>
      <p:ext uri="{BB962C8B-B14F-4D97-AF65-F5344CB8AC3E}">
        <p14:creationId xmlns:p14="http://schemas.microsoft.com/office/powerpoint/2010/main" val="3960039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Box 4"/>
          <p:cNvSpPr txBox="1">
            <a:spLocks noChangeArrowheads="1"/>
          </p:cNvSpPr>
          <p:nvPr/>
        </p:nvSpPr>
        <p:spPr bwMode="auto">
          <a:xfrm>
            <a:off x="130793" y="1125366"/>
            <a:ext cx="7876601" cy="45243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 typeface="Wingdings" panose="05000000000000000000" pitchFamily="2" charset="2"/>
              <a:buChar char="ü"/>
            </a:pPr>
            <a:r>
              <a:rPr lang="en-US" sz="2400" dirty="0"/>
              <a:t>Wireless sensor networks (WSNs) is a self-configured and infrastructure-less wireless network (like MANET) consists of a large number of </a:t>
            </a:r>
            <a:r>
              <a:rPr lang="en-US" sz="2400" b="1" dirty="0">
                <a:solidFill>
                  <a:srgbClr val="0000FF"/>
                </a:solidFill>
              </a:rPr>
              <a:t>sensor nodes</a:t>
            </a:r>
            <a:r>
              <a:rPr lang="en-US" sz="2400" dirty="0"/>
              <a:t> to monitor physical or environmental conditions of sensor field.</a:t>
            </a:r>
          </a:p>
          <a:p>
            <a:pPr algn="just" eaLnBrk="1" hangingPunct="1">
              <a:spcBef>
                <a:spcPct val="0"/>
              </a:spcBef>
              <a:buFont typeface="Wingdings" panose="05000000000000000000" pitchFamily="2" charset="2"/>
              <a:buChar char="ü"/>
            </a:pPr>
            <a:endParaRPr lang="en-US" sz="2400" dirty="0"/>
          </a:p>
          <a:p>
            <a:pPr algn="just" eaLnBrk="1" hangingPunct="1">
              <a:spcBef>
                <a:spcPct val="0"/>
              </a:spcBef>
              <a:buFont typeface="Wingdings" panose="05000000000000000000" pitchFamily="2" charset="2"/>
              <a:buChar char="ü"/>
            </a:pPr>
            <a:r>
              <a:rPr lang="en-US" sz="2400" dirty="0"/>
              <a:t> A sensor node consists of </a:t>
            </a:r>
            <a:r>
              <a:rPr lang="en-US" sz="2400" dirty="0">
                <a:solidFill>
                  <a:srgbClr val="FF0000"/>
                </a:solidFill>
              </a:rPr>
              <a:t>sensing</a:t>
            </a:r>
            <a:r>
              <a:rPr lang="en-US" sz="2400" dirty="0"/>
              <a:t>  (measuring), </a:t>
            </a:r>
            <a:r>
              <a:rPr lang="en-US" sz="2400" dirty="0">
                <a:solidFill>
                  <a:srgbClr val="FF0000"/>
                </a:solidFill>
              </a:rPr>
              <a:t>computing</a:t>
            </a:r>
            <a:r>
              <a:rPr lang="en-US" sz="2400" dirty="0"/>
              <a:t> (calculate any change in value of sensor output in digital form) and </a:t>
            </a:r>
            <a:r>
              <a:rPr lang="en-US" sz="2400" dirty="0">
                <a:solidFill>
                  <a:srgbClr val="FF0000"/>
                </a:solidFill>
              </a:rPr>
              <a:t>communication</a:t>
            </a:r>
            <a:r>
              <a:rPr lang="en-US" sz="2400" dirty="0"/>
              <a:t> elements. </a:t>
            </a:r>
          </a:p>
          <a:p>
            <a:pPr algn="just" eaLnBrk="1" hangingPunct="1">
              <a:spcBef>
                <a:spcPct val="0"/>
              </a:spcBef>
              <a:buFont typeface="Wingdings" panose="05000000000000000000" pitchFamily="2" charset="2"/>
              <a:buChar char="ü"/>
            </a:pPr>
            <a:endParaRPr lang="en-US" sz="2400" dirty="0"/>
          </a:p>
          <a:p>
            <a:pPr algn="just" eaLnBrk="1" hangingPunct="1">
              <a:spcBef>
                <a:spcPct val="0"/>
              </a:spcBef>
              <a:buFont typeface="Wingdings" panose="05000000000000000000" pitchFamily="2" charset="2"/>
              <a:buChar char="ü"/>
            </a:pPr>
            <a:r>
              <a:rPr lang="en-US" sz="2400" dirty="0"/>
              <a:t>The acquired data or information by the sensing nodes is passed through the network to a sink (location where administrators monitor and analyze data).</a:t>
            </a:r>
          </a:p>
        </p:txBody>
      </p:sp>
      <p:sp>
        <p:nvSpPr>
          <p:cNvPr id="3" name="Rectangle 2">
            <a:extLst>
              <a:ext uri="{FF2B5EF4-FFF2-40B4-BE49-F238E27FC236}">
                <a16:creationId xmlns:a16="http://schemas.microsoft.com/office/drawing/2014/main" id="{A940657F-328D-4DC0-B448-38CD2F4C75F0}"/>
              </a:ext>
            </a:extLst>
          </p:cNvPr>
          <p:cNvSpPr/>
          <p:nvPr/>
        </p:nvSpPr>
        <p:spPr>
          <a:xfrm>
            <a:off x="149290" y="199146"/>
            <a:ext cx="3741409" cy="646331"/>
          </a:xfrm>
          <a:prstGeom prst="rect">
            <a:avLst/>
          </a:prstGeom>
        </p:spPr>
        <p:txBody>
          <a:bodyPr wrap="none">
            <a:spAutoFit/>
          </a:bodyPr>
          <a:lstStyle/>
          <a:p>
            <a:r>
              <a:rPr lang="en-US" sz="3600" b="1" dirty="0">
                <a:solidFill>
                  <a:srgbClr val="FF0000"/>
                </a:solidFill>
                <a:latin typeface="Times New Roman" panose="02020603050405020304" pitchFamily="18" charset="0"/>
                <a:cs typeface="Times New Roman" panose="02020603050405020304" pitchFamily="18" charset="0"/>
              </a:rPr>
              <a:t>Overview of WSN</a:t>
            </a:r>
            <a:endParaRPr lang="en-US" sz="3600" dirty="0">
              <a:latin typeface="Times New Roman" panose="02020603050405020304" pitchFamily="18" charset="0"/>
              <a:cs typeface="Times New Roman" panose="02020603050405020304" pitchFamily="18" charset="0"/>
            </a:endParaRPr>
          </a:p>
        </p:txBody>
      </p:sp>
      <p:grpSp>
        <p:nvGrpSpPr>
          <p:cNvPr id="41" name="Group 40">
            <a:extLst>
              <a:ext uri="{FF2B5EF4-FFF2-40B4-BE49-F238E27FC236}">
                <a16:creationId xmlns:a16="http://schemas.microsoft.com/office/drawing/2014/main" id="{C7181D27-CDE9-4642-802C-A416CB47DC99}"/>
              </a:ext>
            </a:extLst>
          </p:cNvPr>
          <p:cNvGrpSpPr/>
          <p:nvPr/>
        </p:nvGrpSpPr>
        <p:grpSpPr>
          <a:xfrm>
            <a:off x="8223457" y="314759"/>
            <a:ext cx="3819253" cy="5553183"/>
            <a:chOff x="8109223" y="199146"/>
            <a:chExt cx="3819253" cy="5553183"/>
          </a:xfrm>
        </p:grpSpPr>
        <p:sp>
          <p:nvSpPr>
            <p:cNvPr id="5" name="Thought Bubble: Cloud 4">
              <a:extLst>
                <a:ext uri="{FF2B5EF4-FFF2-40B4-BE49-F238E27FC236}">
                  <a16:creationId xmlns:a16="http://schemas.microsoft.com/office/drawing/2014/main" id="{49D9FE38-9302-404D-9243-D4FD3A4330E3}"/>
                </a:ext>
              </a:extLst>
            </p:cNvPr>
            <p:cNvSpPr/>
            <p:nvPr/>
          </p:nvSpPr>
          <p:spPr>
            <a:xfrm>
              <a:off x="8109223" y="3053973"/>
              <a:ext cx="3819253" cy="2116113"/>
            </a:xfrm>
            <a:prstGeom prst="cloudCallout">
              <a:avLst>
                <a:gd name="adj1" fmla="val -19327"/>
                <a:gd name="adj2" fmla="val 34406"/>
              </a:avLst>
            </a:prstGeom>
            <a:solidFill>
              <a:srgbClr val="FFCCC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0D7A1BB-DCC7-4258-A21F-6945B6A1073E}"/>
                </a:ext>
              </a:extLst>
            </p:cNvPr>
            <p:cNvSpPr txBox="1"/>
            <p:nvPr/>
          </p:nvSpPr>
          <p:spPr>
            <a:xfrm>
              <a:off x="8979159" y="5382997"/>
              <a:ext cx="221135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Fig.1 Basic of WSN</a:t>
              </a:r>
            </a:p>
          </p:txBody>
        </p:sp>
        <p:sp>
          <p:nvSpPr>
            <p:cNvPr id="4" name="Oval 3">
              <a:extLst>
                <a:ext uri="{FF2B5EF4-FFF2-40B4-BE49-F238E27FC236}">
                  <a16:creationId xmlns:a16="http://schemas.microsoft.com/office/drawing/2014/main" id="{114E30B5-3E6F-4600-8EC6-ACF6E097E66B}"/>
                </a:ext>
              </a:extLst>
            </p:cNvPr>
            <p:cNvSpPr/>
            <p:nvPr/>
          </p:nvSpPr>
          <p:spPr>
            <a:xfrm>
              <a:off x="9505706" y="4298559"/>
              <a:ext cx="242596" cy="237191"/>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8" name="Oval 7">
              <a:extLst>
                <a:ext uri="{FF2B5EF4-FFF2-40B4-BE49-F238E27FC236}">
                  <a16:creationId xmlns:a16="http://schemas.microsoft.com/office/drawing/2014/main" id="{49DB626E-E56C-436D-9FB5-5A56FD01D65E}"/>
                </a:ext>
              </a:extLst>
            </p:cNvPr>
            <p:cNvSpPr/>
            <p:nvPr/>
          </p:nvSpPr>
          <p:spPr>
            <a:xfrm>
              <a:off x="9776254" y="4027953"/>
              <a:ext cx="242596" cy="237191"/>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9" name="Oval 8">
              <a:extLst>
                <a:ext uri="{FF2B5EF4-FFF2-40B4-BE49-F238E27FC236}">
                  <a16:creationId xmlns:a16="http://schemas.microsoft.com/office/drawing/2014/main" id="{55430F30-45EF-458A-8D28-287F2229AA4E}"/>
                </a:ext>
              </a:extLst>
            </p:cNvPr>
            <p:cNvSpPr/>
            <p:nvPr/>
          </p:nvSpPr>
          <p:spPr>
            <a:xfrm>
              <a:off x="9127146" y="3387524"/>
              <a:ext cx="242596" cy="237191"/>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4E04316C-3290-472B-95B6-637CDF170F1E}"/>
                </a:ext>
              </a:extLst>
            </p:cNvPr>
            <p:cNvSpPr/>
            <p:nvPr/>
          </p:nvSpPr>
          <p:spPr>
            <a:xfrm>
              <a:off x="10779704" y="3873112"/>
              <a:ext cx="242596" cy="237191"/>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11" name="Oval 10">
              <a:extLst>
                <a:ext uri="{FF2B5EF4-FFF2-40B4-BE49-F238E27FC236}">
                  <a16:creationId xmlns:a16="http://schemas.microsoft.com/office/drawing/2014/main" id="{91BD3798-334B-48FF-9887-6C6FA1151EC1}"/>
                </a:ext>
              </a:extLst>
            </p:cNvPr>
            <p:cNvSpPr/>
            <p:nvPr/>
          </p:nvSpPr>
          <p:spPr>
            <a:xfrm>
              <a:off x="10479371" y="4522901"/>
              <a:ext cx="242596" cy="237191"/>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Oval 11">
              <a:extLst>
                <a:ext uri="{FF2B5EF4-FFF2-40B4-BE49-F238E27FC236}">
                  <a16:creationId xmlns:a16="http://schemas.microsoft.com/office/drawing/2014/main" id="{9CD6D5D9-BFCD-49D5-92EB-C40846E4EC4C}"/>
                </a:ext>
              </a:extLst>
            </p:cNvPr>
            <p:cNvSpPr/>
            <p:nvPr/>
          </p:nvSpPr>
          <p:spPr>
            <a:xfrm>
              <a:off x="11180097" y="3053973"/>
              <a:ext cx="242596" cy="237191"/>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4" name="Oval 13">
              <a:extLst>
                <a:ext uri="{FF2B5EF4-FFF2-40B4-BE49-F238E27FC236}">
                  <a16:creationId xmlns:a16="http://schemas.microsoft.com/office/drawing/2014/main" id="{C6B3BAD2-1E48-42E1-841C-1D52C5F1F872}"/>
                </a:ext>
              </a:extLst>
            </p:cNvPr>
            <p:cNvSpPr/>
            <p:nvPr/>
          </p:nvSpPr>
          <p:spPr>
            <a:xfrm>
              <a:off x="10600669" y="3310404"/>
              <a:ext cx="242596" cy="237191"/>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5" name="Oval 14">
              <a:extLst>
                <a:ext uri="{FF2B5EF4-FFF2-40B4-BE49-F238E27FC236}">
                  <a16:creationId xmlns:a16="http://schemas.microsoft.com/office/drawing/2014/main" id="{977A90C8-3D51-4776-943F-5D267BF34ED0}"/>
                </a:ext>
              </a:extLst>
            </p:cNvPr>
            <p:cNvSpPr/>
            <p:nvPr/>
          </p:nvSpPr>
          <p:spPr>
            <a:xfrm>
              <a:off x="9715409" y="3342425"/>
              <a:ext cx="242596" cy="237191"/>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6" name="Oval 15">
              <a:extLst>
                <a:ext uri="{FF2B5EF4-FFF2-40B4-BE49-F238E27FC236}">
                  <a16:creationId xmlns:a16="http://schemas.microsoft.com/office/drawing/2014/main" id="{5B8978A0-0ABC-42DC-9645-801198C6AFCA}"/>
                </a:ext>
              </a:extLst>
            </p:cNvPr>
            <p:cNvSpPr/>
            <p:nvPr/>
          </p:nvSpPr>
          <p:spPr>
            <a:xfrm>
              <a:off x="11525187" y="4025099"/>
              <a:ext cx="242596" cy="237191"/>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7" name="Oval 16">
              <a:extLst>
                <a:ext uri="{FF2B5EF4-FFF2-40B4-BE49-F238E27FC236}">
                  <a16:creationId xmlns:a16="http://schemas.microsoft.com/office/drawing/2014/main" id="{86ECF738-42BE-4024-A98E-D976BFF981C9}"/>
                </a:ext>
              </a:extLst>
            </p:cNvPr>
            <p:cNvSpPr/>
            <p:nvPr/>
          </p:nvSpPr>
          <p:spPr>
            <a:xfrm>
              <a:off x="10111728" y="3617669"/>
              <a:ext cx="367643" cy="355787"/>
            </a:xfrm>
            <a:prstGeom prst="ellipse">
              <a:avLst/>
            </a:prstGeom>
            <a:solidFill>
              <a:srgbClr val="FF00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Oval 17">
              <a:extLst>
                <a:ext uri="{FF2B5EF4-FFF2-40B4-BE49-F238E27FC236}">
                  <a16:creationId xmlns:a16="http://schemas.microsoft.com/office/drawing/2014/main" id="{1D5A7738-6A52-45AF-8AC6-91B618FAC5D4}"/>
                </a:ext>
              </a:extLst>
            </p:cNvPr>
            <p:cNvSpPr/>
            <p:nvPr/>
          </p:nvSpPr>
          <p:spPr>
            <a:xfrm>
              <a:off x="10933752" y="3322802"/>
              <a:ext cx="367643" cy="355787"/>
            </a:xfrm>
            <a:prstGeom prst="ellipse">
              <a:avLst/>
            </a:prstGeom>
            <a:solidFill>
              <a:srgbClr val="FF00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5FE14594-4C93-4658-83DE-C6BBC0E1E8E1}"/>
                </a:ext>
              </a:extLst>
            </p:cNvPr>
            <p:cNvSpPr/>
            <p:nvPr/>
          </p:nvSpPr>
          <p:spPr>
            <a:xfrm>
              <a:off x="9854149" y="4158642"/>
              <a:ext cx="1345241" cy="369332"/>
            </a:xfrm>
            <a:prstGeom prst="rect">
              <a:avLst/>
            </a:prstGeom>
          </p:spPr>
          <p:txBody>
            <a:bodyPr wrap="none">
              <a:spAutoFit/>
            </a:bodyPr>
            <a:lstStyle/>
            <a:p>
              <a:pPr algn="ctr"/>
              <a:r>
                <a:rPr lang="en-US" dirty="0">
                  <a:latin typeface="Times New Roman" panose="02020603050405020304" pitchFamily="18" charset="0"/>
                  <a:cs typeface="Times New Roman" panose="02020603050405020304" pitchFamily="18" charset="0"/>
                </a:rPr>
                <a:t>Sensor Field</a:t>
              </a:r>
            </a:p>
          </p:txBody>
        </p:sp>
        <p:sp>
          <p:nvSpPr>
            <p:cNvPr id="20" name="Oval 19">
              <a:extLst>
                <a:ext uri="{FF2B5EF4-FFF2-40B4-BE49-F238E27FC236}">
                  <a16:creationId xmlns:a16="http://schemas.microsoft.com/office/drawing/2014/main" id="{2D1839DC-5901-43FD-8F67-86E57C00BCC8}"/>
                </a:ext>
              </a:extLst>
            </p:cNvPr>
            <p:cNvSpPr/>
            <p:nvPr/>
          </p:nvSpPr>
          <p:spPr>
            <a:xfrm>
              <a:off x="8464484" y="3817319"/>
              <a:ext cx="242596" cy="237191"/>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1" name="Oval 20">
              <a:extLst>
                <a:ext uri="{FF2B5EF4-FFF2-40B4-BE49-F238E27FC236}">
                  <a16:creationId xmlns:a16="http://schemas.microsoft.com/office/drawing/2014/main" id="{0E13939B-1293-4E3C-ACBB-88AA56A268FE}"/>
                </a:ext>
              </a:extLst>
            </p:cNvPr>
            <p:cNvSpPr/>
            <p:nvPr/>
          </p:nvSpPr>
          <p:spPr>
            <a:xfrm>
              <a:off x="8790044" y="4466256"/>
              <a:ext cx="242596" cy="237191"/>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2" name="Oval 21">
              <a:extLst>
                <a:ext uri="{FF2B5EF4-FFF2-40B4-BE49-F238E27FC236}">
                  <a16:creationId xmlns:a16="http://schemas.microsoft.com/office/drawing/2014/main" id="{82D55EA0-FA4E-472D-959E-23E3E972B474}"/>
                </a:ext>
              </a:extLst>
            </p:cNvPr>
            <p:cNvSpPr/>
            <p:nvPr/>
          </p:nvSpPr>
          <p:spPr>
            <a:xfrm>
              <a:off x="9999267" y="4806205"/>
              <a:ext cx="242596" cy="237191"/>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3" name="Oval 22">
              <a:extLst>
                <a:ext uri="{FF2B5EF4-FFF2-40B4-BE49-F238E27FC236}">
                  <a16:creationId xmlns:a16="http://schemas.microsoft.com/office/drawing/2014/main" id="{A76BFF23-A91C-4231-9A05-C30017D53F7C}"/>
                </a:ext>
              </a:extLst>
            </p:cNvPr>
            <p:cNvSpPr/>
            <p:nvPr/>
          </p:nvSpPr>
          <p:spPr>
            <a:xfrm>
              <a:off x="11485929" y="3506119"/>
              <a:ext cx="242596" cy="237191"/>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4" name="Oval 23">
              <a:extLst>
                <a:ext uri="{FF2B5EF4-FFF2-40B4-BE49-F238E27FC236}">
                  <a16:creationId xmlns:a16="http://schemas.microsoft.com/office/drawing/2014/main" id="{516D0C41-32E7-446A-BC4A-74DA56A1ED6F}"/>
                </a:ext>
              </a:extLst>
            </p:cNvPr>
            <p:cNvSpPr/>
            <p:nvPr/>
          </p:nvSpPr>
          <p:spPr>
            <a:xfrm>
              <a:off x="9092605" y="3769365"/>
              <a:ext cx="367643" cy="355787"/>
            </a:xfrm>
            <a:prstGeom prst="ellipse">
              <a:avLst/>
            </a:prstGeom>
            <a:solidFill>
              <a:srgbClr val="FF00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5" name="Oval 24">
              <a:extLst>
                <a:ext uri="{FF2B5EF4-FFF2-40B4-BE49-F238E27FC236}">
                  <a16:creationId xmlns:a16="http://schemas.microsoft.com/office/drawing/2014/main" id="{737447EF-2F52-41D1-B9CC-23C148CA6CFD}"/>
                </a:ext>
              </a:extLst>
            </p:cNvPr>
            <p:cNvSpPr/>
            <p:nvPr/>
          </p:nvSpPr>
          <p:spPr>
            <a:xfrm>
              <a:off x="11222403" y="3828664"/>
              <a:ext cx="242596" cy="237191"/>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6" name="Oval 25">
              <a:extLst>
                <a:ext uri="{FF2B5EF4-FFF2-40B4-BE49-F238E27FC236}">
                  <a16:creationId xmlns:a16="http://schemas.microsoft.com/office/drawing/2014/main" id="{E822A7E4-B869-4E51-8E55-598F9015B7ED}"/>
                </a:ext>
              </a:extLst>
            </p:cNvPr>
            <p:cNvSpPr/>
            <p:nvPr/>
          </p:nvSpPr>
          <p:spPr>
            <a:xfrm>
              <a:off x="8540632" y="4158642"/>
              <a:ext cx="242596" cy="237191"/>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9" name="Straight Arrow Connector 18">
              <a:extLst>
                <a:ext uri="{FF2B5EF4-FFF2-40B4-BE49-F238E27FC236}">
                  <a16:creationId xmlns:a16="http://schemas.microsoft.com/office/drawing/2014/main" id="{F9D0FC9F-264A-4C35-847A-67E12269A4FC}"/>
                </a:ext>
              </a:extLst>
            </p:cNvPr>
            <p:cNvCxnSpPr>
              <a:stCxn id="18" idx="3"/>
            </p:cNvCxnSpPr>
            <p:nvPr/>
          </p:nvCxnSpPr>
          <p:spPr>
            <a:xfrm flipH="1">
              <a:off x="10479371" y="3626485"/>
              <a:ext cx="508221" cy="116825"/>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F01BEE2-BB1C-4C9C-B6BE-1B389FFCD2E4}"/>
                </a:ext>
              </a:extLst>
            </p:cNvPr>
            <p:cNvCxnSpPr>
              <a:endCxn id="24" idx="6"/>
            </p:cNvCxnSpPr>
            <p:nvPr/>
          </p:nvCxnSpPr>
          <p:spPr>
            <a:xfrm flipH="1">
              <a:off x="9460248" y="3769365"/>
              <a:ext cx="651480" cy="177894"/>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BBDF7B8-10C0-41A9-815C-FA3DF5C98164}"/>
                </a:ext>
              </a:extLst>
            </p:cNvPr>
            <p:cNvCxnSpPr>
              <a:stCxn id="24" idx="2"/>
            </p:cNvCxnSpPr>
            <p:nvPr/>
          </p:nvCxnSpPr>
          <p:spPr>
            <a:xfrm flipH="1" flipV="1">
              <a:off x="8481392" y="2927283"/>
              <a:ext cx="611213" cy="1019976"/>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C17ECAB4-E86A-4DC1-A41F-9E28405B67FD}"/>
                </a:ext>
              </a:extLst>
            </p:cNvPr>
            <p:cNvPicPr>
              <a:picLocks noChangeAspect="1"/>
            </p:cNvPicPr>
            <p:nvPr/>
          </p:nvPicPr>
          <p:blipFill>
            <a:blip r:embed="rId3"/>
            <a:stretch>
              <a:fillRect/>
            </a:stretch>
          </p:blipFill>
          <p:spPr>
            <a:xfrm>
              <a:off x="8489060" y="1762522"/>
              <a:ext cx="345739" cy="1143098"/>
            </a:xfrm>
            <a:prstGeom prst="rect">
              <a:avLst/>
            </a:prstGeom>
          </p:spPr>
        </p:pic>
        <p:sp>
          <p:nvSpPr>
            <p:cNvPr id="32" name="Thought Bubble: Cloud 31">
              <a:extLst>
                <a:ext uri="{FF2B5EF4-FFF2-40B4-BE49-F238E27FC236}">
                  <a16:creationId xmlns:a16="http://schemas.microsoft.com/office/drawing/2014/main" id="{118580A4-814D-4CA9-8697-288F8D26EC0B}"/>
                </a:ext>
              </a:extLst>
            </p:cNvPr>
            <p:cNvSpPr/>
            <p:nvPr/>
          </p:nvSpPr>
          <p:spPr>
            <a:xfrm>
              <a:off x="8933404" y="1210743"/>
              <a:ext cx="1806606" cy="832908"/>
            </a:xfrm>
            <a:prstGeom prst="cloudCallout">
              <a:avLst>
                <a:gd name="adj1" fmla="val -15183"/>
                <a:gd name="adj2" fmla="val 40050"/>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Internet</a:t>
              </a:r>
            </a:p>
          </p:txBody>
        </p:sp>
        <p:cxnSp>
          <p:nvCxnSpPr>
            <p:cNvPr id="36" name="Straight Arrow Connector 35">
              <a:extLst>
                <a:ext uri="{FF2B5EF4-FFF2-40B4-BE49-F238E27FC236}">
                  <a16:creationId xmlns:a16="http://schemas.microsoft.com/office/drawing/2014/main" id="{5C44F8D6-70A2-4549-91D9-1AE413B7E4D4}"/>
                </a:ext>
              </a:extLst>
            </p:cNvPr>
            <p:cNvCxnSpPr>
              <a:cxnSpLocks/>
            </p:cNvCxnSpPr>
            <p:nvPr/>
          </p:nvCxnSpPr>
          <p:spPr>
            <a:xfrm flipH="1">
              <a:off x="8790044" y="1983546"/>
              <a:ext cx="579698" cy="603789"/>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47B86CE7-B446-4C15-B440-F40AD87A6A68}"/>
                </a:ext>
              </a:extLst>
            </p:cNvPr>
            <p:cNvPicPr>
              <a:picLocks noChangeAspect="1"/>
            </p:cNvPicPr>
            <p:nvPr/>
          </p:nvPicPr>
          <p:blipFill>
            <a:blip r:embed="rId4"/>
            <a:stretch>
              <a:fillRect/>
            </a:stretch>
          </p:blipFill>
          <p:spPr>
            <a:xfrm>
              <a:off x="11042725" y="199146"/>
              <a:ext cx="863282" cy="995172"/>
            </a:xfrm>
            <a:prstGeom prst="rect">
              <a:avLst/>
            </a:prstGeom>
          </p:spPr>
        </p:pic>
        <p:cxnSp>
          <p:nvCxnSpPr>
            <p:cNvPr id="40" name="Straight Arrow Connector 39">
              <a:extLst>
                <a:ext uri="{FF2B5EF4-FFF2-40B4-BE49-F238E27FC236}">
                  <a16:creationId xmlns:a16="http://schemas.microsoft.com/office/drawing/2014/main" id="{43AADE46-A932-4FBA-8B99-E928B574F76C}"/>
                </a:ext>
              </a:extLst>
            </p:cNvPr>
            <p:cNvCxnSpPr>
              <a:cxnSpLocks/>
              <a:stCxn id="35" idx="1"/>
            </p:cNvCxnSpPr>
            <p:nvPr/>
          </p:nvCxnSpPr>
          <p:spPr>
            <a:xfrm flipH="1">
              <a:off x="9873479" y="696732"/>
              <a:ext cx="1169246" cy="54693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33D1EF3A-A661-4EE1-95FA-F722D69F6F5B}"/>
                </a:ext>
              </a:extLst>
            </p:cNvPr>
            <p:cNvSpPr/>
            <p:nvPr/>
          </p:nvSpPr>
          <p:spPr>
            <a:xfrm>
              <a:off x="9574302" y="207075"/>
              <a:ext cx="1476238"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Administrator</a:t>
              </a:r>
            </a:p>
          </p:txBody>
        </p:sp>
        <p:sp>
          <p:nvSpPr>
            <p:cNvPr id="39" name="TextBox 38">
              <a:extLst>
                <a:ext uri="{FF2B5EF4-FFF2-40B4-BE49-F238E27FC236}">
                  <a16:creationId xmlns:a16="http://schemas.microsoft.com/office/drawing/2014/main" id="{A30FFDD5-2B6D-4B23-AB7A-5CB0DA7389D2}"/>
                </a:ext>
              </a:extLst>
            </p:cNvPr>
            <p:cNvSpPr txBox="1"/>
            <p:nvPr/>
          </p:nvSpPr>
          <p:spPr>
            <a:xfrm>
              <a:off x="8766454" y="2579624"/>
              <a:ext cx="1545967"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Base Station</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9FE6384-53F6-4314-A0AB-F95DF8FDAF4D}"/>
              </a:ext>
            </a:extLst>
          </p:cNvPr>
          <p:cNvSpPr>
            <a:spLocks noGrp="1"/>
          </p:cNvSpPr>
          <p:nvPr>
            <p:ph type="sldNum" sz="quarter" idx="12"/>
          </p:nvPr>
        </p:nvSpPr>
        <p:spPr/>
        <p:txBody>
          <a:bodyPr/>
          <a:lstStyle/>
          <a:p>
            <a:fld id="{C3F1913A-7668-436E-8561-76A60B792217}" type="slidenum">
              <a:rPr lang="en-US" smtClean="0"/>
              <a:t>3</a:t>
            </a:fld>
            <a:endParaRPr lang="en-US"/>
          </a:p>
        </p:txBody>
      </p:sp>
      <p:sp>
        <p:nvSpPr>
          <p:cNvPr id="6" name="TextBox 4">
            <a:extLst>
              <a:ext uri="{FF2B5EF4-FFF2-40B4-BE49-F238E27FC236}">
                <a16:creationId xmlns:a16="http://schemas.microsoft.com/office/drawing/2014/main" id="{D9C6D574-2531-4A4D-9DD2-DD59368D835B}"/>
              </a:ext>
            </a:extLst>
          </p:cNvPr>
          <p:cNvSpPr txBox="1">
            <a:spLocks noChangeArrowheads="1"/>
          </p:cNvSpPr>
          <p:nvPr/>
        </p:nvSpPr>
        <p:spPr bwMode="auto">
          <a:xfrm>
            <a:off x="562946" y="1476698"/>
            <a:ext cx="10699103" cy="310854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None/>
            </a:pPr>
            <a:r>
              <a:rPr lang="en-US" sz="2800" dirty="0"/>
              <a:t>For example a sensing node can sense the environment like:</a:t>
            </a:r>
          </a:p>
          <a:p>
            <a:pPr marL="457200" indent="-457200" algn="just" eaLnBrk="1" hangingPunct="1">
              <a:spcBef>
                <a:spcPct val="0"/>
              </a:spcBef>
              <a:buFont typeface="Wingdings" panose="05000000000000000000" pitchFamily="2" charset="2"/>
              <a:buChar char="ü"/>
            </a:pPr>
            <a:r>
              <a:rPr lang="en-US" sz="2800" dirty="0">
                <a:solidFill>
                  <a:srgbClr val="FF0000"/>
                </a:solidFill>
              </a:rPr>
              <a:t>Physical world </a:t>
            </a:r>
            <a:r>
              <a:rPr lang="en-US" sz="2800" dirty="0"/>
              <a:t>(</a:t>
            </a:r>
            <a:r>
              <a:rPr lang="en-GB" sz="2800" dirty="0"/>
              <a:t>temperature, pressure, sound level,</a:t>
            </a:r>
            <a:r>
              <a:rPr lang="en-US" sz="2800" dirty="0"/>
              <a:t> wind direction and speed, illumination intensity) </a:t>
            </a:r>
          </a:p>
          <a:p>
            <a:pPr algn="just" eaLnBrk="1" hangingPunct="1">
              <a:spcBef>
                <a:spcPct val="0"/>
              </a:spcBef>
              <a:buFontTx/>
              <a:buNone/>
            </a:pPr>
            <a:endParaRPr lang="en-US" sz="2800" dirty="0"/>
          </a:p>
          <a:p>
            <a:pPr marL="457200" indent="-457200" algn="just" eaLnBrk="1" hangingPunct="1">
              <a:spcBef>
                <a:spcPct val="0"/>
              </a:spcBef>
              <a:buFont typeface="Wingdings" panose="05000000000000000000" pitchFamily="2" charset="2"/>
              <a:buChar char="ü"/>
            </a:pPr>
            <a:r>
              <a:rPr lang="en-US" sz="2800" dirty="0">
                <a:solidFill>
                  <a:srgbClr val="FF0000"/>
                </a:solidFill>
              </a:rPr>
              <a:t>Biological system</a:t>
            </a:r>
            <a:r>
              <a:rPr lang="en-US" sz="2800" dirty="0"/>
              <a:t> (</a:t>
            </a:r>
            <a:r>
              <a:rPr lang="en-GB" sz="2800" dirty="0"/>
              <a:t>biological and chemical sensors for national security applications </a:t>
            </a:r>
            <a:r>
              <a:rPr lang="en-US" sz="2800" dirty="0"/>
              <a:t>for example</a:t>
            </a:r>
            <a:r>
              <a:rPr lang="en-GB" sz="2800" dirty="0"/>
              <a:t> Air pollution monitoring</a:t>
            </a:r>
            <a:r>
              <a:rPr lang="en-US" sz="2800" dirty="0"/>
              <a:t>,</a:t>
            </a:r>
            <a:r>
              <a:rPr lang="en-GB" sz="2800" dirty="0"/>
              <a:t> Water quality monitoring)</a:t>
            </a:r>
            <a:endParaRPr lang="en-US" sz="2800" dirty="0"/>
          </a:p>
        </p:txBody>
      </p:sp>
    </p:spTree>
    <p:extLst>
      <p:ext uri="{BB962C8B-B14F-4D97-AF65-F5344CB8AC3E}">
        <p14:creationId xmlns:p14="http://schemas.microsoft.com/office/powerpoint/2010/main" val="3082339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4"/>
          <p:cNvSpPr txBox="1">
            <a:spLocks noChangeArrowheads="1"/>
          </p:cNvSpPr>
          <p:nvPr/>
        </p:nvSpPr>
        <p:spPr bwMode="auto">
          <a:xfrm>
            <a:off x="559837" y="1219200"/>
            <a:ext cx="10944808" cy="12001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sz="2400" dirty="0">
                <a:cs typeface="Times New Roman" panose="02020603050405020304" pitchFamily="18" charset="0"/>
              </a:rPr>
              <a:t>A wide-range of applications offered by WSN, some of these are environmental monitoring, industrial sensing, infrastructure protection, battlefield awareness and temperature sensing.</a:t>
            </a:r>
          </a:p>
        </p:txBody>
      </p:sp>
      <p:sp>
        <p:nvSpPr>
          <p:cNvPr id="15363" name="TextBox 2"/>
          <p:cNvSpPr txBox="1">
            <a:spLocks noChangeArrowheads="1"/>
          </p:cNvSpPr>
          <p:nvPr/>
        </p:nvSpPr>
        <p:spPr bwMode="auto">
          <a:xfrm>
            <a:off x="485192" y="473868"/>
            <a:ext cx="3200400" cy="646113"/>
          </a:xfrm>
          <a:prstGeom prst="rect">
            <a:avLst/>
          </a:prstGeom>
          <a:noFill/>
          <a:ln w="9525">
            <a:noFill/>
            <a:miter lim="800000"/>
            <a:headEnd/>
            <a:tailEnd/>
          </a:ln>
        </p:spPr>
        <p:txBody>
          <a:bodyPr>
            <a:spAutoFit/>
          </a:bodyPr>
          <a:lstStyle/>
          <a:p>
            <a:pPr eaLnBrk="1" hangingPunct="1">
              <a:defRPr/>
            </a:pPr>
            <a:r>
              <a:rPr lang="en-US" sz="3600" b="1" dirty="0">
                <a:solidFill>
                  <a:srgbClr val="FF0000"/>
                </a:solidFill>
                <a:latin typeface="Times New Roman" panose="02020603050405020304" pitchFamily="18" charset="0"/>
                <a:cs typeface="Times New Roman" panose="02020603050405020304" pitchFamily="18" charset="0"/>
              </a:rPr>
              <a:t>Applications</a:t>
            </a:r>
          </a:p>
        </p:txBody>
      </p:sp>
      <p:sp>
        <p:nvSpPr>
          <p:cNvPr id="9220" name="Text Box 4"/>
          <p:cNvSpPr txBox="1">
            <a:spLocks noChangeArrowheads="1"/>
          </p:cNvSpPr>
          <p:nvPr/>
        </p:nvSpPr>
        <p:spPr bwMode="auto">
          <a:xfrm>
            <a:off x="1217645" y="2617787"/>
            <a:ext cx="70104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sz="2400" dirty="0">
                <a:cs typeface="Times New Roman" panose="02020603050405020304" pitchFamily="18" charset="0"/>
              </a:rPr>
              <a:t>A short list of applications follows.</a:t>
            </a:r>
          </a:p>
          <a:p>
            <a:pPr eaLnBrk="1" hangingPunct="1">
              <a:spcBef>
                <a:spcPct val="0"/>
              </a:spcBef>
              <a:buFontTx/>
              <a:buNone/>
            </a:pPr>
            <a:r>
              <a:rPr lang="en-US" sz="2800" b="1" dirty="0">
                <a:solidFill>
                  <a:srgbClr val="008000"/>
                </a:solidFill>
                <a:cs typeface="Times New Roman" panose="02020603050405020304" pitchFamily="18" charset="0"/>
              </a:rPr>
              <a:t>Military applications</a:t>
            </a:r>
          </a:p>
          <a:p>
            <a:pPr eaLnBrk="1" hangingPunct="1">
              <a:spcBef>
                <a:spcPct val="0"/>
              </a:spcBef>
            </a:pPr>
            <a:r>
              <a:rPr lang="en-US" sz="2400" dirty="0">
                <a:cs typeface="Times New Roman" panose="02020603050405020304" pitchFamily="18" charset="0"/>
              </a:rPr>
              <a:t> Monitoring inimical forces</a:t>
            </a:r>
          </a:p>
          <a:p>
            <a:pPr eaLnBrk="1" hangingPunct="1">
              <a:spcBef>
                <a:spcPct val="0"/>
              </a:spcBef>
            </a:pPr>
            <a:r>
              <a:rPr lang="en-US" sz="2400" dirty="0">
                <a:cs typeface="Times New Roman" panose="02020603050405020304" pitchFamily="18" charset="0"/>
              </a:rPr>
              <a:t> Monitoring friendly forces and equipment</a:t>
            </a:r>
          </a:p>
          <a:p>
            <a:pPr eaLnBrk="1" hangingPunct="1">
              <a:spcBef>
                <a:spcPct val="0"/>
              </a:spcBef>
            </a:pPr>
            <a:r>
              <a:rPr lang="en-US" sz="2400" dirty="0">
                <a:cs typeface="Times New Roman" panose="02020603050405020304" pitchFamily="18" charset="0"/>
              </a:rPr>
              <a:t> Military-theater or battlefield surveillance</a:t>
            </a:r>
          </a:p>
          <a:p>
            <a:pPr eaLnBrk="1" hangingPunct="1">
              <a:spcBef>
                <a:spcPct val="0"/>
              </a:spcBef>
            </a:pPr>
            <a:r>
              <a:rPr lang="en-US" sz="2400" dirty="0">
                <a:cs typeface="Times New Roman" panose="02020603050405020304" pitchFamily="18" charset="0"/>
              </a:rPr>
              <a:t> Targeting</a:t>
            </a:r>
          </a:p>
          <a:p>
            <a:pPr eaLnBrk="1" hangingPunct="1">
              <a:spcBef>
                <a:spcPct val="0"/>
              </a:spcBef>
            </a:pPr>
            <a:r>
              <a:rPr lang="en-US" sz="2400" dirty="0">
                <a:cs typeface="Times New Roman" panose="02020603050405020304" pitchFamily="18" charset="0"/>
              </a:rPr>
              <a:t> Battle damage assessment</a:t>
            </a:r>
          </a:p>
          <a:p>
            <a:pPr eaLnBrk="1" hangingPunct="1">
              <a:spcBef>
                <a:spcPct val="0"/>
              </a:spcBef>
            </a:pPr>
            <a:r>
              <a:rPr lang="en-US" sz="2400" dirty="0">
                <a:cs typeface="Times New Roman" panose="02020603050405020304" pitchFamily="18" charset="0"/>
              </a:rPr>
              <a:t> Nuclear, biological, and chemical attack detection</a:t>
            </a:r>
          </a:p>
          <a:p>
            <a:pPr eaLnBrk="1" hangingPunct="1">
              <a:spcBef>
                <a:spcPct val="0"/>
              </a:spcBef>
              <a:buFontTx/>
              <a:buNone/>
            </a:pPr>
            <a:r>
              <a:rPr lang="en-US" sz="2400" dirty="0">
                <a:cs typeface="Times New Roman" panose="02020603050405020304" pitchFamily="18" charset="0"/>
              </a:rPr>
              <a:t>and more . .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4"/>
          <p:cNvSpPr txBox="1">
            <a:spLocks noChangeArrowheads="1"/>
          </p:cNvSpPr>
          <p:nvPr/>
        </p:nvSpPr>
        <p:spPr bwMode="auto">
          <a:xfrm>
            <a:off x="1752600" y="533401"/>
            <a:ext cx="8686800"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sz="2800" b="1" dirty="0">
                <a:solidFill>
                  <a:srgbClr val="008000"/>
                </a:solidFill>
              </a:rPr>
              <a:t>Environmental applications</a:t>
            </a:r>
          </a:p>
          <a:p>
            <a:pPr eaLnBrk="1" hangingPunct="1">
              <a:spcBef>
                <a:spcPct val="0"/>
              </a:spcBef>
            </a:pPr>
            <a:r>
              <a:rPr lang="en-US" sz="2400" dirty="0"/>
              <a:t> Microclimates</a:t>
            </a:r>
          </a:p>
          <a:p>
            <a:pPr eaLnBrk="1" hangingPunct="1">
              <a:spcBef>
                <a:spcPct val="0"/>
              </a:spcBef>
            </a:pPr>
            <a:r>
              <a:rPr lang="en-US" sz="2400" dirty="0"/>
              <a:t> Forest fire detection</a:t>
            </a:r>
          </a:p>
          <a:p>
            <a:pPr eaLnBrk="1" hangingPunct="1">
              <a:spcBef>
                <a:spcPct val="0"/>
              </a:spcBef>
            </a:pPr>
            <a:r>
              <a:rPr lang="en-US" sz="2400" dirty="0"/>
              <a:t> Flood detection</a:t>
            </a:r>
          </a:p>
          <a:p>
            <a:pPr eaLnBrk="1" hangingPunct="1">
              <a:spcBef>
                <a:spcPct val="0"/>
              </a:spcBef>
            </a:pPr>
            <a:r>
              <a:rPr lang="en-US" sz="2400" dirty="0"/>
              <a:t> Precision agriculture</a:t>
            </a:r>
          </a:p>
          <a:p>
            <a:pPr eaLnBrk="1" hangingPunct="1">
              <a:spcBef>
                <a:spcPct val="0"/>
              </a:spcBef>
              <a:buFontTx/>
              <a:buNone/>
            </a:pPr>
            <a:r>
              <a:rPr lang="en-US" sz="2400" dirty="0"/>
              <a:t>and more . . .</a:t>
            </a:r>
          </a:p>
          <a:p>
            <a:pPr eaLnBrk="1" hangingPunct="1">
              <a:spcBef>
                <a:spcPct val="0"/>
              </a:spcBef>
              <a:buFontTx/>
              <a:buNone/>
            </a:pPr>
            <a:endParaRPr lang="en-US" sz="2400" dirty="0"/>
          </a:p>
          <a:p>
            <a:pPr eaLnBrk="1" hangingPunct="1">
              <a:spcBef>
                <a:spcPct val="0"/>
              </a:spcBef>
              <a:buFontTx/>
              <a:buNone/>
            </a:pPr>
            <a:r>
              <a:rPr lang="en-US" sz="2800" b="1" dirty="0">
                <a:solidFill>
                  <a:srgbClr val="008000"/>
                </a:solidFill>
              </a:rPr>
              <a:t>Health applications</a:t>
            </a:r>
          </a:p>
          <a:p>
            <a:pPr eaLnBrk="1" hangingPunct="1">
              <a:spcBef>
                <a:spcPct val="0"/>
              </a:spcBef>
            </a:pPr>
            <a:r>
              <a:rPr lang="en-US" sz="2400" dirty="0"/>
              <a:t> Remote monitoring of physiological data</a:t>
            </a:r>
          </a:p>
          <a:p>
            <a:pPr eaLnBrk="1" hangingPunct="1">
              <a:spcBef>
                <a:spcPct val="0"/>
              </a:spcBef>
            </a:pPr>
            <a:r>
              <a:rPr lang="en-US" sz="2400" dirty="0"/>
              <a:t> Tracking and monitoring doctors and patients inside a hospital</a:t>
            </a:r>
          </a:p>
          <a:p>
            <a:pPr eaLnBrk="1" hangingPunct="1">
              <a:spcBef>
                <a:spcPct val="0"/>
              </a:spcBef>
            </a:pPr>
            <a:r>
              <a:rPr lang="en-US" sz="2400" dirty="0"/>
              <a:t> Drug administration</a:t>
            </a:r>
          </a:p>
          <a:p>
            <a:pPr eaLnBrk="1" hangingPunct="1">
              <a:spcBef>
                <a:spcPct val="0"/>
              </a:spcBef>
            </a:pPr>
            <a:r>
              <a:rPr lang="en-US" sz="2400" dirty="0"/>
              <a:t> Elderly assistance</a:t>
            </a:r>
          </a:p>
          <a:p>
            <a:pPr eaLnBrk="1" hangingPunct="1">
              <a:spcBef>
                <a:spcPct val="0"/>
              </a:spcBef>
              <a:buFontTx/>
              <a:buNone/>
            </a:pPr>
            <a:r>
              <a:rPr lang="en-US" sz="2400" dirty="0"/>
              <a:t>and more . . .</a:t>
            </a:r>
          </a:p>
        </p:txBody>
      </p:sp>
      <p:sp>
        <p:nvSpPr>
          <p:cNvPr id="4" name="Slide Number Placeholder 3">
            <a:extLst>
              <a:ext uri="{FF2B5EF4-FFF2-40B4-BE49-F238E27FC236}">
                <a16:creationId xmlns:a16="http://schemas.microsoft.com/office/drawing/2014/main" id="{89D52097-F9E6-482F-8CF7-B60CC6B7E5FB}"/>
              </a:ext>
            </a:extLst>
          </p:cNvPr>
          <p:cNvSpPr>
            <a:spLocks noGrp="1"/>
          </p:cNvSpPr>
          <p:nvPr>
            <p:ph type="sldNum" sz="quarter" idx="12"/>
          </p:nvPr>
        </p:nvSpPr>
        <p:spPr/>
        <p:txBody>
          <a:bodyPr/>
          <a:lstStyle/>
          <a:p>
            <a:fld id="{C3F1913A-7668-436E-8561-76A60B792217}"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4"/>
          <p:cNvSpPr txBox="1">
            <a:spLocks noChangeArrowheads="1"/>
          </p:cNvSpPr>
          <p:nvPr/>
        </p:nvSpPr>
        <p:spPr bwMode="auto">
          <a:xfrm>
            <a:off x="2286000" y="762000"/>
            <a:ext cx="7467600" cy="427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sz="2800" b="1" dirty="0">
                <a:solidFill>
                  <a:srgbClr val="008000"/>
                </a:solidFill>
              </a:rPr>
              <a:t>Home applications</a:t>
            </a:r>
          </a:p>
          <a:p>
            <a:pPr eaLnBrk="1" hangingPunct="1">
              <a:spcBef>
                <a:spcPct val="0"/>
              </a:spcBef>
            </a:pPr>
            <a:r>
              <a:rPr lang="en-US" sz="2400" dirty="0"/>
              <a:t> Home automation</a:t>
            </a:r>
          </a:p>
          <a:p>
            <a:pPr eaLnBrk="1" hangingPunct="1">
              <a:spcBef>
                <a:spcPct val="0"/>
              </a:spcBef>
            </a:pPr>
            <a:r>
              <a:rPr lang="en-US" sz="2400" dirty="0"/>
              <a:t> Instrumented environment</a:t>
            </a:r>
          </a:p>
          <a:p>
            <a:pPr eaLnBrk="1" hangingPunct="1">
              <a:spcBef>
                <a:spcPct val="0"/>
              </a:spcBef>
            </a:pPr>
            <a:r>
              <a:rPr lang="en-US" sz="2400" dirty="0"/>
              <a:t> Automated meter reading</a:t>
            </a:r>
          </a:p>
          <a:p>
            <a:pPr eaLnBrk="1" hangingPunct="1">
              <a:spcBef>
                <a:spcPct val="0"/>
              </a:spcBef>
              <a:buFontTx/>
              <a:buNone/>
            </a:pPr>
            <a:r>
              <a:rPr lang="en-US" sz="2400" dirty="0"/>
              <a:t>and more . . .</a:t>
            </a:r>
          </a:p>
          <a:p>
            <a:pPr eaLnBrk="1" hangingPunct="1">
              <a:spcBef>
                <a:spcPct val="0"/>
              </a:spcBef>
              <a:buFontTx/>
              <a:buNone/>
            </a:pPr>
            <a:endParaRPr lang="en-US" sz="2400" dirty="0"/>
          </a:p>
          <a:p>
            <a:pPr eaLnBrk="1" hangingPunct="1">
              <a:spcBef>
                <a:spcPct val="0"/>
              </a:spcBef>
              <a:buFontTx/>
              <a:buNone/>
            </a:pPr>
            <a:r>
              <a:rPr lang="en-US" sz="2800" b="1" dirty="0">
                <a:solidFill>
                  <a:srgbClr val="008000"/>
                </a:solidFill>
              </a:rPr>
              <a:t>Commercial applications</a:t>
            </a:r>
          </a:p>
          <a:p>
            <a:pPr eaLnBrk="1" hangingPunct="1">
              <a:spcBef>
                <a:spcPct val="0"/>
              </a:spcBef>
            </a:pPr>
            <a:r>
              <a:rPr lang="en-US" sz="2400" dirty="0"/>
              <a:t> Environmental control in industrial and office buildings</a:t>
            </a:r>
          </a:p>
          <a:p>
            <a:pPr eaLnBrk="1" hangingPunct="1">
              <a:spcBef>
                <a:spcPct val="0"/>
              </a:spcBef>
            </a:pPr>
            <a:r>
              <a:rPr lang="en-US" sz="2400" dirty="0"/>
              <a:t> Vehicle tracking and detection</a:t>
            </a:r>
          </a:p>
          <a:p>
            <a:pPr eaLnBrk="1" hangingPunct="1">
              <a:spcBef>
                <a:spcPct val="0"/>
              </a:spcBef>
            </a:pPr>
            <a:r>
              <a:rPr lang="en-US" sz="2400" dirty="0"/>
              <a:t> Traffic flow surveillance</a:t>
            </a:r>
          </a:p>
          <a:p>
            <a:pPr eaLnBrk="1" hangingPunct="1">
              <a:spcBef>
                <a:spcPct val="0"/>
              </a:spcBef>
              <a:buFontTx/>
              <a:buNone/>
            </a:pPr>
            <a:r>
              <a:rPr lang="en-US" sz="2400" dirty="0"/>
              <a:t>and more . . .</a:t>
            </a:r>
          </a:p>
        </p:txBody>
      </p:sp>
      <p:sp>
        <p:nvSpPr>
          <p:cNvPr id="4" name="Slide Number Placeholder 3">
            <a:extLst>
              <a:ext uri="{FF2B5EF4-FFF2-40B4-BE49-F238E27FC236}">
                <a16:creationId xmlns:a16="http://schemas.microsoft.com/office/drawing/2014/main" id="{4836CFF8-A6DC-467B-989C-8F5A00B84C18}"/>
              </a:ext>
            </a:extLst>
          </p:cNvPr>
          <p:cNvSpPr>
            <a:spLocks noGrp="1"/>
          </p:cNvSpPr>
          <p:nvPr>
            <p:ph type="sldNum" sz="quarter" idx="12"/>
          </p:nvPr>
        </p:nvSpPr>
        <p:spPr/>
        <p:txBody>
          <a:bodyPr/>
          <a:lstStyle/>
          <a:p>
            <a:fld id="{C3F1913A-7668-436E-8561-76A60B792217}"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7"/>
          <p:cNvSpPr txBox="1">
            <a:spLocks noChangeArrowheads="1"/>
          </p:cNvSpPr>
          <p:nvPr/>
        </p:nvSpPr>
        <p:spPr bwMode="auto">
          <a:xfrm>
            <a:off x="527304" y="973926"/>
            <a:ext cx="11392678" cy="830997"/>
          </a:xfrm>
          <a:prstGeom prst="rect">
            <a:avLst/>
          </a:prstGeom>
          <a:solidFill>
            <a:srgbClr val="CCFFFF"/>
          </a:solidFill>
          <a:ln>
            <a:noFill/>
          </a:ln>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None/>
              <a:defRPr/>
            </a:pPr>
            <a:r>
              <a:rPr lang="en-US" sz="2400" dirty="0"/>
              <a:t>Figure 2 shows a typical sensor node. A node consists mainly of 3 components: </a:t>
            </a:r>
            <a:r>
              <a:rPr lang="en-US" sz="2400" b="1" dirty="0">
                <a:solidFill>
                  <a:srgbClr val="FF0000"/>
                </a:solidFill>
              </a:rPr>
              <a:t>sensing unit</a:t>
            </a:r>
            <a:r>
              <a:rPr lang="en-US" sz="2400" dirty="0"/>
              <a:t>, a </a:t>
            </a:r>
            <a:r>
              <a:rPr lang="en-US" sz="2400" b="1" dirty="0">
                <a:solidFill>
                  <a:srgbClr val="FF0000"/>
                </a:solidFill>
              </a:rPr>
              <a:t>processing unit</a:t>
            </a:r>
            <a:r>
              <a:rPr lang="en-US" sz="2400" dirty="0"/>
              <a:t>, </a:t>
            </a:r>
            <a:r>
              <a:rPr lang="en-US" sz="2400" b="1" dirty="0">
                <a:solidFill>
                  <a:srgbClr val="FF0000"/>
                </a:solidFill>
              </a:rPr>
              <a:t>self-power unit </a:t>
            </a:r>
            <a:r>
              <a:rPr lang="en-US" sz="2400" dirty="0"/>
              <a:t>and</a:t>
            </a:r>
            <a:r>
              <a:rPr lang="en-US" sz="2400" b="1" dirty="0">
                <a:solidFill>
                  <a:srgbClr val="FF0000"/>
                </a:solidFill>
              </a:rPr>
              <a:t> communication unit.</a:t>
            </a:r>
            <a:endParaRPr lang="en-US" sz="2400" dirty="0"/>
          </a:p>
        </p:txBody>
      </p:sp>
      <p:sp>
        <p:nvSpPr>
          <p:cNvPr id="15363" name="Rectangle 5"/>
          <p:cNvSpPr>
            <a:spLocks noChangeArrowheads="1"/>
          </p:cNvSpPr>
          <p:nvPr/>
        </p:nvSpPr>
        <p:spPr bwMode="auto">
          <a:xfrm>
            <a:off x="3985225" y="5535039"/>
            <a:ext cx="46275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sz="2400" dirty="0"/>
              <a:t>Fig.2 A typical wireless sensor node</a:t>
            </a:r>
          </a:p>
        </p:txBody>
      </p:sp>
      <p:grpSp>
        <p:nvGrpSpPr>
          <p:cNvPr id="15365" name="Group 5"/>
          <p:cNvGrpSpPr>
            <a:grpSpLocks/>
          </p:cNvGrpSpPr>
          <p:nvPr/>
        </p:nvGrpSpPr>
        <p:grpSpPr bwMode="auto">
          <a:xfrm>
            <a:off x="1828385" y="1998570"/>
            <a:ext cx="9517213" cy="3112180"/>
            <a:chOff x="1009649" y="3640795"/>
            <a:chExt cx="6610351" cy="2862424"/>
          </a:xfrm>
        </p:grpSpPr>
        <p:sp>
          <p:nvSpPr>
            <p:cNvPr id="7" name="Rectangle 6"/>
            <p:cNvSpPr/>
            <p:nvPr/>
          </p:nvSpPr>
          <p:spPr>
            <a:xfrm>
              <a:off x="1600199" y="3640795"/>
              <a:ext cx="6019801" cy="53343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solidFill>
                    <a:schemeClr val="tx1"/>
                  </a:solidFill>
                  <a:latin typeface="Times New Roman" panose="02020603050405020304" pitchFamily="18" charset="0"/>
                  <a:cs typeface="Times New Roman" panose="02020603050405020304" pitchFamily="18" charset="0"/>
                </a:rPr>
                <a:t>Self-Power</a:t>
              </a:r>
            </a:p>
          </p:txBody>
        </p:sp>
        <p:sp>
          <p:nvSpPr>
            <p:cNvPr id="8" name="Rectangle 7"/>
            <p:cNvSpPr/>
            <p:nvPr/>
          </p:nvSpPr>
          <p:spPr>
            <a:xfrm>
              <a:off x="1573212" y="4483805"/>
              <a:ext cx="1246187" cy="469927"/>
            </a:xfrm>
            <a:prstGeom prst="rect">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latin typeface="Times New Roman" panose="02020603050405020304" pitchFamily="18" charset="0"/>
                  <a:cs typeface="Times New Roman" panose="02020603050405020304" pitchFamily="18" charset="0"/>
                </a:rPr>
                <a:t>Sensing unit</a:t>
              </a:r>
            </a:p>
          </p:txBody>
        </p:sp>
        <p:sp>
          <p:nvSpPr>
            <p:cNvPr id="9" name="Rectangle 8"/>
            <p:cNvSpPr/>
            <p:nvPr/>
          </p:nvSpPr>
          <p:spPr>
            <a:xfrm>
              <a:off x="3505199" y="4483805"/>
              <a:ext cx="1752600" cy="469927"/>
            </a:xfrm>
            <a:prstGeom prst="rect">
              <a:avLst/>
            </a:prstGeom>
            <a:solidFill>
              <a:srgbClr val="CCEC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latin typeface="Times New Roman" panose="02020603050405020304" pitchFamily="18" charset="0"/>
                  <a:cs typeface="Times New Roman" panose="02020603050405020304" pitchFamily="18" charset="0"/>
                </a:rPr>
                <a:t>Processing unit</a:t>
              </a:r>
            </a:p>
          </p:txBody>
        </p:sp>
        <p:sp>
          <p:nvSpPr>
            <p:cNvPr id="10" name="Rectangle 9"/>
            <p:cNvSpPr/>
            <p:nvPr/>
          </p:nvSpPr>
          <p:spPr>
            <a:xfrm>
              <a:off x="5992813" y="4463167"/>
              <a:ext cx="1550987" cy="469927"/>
            </a:xfrm>
            <a:prstGeom prst="rect">
              <a:avLst/>
            </a:prstGeom>
            <a:solidFill>
              <a:srgbClr val="CCEC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latin typeface="Times New Roman" panose="02020603050405020304" pitchFamily="18" charset="0"/>
                  <a:cs typeface="Times New Roman" panose="02020603050405020304" pitchFamily="18" charset="0"/>
                </a:rPr>
                <a:t>Memory</a:t>
              </a:r>
            </a:p>
          </p:txBody>
        </p:sp>
        <p:sp>
          <p:nvSpPr>
            <p:cNvPr id="11" name="Rectangle 10"/>
            <p:cNvSpPr/>
            <p:nvPr/>
          </p:nvSpPr>
          <p:spPr>
            <a:xfrm>
              <a:off x="1568449" y="5291888"/>
              <a:ext cx="2546350" cy="469927"/>
            </a:xfrm>
            <a:prstGeom prst="rect">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latin typeface="Times New Roman" panose="02020603050405020304" pitchFamily="18" charset="0"/>
                  <a:cs typeface="Times New Roman" panose="02020603050405020304" pitchFamily="18" charset="0"/>
                </a:rPr>
                <a:t>Self and remote testing</a:t>
              </a:r>
            </a:p>
          </p:txBody>
        </p:sp>
        <p:sp>
          <p:nvSpPr>
            <p:cNvPr id="12" name="Rectangle 11"/>
            <p:cNvSpPr/>
            <p:nvPr/>
          </p:nvSpPr>
          <p:spPr>
            <a:xfrm>
              <a:off x="4945063" y="5310940"/>
              <a:ext cx="2674937" cy="469927"/>
            </a:xfrm>
            <a:prstGeom prst="rect">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latin typeface="Times New Roman" panose="02020603050405020304" pitchFamily="18" charset="0"/>
                  <a:cs typeface="Times New Roman" panose="02020603050405020304" pitchFamily="18" charset="0"/>
                </a:rPr>
                <a:t>Sync and Timing</a:t>
              </a:r>
            </a:p>
          </p:txBody>
        </p:sp>
        <p:sp>
          <p:nvSpPr>
            <p:cNvPr id="13" name="Rectangle 12"/>
            <p:cNvSpPr/>
            <p:nvPr/>
          </p:nvSpPr>
          <p:spPr>
            <a:xfrm>
              <a:off x="1600199" y="6015829"/>
              <a:ext cx="2286000" cy="469927"/>
            </a:xfrm>
            <a:prstGeom prst="rect">
              <a:avLst/>
            </a:prstGeom>
            <a:solidFill>
              <a:srgbClr val="FFCC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latin typeface="Times New Roman" panose="02020603050405020304" pitchFamily="18" charset="0"/>
                  <a:cs typeface="Times New Roman" panose="02020603050405020304" pitchFamily="18" charset="0"/>
                </a:rPr>
                <a:t>Transmitter/Receiver</a:t>
              </a:r>
            </a:p>
          </p:txBody>
        </p:sp>
        <p:sp>
          <p:nvSpPr>
            <p:cNvPr id="14" name="Rectangle 13"/>
            <p:cNvSpPr/>
            <p:nvPr/>
          </p:nvSpPr>
          <p:spPr>
            <a:xfrm>
              <a:off x="4267199" y="6033292"/>
              <a:ext cx="1752600" cy="469927"/>
            </a:xfrm>
            <a:prstGeom prst="rect">
              <a:avLst/>
            </a:prstGeom>
            <a:solidFill>
              <a:srgbClr val="FFCC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latin typeface="Times New Roman" panose="02020603050405020304" pitchFamily="18" charset="0"/>
                  <a:cs typeface="Times New Roman" panose="02020603050405020304" pitchFamily="18" charset="0"/>
                </a:rPr>
                <a:t>Routing Table</a:t>
              </a:r>
            </a:p>
          </p:txBody>
        </p:sp>
        <p:sp>
          <p:nvSpPr>
            <p:cNvPr id="15" name="Rectangle 14"/>
            <p:cNvSpPr/>
            <p:nvPr/>
          </p:nvSpPr>
          <p:spPr>
            <a:xfrm>
              <a:off x="6503988" y="6023767"/>
              <a:ext cx="1116012" cy="469927"/>
            </a:xfrm>
            <a:prstGeom prst="rect">
              <a:avLst/>
            </a:prstGeom>
            <a:solidFill>
              <a:srgbClr val="FFCC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latin typeface="Times New Roman" panose="02020603050405020304" pitchFamily="18" charset="0"/>
                  <a:cs typeface="Times New Roman" panose="02020603050405020304" pitchFamily="18" charset="0"/>
                </a:rPr>
                <a:t>Security unit</a:t>
              </a:r>
            </a:p>
          </p:txBody>
        </p:sp>
        <p:grpSp>
          <p:nvGrpSpPr>
            <p:cNvPr id="15375" name="Group 15"/>
            <p:cNvGrpSpPr>
              <a:grpSpLocks/>
            </p:cNvGrpSpPr>
            <p:nvPr/>
          </p:nvGrpSpPr>
          <p:grpSpPr bwMode="auto">
            <a:xfrm>
              <a:off x="1009649" y="3984930"/>
              <a:ext cx="564082" cy="739470"/>
              <a:chOff x="1009649" y="3984930"/>
              <a:chExt cx="564082" cy="739470"/>
            </a:xfrm>
          </p:grpSpPr>
          <p:cxnSp>
            <p:nvCxnSpPr>
              <p:cNvPr id="28" name="Straight Connector 27"/>
              <p:cNvCxnSpPr>
                <a:stCxn id="8" idx="1"/>
              </p:cNvCxnSpPr>
              <p:nvPr/>
            </p:nvCxnSpPr>
            <p:spPr>
              <a:xfrm flipH="1">
                <a:off x="1142999" y="4718768"/>
                <a:ext cx="430213" cy="63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1142999" y="4358385"/>
                <a:ext cx="0" cy="3619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Isosceles Triangle 29"/>
              <p:cNvSpPr/>
              <p:nvPr/>
            </p:nvSpPr>
            <p:spPr>
              <a:xfrm>
                <a:off x="1009649" y="3985301"/>
                <a:ext cx="266700" cy="369909"/>
              </a:xfrm>
              <a:prstGeom prst="triangl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000">
                  <a:latin typeface="Times New Roman" panose="02020603050405020304" pitchFamily="18" charset="0"/>
                  <a:cs typeface="Times New Roman" panose="02020603050405020304" pitchFamily="18" charset="0"/>
                </a:endParaRPr>
              </a:p>
            </p:txBody>
          </p:sp>
        </p:grpSp>
        <p:grpSp>
          <p:nvGrpSpPr>
            <p:cNvPr id="15376" name="Group 16"/>
            <p:cNvGrpSpPr>
              <a:grpSpLocks/>
            </p:cNvGrpSpPr>
            <p:nvPr/>
          </p:nvGrpSpPr>
          <p:grpSpPr bwMode="auto">
            <a:xfrm>
              <a:off x="1009649" y="5590064"/>
              <a:ext cx="564082" cy="739470"/>
              <a:chOff x="1009649" y="3984930"/>
              <a:chExt cx="564082" cy="739470"/>
            </a:xfrm>
          </p:grpSpPr>
          <p:cxnSp>
            <p:nvCxnSpPr>
              <p:cNvPr id="25" name="Straight Connector 24"/>
              <p:cNvCxnSpPr/>
              <p:nvPr/>
            </p:nvCxnSpPr>
            <p:spPr>
              <a:xfrm flipH="1">
                <a:off x="1142999" y="4718688"/>
                <a:ext cx="430213" cy="63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1142999" y="4358304"/>
                <a:ext cx="0" cy="3619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Isosceles Triangle 26"/>
              <p:cNvSpPr/>
              <p:nvPr/>
            </p:nvSpPr>
            <p:spPr>
              <a:xfrm>
                <a:off x="1009649" y="3985221"/>
                <a:ext cx="266700" cy="369908"/>
              </a:xfrm>
              <a:prstGeom prst="triangl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000">
                  <a:latin typeface="Times New Roman" panose="02020603050405020304" pitchFamily="18" charset="0"/>
                  <a:cs typeface="Times New Roman" panose="02020603050405020304" pitchFamily="18" charset="0"/>
                </a:endParaRPr>
              </a:p>
            </p:txBody>
          </p:sp>
        </p:grpSp>
        <p:cxnSp>
          <p:nvCxnSpPr>
            <p:cNvPr id="18" name="Straight Connector 17"/>
            <p:cNvCxnSpPr>
              <a:stCxn id="8" idx="3"/>
              <a:endCxn id="9" idx="1"/>
            </p:cNvCxnSpPr>
            <p:nvPr/>
          </p:nvCxnSpPr>
          <p:spPr>
            <a:xfrm>
              <a:off x="2819399" y="4718768"/>
              <a:ext cx="685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9" idx="3"/>
              <a:endCxn id="10" idx="1"/>
            </p:cNvCxnSpPr>
            <p:nvPr/>
          </p:nvCxnSpPr>
          <p:spPr>
            <a:xfrm flipV="1">
              <a:off x="5257800" y="4698130"/>
              <a:ext cx="735013" cy="206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809999" y="4953731"/>
              <a:ext cx="0" cy="3381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5105400" y="4953731"/>
              <a:ext cx="0" cy="3381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4495800" y="4953731"/>
              <a:ext cx="0" cy="10541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endCxn id="14" idx="1"/>
            </p:cNvCxnSpPr>
            <p:nvPr/>
          </p:nvCxnSpPr>
          <p:spPr>
            <a:xfrm>
              <a:off x="3881437" y="6247618"/>
              <a:ext cx="385762" cy="206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5992813" y="6323822"/>
              <a:ext cx="51117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FDC3CA47-FA65-4C3B-AB0C-E6DED1FA69E1}"/>
              </a:ext>
            </a:extLst>
          </p:cNvPr>
          <p:cNvSpPr/>
          <p:nvPr/>
        </p:nvSpPr>
        <p:spPr>
          <a:xfrm>
            <a:off x="446038" y="163437"/>
            <a:ext cx="5947141" cy="646331"/>
          </a:xfrm>
          <a:prstGeom prst="rect">
            <a:avLst/>
          </a:prstGeom>
        </p:spPr>
        <p:txBody>
          <a:bodyPr wrap="none">
            <a:spAutoFit/>
          </a:bodyPr>
          <a:lstStyle/>
          <a:p>
            <a:pPr algn="just">
              <a:spcBef>
                <a:spcPct val="0"/>
              </a:spcBef>
              <a:defRPr/>
            </a:pPr>
            <a:r>
              <a:rPr lang="en-US" sz="3600" b="1" dirty="0">
                <a:solidFill>
                  <a:srgbClr val="FF0000"/>
                </a:solidFill>
                <a:latin typeface="Times New Roman" panose="02020603050405020304" pitchFamily="18" charset="0"/>
                <a:cs typeface="Times New Roman" panose="02020603050405020304" pitchFamily="18" charset="0"/>
              </a:rPr>
              <a:t>Components of a sensor node</a:t>
            </a:r>
          </a:p>
        </p:txBody>
      </p:sp>
      <p:cxnSp>
        <p:nvCxnSpPr>
          <p:cNvPr id="4" name="Straight Arrow Connector 3">
            <a:extLst>
              <a:ext uri="{FF2B5EF4-FFF2-40B4-BE49-F238E27FC236}">
                <a16:creationId xmlns:a16="http://schemas.microsoft.com/office/drawing/2014/main" id="{4F5AC2AA-99A5-407C-835E-022D340E9136}"/>
              </a:ext>
            </a:extLst>
          </p:cNvPr>
          <p:cNvCxnSpPr>
            <a:cxnSpLocks/>
          </p:cNvCxnSpPr>
          <p:nvPr/>
        </p:nvCxnSpPr>
        <p:spPr>
          <a:xfrm flipH="1">
            <a:off x="1702359" y="3234488"/>
            <a:ext cx="895322" cy="26378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a:cxnSpLocks/>
            <a:stCxn id="39" idx="2"/>
          </p:cNvCxnSpPr>
          <p:nvPr/>
        </p:nvCxnSpPr>
        <p:spPr>
          <a:xfrm>
            <a:off x="696938" y="3912424"/>
            <a:ext cx="206299" cy="1498252"/>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96092" y="5408023"/>
            <a:ext cx="1637212" cy="369332"/>
          </a:xfrm>
          <a:prstGeom prst="rect">
            <a:avLst/>
          </a:prstGeom>
          <a:solidFill>
            <a:srgbClr val="FFFF00"/>
          </a:solidFill>
        </p:spPr>
        <p:txBody>
          <a:bodyPr wrap="square" rtlCol="0">
            <a:spAutoFit/>
          </a:bodyPr>
          <a:lstStyle/>
          <a:p>
            <a:r>
              <a:rPr lang="en-US" dirty="0">
                <a:latin typeface="Times New Roman" panose="02020603050405020304" pitchFamily="18" charset="0"/>
                <a:cs typeface="Times New Roman" panose="02020603050405020304" pitchFamily="18" charset="0"/>
              </a:rPr>
              <a:t>Array of sensor </a:t>
            </a:r>
          </a:p>
        </p:txBody>
      </p:sp>
      <p:sp>
        <p:nvSpPr>
          <p:cNvPr id="3" name="Rectangle 2">
            <a:extLst>
              <a:ext uri="{FF2B5EF4-FFF2-40B4-BE49-F238E27FC236}">
                <a16:creationId xmlns:a16="http://schemas.microsoft.com/office/drawing/2014/main" id="{B2E9AF9C-70A2-4391-BAAF-ADFF7BD3436C}"/>
              </a:ext>
            </a:extLst>
          </p:cNvPr>
          <p:cNvSpPr/>
          <p:nvPr/>
        </p:nvSpPr>
        <p:spPr>
          <a:xfrm>
            <a:off x="446039" y="6024073"/>
            <a:ext cx="11291870" cy="830997"/>
          </a:xfrm>
          <a:prstGeom prst="rect">
            <a:avLst/>
          </a:prstGeom>
          <a:solidFill>
            <a:srgbClr val="66CCFF"/>
          </a:solidFill>
        </p:spPr>
        <p:txBody>
          <a:bodyPr wrap="square">
            <a:spAutoFit/>
          </a:bodyPr>
          <a:lstStyle/>
          <a:p>
            <a:r>
              <a:rPr lang="en-US" sz="2400" dirty="0">
                <a:latin typeface="Times New Roman" panose="02020603050405020304" pitchFamily="18" charset="0"/>
                <a:cs typeface="Times New Roman" panose="02020603050405020304" pitchFamily="18" charset="0"/>
              </a:rPr>
              <a:t>A Sensor node in WSNs have limited memory, processing capacity, battery power to serve the network.</a:t>
            </a:r>
          </a:p>
        </p:txBody>
      </p:sp>
      <p:grpSp>
        <p:nvGrpSpPr>
          <p:cNvPr id="36" name="Group 35">
            <a:extLst>
              <a:ext uri="{FF2B5EF4-FFF2-40B4-BE49-F238E27FC236}">
                <a16:creationId xmlns:a16="http://schemas.microsoft.com/office/drawing/2014/main" id="{541E4CDE-2826-4EBE-9D23-4A179C8EF232}"/>
              </a:ext>
            </a:extLst>
          </p:cNvPr>
          <p:cNvGrpSpPr/>
          <p:nvPr/>
        </p:nvGrpSpPr>
        <p:grpSpPr>
          <a:xfrm>
            <a:off x="13400" y="3013632"/>
            <a:ext cx="1647710" cy="900865"/>
            <a:chOff x="8960649" y="1869818"/>
            <a:chExt cx="2320062" cy="1351722"/>
          </a:xfrm>
        </p:grpSpPr>
        <p:grpSp>
          <p:nvGrpSpPr>
            <p:cNvPr id="37" name="Group 36">
              <a:extLst>
                <a:ext uri="{FF2B5EF4-FFF2-40B4-BE49-F238E27FC236}">
                  <a16:creationId xmlns:a16="http://schemas.microsoft.com/office/drawing/2014/main" id="{ECD52ADE-BF3C-4161-9AC0-E299F3FACA2A}"/>
                </a:ext>
              </a:extLst>
            </p:cNvPr>
            <p:cNvGrpSpPr/>
            <p:nvPr/>
          </p:nvGrpSpPr>
          <p:grpSpPr>
            <a:xfrm>
              <a:off x="8960649" y="2332653"/>
              <a:ext cx="2320062" cy="888887"/>
              <a:chOff x="8960649" y="2332653"/>
              <a:chExt cx="2320062" cy="888887"/>
            </a:xfrm>
          </p:grpSpPr>
          <p:sp>
            <p:nvSpPr>
              <p:cNvPr id="39" name="Rectangle 38">
                <a:extLst>
                  <a:ext uri="{FF2B5EF4-FFF2-40B4-BE49-F238E27FC236}">
                    <a16:creationId xmlns:a16="http://schemas.microsoft.com/office/drawing/2014/main" id="{AE1F0214-E747-428C-96FE-0A6BCDABE5FC}"/>
                  </a:ext>
                </a:extLst>
              </p:cNvPr>
              <p:cNvSpPr/>
              <p:nvPr/>
            </p:nvSpPr>
            <p:spPr>
              <a:xfrm>
                <a:off x="9470571" y="2332653"/>
                <a:ext cx="905070" cy="885777"/>
              </a:xfrm>
              <a:prstGeom prst="rect">
                <a:avLst/>
              </a:prstGeom>
              <a:solidFill>
                <a:srgbClr val="66CC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Times New Roman" panose="02020603050405020304" pitchFamily="18" charset="0"/>
                    <a:cs typeface="Times New Roman" panose="02020603050405020304" pitchFamily="18" charset="0"/>
                  </a:rPr>
                  <a:t>Sensor</a:t>
                </a:r>
              </a:p>
            </p:txBody>
          </p:sp>
          <p:sp>
            <p:nvSpPr>
              <p:cNvPr id="40" name="Rectangle 39">
                <a:extLst>
                  <a:ext uri="{FF2B5EF4-FFF2-40B4-BE49-F238E27FC236}">
                    <a16:creationId xmlns:a16="http://schemas.microsoft.com/office/drawing/2014/main" id="{C0210AE3-F104-4770-98E6-930944BDDA78}"/>
                  </a:ext>
                </a:extLst>
              </p:cNvPr>
              <p:cNvSpPr/>
              <p:nvPr/>
            </p:nvSpPr>
            <p:spPr>
              <a:xfrm>
                <a:off x="10375641" y="2335763"/>
                <a:ext cx="905070" cy="885777"/>
              </a:xfrm>
              <a:prstGeom prst="rect">
                <a:avLst/>
              </a:prstGeom>
              <a:solidFill>
                <a:srgbClr val="92D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Times New Roman" panose="02020603050405020304" pitchFamily="18" charset="0"/>
                    <a:cs typeface="Times New Roman" panose="02020603050405020304" pitchFamily="18" charset="0"/>
                  </a:rPr>
                  <a:t>ADC</a:t>
                </a:r>
                <a:endParaRPr lang="en-US" sz="1200" dirty="0">
                  <a:latin typeface="Times New Roman" panose="02020603050405020304" pitchFamily="18" charset="0"/>
                  <a:cs typeface="Times New Roman" panose="02020603050405020304" pitchFamily="18" charset="0"/>
                </a:endParaRPr>
              </a:p>
            </p:txBody>
          </p:sp>
          <p:cxnSp>
            <p:nvCxnSpPr>
              <p:cNvPr id="41" name="Straight Arrow Connector 40">
                <a:extLst>
                  <a:ext uri="{FF2B5EF4-FFF2-40B4-BE49-F238E27FC236}">
                    <a16:creationId xmlns:a16="http://schemas.microsoft.com/office/drawing/2014/main" id="{5B1E8238-24AD-4989-9BA0-72FBD91217CD}"/>
                  </a:ext>
                </a:extLst>
              </p:cNvPr>
              <p:cNvCxnSpPr>
                <a:cxnSpLocks/>
              </p:cNvCxnSpPr>
              <p:nvPr/>
            </p:nvCxnSpPr>
            <p:spPr>
              <a:xfrm>
                <a:off x="8960649" y="2775540"/>
                <a:ext cx="485191"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Freeform: Shape 41">
                <a:extLst>
                  <a:ext uri="{FF2B5EF4-FFF2-40B4-BE49-F238E27FC236}">
                    <a16:creationId xmlns:a16="http://schemas.microsoft.com/office/drawing/2014/main" id="{F1638E72-A552-4820-829A-3A7E710F3263}"/>
                  </a:ext>
                </a:extLst>
              </p:cNvPr>
              <p:cNvSpPr/>
              <p:nvPr/>
            </p:nvSpPr>
            <p:spPr>
              <a:xfrm>
                <a:off x="9041363" y="2407290"/>
                <a:ext cx="289249" cy="214612"/>
              </a:xfrm>
              <a:custGeom>
                <a:avLst/>
                <a:gdLst>
                  <a:gd name="connsiteX0" fmla="*/ 0 w 289249"/>
                  <a:gd name="connsiteY0" fmla="*/ 214612 h 214612"/>
                  <a:gd name="connsiteX1" fmla="*/ 93306 w 289249"/>
                  <a:gd name="connsiteY1" fmla="*/ 8 h 214612"/>
                  <a:gd name="connsiteX2" fmla="*/ 205274 w 289249"/>
                  <a:gd name="connsiteY2" fmla="*/ 205281 h 214612"/>
                  <a:gd name="connsiteX3" fmla="*/ 289249 w 289249"/>
                  <a:gd name="connsiteY3" fmla="*/ 9339 h 214612"/>
                </a:gdLst>
                <a:ahLst/>
                <a:cxnLst>
                  <a:cxn ang="0">
                    <a:pos x="connsiteX0" y="connsiteY0"/>
                  </a:cxn>
                  <a:cxn ang="0">
                    <a:pos x="connsiteX1" y="connsiteY1"/>
                  </a:cxn>
                  <a:cxn ang="0">
                    <a:pos x="connsiteX2" y="connsiteY2"/>
                  </a:cxn>
                  <a:cxn ang="0">
                    <a:pos x="connsiteX3" y="connsiteY3"/>
                  </a:cxn>
                </a:cxnLst>
                <a:rect l="l" t="t" r="r" b="b"/>
                <a:pathLst>
                  <a:path w="289249" h="214612">
                    <a:moveTo>
                      <a:pt x="0" y="214612"/>
                    </a:moveTo>
                    <a:cubicBezTo>
                      <a:pt x="29547" y="108087"/>
                      <a:pt x="59094" y="1563"/>
                      <a:pt x="93306" y="8"/>
                    </a:cubicBezTo>
                    <a:cubicBezTo>
                      <a:pt x="127518" y="-1547"/>
                      <a:pt x="172617" y="203726"/>
                      <a:pt x="205274" y="205281"/>
                    </a:cubicBezTo>
                    <a:cubicBezTo>
                      <a:pt x="237931" y="206836"/>
                      <a:pt x="263590" y="108087"/>
                      <a:pt x="289249" y="9339"/>
                    </a:cubicBez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sp>
          <p:nvSpPr>
            <p:cNvPr id="38" name="TextBox 37">
              <a:extLst>
                <a:ext uri="{FF2B5EF4-FFF2-40B4-BE49-F238E27FC236}">
                  <a16:creationId xmlns:a16="http://schemas.microsoft.com/office/drawing/2014/main" id="{2D2F781A-3E8E-4B72-9B17-7FA4AD340DCA}"/>
                </a:ext>
              </a:extLst>
            </p:cNvPr>
            <p:cNvSpPr txBox="1"/>
            <p:nvPr/>
          </p:nvSpPr>
          <p:spPr>
            <a:xfrm>
              <a:off x="9632453" y="1869818"/>
              <a:ext cx="1387151" cy="41562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Sensing</a:t>
              </a:r>
            </a:p>
          </p:txBody>
        </p:sp>
      </p:grpSp>
      <p:sp>
        <p:nvSpPr>
          <p:cNvPr id="32" name="Slide Number Placeholder 31">
            <a:extLst>
              <a:ext uri="{FF2B5EF4-FFF2-40B4-BE49-F238E27FC236}">
                <a16:creationId xmlns:a16="http://schemas.microsoft.com/office/drawing/2014/main" id="{F458943E-E2EE-41FA-B232-36ECE86164A5}"/>
              </a:ext>
            </a:extLst>
          </p:cNvPr>
          <p:cNvSpPr>
            <a:spLocks noGrp="1"/>
          </p:cNvSpPr>
          <p:nvPr>
            <p:ph type="sldNum" sz="quarter" idx="12"/>
          </p:nvPr>
        </p:nvSpPr>
        <p:spPr/>
        <p:txBody>
          <a:bodyPr/>
          <a:lstStyle/>
          <a:p>
            <a:pPr>
              <a:defRPr/>
            </a:pPr>
            <a:fld id="{13CC66DC-C496-4A87-A4D6-24BBFECA0FB1}" type="slidenum">
              <a:rPr lang="en-US" smtClean="0"/>
              <a:pPr>
                <a:defRPr/>
              </a:pPr>
              <a:t>7</a:t>
            </a:fld>
            <a:endParaRPr lang="en-US"/>
          </a:p>
        </p:txBody>
      </p:sp>
    </p:spTree>
    <p:extLst>
      <p:ext uri="{BB962C8B-B14F-4D97-AF65-F5344CB8AC3E}">
        <p14:creationId xmlns:p14="http://schemas.microsoft.com/office/powerpoint/2010/main" val="2183439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138EB75D-80E2-4A3F-A8C1-26D75553AA0F}"/>
              </a:ext>
            </a:extLst>
          </p:cNvPr>
          <p:cNvSpPr txBox="1">
            <a:spLocks noChangeArrowheads="1"/>
          </p:cNvSpPr>
          <p:nvPr/>
        </p:nvSpPr>
        <p:spPr bwMode="auto">
          <a:xfrm>
            <a:off x="449826" y="540774"/>
            <a:ext cx="8300884" cy="2677656"/>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sz="2400" b="1" dirty="0">
                <a:solidFill>
                  <a:srgbClr val="FF0000"/>
                </a:solidFill>
              </a:rPr>
              <a:t>Sensing Unit</a:t>
            </a:r>
          </a:p>
          <a:p>
            <a:pPr algn="just" eaLnBrk="1" hangingPunct="1">
              <a:spcBef>
                <a:spcPct val="0"/>
              </a:spcBef>
              <a:buFont typeface="Wingdings" panose="05000000000000000000" pitchFamily="2" charset="2"/>
              <a:buChar char="ü"/>
            </a:pPr>
            <a:r>
              <a:rPr lang="en-US" sz="2400" dirty="0"/>
              <a:t>The sensing unit consists of a </a:t>
            </a:r>
            <a:r>
              <a:rPr lang="en-US" sz="2400" b="1" dirty="0">
                <a:solidFill>
                  <a:srgbClr val="0000FF"/>
                </a:solidFill>
              </a:rPr>
              <a:t>sensor</a:t>
            </a:r>
            <a:r>
              <a:rPr lang="en-US" sz="2400" dirty="0"/>
              <a:t> and an </a:t>
            </a:r>
            <a:r>
              <a:rPr lang="en-US" sz="2400" b="1" dirty="0">
                <a:solidFill>
                  <a:srgbClr val="0000FF"/>
                </a:solidFill>
              </a:rPr>
              <a:t>analog-to-digital converter</a:t>
            </a:r>
            <a:r>
              <a:rPr lang="en-US" sz="2400" dirty="0"/>
              <a:t>. A smart sensor node consists of a combination of multiple sensors like MIMO. </a:t>
            </a:r>
          </a:p>
          <a:p>
            <a:pPr algn="just" eaLnBrk="1" hangingPunct="1">
              <a:spcBef>
                <a:spcPct val="0"/>
              </a:spcBef>
              <a:buFont typeface="Wingdings" panose="05000000000000000000" pitchFamily="2" charset="2"/>
              <a:buChar char="ü"/>
            </a:pPr>
            <a:r>
              <a:rPr lang="en-US" sz="2400" dirty="0"/>
              <a:t>The analog signals produced by the sensors, based on the observed event, are converted to digital signals by the converter and then fed into the processing unit. </a:t>
            </a:r>
          </a:p>
        </p:txBody>
      </p:sp>
      <p:sp>
        <p:nvSpPr>
          <p:cNvPr id="5" name="Text Box 4">
            <a:extLst>
              <a:ext uri="{FF2B5EF4-FFF2-40B4-BE49-F238E27FC236}">
                <a16:creationId xmlns:a16="http://schemas.microsoft.com/office/drawing/2014/main" id="{1C8AE4FD-EA8A-4E75-B411-D9B0D462C927}"/>
              </a:ext>
            </a:extLst>
          </p:cNvPr>
          <p:cNvSpPr txBox="1">
            <a:spLocks noChangeArrowheads="1"/>
          </p:cNvSpPr>
          <p:nvPr/>
        </p:nvSpPr>
        <p:spPr bwMode="auto">
          <a:xfrm>
            <a:off x="449826" y="3922138"/>
            <a:ext cx="11044084" cy="2308324"/>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sz="2400" b="1" dirty="0">
                <a:solidFill>
                  <a:srgbClr val="FF0000"/>
                </a:solidFill>
              </a:rPr>
              <a:t>Processing and Memory Unit</a:t>
            </a:r>
          </a:p>
          <a:p>
            <a:pPr algn="just" eaLnBrk="1" hangingPunct="1">
              <a:spcBef>
                <a:spcPct val="0"/>
              </a:spcBef>
              <a:buFont typeface="Wingdings" panose="05000000000000000000" pitchFamily="2" charset="2"/>
              <a:buChar char="ü"/>
            </a:pPr>
            <a:r>
              <a:rPr lang="en-US" sz="2400" dirty="0"/>
              <a:t>The processing unit (associated with memory) performs certain computations on the data depending on how it is programmed, may send the resulting information out to the network. </a:t>
            </a:r>
          </a:p>
          <a:p>
            <a:pPr algn="just" eaLnBrk="1" hangingPunct="1">
              <a:spcBef>
                <a:spcPct val="0"/>
              </a:spcBef>
              <a:buFont typeface="Wingdings" panose="05000000000000000000" pitchFamily="2" charset="2"/>
              <a:buChar char="ü"/>
            </a:pPr>
            <a:r>
              <a:rPr lang="en-US" sz="2400" dirty="0"/>
              <a:t>The processor determines what data needs to be analyzed, stored, or compared with the data stored in memory. </a:t>
            </a:r>
          </a:p>
        </p:txBody>
      </p:sp>
      <p:grpSp>
        <p:nvGrpSpPr>
          <p:cNvPr id="14" name="Group 13">
            <a:extLst>
              <a:ext uri="{FF2B5EF4-FFF2-40B4-BE49-F238E27FC236}">
                <a16:creationId xmlns:a16="http://schemas.microsoft.com/office/drawing/2014/main" id="{1E19FEA9-9C4D-4F9E-994B-E42295150358}"/>
              </a:ext>
            </a:extLst>
          </p:cNvPr>
          <p:cNvGrpSpPr/>
          <p:nvPr/>
        </p:nvGrpSpPr>
        <p:grpSpPr>
          <a:xfrm>
            <a:off x="9033738" y="880773"/>
            <a:ext cx="2320062" cy="1351722"/>
            <a:chOff x="8960649" y="1869818"/>
            <a:chExt cx="2320062" cy="1351722"/>
          </a:xfrm>
        </p:grpSpPr>
        <p:grpSp>
          <p:nvGrpSpPr>
            <p:cNvPr id="12" name="Group 11">
              <a:extLst>
                <a:ext uri="{FF2B5EF4-FFF2-40B4-BE49-F238E27FC236}">
                  <a16:creationId xmlns:a16="http://schemas.microsoft.com/office/drawing/2014/main" id="{26544113-ADEF-40B8-89E4-6D11AC34299A}"/>
                </a:ext>
              </a:extLst>
            </p:cNvPr>
            <p:cNvGrpSpPr/>
            <p:nvPr/>
          </p:nvGrpSpPr>
          <p:grpSpPr>
            <a:xfrm>
              <a:off x="8960649" y="2332653"/>
              <a:ext cx="2320062" cy="888887"/>
              <a:chOff x="8960649" y="2332653"/>
              <a:chExt cx="2320062" cy="888887"/>
            </a:xfrm>
          </p:grpSpPr>
          <p:sp>
            <p:nvSpPr>
              <p:cNvPr id="7" name="Rectangle 6">
                <a:extLst>
                  <a:ext uri="{FF2B5EF4-FFF2-40B4-BE49-F238E27FC236}">
                    <a16:creationId xmlns:a16="http://schemas.microsoft.com/office/drawing/2014/main" id="{43378C0D-BAE7-46A3-BE2B-14DE101923E9}"/>
                  </a:ext>
                </a:extLst>
              </p:cNvPr>
              <p:cNvSpPr/>
              <p:nvPr/>
            </p:nvSpPr>
            <p:spPr>
              <a:xfrm>
                <a:off x="9470571" y="2332653"/>
                <a:ext cx="905070" cy="885777"/>
              </a:xfrm>
              <a:prstGeom prst="rect">
                <a:avLst/>
              </a:prstGeom>
              <a:solidFill>
                <a:srgbClr val="66CC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Sensor</a:t>
                </a:r>
              </a:p>
            </p:txBody>
          </p:sp>
          <p:sp>
            <p:nvSpPr>
              <p:cNvPr id="8" name="Rectangle 7">
                <a:extLst>
                  <a:ext uri="{FF2B5EF4-FFF2-40B4-BE49-F238E27FC236}">
                    <a16:creationId xmlns:a16="http://schemas.microsoft.com/office/drawing/2014/main" id="{FBB69A2E-4DA1-4E87-A637-44BE9F19A722}"/>
                  </a:ext>
                </a:extLst>
              </p:cNvPr>
              <p:cNvSpPr/>
              <p:nvPr/>
            </p:nvSpPr>
            <p:spPr>
              <a:xfrm>
                <a:off x="10375641" y="2335763"/>
                <a:ext cx="905070" cy="885777"/>
              </a:xfrm>
              <a:prstGeom prst="rect">
                <a:avLst/>
              </a:prstGeom>
              <a:solidFill>
                <a:srgbClr val="92D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ADC</a:t>
                </a:r>
                <a:endParaRPr lang="en-US" dirty="0">
                  <a:latin typeface="Times New Roman" panose="02020603050405020304" pitchFamily="18" charset="0"/>
                  <a:cs typeface="Times New Roman" panose="02020603050405020304" pitchFamily="18" charset="0"/>
                </a:endParaRPr>
              </a:p>
            </p:txBody>
          </p:sp>
          <p:cxnSp>
            <p:nvCxnSpPr>
              <p:cNvPr id="10" name="Straight Arrow Connector 9">
                <a:extLst>
                  <a:ext uri="{FF2B5EF4-FFF2-40B4-BE49-F238E27FC236}">
                    <a16:creationId xmlns:a16="http://schemas.microsoft.com/office/drawing/2014/main" id="{E568F4F4-3F36-4AFD-A66F-B7BAA2E502A5}"/>
                  </a:ext>
                </a:extLst>
              </p:cNvPr>
              <p:cNvCxnSpPr>
                <a:cxnSpLocks/>
              </p:cNvCxnSpPr>
              <p:nvPr/>
            </p:nvCxnSpPr>
            <p:spPr>
              <a:xfrm>
                <a:off x="8960649" y="2775540"/>
                <a:ext cx="485191"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Freeform: Shape 10">
                <a:extLst>
                  <a:ext uri="{FF2B5EF4-FFF2-40B4-BE49-F238E27FC236}">
                    <a16:creationId xmlns:a16="http://schemas.microsoft.com/office/drawing/2014/main" id="{248D216B-C309-4FE6-89D7-54DECD98BFEB}"/>
                  </a:ext>
                </a:extLst>
              </p:cNvPr>
              <p:cNvSpPr/>
              <p:nvPr/>
            </p:nvSpPr>
            <p:spPr>
              <a:xfrm>
                <a:off x="9041363" y="2407290"/>
                <a:ext cx="289249" cy="214612"/>
              </a:xfrm>
              <a:custGeom>
                <a:avLst/>
                <a:gdLst>
                  <a:gd name="connsiteX0" fmla="*/ 0 w 289249"/>
                  <a:gd name="connsiteY0" fmla="*/ 214612 h 214612"/>
                  <a:gd name="connsiteX1" fmla="*/ 93306 w 289249"/>
                  <a:gd name="connsiteY1" fmla="*/ 8 h 214612"/>
                  <a:gd name="connsiteX2" fmla="*/ 205274 w 289249"/>
                  <a:gd name="connsiteY2" fmla="*/ 205281 h 214612"/>
                  <a:gd name="connsiteX3" fmla="*/ 289249 w 289249"/>
                  <a:gd name="connsiteY3" fmla="*/ 9339 h 214612"/>
                </a:gdLst>
                <a:ahLst/>
                <a:cxnLst>
                  <a:cxn ang="0">
                    <a:pos x="connsiteX0" y="connsiteY0"/>
                  </a:cxn>
                  <a:cxn ang="0">
                    <a:pos x="connsiteX1" y="connsiteY1"/>
                  </a:cxn>
                  <a:cxn ang="0">
                    <a:pos x="connsiteX2" y="connsiteY2"/>
                  </a:cxn>
                  <a:cxn ang="0">
                    <a:pos x="connsiteX3" y="connsiteY3"/>
                  </a:cxn>
                </a:cxnLst>
                <a:rect l="l" t="t" r="r" b="b"/>
                <a:pathLst>
                  <a:path w="289249" h="214612">
                    <a:moveTo>
                      <a:pt x="0" y="214612"/>
                    </a:moveTo>
                    <a:cubicBezTo>
                      <a:pt x="29547" y="108087"/>
                      <a:pt x="59094" y="1563"/>
                      <a:pt x="93306" y="8"/>
                    </a:cubicBezTo>
                    <a:cubicBezTo>
                      <a:pt x="127518" y="-1547"/>
                      <a:pt x="172617" y="203726"/>
                      <a:pt x="205274" y="205281"/>
                    </a:cubicBezTo>
                    <a:cubicBezTo>
                      <a:pt x="237931" y="206836"/>
                      <a:pt x="263590" y="108087"/>
                      <a:pt x="289249" y="9339"/>
                    </a:cubicBez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328F3C86-BF3D-4ECA-9566-32252C306ABD}"/>
                </a:ext>
              </a:extLst>
            </p:cNvPr>
            <p:cNvSpPr txBox="1"/>
            <p:nvPr/>
          </p:nvSpPr>
          <p:spPr>
            <a:xfrm>
              <a:off x="9632453" y="1869818"/>
              <a:ext cx="1387151"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Sensing</a:t>
              </a:r>
            </a:p>
          </p:txBody>
        </p:sp>
      </p:grpSp>
      <p:sp>
        <p:nvSpPr>
          <p:cNvPr id="9" name="Slide Number Placeholder 8">
            <a:extLst>
              <a:ext uri="{FF2B5EF4-FFF2-40B4-BE49-F238E27FC236}">
                <a16:creationId xmlns:a16="http://schemas.microsoft.com/office/drawing/2014/main" id="{C677514E-A1CA-4D06-9769-16DD85FA7B44}"/>
              </a:ext>
            </a:extLst>
          </p:cNvPr>
          <p:cNvSpPr>
            <a:spLocks noGrp="1"/>
          </p:cNvSpPr>
          <p:nvPr>
            <p:ph type="sldNum" sz="quarter" idx="12"/>
          </p:nvPr>
        </p:nvSpPr>
        <p:spPr/>
        <p:txBody>
          <a:bodyPr/>
          <a:lstStyle/>
          <a:p>
            <a:pPr>
              <a:defRPr/>
            </a:pPr>
            <a:fld id="{13CC66DC-C496-4A87-A4D6-24BBFECA0FB1}" type="slidenum">
              <a:rPr lang="en-US" smtClean="0"/>
              <a:pPr>
                <a:defRPr/>
              </a:pPr>
              <a:t>8</a:t>
            </a:fld>
            <a:endParaRPr lang="en-US"/>
          </a:p>
        </p:txBody>
      </p:sp>
    </p:spTree>
    <p:extLst>
      <p:ext uri="{BB962C8B-B14F-4D97-AF65-F5344CB8AC3E}">
        <p14:creationId xmlns:p14="http://schemas.microsoft.com/office/powerpoint/2010/main" val="3952326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C304E2F-AAE3-4CC3-BF07-25E104323102}"/>
              </a:ext>
            </a:extLst>
          </p:cNvPr>
          <p:cNvSpPr txBox="1">
            <a:spLocks noChangeArrowheads="1"/>
          </p:cNvSpPr>
          <p:nvPr/>
        </p:nvSpPr>
        <p:spPr bwMode="auto">
          <a:xfrm>
            <a:off x="356418" y="510228"/>
            <a:ext cx="11225981" cy="5632311"/>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defRPr/>
            </a:pPr>
            <a:r>
              <a:rPr lang="en-US" sz="2400" b="1" dirty="0">
                <a:solidFill>
                  <a:srgbClr val="FF0000"/>
                </a:solidFill>
              </a:rPr>
              <a:t>Self-Power Unit</a:t>
            </a:r>
          </a:p>
          <a:p>
            <a:pPr marL="342900" indent="-342900" algn="just" eaLnBrk="1" hangingPunct="1">
              <a:spcBef>
                <a:spcPct val="0"/>
              </a:spcBef>
              <a:buFont typeface="Wingdings" panose="05000000000000000000" pitchFamily="2" charset="2"/>
              <a:buChar char="ü"/>
              <a:defRPr/>
            </a:pPr>
            <a:r>
              <a:rPr lang="en-US" sz="2400" dirty="0"/>
              <a:t>A sensor node is supposed to be mounted in a small physical unit, limiting space for the </a:t>
            </a:r>
            <a:r>
              <a:rPr lang="en-US" sz="2400" dirty="0">
                <a:solidFill>
                  <a:srgbClr val="FF0000"/>
                </a:solidFill>
              </a:rPr>
              <a:t>battery</a:t>
            </a:r>
            <a:r>
              <a:rPr lang="en-US" sz="2400" dirty="0"/>
              <a:t>. Moreover, the random distribution of sensors makes it impossible to periodically recharge or exchange batteries. </a:t>
            </a:r>
          </a:p>
          <a:p>
            <a:pPr marL="342900" indent="-342900" algn="just" eaLnBrk="1" hangingPunct="1">
              <a:spcBef>
                <a:spcPct val="0"/>
              </a:spcBef>
              <a:buFont typeface="Wingdings" panose="05000000000000000000" pitchFamily="2" charset="2"/>
              <a:buChar char="ü"/>
              <a:defRPr/>
            </a:pPr>
            <a:r>
              <a:rPr lang="en-US" sz="2400" dirty="0"/>
              <a:t>In WSN, the power unit in a sensor node is the most important unit because the liveliness and existence of a node depend on the energy left in the node, and the routing in the sensor network is based on the algorithm that finds a </a:t>
            </a:r>
            <a:r>
              <a:rPr lang="en-US" sz="2400" dirty="0">
                <a:solidFill>
                  <a:srgbClr val="FF0000"/>
                </a:solidFill>
              </a:rPr>
              <a:t>path with the least energy</a:t>
            </a:r>
            <a:r>
              <a:rPr lang="en-US" sz="2400" dirty="0"/>
              <a:t>. </a:t>
            </a:r>
          </a:p>
          <a:p>
            <a:pPr marL="342900" indent="-342900" algn="just" eaLnBrk="1" hangingPunct="1">
              <a:spcBef>
                <a:spcPct val="0"/>
              </a:spcBef>
              <a:buFont typeface="Wingdings" panose="05000000000000000000" pitchFamily="2" charset="2"/>
              <a:buChar char="ü"/>
              <a:defRPr/>
            </a:pPr>
            <a:r>
              <a:rPr lang="en-US" sz="2400" dirty="0"/>
              <a:t>Thus, it is essential to use energy-efficient algorithms to prolong the life of sensor networks. The main task of the sensor node is to identify events, to process data, and then to transmit the data. The power of a node is consumed mainly in the transmitter and receiver unit. </a:t>
            </a:r>
          </a:p>
          <a:p>
            <a:pPr marL="342900" indent="-342900" algn="just">
              <a:spcBef>
                <a:spcPct val="0"/>
              </a:spcBef>
              <a:buFont typeface="Wingdings" panose="05000000000000000000" pitchFamily="2" charset="2"/>
              <a:buChar char="ü"/>
              <a:defRPr/>
            </a:pPr>
            <a:r>
              <a:rPr lang="en-US" sz="2400" dirty="0"/>
              <a:t>The sensor node can be supplied by a self-power unit battery, or solar cells. However, a </a:t>
            </a:r>
            <a:r>
              <a:rPr lang="en-US" sz="2400" dirty="0">
                <a:solidFill>
                  <a:srgbClr val="FF0000"/>
                </a:solidFill>
              </a:rPr>
              <a:t>solar cell </a:t>
            </a:r>
            <a:r>
              <a:rPr lang="en-US" sz="2400" dirty="0"/>
              <a:t>may not be the best choice as a power supply, owing to its weight, volume, and expense. In some application scenarios, sensor-node lifetime depends on the battery lifetime. </a:t>
            </a:r>
          </a:p>
        </p:txBody>
      </p:sp>
      <p:sp>
        <p:nvSpPr>
          <p:cNvPr id="6" name="Slide Number Placeholder 5">
            <a:extLst>
              <a:ext uri="{FF2B5EF4-FFF2-40B4-BE49-F238E27FC236}">
                <a16:creationId xmlns:a16="http://schemas.microsoft.com/office/drawing/2014/main" id="{20051199-BEBF-45E9-8613-DD0379A80923}"/>
              </a:ext>
            </a:extLst>
          </p:cNvPr>
          <p:cNvSpPr>
            <a:spLocks noGrp="1"/>
          </p:cNvSpPr>
          <p:nvPr>
            <p:ph type="sldNum" sz="quarter" idx="12"/>
          </p:nvPr>
        </p:nvSpPr>
        <p:spPr/>
        <p:txBody>
          <a:bodyPr/>
          <a:lstStyle/>
          <a:p>
            <a:pPr>
              <a:defRPr/>
            </a:pPr>
            <a:fld id="{13CC66DC-C496-4A87-A4D6-24BBFECA0FB1}" type="slidenum">
              <a:rPr lang="en-US" smtClean="0"/>
              <a:pPr>
                <a:defRPr/>
              </a:pPr>
              <a:t>9</a:t>
            </a:fld>
            <a:endParaRPr lang="en-US"/>
          </a:p>
        </p:txBody>
      </p:sp>
    </p:spTree>
    <p:extLst>
      <p:ext uri="{BB962C8B-B14F-4D97-AF65-F5344CB8AC3E}">
        <p14:creationId xmlns:p14="http://schemas.microsoft.com/office/powerpoint/2010/main" val="358075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3CC66DC-C496-4A87-A4D6-24BBFECA0FB1}" type="slidenum">
              <a:rPr lang="en-US" smtClean="0"/>
              <a:pPr>
                <a:defRPr/>
              </a:pPr>
              <a:t>10</a:t>
            </a:fld>
            <a:endParaRPr lang="en-US"/>
          </a:p>
        </p:txBody>
      </p:sp>
      <p:sp>
        <p:nvSpPr>
          <p:cNvPr id="5" name="Rectangle 1"/>
          <p:cNvSpPr>
            <a:spLocks noGrp="1" noChangeArrowheads="1"/>
          </p:cNvSpPr>
          <p:nvPr>
            <p:ph/>
          </p:nvPr>
        </p:nvSpPr>
        <p:spPr bwMode="auto">
          <a:xfrm>
            <a:off x="1033273" y="982750"/>
            <a:ext cx="9592056" cy="5078313"/>
          </a:xfrm>
          <a:prstGeom prst="rect">
            <a:avLst/>
          </a:prstGeom>
          <a:solidFill>
            <a:schemeClr val="accent1">
              <a:lumMod val="40000"/>
              <a:lumOff val="6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None/>
              <a:tabLst/>
            </a:pP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Power Constraints:</a:t>
            </a: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sensor node is designed to be </a:t>
            </a: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small and lightweight</a:t>
            </a: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which restricts the size and capacity of the battery.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Since nodes are often deployed in </a:t>
            </a: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remote or inaccessible areas</a:t>
            </a: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is usually </a:t>
            </a: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impractical to recharge or replace</a:t>
            </a: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batteries.</a:t>
            </a:r>
          </a:p>
          <a:p>
            <a:pPr marL="0" marR="0" lvl="0" indent="0"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None/>
              <a:tabLst/>
            </a:pP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Importance of Power Management:</a:t>
            </a: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lifetime of a node</a:t>
            </a: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ultimately, the </a:t>
            </a: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lifetime of the entire network</a:t>
            </a: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depends on the available energy.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WSN routing protocols and algorithms focus on </a:t>
            </a: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energy efficiency</a:t>
            </a: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often choosing communication paths that minimize overall energy consumption.</a:t>
            </a:r>
          </a:p>
          <a:p>
            <a:pPr marL="0" marR="0" lvl="0" indent="0"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None/>
              <a:tabLst/>
            </a:pP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Energy Consumption Factors:</a:t>
            </a: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major energy-draining components in a sensor node are:</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Transmitter unit:</a:t>
            </a: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Sending data packets consumes high energy.</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Receiver unit:</a:t>
            </a: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Listening for or receiving data also requires significant energy.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Event detection and data processing consume comparatively </a:t>
            </a: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less energy</a:t>
            </a: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85891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3CC66DC-C496-4A87-A4D6-24BBFECA0FB1}" type="slidenum">
              <a:rPr lang="en-US" smtClean="0"/>
              <a:pPr>
                <a:defRPr/>
              </a:pPr>
              <a:t>11</a:t>
            </a:fld>
            <a:endParaRPr lang="en-US"/>
          </a:p>
        </p:txBody>
      </p:sp>
      <p:sp>
        <p:nvSpPr>
          <p:cNvPr id="5" name="Rectangle 1"/>
          <p:cNvSpPr>
            <a:spLocks noGrp="1" noChangeArrowheads="1"/>
          </p:cNvSpPr>
          <p:nvPr>
            <p:ph/>
          </p:nvPr>
        </p:nvSpPr>
        <p:spPr bwMode="auto">
          <a:xfrm>
            <a:off x="1272617" y="1168942"/>
            <a:ext cx="9449587" cy="3970318"/>
          </a:xfrm>
          <a:prstGeom prst="rect">
            <a:avLst/>
          </a:prstGeom>
          <a:solidFill>
            <a:schemeClr val="accent5">
              <a:lumMod val="40000"/>
              <a:lumOff val="6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None/>
              <a:tabLst/>
            </a:pP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a:t>
            </a:r>
            <a:r>
              <a:rPr kumimoji="0" lang="en-US" sz="1800" b="1"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Supply Options:</a:t>
            </a: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Battery-powered:</a:t>
            </a: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Common in many WSN applications.</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Lifetime of the node is directly tied to battery life.</a:t>
            </a:r>
          </a:p>
          <a:p>
            <a:pPr marL="0" marR="0" lvl="0" indent="0" defTabSz="914400" rtl="0" eaLnBrk="0" fontAlgn="base" latinLnBrk="0" hangingPunct="0">
              <a:lnSpc>
                <a:spcPct val="100000"/>
              </a:lnSpc>
              <a:spcBef>
                <a:spcPct val="0"/>
              </a:spcBef>
              <a:spcAft>
                <a:spcPct val="0"/>
              </a:spcAft>
              <a:buClrTx/>
              <a:buSzTx/>
              <a:buNone/>
              <a:tabLst/>
            </a:pPr>
            <a:r>
              <a:rPr lang="en-US" sz="1800" b="1" dirty="0">
                <a:latin typeface="Times New Roman" panose="02020603050405020304" pitchFamily="18" charset="0"/>
                <a:cs typeface="Times New Roman" panose="02020603050405020304" pitchFamily="18" charset="0"/>
              </a:rPr>
              <a:t>5) </a:t>
            </a: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Solar cells (energy harvesting):</a:t>
            </a: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renewable power, potentially extending network lifetime.</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However, they are often </a:t>
            </a: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bulky, expensive, and unsuitable</a:t>
            </a: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certain environments (e.g., underground, underwater, dense forests).</a:t>
            </a:r>
          </a:p>
          <a:p>
            <a:pPr marL="0" marR="0" lvl="0" indent="0" defTabSz="914400" rtl="0" eaLnBrk="0" fontAlgn="base" latinLnBrk="0" hangingPunct="0">
              <a:lnSpc>
                <a:spcPct val="100000"/>
              </a:lnSpc>
              <a:spcBef>
                <a:spcPct val="0"/>
              </a:spcBef>
              <a:spcAft>
                <a:spcPct val="0"/>
              </a:spcAft>
              <a:buClrTx/>
              <a:buSzTx/>
              <a:buNone/>
              <a:tabLst/>
            </a:pP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Design Challenge:  </a:t>
            </a: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FontTx/>
              <a:buChar char="•"/>
            </a:pP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trade-off</a:t>
            </a: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between node functionality, battery capacity, and physical size must be carefully managed.</a:t>
            </a:r>
          </a:p>
          <a:p>
            <a:pPr marL="457200" lvl="1" indent="0" eaLnBrk="0" fontAlgn="base" hangingPunct="0">
              <a:lnSpc>
                <a:spcPct val="100000"/>
              </a:lnSpc>
              <a:spcBef>
                <a:spcPct val="0"/>
              </a:spcBef>
              <a:spcAft>
                <a:spcPct val="0"/>
              </a:spcAft>
              <a:buFontTx/>
              <a:buChar char="•"/>
            </a:pP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prolong network lifetime, </a:t>
            </a:r>
            <a:r>
              <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energy-aware protocols</a:t>
            </a: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clustering, duty cycling, or data aggregation) are essential.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35164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5FBD193F-59B4-4371-99A4-B2B9FF151A3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93319" y="579241"/>
            <a:ext cx="9634819" cy="4941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7500C385-60B5-4AE8-B7FE-8781B7C3CC45}"/>
              </a:ext>
            </a:extLst>
          </p:cNvPr>
          <p:cNvSpPr/>
          <p:nvPr/>
        </p:nvSpPr>
        <p:spPr>
          <a:xfrm>
            <a:off x="616117" y="5521146"/>
            <a:ext cx="10959766" cy="1200329"/>
          </a:xfrm>
          <a:prstGeom prst="rect">
            <a:avLst/>
          </a:prstGeom>
          <a:solidFill>
            <a:srgbClr val="FFCCFF"/>
          </a:solid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Sensor nodes in the vicinity of a certain predefined region, forms a cluster. Each cluster contains a </a:t>
            </a:r>
            <a:r>
              <a:rPr lang="en-US" sz="2400" b="1" dirty="0">
                <a:solidFill>
                  <a:srgbClr val="FF0000"/>
                </a:solidFill>
                <a:latin typeface="Times New Roman" panose="02020603050405020304" pitchFamily="18" charset="0"/>
                <a:cs typeface="Times New Roman" panose="02020603050405020304" pitchFamily="18" charset="0"/>
              </a:rPr>
              <a:t>cluster head </a:t>
            </a:r>
            <a:r>
              <a:rPr lang="en-US" sz="2400" dirty="0">
                <a:latin typeface="Times New Roman" panose="02020603050405020304" pitchFamily="18" charset="0"/>
                <a:cs typeface="Times New Roman" panose="02020603050405020304" pitchFamily="18" charset="0"/>
              </a:rPr>
              <a:t>responsible for collecting and routing data from its nodes to a base station.</a:t>
            </a:r>
          </a:p>
        </p:txBody>
      </p:sp>
      <p:sp>
        <p:nvSpPr>
          <p:cNvPr id="5" name="Rectangle 4">
            <a:extLst>
              <a:ext uri="{FF2B5EF4-FFF2-40B4-BE49-F238E27FC236}">
                <a16:creationId xmlns:a16="http://schemas.microsoft.com/office/drawing/2014/main" id="{A3951A40-6CD8-45A4-B0CC-4E52374C91C0}"/>
              </a:ext>
            </a:extLst>
          </p:cNvPr>
          <p:cNvSpPr/>
          <p:nvPr/>
        </p:nvSpPr>
        <p:spPr>
          <a:xfrm>
            <a:off x="355064" y="48594"/>
            <a:ext cx="5468035" cy="523220"/>
          </a:xfrm>
          <a:prstGeom prst="rect">
            <a:avLst/>
          </a:prstGeom>
          <a:solidFill>
            <a:srgbClr val="CCECFF"/>
          </a:solidFill>
        </p:spPr>
        <p:txBody>
          <a:bodyPr wrap="none">
            <a:spAutoFit/>
          </a:bodyPr>
          <a:lstStyle/>
          <a:p>
            <a:pPr algn="just">
              <a:spcBef>
                <a:spcPct val="0"/>
              </a:spcBef>
            </a:pPr>
            <a:r>
              <a:rPr lang="en-US" sz="2800" b="1" dirty="0">
                <a:solidFill>
                  <a:srgbClr val="FF0000"/>
                </a:solidFill>
                <a:latin typeface="Times New Roman" panose="02020603050405020304" pitchFamily="18" charset="0"/>
                <a:cs typeface="Times New Roman" panose="02020603050405020304" pitchFamily="18" charset="0"/>
              </a:rPr>
              <a:t>Infrastructure of Sensor Networks</a:t>
            </a:r>
          </a:p>
        </p:txBody>
      </p:sp>
      <p:sp>
        <p:nvSpPr>
          <p:cNvPr id="8" name="Slide Number Placeholder 7">
            <a:extLst>
              <a:ext uri="{FF2B5EF4-FFF2-40B4-BE49-F238E27FC236}">
                <a16:creationId xmlns:a16="http://schemas.microsoft.com/office/drawing/2014/main" id="{3A929205-52B2-48C7-804C-47977880E85E}"/>
              </a:ext>
            </a:extLst>
          </p:cNvPr>
          <p:cNvSpPr>
            <a:spLocks noGrp="1"/>
          </p:cNvSpPr>
          <p:nvPr>
            <p:ph type="sldNum" sz="quarter" idx="12"/>
          </p:nvPr>
        </p:nvSpPr>
        <p:spPr/>
        <p:txBody>
          <a:bodyPr/>
          <a:lstStyle/>
          <a:p>
            <a:fld id="{C3F1913A-7668-436E-8561-76A60B792217}"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5602" name="Text Box 4"/>
              <p:cNvSpPr txBox="1">
                <a:spLocks noChangeArrowheads="1"/>
              </p:cNvSpPr>
              <p:nvPr/>
            </p:nvSpPr>
            <p:spPr bwMode="auto">
              <a:xfrm>
                <a:off x="502298" y="2190705"/>
                <a:ext cx="10851502" cy="1384995"/>
              </a:xfrm>
              <a:prstGeom prst="rect">
                <a:avLst/>
              </a:prstGeom>
              <a:solidFill>
                <a:srgbClr val="CCECFF"/>
              </a:solidFill>
              <a:ln w="9525">
                <a:noFill/>
                <a:miter lim="800000"/>
                <a:headEnd/>
                <a:tailEnd/>
              </a:ln>
            </p:spPr>
            <p:txBody>
              <a:bodyPr wrap="square">
                <a:spAutoFit/>
              </a:bodyPr>
              <a:lstStyle/>
              <a:p>
                <a:pPr algn="just">
                  <a:buFont typeface="Wingdings" pitchFamily="2" charset="2"/>
                  <a:buChar char="ü"/>
                  <a:defRPr/>
                </a:pPr>
                <a:r>
                  <a:rPr lang="en-US" sz="2400" dirty="0">
                    <a:latin typeface="Times New Roman" panose="02020603050405020304" pitchFamily="18" charset="0"/>
                    <a:cs typeface="Times New Roman" panose="02020603050405020304" pitchFamily="18" charset="0"/>
                  </a:rPr>
                  <a:t>The energy consumption, </a:t>
                </a:r>
                <a:r>
                  <a:rPr lang="en-US" sz="2400" i="1" dirty="0">
                    <a:latin typeface="Times New Roman" panose="02020603050405020304" pitchFamily="18" charset="0"/>
                    <a:cs typeface="Times New Roman" panose="02020603050405020304" pitchFamily="18" charset="0"/>
                  </a:rPr>
                  <a:t>E</a:t>
                </a:r>
                <a:r>
                  <a:rPr lang="en-US" sz="2400" dirty="0">
                    <a:latin typeface="Times New Roman" panose="02020603050405020304" pitchFamily="18" charset="0"/>
                    <a:cs typeface="Times New Roman" panose="02020603050405020304" pitchFamily="18" charset="0"/>
                  </a:rPr>
                  <a:t>, for all components of the transceiver in watts is summarized as (considered for transmitter):</a:t>
                </a:r>
              </a:p>
              <a:p>
                <a:pPr algn="just">
                  <a:defRPr/>
                </a:pPr>
                <a:r>
                  <a:rPr 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sz="3600" i="1">
                        <a:solidFill>
                          <a:srgbClr val="000000"/>
                        </a:solidFill>
                        <a:latin typeface="Cambria Math" panose="02040503050406030204" pitchFamily="18" charset="0"/>
                      </a:rPr>
                      <m:t>𝐸</m:t>
                    </m:r>
                    <m:r>
                      <a:rPr lang="en-US" sz="3600" i="1">
                        <a:solidFill>
                          <a:srgbClr val="000000"/>
                        </a:solidFill>
                        <a:latin typeface="Cambria Math" panose="02040503050406030204" pitchFamily="18" charset="0"/>
                      </a:rPr>
                      <m:t>=</m:t>
                    </m:r>
                    <m:r>
                      <a:rPr lang="en-US" sz="3600" i="1">
                        <a:solidFill>
                          <a:srgbClr val="000000"/>
                        </a:solidFill>
                        <a:latin typeface="Cambria Math" panose="02040503050406030204" pitchFamily="18" charset="0"/>
                      </a:rPr>
                      <m:t>𝜃</m:t>
                    </m:r>
                    <m:r>
                      <a:rPr lang="en-US" sz="3600" b="0" i="1" smtClean="0">
                        <a:solidFill>
                          <a:srgbClr val="000000"/>
                        </a:solidFill>
                        <a:latin typeface="Cambria Math" panose="02040503050406030204" pitchFamily="18" charset="0"/>
                      </a:rPr>
                      <m:t>  </m:t>
                    </m:r>
                    <m:r>
                      <a:rPr lang="en-US" sz="3600" i="1">
                        <a:solidFill>
                          <a:srgbClr val="000000"/>
                        </a:solidFill>
                        <a:latin typeface="Cambria Math" panose="02040503050406030204" pitchFamily="18" charset="0"/>
                      </a:rPr>
                      <m:t>+</m:t>
                    </m:r>
                    <m:r>
                      <a:rPr lang="en-US" sz="3600" b="0" i="1" smtClean="0">
                        <a:solidFill>
                          <a:srgbClr val="000000"/>
                        </a:solidFill>
                        <a:latin typeface="Cambria Math" panose="02040503050406030204" pitchFamily="18" charset="0"/>
                      </a:rPr>
                      <m:t>  </m:t>
                    </m:r>
                    <m:r>
                      <a:rPr lang="en-US" sz="3600" i="1">
                        <a:solidFill>
                          <a:srgbClr val="000000"/>
                        </a:solidFill>
                        <a:latin typeface="Cambria Math" panose="02040503050406030204" pitchFamily="18" charset="0"/>
                      </a:rPr>
                      <m:t>𝜂𝜔</m:t>
                    </m:r>
                    <m:sSup>
                      <m:sSupPr>
                        <m:ctrlPr>
                          <a:rPr lang="en-US" sz="3600" i="1">
                            <a:solidFill>
                              <a:srgbClr val="000000"/>
                            </a:solidFill>
                            <a:latin typeface="Cambria Math" panose="02040503050406030204" pitchFamily="18" charset="0"/>
                          </a:rPr>
                        </m:ctrlPr>
                      </m:sSupPr>
                      <m:e>
                        <m:r>
                          <a:rPr lang="en-US" sz="3600" i="1">
                            <a:solidFill>
                              <a:srgbClr val="000000"/>
                            </a:solidFill>
                            <a:latin typeface="Cambria Math" panose="02040503050406030204" pitchFamily="18" charset="0"/>
                          </a:rPr>
                          <m:t>𝑑</m:t>
                        </m:r>
                      </m:e>
                      <m:sup>
                        <m:r>
                          <a:rPr lang="en-US" sz="3600" i="1">
                            <a:solidFill>
                              <a:srgbClr val="000000"/>
                            </a:solidFill>
                            <a:latin typeface="Cambria Math" panose="02040503050406030204" pitchFamily="18" charset="0"/>
                          </a:rPr>
                          <m:t>𝑛</m:t>
                        </m:r>
                      </m:sup>
                    </m:sSup>
                  </m:oMath>
                </a14:m>
                <a:endParaRPr lang="en-US" sz="2400" dirty="0">
                  <a:latin typeface="Times New Roman" panose="02020603050405020304" pitchFamily="18" charset="0"/>
                  <a:cs typeface="Times New Roman" panose="02020603050405020304" pitchFamily="18" charset="0"/>
                </a:endParaRPr>
              </a:p>
            </p:txBody>
          </p:sp>
        </mc:Choice>
        <mc:Fallback xmlns="">
          <p:sp>
            <p:nvSpPr>
              <p:cNvPr id="25602" name="Text Box 4"/>
              <p:cNvSpPr txBox="1">
                <a:spLocks noRot="1" noChangeAspect="1" noMove="1" noResize="1" noEditPoints="1" noAdjustHandles="1" noChangeArrowheads="1" noChangeShapeType="1" noTextEdit="1"/>
              </p:cNvSpPr>
              <p:nvPr/>
            </p:nvSpPr>
            <p:spPr bwMode="auto">
              <a:xfrm>
                <a:off x="502298" y="2190705"/>
                <a:ext cx="10851502" cy="1384995"/>
              </a:xfrm>
              <a:prstGeom prst="rect">
                <a:avLst/>
              </a:prstGeom>
              <a:blipFill rotWithShape="0">
                <a:blip r:embed="rId3"/>
                <a:stretch>
                  <a:fillRect l="-842" t="-3509" r="-842"/>
                </a:stretch>
              </a:blipFill>
              <a:ln w="9525">
                <a:noFill/>
                <a:miter lim="800000"/>
                <a:headEnd/>
                <a:tailEnd/>
              </a:ln>
            </p:spPr>
            <p:txBody>
              <a:bodyPr/>
              <a:lstStyle/>
              <a:p>
                <a:r>
                  <a:rPr lang="en-US">
                    <a:noFill/>
                  </a:rPr>
                  <a:t> </a:t>
                </a:r>
              </a:p>
            </p:txBody>
          </p:sp>
        </mc:Fallback>
      </mc:AlternateContent>
      <p:sp>
        <p:nvSpPr>
          <p:cNvPr id="2" name="Rectangle 1">
            <a:extLst>
              <a:ext uri="{FF2B5EF4-FFF2-40B4-BE49-F238E27FC236}">
                <a16:creationId xmlns:a16="http://schemas.microsoft.com/office/drawing/2014/main" id="{9D20C038-43E0-4746-AF0C-02BCF4FC1AE4}"/>
              </a:ext>
            </a:extLst>
          </p:cNvPr>
          <p:cNvSpPr/>
          <p:nvPr/>
        </p:nvSpPr>
        <p:spPr>
          <a:xfrm>
            <a:off x="401217" y="96416"/>
            <a:ext cx="6968574" cy="707886"/>
          </a:xfrm>
          <a:prstGeom prst="rect">
            <a:avLst/>
          </a:prstGeom>
          <a:noFill/>
        </p:spPr>
        <p:txBody>
          <a:bodyPr wrap="none">
            <a:spAutoFit/>
          </a:bodyPr>
          <a:lstStyle/>
          <a:p>
            <a:r>
              <a:rPr lang="en-US" sz="4000" b="1" dirty="0">
                <a:solidFill>
                  <a:srgbClr val="FF0000"/>
                </a:solidFill>
                <a:latin typeface="Times New Roman" panose="02020603050405020304" pitchFamily="18" charset="0"/>
                <a:cs typeface="Times New Roman" panose="02020603050405020304" pitchFamily="18" charset="0"/>
              </a:rPr>
              <a:t>Communication Energy Model</a:t>
            </a:r>
          </a:p>
        </p:txBody>
      </p:sp>
      <p:sp>
        <p:nvSpPr>
          <p:cNvPr id="3" name="Rectangle 2">
            <a:extLst>
              <a:ext uri="{FF2B5EF4-FFF2-40B4-BE49-F238E27FC236}">
                <a16:creationId xmlns:a16="http://schemas.microsoft.com/office/drawing/2014/main" id="{E2991D81-54CB-452B-8DA6-46FB4DF553FE}"/>
              </a:ext>
            </a:extLst>
          </p:cNvPr>
          <p:cNvSpPr/>
          <p:nvPr/>
        </p:nvSpPr>
        <p:spPr>
          <a:xfrm>
            <a:off x="401216" y="892712"/>
            <a:ext cx="10952583" cy="1200329"/>
          </a:xfrm>
          <a:prstGeom prst="rect">
            <a:avLst/>
          </a:prstGeom>
          <a:solidFill>
            <a:srgbClr val="FFCCFF"/>
          </a:solid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In WSN, </a:t>
            </a:r>
            <a:r>
              <a:rPr lang="en-US" sz="2400" dirty="0">
                <a:solidFill>
                  <a:srgbClr val="0000FF"/>
                </a:solidFill>
                <a:latin typeface="Times New Roman" panose="02020603050405020304" pitchFamily="18" charset="0"/>
                <a:cs typeface="Times New Roman" panose="02020603050405020304" pitchFamily="18" charset="0"/>
              </a:rPr>
              <a:t>data transmission </a:t>
            </a:r>
            <a:r>
              <a:rPr lang="en-US" sz="2400" dirty="0">
                <a:latin typeface="Times New Roman" panose="02020603050405020304" pitchFamily="18" charset="0"/>
                <a:cs typeface="Times New Roman" panose="02020603050405020304" pitchFamily="18" charset="0"/>
              </a:rPr>
              <a:t>consumes more energy than </a:t>
            </a:r>
            <a:r>
              <a:rPr lang="en-US" sz="2400" dirty="0">
                <a:solidFill>
                  <a:srgbClr val="0000FF"/>
                </a:solidFill>
                <a:latin typeface="Times New Roman" panose="02020603050405020304" pitchFamily="18" charset="0"/>
                <a:cs typeface="Times New Roman" panose="02020603050405020304" pitchFamily="18" charset="0"/>
              </a:rPr>
              <a:t>data sensing and processing</a:t>
            </a:r>
            <a:r>
              <a:rPr lang="en-US" sz="2400" dirty="0">
                <a:latin typeface="Times New Roman" panose="02020603050405020304" pitchFamily="18" charset="0"/>
                <a:cs typeface="Times New Roman" panose="02020603050405020304" pitchFamily="18" charset="0"/>
              </a:rPr>
              <a:t>, therefore </a:t>
            </a:r>
            <a:r>
              <a:rPr lang="en-US" sz="2400" dirty="0">
                <a:solidFill>
                  <a:srgbClr val="FF0000"/>
                </a:solidFill>
                <a:latin typeface="Times New Roman" panose="02020603050405020304" pitchFamily="18" charset="0"/>
                <a:cs typeface="Times New Roman" panose="02020603050405020304" pitchFamily="18" charset="0"/>
              </a:rPr>
              <a:t>energy saving </a:t>
            </a:r>
            <a:r>
              <a:rPr lang="en-US" sz="2400" dirty="0">
                <a:latin typeface="Times New Roman" panose="02020603050405020304" pitchFamily="18" charset="0"/>
                <a:cs typeface="Times New Roman" panose="02020603050405020304" pitchFamily="18" charset="0"/>
              </a:rPr>
              <a:t>in data transmission is a vital issue for such network. We can not replace a battery frequently. </a:t>
            </a:r>
          </a:p>
        </p:txBody>
      </p:sp>
      <p:sp>
        <p:nvSpPr>
          <p:cNvPr id="5" name="Rectangle 4"/>
          <p:cNvSpPr/>
          <p:nvPr/>
        </p:nvSpPr>
        <p:spPr>
          <a:xfrm>
            <a:off x="502298" y="5343311"/>
            <a:ext cx="11169113" cy="1077218"/>
          </a:xfrm>
          <a:prstGeom prst="rect">
            <a:avLst/>
          </a:prstGeom>
          <a:solidFill>
            <a:srgbClr val="FFCCCC"/>
          </a:solidFill>
        </p:spPr>
        <p:txBody>
          <a:bodyPr wrap="square">
            <a:spAutoFit/>
          </a:bodyPr>
          <a:lstStyle/>
          <a:p>
            <a:pPr algn="just">
              <a:defRPr/>
            </a:pPr>
            <a:r>
              <a:rPr lang="en-US" sz="1600" dirty="0">
                <a:latin typeface="Times New Roman" panose="02020603050405020304" pitchFamily="18" charset="0"/>
                <a:cs typeface="Times New Roman" panose="02020603050405020304" pitchFamily="18" charset="0"/>
              </a:rPr>
              <a:t>Where </a:t>
            </a:r>
            <a:r>
              <a:rPr lang="el-GR" sz="1600" i="1" dirty="0">
                <a:latin typeface="Times New Roman" panose="02020603050405020304" pitchFamily="18" charset="0"/>
                <a:cs typeface="Times New Roman" panose="02020603050405020304" pitchFamily="18" charset="0"/>
              </a:rPr>
              <a:t>θ</a:t>
            </a:r>
            <a:r>
              <a:rPr lang="en-US" sz="1600" dirty="0">
                <a:latin typeface="Times New Roman" panose="02020603050405020304" pitchFamily="18" charset="0"/>
                <a:cs typeface="Times New Roman" panose="02020603050405020304" pitchFamily="18" charset="0"/>
              </a:rPr>
              <a:t> → distance-independent term, that accounts for the overhead of the radio electronics and digital data processing. </a:t>
            </a:r>
          </a:p>
          <a:p>
            <a:pPr algn="just">
              <a:defRPr/>
            </a:pPr>
            <a:endParaRPr lang="en-US" sz="1600" i="1" dirty="0">
              <a:latin typeface="Times New Roman" panose="02020603050405020304" pitchFamily="18" charset="0"/>
              <a:cs typeface="Times New Roman" panose="02020603050405020304" pitchFamily="18" charset="0"/>
            </a:endParaRPr>
          </a:p>
          <a:p>
            <a:pPr algn="just">
              <a:defRPr/>
            </a:pPr>
            <a:r>
              <a:rPr lang="en-US" sz="1600" i="1" dirty="0" err="1">
                <a:latin typeface="Times New Roman" panose="02020603050405020304" pitchFamily="18" charset="0"/>
                <a:cs typeface="Times New Roman" panose="02020603050405020304" pitchFamily="18" charset="0"/>
              </a:rPr>
              <a:t>ηωd</a:t>
            </a:r>
            <a:r>
              <a:rPr lang="en-US" sz="1600" i="1" baseline="30000" dirty="0" err="1">
                <a:latin typeface="Times New Roman" panose="02020603050405020304" pitchFamily="18" charset="0"/>
                <a:cs typeface="Times New Roman" panose="02020603050405020304" pitchFamily="18" charset="0"/>
              </a:rPr>
              <a:t>n</a:t>
            </a:r>
            <a:r>
              <a:rPr lang="en-US" sz="1600" dirty="0">
                <a:latin typeface="Times New Roman" panose="02020603050405020304" pitchFamily="18" charset="0"/>
                <a:cs typeface="Times New Roman" panose="02020603050405020304" pitchFamily="18" charset="0"/>
              </a:rPr>
              <a:t> → distance-dependent term, in which </a:t>
            </a:r>
            <a:r>
              <a:rPr lang="en-US" sz="1600" i="1" dirty="0">
                <a:latin typeface="Times New Roman" panose="02020603050405020304" pitchFamily="18" charset="0"/>
                <a:cs typeface="Times New Roman" panose="02020603050405020304" pitchFamily="18" charset="0"/>
              </a:rPr>
              <a:t>η</a:t>
            </a:r>
            <a:r>
              <a:rPr lang="en-US" sz="1600" dirty="0">
                <a:latin typeface="Times New Roman" panose="02020603050405020304" pitchFamily="18" charset="0"/>
                <a:cs typeface="Times New Roman" panose="02020603050405020304" pitchFamily="18" charset="0"/>
              </a:rPr>
              <a:t> represents the </a:t>
            </a:r>
            <a:r>
              <a:rPr lang="en-US" sz="1600" dirty="0">
                <a:solidFill>
                  <a:srgbClr val="FF0000"/>
                </a:solidFill>
                <a:latin typeface="Times New Roman" panose="02020603050405020304" pitchFamily="18" charset="0"/>
                <a:cs typeface="Times New Roman" panose="02020603050405020304" pitchFamily="18" charset="0"/>
              </a:rPr>
              <a:t>amplifier inefficiency factor ( = 1/efficiency)</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ω</a:t>
            </a:r>
            <a:r>
              <a:rPr lang="en-US" sz="1600" dirty="0">
                <a:latin typeface="Times New Roman" panose="02020603050405020304" pitchFamily="18" charset="0"/>
                <a:cs typeface="Times New Roman" panose="02020603050405020304" pitchFamily="18" charset="0"/>
              </a:rPr>
              <a:t> is the </a:t>
            </a:r>
            <a:r>
              <a:rPr lang="en-US" sz="1600" dirty="0">
                <a:solidFill>
                  <a:srgbClr val="FF0000"/>
                </a:solidFill>
                <a:latin typeface="Times New Roman" panose="02020603050405020304" pitchFamily="18" charset="0"/>
                <a:cs typeface="Times New Roman" panose="02020603050405020304" pitchFamily="18" charset="0"/>
              </a:rPr>
              <a:t>free-space path loss</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d</a:t>
            </a:r>
            <a:r>
              <a:rPr lang="en-US" sz="1600" dirty="0">
                <a:latin typeface="Times New Roman" panose="02020603050405020304" pitchFamily="18" charset="0"/>
                <a:cs typeface="Times New Roman" panose="02020603050405020304" pitchFamily="18" charset="0"/>
              </a:rPr>
              <a:t> is the </a:t>
            </a:r>
            <a:r>
              <a:rPr lang="en-US" sz="1600" dirty="0">
                <a:solidFill>
                  <a:srgbClr val="FF0000"/>
                </a:solidFill>
                <a:latin typeface="Times New Roman" panose="02020603050405020304" pitchFamily="18" charset="0"/>
                <a:cs typeface="Times New Roman" panose="02020603050405020304" pitchFamily="18" charset="0"/>
              </a:rPr>
              <a:t>distance</a:t>
            </a:r>
            <a:r>
              <a:rPr lang="en-US" sz="1600" dirty="0">
                <a:latin typeface="Times New Roman" panose="02020603050405020304" pitchFamily="18" charset="0"/>
                <a:cs typeface="Times New Roman" panose="02020603050405020304" pitchFamily="18" charset="0"/>
              </a:rPr>
              <a:t>, and </a:t>
            </a:r>
            <a:r>
              <a:rPr lang="en-US" sz="1600" i="1" dirty="0">
                <a:latin typeface="Times New Roman" panose="02020603050405020304" pitchFamily="18" charset="0"/>
                <a:cs typeface="Times New Roman" panose="02020603050405020304" pitchFamily="18" charset="0"/>
              </a:rPr>
              <a:t>n</a:t>
            </a:r>
            <a:r>
              <a:rPr lang="en-US" sz="1600" dirty="0">
                <a:latin typeface="Times New Roman" panose="02020603050405020304" pitchFamily="18" charset="0"/>
                <a:cs typeface="Times New Roman" panose="02020603050405020304" pitchFamily="18" charset="0"/>
              </a:rPr>
              <a:t> is the environmental factor (</a:t>
            </a:r>
            <a:r>
              <a:rPr lang="en-US" sz="1600" dirty="0" err="1">
                <a:latin typeface="Times New Roman" panose="02020603050405020304" pitchFamily="18" charset="0"/>
                <a:cs typeface="Times New Roman" panose="02020603050405020304" pitchFamily="18" charset="0"/>
              </a:rPr>
              <a:t>pathloss</a:t>
            </a:r>
            <a:r>
              <a:rPr lang="en-US" sz="1600" dirty="0">
                <a:latin typeface="Times New Roman" panose="02020603050405020304" pitchFamily="18" charset="0"/>
                <a:cs typeface="Times New Roman" panose="02020603050405020304" pitchFamily="18" charset="0"/>
              </a:rPr>
              <a:t> exponent).</a:t>
            </a:r>
            <a:endParaRPr lang="en-US" sz="1600" b="1" i="1" dirty="0">
              <a:solidFill>
                <a:srgbClr val="FF0000"/>
              </a:solidFill>
              <a:latin typeface="Times New Roman" panose="02020603050405020304" pitchFamily="18" charset="0"/>
              <a:cs typeface="Times New Roman" panose="02020603050405020304" pitchFamily="18" charset="0"/>
            </a:endParaRPr>
          </a:p>
        </p:txBody>
      </p:sp>
      <p:sp>
        <p:nvSpPr>
          <p:cNvPr id="6" name="Up Arrow Callout 5"/>
          <p:cNvSpPr/>
          <p:nvPr/>
        </p:nvSpPr>
        <p:spPr>
          <a:xfrm>
            <a:off x="3449371" y="3513776"/>
            <a:ext cx="1629623" cy="1029815"/>
          </a:xfrm>
          <a:prstGeom prst="upArrowCallout">
            <a:avLst/>
          </a:prstGeom>
          <a:solidFill>
            <a:srgbClr val="CCFFFF"/>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Times New Roman" panose="02020603050405020304" pitchFamily="18" charset="0"/>
                <a:cs typeface="Times New Roman" panose="02020603050405020304" pitchFamily="18" charset="0"/>
              </a:rPr>
              <a:t>data sensing and processing</a:t>
            </a:r>
            <a:endParaRPr lang="en-US" dirty="0"/>
          </a:p>
        </p:txBody>
      </p:sp>
      <p:sp>
        <p:nvSpPr>
          <p:cNvPr id="8" name="Up Arrow Callout 7"/>
          <p:cNvSpPr/>
          <p:nvPr/>
        </p:nvSpPr>
        <p:spPr>
          <a:xfrm>
            <a:off x="5252818" y="3521405"/>
            <a:ext cx="1989954" cy="1029815"/>
          </a:xfrm>
          <a:prstGeom prst="upArrowCallout">
            <a:avLst/>
          </a:prstGeom>
          <a:solidFill>
            <a:srgbClr val="CCFFFF"/>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Times New Roman" panose="02020603050405020304" pitchFamily="18" charset="0"/>
                <a:cs typeface="Times New Roman" panose="02020603050405020304" pitchFamily="18" charset="0"/>
              </a:rPr>
              <a:t>data transmission</a:t>
            </a:r>
            <a:endParaRPr lang="en-US" dirty="0"/>
          </a:p>
        </p:txBody>
      </p:sp>
      <p:sp>
        <p:nvSpPr>
          <p:cNvPr id="10" name="Slide Number Placeholder 9">
            <a:extLst>
              <a:ext uri="{FF2B5EF4-FFF2-40B4-BE49-F238E27FC236}">
                <a16:creationId xmlns:a16="http://schemas.microsoft.com/office/drawing/2014/main" id="{813F9CD4-CD49-4765-9DBF-CCF7FF4E3BE3}"/>
              </a:ext>
            </a:extLst>
          </p:cNvPr>
          <p:cNvSpPr>
            <a:spLocks noGrp="1"/>
          </p:cNvSpPr>
          <p:nvPr>
            <p:ph type="sldNum" sz="quarter" idx="12"/>
          </p:nvPr>
        </p:nvSpPr>
        <p:spPr/>
        <p:txBody>
          <a:bodyPr/>
          <a:lstStyle/>
          <a:p>
            <a:pPr>
              <a:defRPr/>
            </a:pPr>
            <a:fld id="{13CC66DC-C496-4A87-A4D6-24BBFECA0FB1}" type="slidenum">
              <a:rPr lang="en-US" smtClean="0"/>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solidFill>
            <a:srgbClr val="FFCCFF"/>
          </a:solidFill>
        </p:spPr>
        <p:txBody>
          <a:bodyPr>
            <a:normAutofit fontScale="92500" lnSpcReduction="20000"/>
          </a:bodyPr>
          <a:lstStyle/>
          <a:p>
            <a:pPr marL="0" indent="0">
              <a:buNone/>
            </a:pPr>
            <a:r>
              <a:rPr lang="en-US" b="1" dirty="0">
                <a:latin typeface="Times New Roman" panose="02020603050405020304" pitchFamily="18" charset="0"/>
                <a:cs typeface="Times New Roman" panose="02020603050405020304" pitchFamily="18" charset="0"/>
              </a:rPr>
              <a:t>Energy Consumption Model (Transmitter side):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a:t>
            </a:r>
            <a:r>
              <a:rPr lang="el-GR" dirty="0">
                <a:latin typeface="Times New Roman" panose="02020603050405020304" pitchFamily="18" charset="0"/>
                <a:cs typeface="Times New Roman" panose="02020603050405020304" pitchFamily="18" charset="0"/>
              </a:rPr>
              <a:t>θ+ηω</a:t>
            </a:r>
            <a:r>
              <a:rPr lang="en-US" dirty="0">
                <a:latin typeface="Times New Roman" panose="02020603050405020304" pitchFamily="18" charset="0"/>
                <a:cs typeface="Times New Roman" panose="02020603050405020304" pitchFamily="18" charset="0"/>
              </a:rPr>
              <a:t>d*n</a:t>
            </a: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Distance-independent term</a:t>
            </a:r>
            <a:r>
              <a:rPr lang="en-US" dirty="0">
                <a:latin typeface="Times New Roman" panose="02020603050405020304" pitchFamily="18" charset="0"/>
                <a:cs typeface="Times New Roman" panose="02020603050405020304" pitchFamily="18" charset="0"/>
              </a:rPr>
              <a:t> (fixed overhead energy)</a:t>
            </a:r>
          </a:p>
          <a:p>
            <a:pPr marL="742950" lvl="1" indent="-285750"/>
            <a:r>
              <a:rPr lang="en-US" dirty="0">
                <a:latin typeface="Times New Roman" panose="02020603050405020304" pitchFamily="18" charset="0"/>
                <a:cs typeface="Times New Roman" panose="02020603050405020304" pitchFamily="18" charset="0"/>
              </a:rPr>
              <a:t>Includes radio electronics + digital data processing.</a:t>
            </a:r>
          </a:p>
          <a:p>
            <a:pPr marL="742950" lvl="1" indent="-285750"/>
            <a:r>
              <a:rPr lang="en-US" dirty="0">
                <a:latin typeface="Times New Roman" panose="02020603050405020304" pitchFamily="18" charset="0"/>
                <a:cs typeface="Times New Roman" panose="02020603050405020304" pitchFamily="18" charset="0"/>
              </a:rPr>
              <a:t>Represents </a:t>
            </a:r>
            <a:r>
              <a:rPr lang="en-US" b="1" dirty="0">
                <a:latin typeface="Times New Roman" panose="02020603050405020304" pitchFamily="18" charset="0"/>
                <a:cs typeface="Times New Roman" panose="02020603050405020304" pitchFamily="18" charset="0"/>
              </a:rPr>
              <a:t>data sensing and processing cost</a:t>
            </a:r>
            <a:r>
              <a:rPr lang="en-US" dirty="0">
                <a:latin typeface="Times New Roman" panose="02020603050405020304" pitchFamily="18" charset="0"/>
                <a:cs typeface="Times New Roman" panose="02020603050405020304" pitchFamily="18" charset="0"/>
              </a:rPr>
              <a:t>.</a:t>
            </a:r>
          </a:p>
          <a:p>
            <a:r>
              <a:rPr lang="el-GR" b="1" dirty="0">
                <a:latin typeface="Times New Roman" panose="02020603050405020304" pitchFamily="18" charset="0"/>
                <a:cs typeface="Times New Roman" panose="02020603050405020304" pitchFamily="18" charset="0"/>
              </a:rPr>
              <a:t>ηω</a:t>
            </a:r>
            <a:r>
              <a:rPr lang="en-US" b="1" dirty="0" err="1">
                <a:latin typeface="Times New Roman" panose="02020603050405020304" pitchFamily="18" charset="0"/>
                <a:cs typeface="Times New Roman" panose="02020603050405020304" pitchFamily="18" charset="0"/>
              </a:rPr>
              <a:t>dn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Distance-dependent term</a:t>
            </a:r>
            <a:r>
              <a:rPr lang="en-US" dirty="0">
                <a:latin typeface="Times New Roman" panose="02020603050405020304" pitchFamily="18" charset="0"/>
                <a:cs typeface="Times New Roman" panose="02020603050405020304" pitchFamily="18" charset="0"/>
              </a:rPr>
              <a:t> (variable transmission cost)</a:t>
            </a:r>
          </a:p>
          <a:p>
            <a:pPr marL="742950" lvl="1" indent="-285750"/>
            <a:r>
              <a:rPr lang="el-GR" b="1" dirty="0">
                <a:latin typeface="Times New Roman" panose="02020603050405020304" pitchFamily="18" charset="0"/>
                <a:cs typeface="Times New Roman" panose="02020603050405020304" pitchFamily="18" charset="0"/>
              </a:rPr>
              <a:t>η</a:t>
            </a:r>
            <a:r>
              <a:rPr lang="el-GR"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amplifier inefficiency factor (= 1/efficiency)</a:t>
            </a:r>
          </a:p>
          <a:p>
            <a:pPr marL="742950" lvl="1" indent="-285750"/>
            <a:r>
              <a:rPr lang="el-GR" b="1" dirty="0">
                <a:latin typeface="Times New Roman" panose="02020603050405020304" pitchFamily="18" charset="0"/>
                <a:cs typeface="Times New Roman" panose="02020603050405020304" pitchFamily="18" charset="0"/>
              </a:rPr>
              <a:t>ω</a:t>
            </a:r>
            <a:r>
              <a:rPr lang="el-GR"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free-space path loss constant</a:t>
            </a:r>
          </a:p>
          <a:p>
            <a:pPr marL="742950" lvl="1" indent="-285750"/>
            <a:r>
              <a:rPr lang="en-US" b="1" dirty="0">
                <a:latin typeface="Times New Roman" panose="02020603050405020304" pitchFamily="18" charset="0"/>
                <a:cs typeface="Times New Roman" panose="02020603050405020304" pitchFamily="18" charset="0"/>
              </a:rPr>
              <a:t>d</a:t>
            </a:r>
            <a:r>
              <a:rPr lang="en-US" dirty="0">
                <a:latin typeface="Times New Roman" panose="02020603050405020304" pitchFamily="18" charset="0"/>
                <a:cs typeface="Times New Roman" panose="02020603050405020304" pitchFamily="18" charset="0"/>
              </a:rPr>
              <a:t> = transmission distance</a:t>
            </a:r>
          </a:p>
          <a:p>
            <a:pPr marL="742950" lvl="1" indent="-285750"/>
            <a:r>
              <a:rPr lang="en-US" b="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path loss exponent (environmental factor)</a:t>
            </a:r>
          </a:p>
          <a:p>
            <a:r>
              <a:rPr lang="en-US" dirty="0">
                <a:latin typeface="Times New Roman" panose="02020603050405020304" pitchFamily="18" charset="0"/>
                <a:cs typeface="Times New Roman" panose="02020603050405020304" pitchFamily="18" charset="0"/>
              </a:rPr>
              <a:t>If distance (d) increases → energy consumption grows rapidly (exponentially with n).</a:t>
            </a:r>
          </a:p>
          <a:p>
            <a:r>
              <a:rPr lang="en-US" dirty="0">
                <a:latin typeface="Times New Roman" panose="02020603050405020304" pitchFamily="18" charset="0"/>
                <a:cs typeface="Times New Roman" panose="02020603050405020304" pitchFamily="18" charset="0"/>
              </a:rPr>
              <a:t>Transmission dominates over sensing/processing.</a:t>
            </a:r>
          </a:p>
          <a:p>
            <a:r>
              <a:rPr lang="en-US" dirty="0">
                <a:latin typeface="Times New Roman" panose="02020603050405020304" pitchFamily="18" charset="0"/>
                <a:cs typeface="Times New Roman" panose="02020603050405020304" pitchFamily="18" charset="0"/>
              </a:rPr>
              <a:t>Therefore, shorter transmission distances (e.g., using multi-hop routing) save energy.</a:t>
            </a:r>
          </a:p>
          <a:p>
            <a:endParaRPr lang="en-US" dirty="0"/>
          </a:p>
        </p:txBody>
      </p:sp>
      <p:sp>
        <p:nvSpPr>
          <p:cNvPr id="4" name="Slide Number Placeholder 3"/>
          <p:cNvSpPr>
            <a:spLocks noGrp="1"/>
          </p:cNvSpPr>
          <p:nvPr>
            <p:ph type="sldNum" sz="quarter" idx="12"/>
          </p:nvPr>
        </p:nvSpPr>
        <p:spPr/>
        <p:txBody>
          <a:bodyPr/>
          <a:lstStyle/>
          <a:p>
            <a:pPr>
              <a:defRPr/>
            </a:pPr>
            <a:fld id="{13CC66DC-C496-4A87-A4D6-24BBFECA0FB1}" type="slidenum">
              <a:rPr lang="en-US" smtClean="0"/>
              <a:pPr>
                <a:defRPr/>
              </a:pPr>
              <a:t>14</a:t>
            </a:fld>
            <a:endParaRPr lang="en-US"/>
          </a:p>
        </p:txBody>
      </p:sp>
    </p:spTree>
    <p:extLst>
      <p:ext uri="{BB962C8B-B14F-4D97-AF65-F5344CB8AC3E}">
        <p14:creationId xmlns:p14="http://schemas.microsoft.com/office/powerpoint/2010/main" val="345478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TextBox 2"/>
          <p:cNvSpPr txBox="1">
            <a:spLocks noChangeArrowheads="1"/>
          </p:cNvSpPr>
          <p:nvPr/>
        </p:nvSpPr>
        <p:spPr bwMode="auto">
          <a:xfrm>
            <a:off x="501445" y="685801"/>
            <a:ext cx="10928555" cy="1200329"/>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 typeface="Wingdings" panose="05000000000000000000" pitchFamily="2" charset="2"/>
              <a:buChar char="ü"/>
            </a:pPr>
            <a:r>
              <a:rPr lang="en-US" sz="2400" dirty="0"/>
              <a:t>For high data rate, the transceiver on is kept on for shorter duration, therefore energy consumption will be reduced considerably. Usually high data rate is possible for shorted distance between nodes. In this case information rate </a:t>
            </a:r>
            <a:r>
              <a:rPr lang="en-US" sz="2400" i="1" dirty="0"/>
              <a:t>R</a:t>
            </a:r>
            <a:r>
              <a:rPr lang="en-US" sz="2400" dirty="0"/>
              <a:t> is included like,</a:t>
            </a:r>
          </a:p>
        </p:txBody>
      </p:sp>
      <mc:AlternateContent xmlns:mc="http://schemas.openxmlformats.org/markup-compatibility/2006" xmlns:a14="http://schemas.microsoft.com/office/drawing/2010/main">
        <mc:Choice Requires="a14">
          <p:sp>
            <p:nvSpPr>
              <p:cNvPr id="23557" name="Object 4"/>
              <p:cNvSpPr txBox="1"/>
              <p:nvPr/>
            </p:nvSpPr>
            <p:spPr bwMode="auto">
              <a:xfrm>
                <a:off x="1629417" y="2184496"/>
                <a:ext cx="2801937" cy="1011238"/>
              </a:xfrm>
              <a:prstGeom prst="rect">
                <a:avLst/>
              </a:prstGeom>
              <a:noFill/>
              <a:ln>
                <a:noFill/>
              </a:ln>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en-US" sz="3200" i="1">
                          <a:solidFill>
                            <a:srgbClr val="000000"/>
                          </a:solidFill>
                          <a:latin typeface="Cambria Math" panose="02040503050406030204" pitchFamily="18" charset="0"/>
                        </a:rPr>
                        <m:t>𝐸</m:t>
                      </m:r>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r>
                            <a:rPr lang="en-US" sz="3200" i="1">
                              <a:solidFill>
                                <a:srgbClr val="000000"/>
                              </a:solidFill>
                              <a:latin typeface="Cambria Math" panose="02040503050406030204" pitchFamily="18" charset="0"/>
                            </a:rPr>
                            <m:t>1</m:t>
                          </m:r>
                        </m:num>
                        <m:den>
                          <m:r>
                            <a:rPr lang="en-US" sz="3200" i="1">
                              <a:solidFill>
                                <a:srgbClr val="000000"/>
                              </a:solidFill>
                              <a:latin typeface="Cambria Math" panose="02040503050406030204" pitchFamily="18" charset="0"/>
                            </a:rPr>
                            <m:t>𝑅</m:t>
                          </m:r>
                        </m:den>
                      </m:f>
                      <m:d>
                        <m:dPr>
                          <m:ctrlPr>
                            <a:rPr lang="en-US" sz="3200" i="1">
                              <a:solidFill>
                                <a:srgbClr val="000000"/>
                              </a:solidFill>
                              <a:latin typeface="Cambria Math" panose="02040503050406030204" pitchFamily="18" charset="0"/>
                            </a:rPr>
                          </m:ctrlPr>
                        </m:dPr>
                        <m:e>
                          <m:r>
                            <a:rPr lang="en-US" sz="3200" i="1">
                              <a:solidFill>
                                <a:srgbClr val="000000"/>
                              </a:solidFill>
                              <a:latin typeface="Cambria Math" panose="02040503050406030204" pitchFamily="18" charset="0"/>
                            </a:rPr>
                            <m:t>𝜃</m:t>
                          </m:r>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𝜂𝜔</m:t>
                          </m:r>
                          <m:sSup>
                            <m:sSupPr>
                              <m:ctrlPr>
                                <a:rPr lang="en-US" sz="3200" i="1">
                                  <a:solidFill>
                                    <a:srgbClr val="000000"/>
                                  </a:solidFill>
                                  <a:latin typeface="Cambria Math" panose="02040503050406030204" pitchFamily="18" charset="0"/>
                                </a:rPr>
                              </m:ctrlPr>
                            </m:sSupPr>
                            <m:e>
                              <m:r>
                                <a:rPr lang="en-US" sz="3200" i="1">
                                  <a:solidFill>
                                    <a:srgbClr val="000000"/>
                                  </a:solidFill>
                                  <a:latin typeface="Cambria Math" panose="02040503050406030204" pitchFamily="18" charset="0"/>
                                </a:rPr>
                                <m:t>𝑑</m:t>
                              </m:r>
                            </m:e>
                            <m:sup>
                              <m:r>
                                <a:rPr lang="en-US" sz="3200" i="1">
                                  <a:solidFill>
                                    <a:srgbClr val="000000"/>
                                  </a:solidFill>
                                  <a:latin typeface="Cambria Math" panose="02040503050406030204" pitchFamily="18" charset="0"/>
                                </a:rPr>
                                <m:t>𝑛</m:t>
                              </m:r>
                            </m:sup>
                          </m:sSup>
                        </m:e>
                      </m:d>
                    </m:oMath>
                  </m:oMathPara>
                </a14:m>
                <a:endParaRPr lang="en-US" sz="3200" dirty="0"/>
              </a:p>
            </p:txBody>
          </p:sp>
        </mc:Choice>
        <mc:Fallback xmlns="">
          <p:sp>
            <p:nvSpPr>
              <p:cNvPr id="23557" name="Object 4"/>
              <p:cNvSpPr txBox="1">
                <a:spLocks noRot="1" noChangeAspect="1" noMove="1" noResize="1" noEditPoints="1" noAdjustHandles="1" noChangeArrowheads="1" noChangeShapeType="1" noTextEdit="1"/>
              </p:cNvSpPr>
              <p:nvPr/>
            </p:nvSpPr>
            <p:spPr bwMode="auto">
              <a:xfrm>
                <a:off x="1629417" y="2184496"/>
                <a:ext cx="2801937" cy="1011238"/>
              </a:xfrm>
              <a:prstGeom prst="rect">
                <a:avLst/>
              </a:prstGeom>
              <a:blipFill>
                <a:blip r:embed="rId2"/>
                <a:stretch>
                  <a:fillRect/>
                </a:stretch>
              </a:blipFill>
              <a:ln>
                <a:noFill/>
              </a:ln>
            </p:spPr>
            <p:txBody>
              <a:bodyPr/>
              <a:lstStyle/>
              <a:p>
                <a:r>
                  <a:rPr lang="en-US">
                    <a:noFill/>
                  </a:rPr>
                  <a:t> </a:t>
                </a:r>
              </a:p>
            </p:txBody>
          </p:sp>
        </mc:Fallback>
      </mc:AlternateContent>
      <p:sp>
        <p:nvSpPr>
          <p:cNvPr id="23558" name="TextBox 4"/>
          <p:cNvSpPr txBox="1">
            <a:spLocks noChangeArrowheads="1"/>
          </p:cNvSpPr>
          <p:nvPr/>
        </p:nvSpPr>
        <p:spPr bwMode="auto">
          <a:xfrm>
            <a:off x="4304457" y="2363544"/>
            <a:ext cx="403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sz="2400" dirty="0"/>
              <a:t>;Where </a:t>
            </a:r>
            <a:r>
              <a:rPr lang="en-US" sz="2400" i="1" dirty="0"/>
              <a:t>R</a:t>
            </a:r>
            <a:r>
              <a:rPr lang="en-US" sz="2400" dirty="0"/>
              <a:t> is the rate in bits/sec.</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022BE214-DB45-4CF2-8D38-9F37D03B742B}"/>
                  </a:ext>
                </a:extLst>
              </p:cNvPr>
              <p:cNvSpPr/>
              <p:nvPr/>
            </p:nvSpPr>
            <p:spPr>
              <a:xfrm>
                <a:off x="1090033" y="4414758"/>
                <a:ext cx="3654718" cy="120597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𝐸</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𝑚</m:t>
                      </m:r>
                      <m:d>
                        <m:dPr>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𝜃</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𝜔</m:t>
                          </m:r>
                          <m:sSup>
                            <m:sSupPr>
                              <m:ctrlPr>
                                <a:rPr lang="en-US" sz="2800" i="1">
                                  <a:solidFill>
                                    <a:srgbClr val="000000"/>
                                  </a:solidFill>
                                  <a:latin typeface="Cambria Math" panose="02040503050406030204" pitchFamily="18" charset="0"/>
                                </a:rPr>
                              </m:ctrlPr>
                            </m:sSupPr>
                            <m:e>
                              <m:d>
                                <m:dPr>
                                  <m:ctrlPr>
                                    <a:rPr lang="en-US" sz="2800" i="1">
                                      <a:solidFill>
                                        <a:srgbClr val="000000"/>
                                      </a:solidFill>
                                      <a:latin typeface="Cambria Math" panose="02040503050406030204" pitchFamily="18" charset="0"/>
                                    </a:rPr>
                                  </m:ctrlPr>
                                </m:dPr>
                                <m:e>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𝑑</m:t>
                                      </m:r>
                                    </m:num>
                                    <m:den>
                                      <m:r>
                                        <a:rPr lang="en-US" sz="2800" i="1">
                                          <a:solidFill>
                                            <a:srgbClr val="000000"/>
                                          </a:solidFill>
                                          <a:latin typeface="Cambria Math" panose="02040503050406030204" pitchFamily="18" charset="0"/>
                                        </a:rPr>
                                        <m:t>𝑚</m:t>
                                      </m:r>
                                    </m:den>
                                  </m:f>
                                </m:e>
                              </m:d>
                            </m:e>
                            <m:sup>
                              <m:r>
                                <a:rPr lang="en-US" sz="2800" i="1">
                                  <a:solidFill>
                                    <a:srgbClr val="000000"/>
                                  </a:solidFill>
                                  <a:latin typeface="Cambria Math" panose="02040503050406030204" pitchFamily="18" charset="0"/>
                                </a:rPr>
                                <m:t>𝑛</m:t>
                              </m:r>
                            </m:sup>
                          </m:sSup>
                        </m:e>
                      </m:d>
                    </m:oMath>
                  </m:oMathPara>
                </a14:m>
                <a:endParaRPr lang="en-US" sz="2800" dirty="0"/>
              </a:p>
            </p:txBody>
          </p:sp>
        </mc:Choice>
        <mc:Fallback xmlns="">
          <p:sp>
            <p:nvSpPr>
              <p:cNvPr id="3" name="Rectangle 2">
                <a:extLst>
                  <a:ext uri="{FF2B5EF4-FFF2-40B4-BE49-F238E27FC236}">
                    <a16:creationId xmlns:a16="http://schemas.microsoft.com/office/drawing/2014/main" id="{022BE214-DB45-4CF2-8D38-9F37D03B742B}"/>
                  </a:ext>
                </a:extLst>
              </p:cNvPr>
              <p:cNvSpPr>
                <a:spLocks noRot="1" noChangeAspect="1" noMove="1" noResize="1" noEditPoints="1" noAdjustHandles="1" noChangeArrowheads="1" noChangeShapeType="1" noTextEdit="1"/>
              </p:cNvSpPr>
              <p:nvPr/>
            </p:nvSpPr>
            <p:spPr>
              <a:xfrm>
                <a:off x="1090033" y="4414758"/>
                <a:ext cx="3654718" cy="1205971"/>
              </a:xfrm>
              <a:prstGeom prst="rect">
                <a:avLst/>
              </a:prstGeom>
              <a:blipFill>
                <a:blip r:embed="rId3"/>
                <a:stretch>
                  <a:fillRect/>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24AA5C89-6D3F-4E0E-B6ED-7CEB9F827B06}"/>
              </a:ext>
            </a:extLst>
          </p:cNvPr>
          <p:cNvSpPr/>
          <p:nvPr/>
        </p:nvSpPr>
        <p:spPr>
          <a:xfrm>
            <a:off x="648929" y="3298158"/>
            <a:ext cx="11041625" cy="830997"/>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traditional objective of multi hop communication is to divide the transmission distance into a </a:t>
            </a:r>
            <a:r>
              <a:rPr lang="en-US" sz="2400" dirty="0">
                <a:solidFill>
                  <a:srgbClr val="FF0000"/>
                </a:solidFill>
                <a:latin typeface="Times New Roman" panose="02020603050405020304" pitchFamily="18" charset="0"/>
                <a:cs typeface="Times New Roman" panose="02020603050405020304" pitchFamily="18" charset="0"/>
              </a:rPr>
              <a:t>number of hops</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m</a:t>
            </a:r>
            <a:r>
              <a:rPr lang="en-US" sz="2400" dirty="0">
                <a:latin typeface="Times New Roman" panose="02020603050405020304" pitchFamily="18" charset="0"/>
                <a:cs typeface="Times New Roman" panose="02020603050405020304" pitchFamily="18" charset="0"/>
              </a:rPr>
              <a:t>, and to relatively conserve energy, </a:t>
            </a:r>
          </a:p>
        </p:txBody>
      </p:sp>
      <p:grpSp>
        <p:nvGrpSpPr>
          <p:cNvPr id="8" name="Group 7">
            <a:extLst>
              <a:ext uri="{FF2B5EF4-FFF2-40B4-BE49-F238E27FC236}">
                <a16:creationId xmlns:a16="http://schemas.microsoft.com/office/drawing/2014/main" id="{7795102D-483B-4750-9456-8ED9B9467A4C}"/>
              </a:ext>
            </a:extLst>
          </p:cNvPr>
          <p:cNvGrpSpPr>
            <a:grpSpLocks/>
          </p:cNvGrpSpPr>
          <p:nvPr/>
        </p:nvGrpSpPr>
        <p:grpSpPr bwMode="auto">
          <a:xfrm>
            <a:off x="5757340" y="4500064"/>
            <a:ext cx="5784276" cy="1805327"/>
            <a:chOff x="3277" y="1728"/>
            <a:chExt cx="5619" cy="1102"/>
          </a:xfrm>
        </p:grpSpPr>
        <p:sp>
          <p:nvSpPr>
            <p:cNvPr id="9" name="Text Box 1">
              <a:extLst>
                <a:ext uri="{FF2B5EF4-FFF2-40B4-BE49-F238E27FC236}">
                  <a16:creationId xmlns:a16="http://schemas.microsoft.com/office/drawing/2014/main" id="{A5A0255C-6C04-400B-8914-8D20F5D2F004}"/>
                </a:ext>
              </a:extLst>
            </p:cNvPr>
            <p:cNvSpPr txBox="1">
              <a:spLocks noChangeArrowheads="1"/>
            </p:cNvSpPr>
            <p:nvPr/>
          </p:nvSpPr>
          <p:spPr bwMode="auto">
            <a:xfrm>
              <a:off x="8441" y="1753"/>
              <a:ext cx="455" cy="513"/>
            </a:xfrm>
            <a:prstGeom prst="rect">
              <a:avLst/>
            </a:prstGeom>
            <a:solidFill>
              <a:srgbClr val="FFFFFF"/>
            </a:solidFill>
            <a:ln w="9525">
              <a:solidFill>
                <a:srgbClr val="FFFFFF"/>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i="1">
                  <a:effectLst/>
                  <a:latin typeface="Times New Roman" panose="02020603050405020304" pitchFamily="18" charset="0"/>
                  <a:ea typeface="Calibri" panose="020F0502020204030204" pitchFamily="34" charset="0"/>
                  <a:cs typeface="Times New Roman" panose="02020603050405020304" pitchFamily="18" charset="0"/>
                </a:rPr>
                <a:t>D</a:t>
              </a:r>
              <a:endParaRPr lang="en-US">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 Box 3">
              <a:extLst>
                <a:ext uri="{FF2B5EF4-FFF2-40B4-BE49-F238E27FC236}">
                  <a16:creationId xmlns:a16="http://schemas.microsoft.com/office/drawing/2014/main" id="{1B5FCC87-3423-4AF1-9A77-A46411579DAA}"/>
                </a:ext>
              </a:extLst>
            </p:cNvPr>
            <p:cNvSpPr txBox="1">
              <a:spLocks noChangeArrowheads="1"/>
            </p:cNvSpPr>
            <p:nvPr/>
          </p:nvSpPr>
          <p:spPr bwMode="auto">
            <a:xfrm>
              <a:off x="5579" y="1771"/>
              <a:ext cx="455" cy="513"/>
            </a:xfrm>
            <a:prstGeom prst="rect">
              <a:avLst/>
            </a:prstGeom>
            <a:solidFill>
              <a:srgbClr val="FFFFFF"/>
            </a:solidFill>
            <a:ln w="9525">
              <a:solidFill>
                <a:srgbClr val="FFFFFF"/>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i="1" dirty="0">
                  <a:effectLst/>
                  <a:latin typeface="Times New Roman" panose="02020603050405020304" pitchFamily="18" charset="0"/>
                  <a:ea typeface="Calibri" panose="020F0502020204030204" pitchFamily="34" charset="0"/>
                  <a:cs typeface="Times New Roman" panose="02020603050405020304" pitchFamily="18" charset="0"/>
                </a:rPr>
                <a:t>R</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 Box 4">
              <a:extLst>
                <a:ext uri="{FF2B5EF4-FFF2-40B4-BE49-F238E27FC236}">
                  <a16:creationId xmlns:a16="http://schemas.microsoft.com/office/drawing/2014/main" id="{AA01BA9B-8671-4D74-97A2-E9868F8BA41B}"/>
                </a:ext>
              </a:extLst>
            </p:cNvPr>
            <p:cNvSpPr txBox="1">
              <a:spLocks noChangeArrowheads="1"/>
            </p:cNvSpPr>
            <p:nvPr/>
          </p:nvSpPr>
          <p:spPr bwMode="auto">
            <a:xfrm>
              <a:off x="3311" y="1771"/>
              <a:ext cx="455" cy="513"/>
            </a:xfrm>
            <a:prstGeom prst="rect">
              <a:avLst/>
            </a:prstGeom>
            <a:solidFill>
              <a:srgbClr val="FFFFFF"/>
            </a:solidFill>
            <a:ln w="9525">
              <a:solidFill>
                <a:srgbClr val="FFFFFF"/>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i="1">
                  <a:effectLst/>
                  <a:latin typeface="Times New Roman" panose="02020603050405020304" pitchFamily="18" charset="0"/>
                  <a:ea typeface="Calibri" panose="020F0502020204030204" pitchFamily="34" charset="0"/>
                  <a:cs typeface="Times New Roman" panose="02020603050405020304" pitchFamily="18" charset="0"/>
                </a:rPr>
                <a:t>S</a:t>
              </a:r>
              <a:endParaRPr lang="en-US">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EC36643E-D7ED-4771-8A90-5AF4A3B37599}"/>
                </a:ext>
              </a:extLst>
            </p:cNvPr>
            <p:cNvCxnSpPr>
              <a:cxnSpLocks noChangeShapeType="1"/>
            </p:cNvCxnSpPr>
            <p:nvPr/>
          </p:nvCxnSpPr>
          <p:spPr bwMode="auto">
            <a:xfrm flipV="1">
              <a:off x="3277" y="2821"/>
              <a:ext cx="5519" cy="9"/>
            </a:xfrm>
            <a:prstGeom prst="straightConnector1">
              <a:avLst/>
            </a:prstGeom>
            <a:noFill/>
            <a:ln w="38100">
              <a:solidFill>
                <a:srgbClr val="0000FF"/>
              </a:solidFill>
              <a:round/>
              <a:headEnd/>
              <a:tailEnd/>
            </a:ln>
            <a:extLst>
              <a:ext uri="{909E8E84-426E-40DD-AFC4-6F175D3DCCD1}">
                <a14:hiddenFill xmlns:a14="http://schemas.microsoft.com/office/drawing/2010/main">
                  <a:noFill/>
                </a14:hiddenFill>
              </a:ext>
            </a:extLst>
          </p:spPr>
        </p:cxnSp>
        <p:cxnSp>
          <p:nvCxnSpPr>
            <p:cNvPr id="13" name="Straight Arrow Connector 12">
              <a:extLst>
                <a:ext uri="{FF2B5EF4-FFF2-40B4-BE49-F238E27FC236}">
                  <a16:creationId xmlns:a16="http://schemas.microsoft.com/office/drawing/2014/main" id="{B686A58C-702C-4D79-9A21-35AA0CFDFC5C}"/>
                </a:ext>
              </a:extLst>
            </p:cNvPr>
            <p:cNvCxnSpPr>
              <a:cxnSpLocks noChangeShapeType="1"/>
            </p:cNvCxnSpPr>
            <p:nvPr/>
          </p:nvCxnSpPr>
          <p:spPr bwMode="auto">
            <a:xfrm flipV="1">
              <a:off x="3741" y="2143"/>
              <a:ext cx="0" cy="678"/>
            </a:xfrm>
            <a:prstGeom prst="straightConnector1">
              <a:avLst/>
            </a:prstGeom>
            <a:noFill/>
            <a:ln w="38100">
              <a:solidFill>
                <a:srgbClr val="0000FF"/>
              </a:solidFill>
              <a:round/>
              <a:headEnd/>
              <a:tailEnd/>
            </a:ln>
            <a:extLst>
              <a:ext uri="{909E8E84-426E-40DD-AFC4-6F175D3DCCD1}">
                <a14:hiddenFill xmlns:a14="http://schemas.microsoft.com/office/drawing/2010/main">
                  <a:noFill/>
                </a14:hiddenFill>
              </a:ext>
            </a:extLst>
          </p:spPr>
        </p:cxnSp>
        <p:sp>
          <p:nvSpPr>
            <p:cNvPr id="14" name="Isosceles Triangle 13">
              <a:extLst>
                <a:ext uri="{FF2B5EF4-FFF2-40B4-BE49-F238E27FC236}">
                  <a16:creationId xmlns:a16="http://schemas.microsoft.com/office/drawing/2014/main" id="{8F90E173-FF8C-4F6F-AE6D-107285DEC126}"/>
                </a:ext>
              </a:extLst>
            </p:cNvPr>
            <p:cNvSpPr>
              <a:spLocks noChangeArrowheads="1"/>
            </p:cNvSpPr>
            <p:nvPr/>
          </p:nvSpPr>
          <p:spPr bwMode="auto">
            <a:xfrm>
              <a:off x="3558" y="1754"/>
              <a:ext cx="364" cy="397"/>
            </a:xfrm>
            <a:prstGeom prst="triangle">
              <a:avLst>
                <a:gd name="adj" fmla="val 50000"/>
              </a:avLst>
            </a:prstGeom>
            <a:solidFill>
              <a:srgbClr val="FFC000"/>
            </a:solidFill>
            <a:ln w="38100">
              <a:solidFill>
                <a:srgbClr val="FF0000"/>
              </a:solidFill>
              <a:miter lim="800000"/>
              <a:headEnd/>
              <a:tailEnd/>
            </a:ln>
          </p:spPr>
          <p:txBody>
            <a:bodyPr rot="0" vert="horz" wrap="square" lIns="91440" tIns="45720" rIns="91440" bIns="45720" anchor="t" anchorCtr="0" upright="1">
              <a:noAutofit/>
            </a:bodyPr>
            <a:lstStyle/>
            <a:p>
              <a:endParaRPr lang="en-US"/>
            </a:p>
          </p:txBody>
        </p:sp>
        <p:cxnSp>
          <p:nvCxnSpPr>
            <p:cNvPr id="15" name="Straight Arrow Connector 14">
              <a:extLst>
                <a:ext uri="{FF2B5EF4-FFF2-40B4-BE49-F238E27FC236}">
                  <a16:creationId xmlns:a16="http://schemas.microsoft.com/office/drawing/2014/main" id="{44E6C733-A440-4CD7-8D1E-0781D57043BF}"/>
                </a:ext>
              </a:extLst>
            </p:cNvPr>
            <p:cNvCxnSpPr>
              <a:cxnSpLocks noChangeShapeType="1"/>
            </p:cNvCxnSpPr>
            <p:nvPr/>
          </p:nvCxnSpPr>
          <p:spPr bwMode="auto">
            <a:xfrm flipV="1">
              <a:off x="6058" y="2143"/>
              <a:ext cx="0" cy="678"/>
            </a:xfrm>
            <a:prstGeom prst="straightConnector1">
              <a:avLst/>
            </a:prstGeom>
            <a:noFill/>
            <a:ln w="38100">
              <a:solidFill>
                <a:srgbClr val="0000FF"/>
              </a:solidFill>
              <a:round/>
              <a:headEnd/>
              <a:tailEnd/>
            </a:ln>
            <a:extLst>
              <a:ext uri="{909E8E84-426E-40DD-AFC4-6F175D3DCCD1}">
                <a14:hiddenFill xmlns:a14="http://schemas.microsoft.com/office/drawing/2010/main">
                  <a:noFill/>
                </a14:hiddenFill>
              </a:ext>
            </a:extLst>
          </p:spPr>
        </p:cxnSp>
        <p:sp>
          <p:nvSpPr>
            <p:cNvPr id="16" name="Isosceles Triangle 15">
              <a:extLst>
                <a:ext uri="{FF2B5EF4-FFF2-40B4-BE49-F238E27FC236}">
                  <a16:creationId xmlns:a16="http://schemas.microsoft.com/office/drawing/2014/main" id="{9AB27B6A-3257-425A-AF14-52C28F3971F9}"/>
                </a:ext>
              </a:extLst>
            </p:cNvPr>
            <p:cNvSpPr>
              <a:spLocks noChangeArrowheads="1"/>
            </p:cNvSpPr>
            <p:nvPr/>
          </p:nvSpPr>
          <p:spPr bwMode="auto">
            <a:xfrm>
              <a:off x="5875" y="1754"/>
              <a:ext cx="364" cy="397"/>
            </a:xfrm>
            <a:prstGeom prst="triangle">
              <a:avLst>
                <a:gd name="adj" fmla="val 50000"/>
              </a:avLst>
            </a:prstGeom>
            <a:solidFill>
              <a:srgbClr val="FFFFFF"/>
            </a:solidFill>
            <a:ln w="38100">
              <a:solidFill>
                <a:srgbClr val="FF0000"/>
              </a:solidFill>
              <a:miter lim="800000"/>
              <a:headEnd/>
              <a:tailEnd/>
            </a:ln>
          </p:spPr>
          <p:txBody>
            <a:bodyPr rot="0" vert="horz" wrap="square" lIns="91440" tIns="45720" rIns="91440" bIns="45720" anchor="t" anchorCtr="0" upright="1">
              <a:noAutofit/>
            </a:bodyPr>
            <a:lstStyle/>
            <a:p>
              <a:endParaRPr lang="en-US"/>
            </a:p>
          </p:txBody>
        </p:sp>
        <p:cxnSp>
          <p:nvCxnSpPr>
            <p:cNvPr id="17" name="Straight Arrow Connector 16">
              <a:extLst>
                <a:ext uri="{FF2B5EF4-FFF2-40B4-BE49-F238E27FC236}">
                  <a16:creationId xmlns:a16="http://schemas.microsoft.com/office/drawing/2014/main" id="{A6619357-59F1-4B31-AEA2-A1AB0C26EB3B}"/>
                </a:ext>
              </a:extLst>
            </p:cNvPr>
            <p:cNvCxnSpPr>
              <a:cxnSpLocks noChangeShapeType="1"/>
            </p:cNvCxnSpPr>
            <p:nvPr/>
          </p:nvCxnSpPr>
          <p:spPr bwMode="auto">
            <a:xfrm flipV="1">
              <a:off x="8260" y="2135"/>
              <a:ext cx="0" cy="678"/>
            </a:xfrm>
            <a:prstGeom prst="straightConnector1">
              <a:avLst/>
            </a:prstGeom>
            <a:noFill/>
            <a:ln w="38100">
              <a:solidFill>
                <a:srgbClr val="0000FF"/>
              </a:solidFill>
              <a:round/>
              <a:headEnd/>
              <a:tailEnd/>
            </a:ln>
            <a:extLst>
              <a:ext uri="{909E8E84-426E-40DD-AFC4-6F175D3DCCD1}">
                <a14:hiddenFill xmlns:a14="http://schemas.microsoft.com/office/drawing/2010/main">
                  <a:noFill/>
                </a14:hiddenFill>
              </a:ext>
            </a:extLst>
          </p:spPr>
        </p:cxnSp>
        <p:sp>
          <p:nvSpPr>
            <p:cNvPr id="18" name="Isosceles Triangle 17">
              <a:extLst>
                <a:ext uri="{FF2B5EF4-FFF2-40B4-BE49-F238E27FC236}">
                  <a16:creationId xmlns:a16="http://schemas.microsoft.com/office/drawing/2014/main" id="{AD4324CA-8DC6-47E4-9612-7163525FB5F2}"/>
                </a:ext>
              </a:extLst>
            </p:cNvPr>
            <p:cNvSpPr>
              <a:spLocks noChangeArrowheads="1"/>
            </p:cNvSpPr>
            <p:nvPr/>
          </p:nvSpPr>
          <p:spPr bwMode="auto">
            <a:xfrm>
              <a:off x="8077" y="1746"/>
              <a:ext cx="364" cy="397"/>
            </a:xfrm>
            <a:prstGeom prst="triangle">
              <a:avLst>
                <a:gd name="adj" fmla="val 50000"/>
              </a:avLst>
            </a:prstGeom>
            <a:solidFill>
              <a:srgbClr val="FFC000"/>
            </a:solidFill>
            <a:ln w="38100">
              <a:solidFill>
                <a:srgbClr val="FF0000"/>
              </a:solidFill>
              <a:miter lim="800000"/>
              <a:headEnd/>
              <a:tailEnd/>
            </a:ln>
          </p:spPr>
          <p:txBody>
            <a:bodyPr rot="0" vert="horz" wrap="square" lIns="91440" tIns="45720" rIns="91440" bIns="45720" anchor="t" anchorCtr="0" upright="1">
              <a:noAutofit/>
            </a:bodyPr>
            <a:lstStyle/>
            <a:p>
              <a:endParaRPr lang="en-US"/>
            </a:p>
          </p:txBody>
        </p:sp>
        <p:sp>
          <p:nvSpPr>
            <p:cNvPr id="19" name="Freeform 12">
              <a:extLst>
                <a:ext uri="{FF2B5EF4-FFF2-40B4-BE49-F238E27FC236}">
                  <a16:creationId xmlns:a16="http://schemas.microsoft.com/office/drawing/2014/main" id="{236276A9-84CF-4EF0-8F24-92EFB5474774}"/>
                </a:ext>
              </a:extLst>
            </p:cNvPr>
            <p:cNvSpPr>
              <a:spLocks/>
            </p:cNvSpPr>
            <p:nvPr/>
          </p:nvSpPr>
          <p:spPr bwMode="auto">
            <a:xfrm>
              <a:off x="4030" y="1728"/>
              <a:ext cx="1465" cy="316"/>
            </a:xfrm>
            <a:custGeom>
              <a:avLst/>
              <a:gdLst>
                <a:gd name="T0" fmla="*/ 0 w 1465"/>
                <a:gd name="T1" fmla="*/ 134 h 316"/>
                <a:gd name="T2" fmla="*/ 919 w 1465"/>
                <a:gd name="T3" fmla="*/ 26 h 316"/>
                <a:gd name="T4" fmla="*/ 522 w 1465"/>
                <a:gd name="T5" fmla="*/ 291 h 316"/>
                <a:gd name="T6" fmla="*/ 1465 w 1465"/>
                <a:gd name="T7" fmla="*/ 175 h 3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65" h="316">
                  <a:moveTo>
                    <a:pt x="0" y="134"/>
                  </a:moveTo>
                  <a:cubicBezTo>
                    <a:pt x="416" y="67"/>
                    <a:pt x="832" y="0"/>
                    <a:pt x="919" y="26"/>
                  </a:cubicBezTo>
                  <a:cubicBezTo>
                    <a:pt x="1006" y="52"/>
                    <a:pt x="431" y="266"/>
                    <a:pt x="522" y="291"/>
                  </a:cubicBezTo>
                  <a:cubicBezTo>
                    <a:pt x="613" y="316"/>
                    <a:pt x="1039" y="245"/>
                    <a:pt x="1465" y="175"/>
                  </a:cubicBezTo>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p:sp>
          <p:nvSpPr>
            <p:cNvPr id="20" name="Freeform 13">
              <a:extLst>
                <a:ext uri="{FF2B5EF4-FFF2-40B4-BE49-F238E27FC236}">
                  <a16:creationId xmlns:a16="http://schemas.microsoft.com/office/drawing/2014/main" id="{D91FF55A-A13C-4662-94F9-7E25FAE2D749}"/>
                </a:ext>
              </a:extLst>
            </p:cNvPr>
            <p:cNvSpPr>
              <a:spLocks/>
            </p:cNvSpPr>
            <p:nvPr/>
          </p:nvSpPr>
          <p:spPr bwMode="auto">
            <a:xfrm>
              <a:off x="6298" y="1803"/>
              <a:ext cx="1465" cy="316"/>
            </a:xfrm>
            <a:custGeom>
              <a:avLst/>
              <a:gdLst>
                <a:gd name="T0" fmla="*/ 0 w 1465"/>
                <a:gd name="T1" fmla="*/ 134 h 316"/>
                <a:gd name="T2" fmla="*/ 919 w 1465"/>
                <a:gd name="T3" fmla="*/ 26 h 316"/>
                <a:gd name="T4" fmla="*/ 522 w 1465"/>
                <a:gd name="T5" fmla="*/ 291 h 316"/>
                <a:gd name="T6" fmla="*/ 1465 w 1465"/>
                <a:gd name="T7" fmla="*/ 175 h 3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65" h="316">
                  <a:moveTo>
                    <a:pt x="0" y="134"/>
                  </a:moveTo>
                  <a:cubicBezTo>
                    <a:pt x="416" y="67"/>
                    <a:pt x="832" y="0"/>
                    <a:pt x="919" y="26"/>
                  </a:cubicBezTo>
                  <a:cubicBezTo>
                    <a:pt x="1006" y="52"/>
                    <a:pt x="431" y="266"/>
                    <a:pt x="522" y="291"/>
                  </a:cubicBezTo>
                  <a:cubicBezTo>
                    <a:pt x="613" y="316"/>
                    <a:pt x="1039" y="245"/>
                    <a:pt x="1465" y="175"/>
                  </a:cubicBezTo>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a:p>
          </p:txBody>
        </p:sp>
        <mc:AlternateContent xmlns:mc="http://schemas.openxmlformats.org/markup-compatibility/2006" xmlns:a14="http://schemas.microsoft.com/office/drawing/2010/main">
          <mc:Choice Requires="a14">
            <p:sp>
              <p:nvSpPr>
                <p:cNvPr id="21" name="Text Box 14">
                  <a:extLst>
                    <a:ext uri="{FF2B5EF4-FFF2-40B4-BE49-F238E27FC236}">
                      <a16:creationId xmlns:a16="http://schemas.microsoft.com/office/drawing/2014/main" id="{5795AA58-08EA-4DA0-A2C4-A451147E1D00}"/>
                    </a:ext>
                  </a:extLst>
                </p:cNvPr>
                <p:cNvSpPr txBox="1">
                  <a:spLocks noChangeArrowheads="1"/>
                </p:cNvSpPr>
                <p:nvPr/>
              </p:nvSpPr>
              <p:spPr bwMode="auto">
                <a:xfrm>
                  <a:off x="4406" y="2235"/>
                  <a:ext cx="911" cy="298"/>
                </a:xfrm>
                <a:prstGeom prst="rect">
                  <a:avLst/>
                </a:prstGeom>
                <a:solidFill>
                  <a:srgbClr val="FFFFFF"/>
                </a:solidFill>
                <a:ln w="9525">
                  <a:solidFill>
                    <a:srgbClr val="FFFFFF"/>
                  </a:solidFill>
                  <a:miter lim="800000"/>
                  <a:headEnd/>
                  <a:tailEnd/>
                </a:ln>
              </p:spPr>
              <p:txBody>
                <a:bodyPr rot="0" vert="horz" wrap="square" lIns="91440" tIns="45720" rIns="91440" bIns="45720" anchor="t" anchorCtr="0" upright="1">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i="1">
                                <a:latin typeface="Cambria Math" panose="02040503050406030204" pitchFamily="18" charset="0"/>
                              </a:rPr>
                              <m:t>𝑆</m:t>
                            </m:r>
                            <m:r>
                              <a:rPr lang="en-US">
                                <a:latin typeface="Cambria Math" panose="02040503050406030204" pitchFamily="18" charset="0"/>
                              </a:rPr>
                              <m:t>−</m:t>
                            </m:r>
                            <m:r>
                              <a:rPr lang="en-US" i="1">
                                <a:latin typeface="Cambria Math" panose="02040503050406030204" pitchFamily="18" charset="0"/>
                              </a:rPr>
                              <m:t>𝑅</m:t>
                            </m:r>
                          </m:sub>
                        </m:sSub>
                      </m:oMath>
                    </m:oMathPara>
                  </a14:m>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2" name="Text Box 14">
                  <a:extLst>
                    <a:ext uri="{FF2B5EF4-FFF2-40B4-BE49-F238E27FC236}">
                      <a16:creationId xmlns:a16="http://schemas.microsoft.com/office/drawing/2014/main" id="{80A7C54B-138F-4433-99BA-3370AC12C8C5}"/>
                    </a:ext>
                  </a:extLst>
                </p:cNvPr>
                <p:cNvSpPr txBox="1">
                  <a:spLocks noRot="1" noChangeAspect="1" noMove="1" noResize="1" noEditPoints="1" noAdjustHandles="1" noChangeArrowheads="1" noChangeShapeType="1" noTextEdit="1"/>
                </p:cNvSpPr>
                <p:nvPr/>
              </p:nvSpPr>
              <p:spPr bwMode="auto">
                <a:xfrm>
                  <a:off x="4406" y="2235"/>
                  <a:ext cx="911" cy="298"/>
                </a:xfrm>
                <a:prstGeom prst="rect">
                  <a:avLst/>
                </a:prstGeom>
                <a:blipFill>
                  <a:blip r:embed="rId4"/>
                  <a:stretch>
                    <a:fillRect/>
                  </a:stretch>
                </a:blipFill>
                <a:ln w="9525">
                  <a:solidFill>
                    <a:srgbClr val="FFFFFF"/>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 Box 15">
                  <a:extLst>
                    <a:ext uri="{FF2B5EF4-FFF2-40B4-BE49-F238E27FC236}">
                      <a16:creationId xmlns:a16="http://schemas.microsoft.com/office/drawing/2014/main" id="{D27A7290-1937-4E69-B8B4-0F7BF35ACB05}"/>
                    </a:ext>
                  </a:extLst>
                </p:cNvPr>
                <p:cNvSpPr txBox="1">
                  <a:spLocks noChangeArrowheads="1"/>
                </p:cNvSpPr>
                <p:nvPr/>
              </p:nvSpPr>
              <p:spPr bwMode="auto">
                <a:xfrm>
                  <a:off x="6632" y="2252"/>
                  <a:ext cx="825" cy="316"/>
                </a:xfrm>
                <a:prstGeom prst="rect">
                  <a:avLst/>
                </a:prstGeom>
                <a:solidFill>
                  <a:srgbClr val="FFFFFF"/>
                </a:solidFill>
                <a:ln w="9525">
                  <a:solidFill>
                    <a:srgbClr val="FFFFFF"/>
                  </a:solidFill>
                  <a:miter lim="800000"/>
                  <a:headEnd/>
                  <a:tailEnd/>
                </a:ln>
              </p:spPr>
              <p:txBody>
                <a:bodyPr rot="0" vert="horz" wrap="square" lIns="91440" tIns="45720" rIns="91440" bIns="45720" anchor="t" anchorCtr="0" upright="1">
                  <a:noAutofit/>
                </a:bodyPr>
                <a:lstStyle/>
                <a:p>
                  <a:pPr>
                    <a:lnSpc>
                      <a:spcPct val="115000"/>
                    </a:lnSpc>
                    <a:spcAft>
                      <a:spcPts val="1000"/>
                    </a:spcAft>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i="1">
                              <a:latin typeface="Cambria Math" panose="02040503050406030204" pitchFamily="18" charset="0"/>
                            </a:rPr>
                            <m:t>𝑅</m:t>
                          </m:r>
                          <m:r>
                            <a:rPr lang="en-US">
                              <a:latin typeface="Cambria Math" panose="02040503050406030204" pitchFamily="18" charset="0"/>
                            </a:rPr>
                            <m:t>−</m:t>
                          </m:r>
                          <m:r>
                            <a:rPr lang="en-US" i="1">
                              <a:latin typeface="Cambria Math" panose="02040503050406030204" pitchFamily="18" charset="0"/>
                            </a:rPr>
                            <m:t>𝐷</m:t>
                          </m:r>
                        </m:sub>
                      </m:sSub>
                      <m:r>
                        <a:rPr lang="en-US" i="1">
                          <a:latin typeface="Cambria Math" panose="02040503050406030204" pitchFamily="18" charset="0"/>
                        </a:rPr>
                        <m:t> </m:t>
                      </m:r>
                    </m:oMath>
                  </a14:m>
                  <a:r>
                    <a:rPr lang="en-US" dirty="0">
                      <a:effectLst/>
                      <a:latin typeface="Calibri" panose="020F0502020204030204" pitchFamily="34" charset="0"/>
                      <a:ea typeface="Calibri" panose="020F0502020204030204" pitchFamily="34" charset="0"/>
                      <a:cs typeface="Times New Roman" panose="02020603050405020304" pitchFamily="18" charset="0"/>
                    </a:rPr>
                    <a:t> </a:t>
                  </a:r>
                </a:p>
              </p:txBody>
            </p:sp>
          </mc:Choice>
          <mc:Fallback xmlns="">
            <p:sp>
              <p:nvSpPr>
                <p:cNvPr id="33" name="Text Box 15">
                  <a:extLst>
                    <a:ext uri="{FF2B5EF4-FFF2-40B4-BE49-F238E27FC236}">
                      <a16:creationId xmlns:a16="http://schemas.microsoft.com/office/drawing/2014/main" id="{ED856C4D-A91B-4C98-82A0-C7E9F688D111}"/>
                    </a:ext>
                  </a:extLst>
                </p:cNvPr>
                <p:cNvSpPr txBox="1">
                  <a:spLocks noRot="1" noChangeAspect="1" noMove="1" noResize="1" noEditPoints="1" noAdjustHandles="1" noChangeArrowheads="1" noChangeShapeType="1" noTextEdit="1"/>
                </p:cNvSpPr>
                <p:nvPr/>
              </p:nvSpPr>
              <p:spPr bwMode="auto">
                <a:xfrm>
                  <a:off x="6632" y="2252"/>
                  <a:ext cx="825" cy="316"/>
                </a:xfrm>
                <a:prstGeom prst="rect">
                  <a:avLst/>
                </a:prstGeom>
                <a:blipFill>
                  <a:blip r:embed="rId5"/>
                  <a:stretch>
                    <a:fillRect l="-613"/>
                  </a:stretch>
                </a:blipFill>
                <a:ln w="9525">
                  <a:solidFill>
                    <a:srgbClr val="FFFFFF"/>
                  </a:solidFill>
                  <a:miter lim="800000"/>
                  <a:headEnd/>
                  <a:tailEnd/>
                </a:ln>
              </p:spPr>
              <p:txBody>
                <a:bodyPr/>
                <a:lstStyle/>
                <a:p>
                  <a:r>
                    <a:rPr lang="en-US">
                      <a:noFill/>
                    </a:rPr>
                    <a:t> </a:t>
                  </a:r>
                </a:p>
              </p:txBody>
            </p:sp>
          </mc:Fallback>
        </mc:AlternateContent>
      </p:grpSp>
      <p:sp>
        <p:nvSpPr>
          <p:cNvPr id="7" name="Slide Number Placeholder 6">
            <a:extLst>
              <a:ext uri="{FF2B5EF4-FFF2-40B4-BE49-F238E27FC236}">
                <a16:creationId xmlns:a16="http://schemas.microsoft.com/office/drawing/2014/main" id="{D17FAB4F-CBAC-4DBC-8DAE-659CCD788733}"/>
              </a:ext>
            </a:extLst>
          </p:cNvPr>
          <p:cNvSpPr>
            <a:spLocks noGrp="1"/>
          </p:cNvSpPr>
          <p:nvPr>
            <p:ph type="sldNum" sz="quarter" idx="12"/>
          </p:nvPr>
        </p:nvSpPr>
        <p:spPr/>
        <p:txBody>
          <a:bodyPr/>
          <a:lstStyle/>
          <a:p>
            <a:pPr>
              <a:defRPr/>
            </a:pPr>
            <a:fld id="{13CC66DC-C496-4A87-A4D6-24BBFECA0FB1}" type="slidenum">
              <a:rPr lang="en-US" smtClean="0"/>
              <a:pPr>
                <a:defRPr/>
              </a:pPr>
              <a:t>15</a:t>
            </a:fld>
            <a:endParaRPr lang="en-US"/>
          </a:p>
        </p:txBody>
      </p:sp>
      <p:sp>
        <p:nvSpPr>
          <p:cNvPr id="2" name="TextBox 1">
            <a:extLst>
              <a:ext uri="{FF2B5EF4-FFF2-40B4-BE49-F238E27FC236}">
                <a16:creationId xmlns:a16="http://schemas.microsoft.com/office/drawing/2014/main" id="{5CC20526-D7E9-4253-84B3-F56456D7E1A8}"/>
              </a:ext>
            </a:extLst>
          </p:cNvPr>
          <p:cNvSpPr txBox="1"/>
          <p:nvPr/>
        </p:nvSpPr>
        <p:spPr>
          <a:xfrm>
            <a:off x="1278294" y="5818837"/>
            <a:ext cx="3026163"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In the figure </a:t>
            </a:r>
            <a:r>
              <a:rPr lang="en-US" sz="2800" i="1" dirty="0">
                <a:latin typeface="Times New Roman" panose="02020603050405020304" pitchFamily="18" charset="0"/>
                <a:cs typeface="Times New Roman" panose="02020603050405020304" pitchFamily="18" charset="0"/>
              </a:rPr>
              <a:t>m</a:t>
            </a:r>
            <a:r>
              <a:rPr lang="en-US" sz="2800" dirty="0">
                <a:latin typeface="Times New Roman" panose="02020603050405020304" pitchFamily="18" charset="0"/>
                <a:cs typeface="Times New Roman" panose="02020603050405020304" pitchFamily="18" charset="0"/>
              </a:rPr>
              <a:t> = 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solidFill>
            <a:srgbClr val="FFCCFF"/>
          </a:solidFill>
        </p:spPr>
        <p:txBody>
          <a:bodyPr/>
          <a:lstStyle/>
          <a:p>
            <a:pPr marL="0" indent="0">
              <a:buNone/>
            </a:pPr>
            <a:r>
              <a:rPr lang="en-US" b="1" dirty="0">
                <a:latin typeface="Times New Roman" panose="02020603050405020304" pitchFamily="18" charset="0"/>
                <a:cs typeface="Times New Roman" panose="02020603050405020304" pitchFamily="18" charset="0"/>
              </a:rPr>
              <a:t>1. Impact of Data Rate R</a:t>
            </a:r>
          </a:p>
          <a:p>
            <a:r>
              <a:rPr lang="en-US" dirty="0">
                <a:latin typeface="Times New Roman" panose="02020603050405020304" pitchFamily="18" charset="0"/>
                <a:cs typeface="Times New Roman" panose="02020603050405020304" pitchFamily="18" charset="0"/>
              </a:rPr>
              <a:t>The modified energy consumption formula:</a:t>
            </a:r>
          </a:p>
          <a:p>
            <a:r>
              <a:rPr lang="en-US" dirty="0">
                <a:latin typeface="Times New Roman" panose="02020603050405020304" pitchFamily="18" charset="0"/>
                <a:cs typeface="Times New Roman" panose="02020603050405020304" pitchFamily="18" charset="0"/>
              </a:rPr>
              <a:t>E=1/R(</a:t>
            </a:r>
            <a:r>
              <a:rPr lang="el-GR" dirty="0">
                <a:latin typeface="Times New Roman" panose="02020603050405020304" pitchFamily="18" charset="0"/>
                <a:cs typeface="Times New Roman" panose="02020603050405020304" pitchFamily="18" charset="0"/>
              </a:rPr>
              <a:t>θ+ηω</a:t>
            </a:r>
            <a:r>
              <a:rPr lang="en-US" dirty="0">
                <a:latin typeface="Times New Roman" panose="02020603050405020304" pitchFamily="18" charset="0"/>
                <a:cs typeface="Times New Roman" panose="02020603050405020304" pitchFamily="18" charset="0"/>
              </a:rPr>
              <a:t>d*n)</a:t>
            </a:r>
          </a:p>
          <a:p>
            <a:r>
              <a:rPr lang="en-US" b="1"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 = data rate (bits per second)</a:t>
            </a:r>
          </a:p>
          <a:p>
            <a:r>
              <a:rPr lang="en-US" dirty="0">
                <a:latin typeface="Times New Roman" panose="02020603050405020304" pitchFamily="18" charset="0"/>
                <a:cs typeface="Times New Roman" panose="02020603050405020304" pitchFamily="18" charset="0"/>
              </a:rPr>
              <a:t>When </a:t>
            </a:r>
            <a:r>
              <a:rPr lang="en-US" b="1" dirty="0">
                <a:latin typeface="Times New Roman" panose="02020603050405020304" pitchFamily="18" charset="0"/>
                <a:cs typeface="Times New Roman" panose="02020603050405020304" pitchFamily="18" charset="0"/>
              </a:rPr>
              <a:t>R increases</a:t>
            </a:r>
            <a:r>
              <a:rPr lang="en-US" dirty="0">
                <a:latin typeface="Times New Roman" panose="02020603050405020304" pitchFamily="18" charset="0"/>
                <a:cs typeface="Times New Roman" panose="02020603050405020304" pitchFamily="18" charset="0"/>
              </a:rPr>
              <a:t> → transmission takes less time → </a:t>
            </a:r>
            <a:r>
              <a:rPr lang="en-US" b="1" dirty="0">
                <a:latin typeface="Times New Roman" panose="02020603050405020304" pitchFamily="18" charset="0"/>
                <a:cs typeface="Times New Roman" panose="02020603050405020304" pitchFamily="18" charset="0"/>
              </a:rPr>
              <a:t>less energy consumed</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High data rates are easier to achieve when nodes are </a:t>
            </a:r>
            <a:r>
              <a:rPr lang="en-US" b="1" dirty="0">
                <a:latin typeface="Times New Roman" panose="02020603050405020304" pitchFamily="18" charset="0"/>
                <a:cs typeface="Times New Roman" panose="02020603050405020304" pitchFamily="18" charset="0"/>
              </a:rPr>
              <a:t>closer</a:t>
            </a:r>
            <a:r>
              <a:rPr lang="en-US" dirty="0">
                <a:latin typeface="Times New Roman" panose="02020603050405020304" pitchFamily="18" charset="0"/>
                <a:cs typeface="Times New Roman" panose="02020603050405020304" pitchFamily="18" charset="0"/>
              </a:rPr>
              <a:t> (shorter distance d).</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Conclusion</a:t>
            </a:r>
            <a:r>
              <a:rPr lang="en-US" dirty="0">
                <a:latin typeface="Times New Roman" panose="02020603050405020304" pitchFamily="18" charset="0"/>
                <a:cs typeface="Times New Roman" panose="02020603050405020304" pitchFamily="18" charset="0"/>
              </a:rPr>
              <a:t>: Increasing R reduces energy consumption, especially for short-range communications.</a:t>
            </a:r>
          </a:p>
          <a:p>
            <a:endParaRPr lang="en-US" dirty="0"/>
          </a:p>
        </p:txBody>
      </p:sp>
      <p:sp>
        <p:nvSpPr>
          <p:cNvPr id="4" name="Slide Number Placeholder 3"/>
          <p:cNvSpPr>
            <a:spLocks noGrp="1"/>
          </p:cNvSpPr>
          <p:nvPr>
            <p:ph type="sldNum" sz="quarter" idx="12"/>
          </p:nvPr>
        </p:nvSpPr>
        <p:spPr/>
        <p:txBody>
          <a:bodyPr/>
          <a:lstStyle/>
          <a:p>
            <a:pPr>
              <a:defRPr/>
            </a:pPr>
            <a:fld id="{13CC66DC-C496-4A87-A4D6-24BBFECA0FB1}" type="slidenum">
              <a:rPr lang="en-US" smtClean="0"/>
              <a:pPr>
                <a:defRPr/>
              </a:pPr>
              <a:t>16</a:t>
            </a:fld>
            <a:endParaRPr lang="en-US"/>
          </a:p>
        </p:txBody>
      </p:sp>
    </p:spTree>
    <p:extLst>
      <p:ext uri="{BB962C8B-B14F-4D97-AF65-F5344CB8AC3E}">
        <p14:creationId xmlns:p14="http://schemas.microsoft.com/office/powerpoint/2010/main" val="2914009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solidFill>
            <a:srgbClr val="FFCCFF"/>
          </a:solidFill>
        </p:spPr>
        <p:txBody>
          <a:bodyPr/>
          <a:lstStyle/>
          <a:p>
            <a:pPr marL="0" indent="0">
              <a:buNone/>
            </a:pPr>
            <a:r>
              <a:rPr lang="en-US" b="1" dirty="0">
                <a:latin typeface="Times New Roman" panose="02020603050405020304" pitchFamily="18" charset="0"/>
                <a:cs typeface="Times New Roman" panose="02020603050405020304" pitchFamily="18" charset="0"/>
              </a:rPr>
              <a:t>2. Multi-hop Communication Model</a:t>
            </a:r>
          </a:p>
          <a:p>
            <a:r>
              <a:rPr lang="en-US" dirty="0">
                <a:latin typeface="Times New Roman" panose="02020603050405020304" pitchFamily="18" charset="0"/>
                <a:cs typeface="Times New Roman" panose="02020603050405020304" pitchFamily="18" charset="0"/>
              </a:rPr>
              <a:t>To save energy, instead of sending directly over a long distance d, the distance is divided into </a:t>
            </a:r>
            <a:r>
              <a:rPr lang="en-US" b="1" dirty="0">
                <a:latin typeface="Times New Roman" panose="02020603050405020304" pitchFamily="18" charset="0"/>
                <a:cs typeface="Times New Roman" panose="02020603050405020304" pitchFamily="18" charset="0"/>
              </a:rPr>
              <a:t>m hops</a:t>
            </a:r>
            <a:r>
              <a:rPr lang="en-US" dirty="0">
                <a:latin typeface="Times New Roman" panose="02020603050405020304" pitchFamily="18" charset="0"/>
                <a:cs typeface="Times New Roman" panose="02020603050405020304" pitchFamily="18" charset="0"/>
              </a:rPr>
              <a:t> (multi-hop routing).</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 = number of hops (intermediate relay nodes)</a:t>
            </a:r>
          </a:p>
          <a:p>
            <a:r>
              <a:rPr lang="en-US" dirty="0">
                <a:latin typeface="Times New Roman" panose="02020603050405020304" pitchFamily="18" charset="0"/>
                <a:cs typeface="Times New Roman" panose="02020603050405020304" pitchFamily="18" charset="0"/>
              </a:rPr>
              <a:t>Each hop covers distance d/m</a:t>
            </a:r>
          </a:p>
          <a:p>
            <a:r>
              <a:rPr lang="en-US" dirty="0">
                <a:latin typeface="Times New Roman" panose="02020603050405020304" pitchFamily="18" charset="0"/>
                <a:cs typeface="Times New Roman" panose="02020603050405020304" pitchFamily="18" charset="0"/>
              </a:rPr>
              <a:t>Each hop still requires the fixed overhead θ.</a:t>
            </a:r>
          </a:p>
          <a:p>
            <a:r>
              <a:rPr lang="en-US" dirty="0">
                <a:latin typeface="Times New Roman" panose="02020603050405020304" pitchFamily="18" charset="0"/>
                <a:cs typeface="Times New Roman" panose="02020603050405020304" pitchFamily="18" charset="0"/>
              </a:rPr>
              <a:t>But the distance-dependent part </a:t>
            </a:r>
            <a:r>
              <a:rPr lang="en-US" dirty="0" err="1">
                <a:latin typeface="Times New Roman" panose="02020603050405020304" pitchFamily="18" charset="0"/>
                <a:cs typeface="Times New Roman" panose="02020603050405020304" pitchFamily="18" charset="0"/>
              </a:rPr>
              <a:t>ωd^n</a:t>
            </a:r>
            <a:r>
              <a:rPr lang="en-US" dirty="0">
                <a:latin typeface="Times New Roman" panose="02020603050405020304" pitchFamily="18" charset="0"/>
                <a:cs typeface="Times New Roman" panose="02020603050405020304" pitchFamily="18" charset="0"/>
              </a:rPr>
              <a:t> is reduced since</a:t>
            </a:r>
          </a:p>
          <a:p>
            <a:endParaRPr lang="en-US" dirty="0"/>
          </a:p>
        </p:txBody>
      </p:sp>
      <p:sp>
        <p:nvSpPr>
          <p:cNvPr id="4" name="Slide Number Placeholder 3"/>
          <p:cNvSpPr>
            <a:spLocks noGrp="1"/>
          </p:cNvSpPr>
          <p:nvPr>
            <p:ph type="sldNum" sz="quarter" idx="12"/>
          </p:nvPr>
        </p:nvSpPr>
        <p:spPr/>
        <p:txBody>
          <a:bodyPr/>
          <a:lstStyle/>
          <a:p>
            <a:pPr>
              <a:defRPr/>
            </a:pPr>
            <a:fld id="{13CC66DC-C496-4A87-A4D6-24BBFECA0FB1}" type="slidenum">
              <a:rPr lang="en-US" smtClean="0"/>
              <a:pPr>
                <a:defRPr/>
              </a:pPr>
              <a:t>17</a:t>
            </a:fld>
            <a:endParaRPr lang="en-US"/>
          </a:p>
        </p:txBody>
      </p:sp>
      <p:pic>
        <p:nvPicPr>
          <p:cNvPr id="7" name="Picture 6"/>
          <p:cNvPicPr>
            <a:picLocks noChangeAspect="1"/>
          </p:cNvPicPr>
          <p:nvPr/>
        </p:nvPicPr>
        <p:blipFill>
          <a:blip r:embed="rId2"/>
          <a:stretch>
            <a:fillRect/>
          </a:stretch>
        </p:blipFill>
        <p:spPr>
          <a:xfrm>
            <a:off x="3774096" y="2170910"/>
            <a:ext cx="2736432" cy="838096"/>
          </a:xfrm>
          <a:prstGeom prst="rect">
            <a:avLst/>
          </a:prstGeom>
        </p:spPr>
      </p:pic>
      <p:pic>
        <p:nvPicPr>
          <p:cNvPr id="8" name="Picture 7"/>
          <p:cNvPicPr>
            <a:picLocks noChangeAspect="1"/>
          </p:cNvPicPr>
          <p:nvPr/>
        </p:nvPicPr>
        <p:blipFill>
          <a:blip r:embed="rId3"/>
          <a:stretch>
            <a:fillRect/>
          </a:stretch>
        </p:blipFill>
        <p:spPr>
          <a:xfrm>
            <a:off x="4642776" y="5238736"/>
            <a:ext cx="3450188" cy="521984"/>
          </a:xfrm>
          <a:prstGeom prst="rect">
            <a:avLst/>
          </a:prstGeom>
        </p:spPr>
      </p:pic>
    </p:spTree>
    <p:extLst>
      <p:ext uri="{BB962C8B-B14F-4D97-AF65-F5344CB8AC3E}">
        <p14:creationId xmlns:p14="http://schemas.microsoft.com/office/powerpoint/2010/main" val="2423704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p:nvPr>
        </p:nvPicPr>
        <p:blipFill>
          <a:blip r:embed="rId2"/>
          <a:stretch>
            <a:fillRect/>
          </a:stretch>
        </p:blipFill>
        <p:spPr>
          <a:xfrm>
            <a:off x="2176273" y="973753"/>
            <a:ext cx="8257032" cy="2382095"/>
          </a:xfrm>
          <a:prstGeom prst="rect">
            <a:avLst/>
          </a:prstGeom>
          <a:solidFill>
            <a:srgbClr val="FFCCFF"/>
          </a:solidFill>
        </p:spPr>
      </p:pic>
      <p:sp>
        <p:nvSpPr>
          <p:cNvPr id="4" name="Slide Number Placeholder 3"/>
          <p:cNvSpPr>
            <a:spLocks noGrp="1"/>
          </p:cNvSpPr>
          <p:nvPr>
            <p:ph type="sldNum" sz="quarter" idx="12"/>
          </p:nvPr>
        </p:nvSpPr>
        <p:spPr/>
        <p:txBody>
          <a:bodyPr/>
          <a:lstStyle/>
          <a:p>
            <a:pPr>
              <a:defRPr/>
            </a:pPr>
            <a:fld id="{13CC66DC-C496-4A87-A4D6-24BBFECA0FB1}" type="slidenum">
              <a:rPr lang="en-US" smtClean="0"/>
              <a:pPr>
                <a:defRPr/>
              </a:pPr>
              <a:t>18</a:t>
            </a:fld>
            <a:endParaRPr lang="en-US"/>
          </a:p>
        </p:txBody>
      </p:sp>
      <p:pic>
        <p:nvPicPr>
          <p:cNvPr id="6" name="Picture 5"/>
          <p:cNvPicPr>
            <a:picLocks noChangeAspect="1"/>
          </p:cNvPicPr>
          <p:nvPr/>
        </p:nvPicPr>
        <p:blipFill>
          <a:blip r:embed="rId3"/>
          <a:stretch>
            <a:fillRect/>
          </a:stretch>
        </p:blipFill>
        <p:spPr>
          <a:xfrm>
            <a:off x="1956816" y="3433412"/>
            <a:ext cx="8842247" cy="2583340"/>
          </a:xfrm>
          <a:prstGeom prst="rect">
            <a:avLst/>
          </a:prstGeom>
        </p:spPr>
      </p:pic>
    </p:spTree>
    <p:extLst>
      <p:ext uri="{BB962C8B-B14F-4D97-AF65-F5344CB8AC3E}">
        <p14:creationId xmlns:p14="http://schemas.microsoft.com/office/powerpoint/2010/main" val="1826762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Box 2"/>
          <p:cNvSpPr txBox="1">
            <a:spLocks noChangeArrowheads="1"/>
          </p:cNvSpPr>
          <p:nvPr/>
        </p:nvSpPr>
        <p:spPr bwMode="auto">
          <a:xfrm>
            <a:off x="353009" y="1354969"/>
            <a:ext cx="5296028" cy="341632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 typeface="Wingdings" panose="05000000000000000000" pitchFamily="2" charset="2"/>
              <a:buChar char="ü"/>
            </a:pPr>
            <a:r>
              <a:rPr lang="en-US" sz="2400" dirty="0"/>
              <a:t>An efficient Clustering Protocol ensures the creation of clusters with almost the </a:t>
            </a:r>
            <a:r>
              <a:rPr lang="en-US" sz="2400" dirty="0">
                <a:solidFill>
                  <a:srgbClr val="FF0000"/>
                </a:solidFill>
              </a:rPr>
              <a:t>same radius </a:t>
            </a:r>
            <a:r>
              <a:rPr lang="en-US" sz="2400" dirty="0"/>
              <a:t>and </a:t>
            </a:r>
            <a:r>
              <a:rPr lang="en-US" sz="2400" dirty="0">
                <a:solidFill>
                  <a:srgbClr val="FF0000"/>
                </a:solidFill>
              </a:rPr>
              <a:t>cluster heads </a:t>
            </a:r>
            <a:r>
              <a:rPr lang="en-US" sz="2400" dirty="0"/>
              <a:t>that are the </a:t>
            </a:r>
            <a:r>
              <a:rPr lang="en-US" sz="2400" dirty="0">
                <a:solidFill>
                  <a:srgbClr val="FF0000"/>
                </a:solidFill>
              </a:rPr>
              <a:t>best positioned</a:t>
            </a:r>
            <a:r>
              <a:rPr lang="en-US" sz="2400" dirty="0"/>
              <a:t> in the cluster.</a:t>
            </a:r>
          </a:p>
          <a:p>
            <a:pPr algn="just" eaLnBrk="1" hangingPunct="1">
              <a:spcBef>
                <a:spcPct val="0"/>
              </a:spcBef>
              <a:buNone/>
            </a:pPr>
            <a:endParaRPr lang="en-US" sz="2400" dirty="0"/>
          </a:p>
          <a:p>
            <a:pPr algn="just">
              <a:spcBef>
                <a:spcPct val="0"/>
              </a:spcBef>
              <a:buFont typeface="Wingdings" panose="05000000000000000000" pitchFamily="2" charset="2"/>
              <a:buChar char="ü"/>
            </a:pPr>
            <a:r>
              <a:rPr lang="en-US" sz="2400" dirty="0"/>
              <a:t>Ensure</a:t>
            </a:r>
            <a:r>
              <a:rPr lang="en-US" sz="2400" dirty="0">
                <a:solidFill>
                  <a:srgbClr val="FF0000"/>
                </a:solidFill>
              </a:rPr>
              <a:t> non-overlapping</a:t>
            </a:r>
            <a:r>
              <a:rPr lang="en-US" sz="2400" dirty="0"/>
              <a:t> cluster nodes.</a:t>
            </a:r>
          </a:p>
          <a:p>
            <a:pPr algn="just" eaLnBrk="1" hangingPunct="1">
              <a:spcBef>
                <a:spcPct val="0"/>
              </a:spcBef>
              <a:buFont typeface="Wingdings" panose="05000000000000000000" pitchFamily="2" charset="2"/>
              <a:buChar char="ü"/>
            </a:pPr>
            <a:endParaRPr lang="en-US" sz="2400" dirty="0"/>
          </a:p>
          <a:p>
            <a:pPr algn="just" eaLnBrk="1" hangingPunct="1">
              <a:spcBef>
                <a:spcPct val="0"/>
              </a:spcBef>
              <a:buFont typeface="Wingdings" panose="05000000000000000000" pitchFamily="2" charset="2"/>
              <a:buChar char="ü"/>
            </a:pPr>
            <a:r>
              <a:rPr lang="en-US" sz="2400" dirty="0"/>
              <a:t>Links among the </a:t>
            </a:r>
            <a:r>
              <a:rPr lang="en-US" sz="2400" dirty="0">
                <a:solidFill>
                  <a:srgbClr val="FF0000"/>
                </a:solidFill>
              </a:rPr>
              <a:t>cluster heads</a:t>
            </a:r>
            <a:r>
              <a:rPr lang="en-US" sz="2400" dirty="0"/>
              <a:t> are used to establish a route to the BS. </a:t>
            </a:r>
          </a:p>
        </p:txBody>
      </p:sp>
      <p:sp>
        <p:nvSpPr>
          <p:cNvPr id="2" name="Rectangle 1">
            <a:extLst>
              <a:ext uri="{FF2B5EF4-FFF2-40B4-BE49-F238E27FC236}">
                <a16:creationId xmlns:a16="http://schemas.microsoft.com/office/drawing/2014/main" id="{CFEF37E3-0FAE-4472-99A4-335B7CE799A7}"/>
              </a:ext>
            </a:extLst>
          </p:cNvPr>
          <p:cNvSpPr/>
          <p:nvPr/>
        </p:nvSpPr>
        <p:spPr>
          <a:xfrm>
            <a:off x="709127" y="232378"/>
            <a:ext cx="3767955" cy="584775"/>
          </a:xfrm>
          <a:prstGeom prst="rect">
            <a:avLst/>
          </a:prstGeom>
          <a:solidFill>
            <a:srgbClr val="FFC000"/>
          </a:solidFill>
        </p:spPr>
        <p:txBody>
          <a:bodyPr wrap="none">
            <a:spAutoFit/>
          </a:bodyPr>
          <a:lstStyle/>
          <a:p>
            <a:pPr algn="just" eaLnBrk="1" hangingPunct="1"/>
            <a:r>
              <a:rPr lang="en-US" sz="3200" b="1" dirty="0">
                <a:solidFill>
                  <a:srgbClr val="0000FF"/>
                </a:solidFill>
                <a:latin typeface="Times New Roman" panose="02020603050405020304" pitchFamily="18" charset="0"/>
                <a:cs typeface="Times New Roman" panose="02020603050405020304" pitchFamily="18" charset="0"/>
              </a:rPr>
              <a:t>Clustering Protocols</a:t>
            </a:r>
          </a:p>
        </p:txBody>
      </p:sp>
      <p:pic>
        <p:nvPicPr>
          <p:cNvPr id="5" name="Picture 2">
            <a:extLst>
              <a:ext uri="{FF2B5EF4-FFF2-40B4-BE49-F238E27FC236}">
                <a16:creationId xmlns:a16="http://schemas.microsoft.com/office/drawing/2014/main" id="{881D1E2D-D502-4E90-8112-E39268460DD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49037" y="1696524"/>
            <a:ext cx="6116865" cy="3464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6">
            <a:extLst>
              <a:ext uri="{FF2B5EF4-FFF2-40B4-BE49-F238E27FC236}">
                <a16:creationId xmlns:a16="http://schemas.microsoft.com/office/drawing/2014/main" id="{703260D5-93EA-4405-A6C5-5BFA0384549E}"/>
              </a:ext>
            </a:extLst>
          </p:cNvPr>
          <p:cNvSpPr>
            <a:spLocks noGrp="1"/>
          </p:cNvSpPr>
          <p:nvPr>
            <p:ph type="sldNum" sz="quarter" idx="12"/>
          </p:nvPr>
        </p:nvSpPr>
        <p:spPr/>
        <p:txBody>
          <a:bodyPr/>
          <a:lstStyle/>
          <a:p>
            <a:pPr>
              <a:defRPr/>
            </a:pPr>
            <a:fld id="{13CC66DC-C496-4A87-A4D6-24BBFECA0FB1}" type="slidenum">
              <a:rPr lang="en-US" smtClean="0"/>
              <a:pPr>
                <a:defRPr/>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4"/>
          <p:cNvSpPr txBox="1">
            <a:spLocks noChangeArrowheads="1"/>
          </p:cNvSpPr>
          <p:nvPr/>
        </p:nvSpPr>
        <p:spPr bwMode="auto">
          <a:xfrm>
            <a:off x="483637" y="1139889"/>
            <a:ext cx="10870163" cy="341632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sz="2400" dirty="0"/>
              <a:t>Clustering techniques is classified as: </a:t>
            </a:r>
          </a:p>
          <a:p>
            <a:pPr marL="457200" indent="-457200" algn="just">
              <a:spcBef>
                <a:spcPct val="0"/>
              </a:spcBef>
              <a:buFontTx/>
              <a:buAutoNum type="arabicPeriod"/>
            </a:pPr>
            <a:r>
              <a:rPr lang="en-US" sz="2400" b="1" dirty="0">
                <a:solidFill>
                  <a:srgbClr val="0000FF"/>
                </a:solidFill>
              </a:rPr>
              <a:t>Centralized </a:t>
            </a:r>
          </a:p>
          <a:p>
            <a:pPr marL="457200" indent="-457200" algn="just">
              <a:spcBef>
                <a:spcPct val="0"/>
              </a:spcBef>
              <a:buFontTx/>
              <a:buAutoNum type="arabicPeriod"/>
            </a:pPr>
            <a:r>
              <a:rPr lang="en-US" sz="2400" b="1" dirty="0">
                <a:solidFill>
                  <a:srgbClr val="0000FF"/>
                </a:solidFill>
              </a:rPr>
              <a:t>Decentralized. </a:t>
            </a:r>
          </a:p>
          <a:p>
            <a:pPr algn="just" eaLnBrk="1" hangingPunct="1">
              <a:spcBef>
                <a:spcPct val="0"/>
              </a:spcBef>
              <a:buFontTx/>
              <a:buNone/>
            </a:pPr>
            <a:endParaRPr lang="en-US" sz="2400" dirty="0"/>
          </a:p>
          <a:p>
            <a:pPr algn="just" eaLnBrk="1" hangingPunct="1">
              <a:spcBef>
                <a:spcPct val="0"/>
              </a:spcBef>
              <a:buFont typeface="Wingdings" panose="05000000000000000000" pitchFamily="2" charset="2"/>
              <a:buChar char="ü"/>
            </a:pPr>
            <a:r>
              <a:rPr lang="en-US" sz="2400" b="1" dirty="0">
                <a:solidFill>
                  <a:srgbClr val="0070C0"/>
                </a:solidFill>
              </a:rPr>
              <a:t>Centralized</a:t>
            </a:r>
            <a:r>
              <a:rPr lang="en-US" sz="2400" dirty="0">
                <a:solidFill>
                  <a:srgbClr val="0070C0"/>
                </a:solidFill>
              </a:rPr>
              <a:t> </a:t>
            </a:r>
            <a:r>
              <a:rPr lang="en-US" sz="2400" dirty="0"/>
              <a:t>clustering algorithms require each </a:t>
            </a:r>
            <a:r>
              <a:rPr lang="en-US" sz="2400" dirty="0">
                <a:solidFill>
                  <a:srgbClr val="FF0000"/>
                </a:solidFill>
              </a:rPr>
              <a:t>sensor node </a:t>
            </a:r>
            <a:r>
              <a:rPr lang="en-US" sz="2400" dirty="0"/>
              <a:t>to send its individual information, such as </a:t>
            </a:r>
            <a:r>
              <a:rPr lang="en-US" sz="2400" dirty="0">
                <a:solidFill>
                  <a:srgbClr val="FF0000"/>
                </a:solidFill>
              </a:rPr>
              <a:t>energy level </a:t>
            </a:r>
            <a:r>
              <a:rPr lang="en-US" sz="2400" dirty="0"/>
              <a:t>and </a:t>
            </a:r>
            <a:r>
              <a:rPr lang="en-US" sz="2400" dirty="0">
                <a:solidFill>
                  <a:srgbClr val="FF0000"/>
                </a:solidFill>
              </a:rPr>
              <a:t>geographical position</a:t>
            </a:r>
            <a:r>
              <a:rPr lang="en-US" sz="2400" dirty="0"/>
              <a:t>, to the </a:t>
            </a:r>
            <a:r>
              <a:rPr lang="en-US" sz="2400" dirty="0">
                <a:solidFill>
                  <a:srgbClr val="0000FF"/>
                </a:solidFill>
              </a:rPr>
              <a:t>central base </a:t>
            </a:r>
            <a:r>
              <a:rPr lang="en-US" sz="2400" dirty="0"/>
              <a:t>station. </a:t>
            </a:r>
          </a:p>
          <a:p>
            <a:pPr algn="just" eaLnBrk="1" hangingPunct="1">
              <a:spcBef>
                <a:spcPct val="0"/>
              </a:spcBef>
              <a:buFont typeface="Wingdings" panose="05000000000000000000" pitchFamily="2" charset="2"/>
              <a:buChar char="ü"/>
            </a:pPr>
            <a:endParaRPr lang="en-US" sz="2400" dirty="0"/>
          </a:p>
          <a:p>
            <a:pPr algn="just" eaLnBrk="1" hangingPunct="1">
              <a:spcBef>
                <a:spcPct val="0"/>
              </a:spcBef>
              <a:buFont typeface="Wingdings" panose="05000000000000000000" pitchFamily="2" charset="2"/>
              <a:buChar char="ü"/>
            </a:pPr>
            <a:r>
              <a:rPr lang="en-US" sz="2400" dirty="0"/>
              <a:t>Based on a predefined algorithm, a </a:t>
            </a:r>
            <a:r>
              <a:rPr lang="en-US" sz="2400" dirty="0">
                <a:solidFill>
                  <a:srgbClr val="FF0000"/>
                </a:solidFill>
              </a:rPr>
              <a:t>base station </a:t>
            </a:r>
            <a:r>
              <a:rPr lang="en-US" sz="2400" dirty="0"/>
              <a:t>calculates the number of clusters, their sizes, and the cluster heads positions and then each node is assigned a duty. </a:t>
            </a:r>
          </a:p>
        </p:txBody>
      </p:sp>
      <p:sp>
        <p:nvSpPr>
          <p:cNvPr id="5" name="Slide Number Placeholder 4">
            <a:extLst>
              <a:ext uri="{FF2B5EF4-FFF2-40B4-BE49-F238E27FC236}">
                <a16:creationId xmlns:a16="http://schemas.microsoft.com/office/drawing/2014/main" id="{7007FCFA-4044-4C4E-BA1E-B98E2E835EA4}"/>
              </a:ext>
            </a:extLst>
          </p:cNvPr>
          <p:cNvSpPr>
            <a:spLocks noGrp="1"/>
          </p:cNvSpPr>
          <p:nvPr>
            <p:ph type="sldNum" sz="quarter" idx="12"/>
          </p:nvPr>
        </p:nvSpPr>
        <p:spPr/>
        <p:txBody>
          <a:bodyPr/>
          <a:lstStyle/>
          <a:p>
            <a:fld id="{C3F1913A-7668-436E-8561-76A60B792217}"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TextBox 4"/>
          <p:cNvSpPr txBox="1">
            <a:spLocks noChangeArrowheads="1"/>
          </p:cNvSpPr>
          <p:nvPr/>
        </p:nvSpPr>
        <p:spPr bwMode="auto">
          <a:xfrm>
            <a:off x="496192" y="204262"/>
            <a:ext cx="11120420" cy="2308324"/>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 typeface="Wingdings" panose="05000000000000000000" pitchFamily="2" charset="2"/>
              <a:buChar char="ü"/>
            </a:pPr>
            <a:r>
              <a:rPr lang="en-US" sz="2400" b="1" dirty="0">
                <a:solidFill>
                  <a:srgbClr val="0070C0"/>
                </a:solidFill>
              </a:rPr>
              <a:t>Decentralized</a:t>
            </a:r>
            <a:r>
              <a:rPr lang="en-US" sz="2400" dirty="0"/>
              <a:t> clustering techniques create clusters without the help of any centralized base station.</a:t>
            </a:r>
          </a:p>
          <a:p>
            <a:pPr algn="just" eaLnBrk="1" hangingPunct="1">
              <a:spcBef>
                <a:spcPct val="0"/>
              </a:spcBef>
              <a:buNone/>
            </a:pPr>
            <a:r>
              <a:rPr lang="en-US" sz="2400" dirty="0"/>
              <a:t> </a:t>
            </a:r>
          </a:p>
          <a:p>
            <a:pPr algn="just" eaLnBrk="1" hangingPunct="1">
              <a:spcBef>
                <a:spcPct val="0"/>
              </a:spcBef>
              <a:buFont typeface="Wingdings" panose="05000000000000000000" pitchFamily="2" charset="2"/>
              <a:buChar char="ü"/>
            </a:pPr>
            <a:r>
              <a:rPr lang="en-US" sz="2400" dirty="0"/>
              <a:t>An </a:t>
            </a:r>
            <a:r>
              <a:rPr lang="en-US" sz="2400" i="1" dirty="0">
                <a:solidFill>
                  <a:srgbClr val="FF0000"/>
                </a:solidFill>
              </a:rPr>
              <a:t>energy-efficient </a:t>
            </a:r>
            <a:r>
              <a:rPr lang="en-US" sz="2400" dirty="0"/>
              <a:t>(every node has equal chance to become cluster head so equally penalized battery)</a:t>
            </a:r>
            <a:r>
              <a:rPr lang="en-US" sz="2400" i="1" dirty="0">
                <a:solidFill>
                  <a:srgbClr val="FF0000"/>
                </a:solidFill>
              </a:rPr>
              <a:t> </a:t>
            </a:r>
            <a:r>
              <a:rPr lang="en-US" sz="2400" dirty="0"/>
              <a:t>and </a:t>
            </a:r>
            <a:r>
              <a:rPr lang="en-US" sz="2400" i="1" dirty="0">
                <a:solidFill>
                  <a:srgbClr val="FF0000"/>
                </a:solidFill>
              </a:rPr>
              <a:t>hierarchical clustering algorithm</a:t>
            </a:r>
            <a:r>
              <a:rPr lang="en-US" sz="2400" dirty="0"/>
              <a:t> (cluster heads are arranged in rooted tree topology) is used.</a:t>
            </a:r>
          </a:p>
        </p:txBody>
      </p:sp>
      <p:grpSp>
        <p:nvGrpSpPr>
          <p:cNvPr id="3" name="Group 2">
            <a:extLst>
              <a:ext uri="{FF2B5EF4-FFF2-40B4-BE49-F238E27FC236}">
                <a16:creationId xmlns:a16="http://schemas.microsoft.com/office/drawing/2014/main" id="{4BA55263-104A-45A0-90CB-278439FDA3E7}"/>
              </a:ext>
            </a:extLst>
          </p:cNvPr>
          <p:cNvGrpSpPr/>
          <p:nvPr/>
        </p:nvGrpSpPr>
        <p:grpSpPr>
          <a:xfrm>
            <a:off x="332589" y="2669709"/>
            <a:ext cx="5763411" cy="3562199"/>
            <a:chOff x="1922622" y="2971799"/>
            <a:chExt cx="5763411" cy="3562199"/>
          </a:xfrm>
        </p:grpSpPr>
        <p:sp>
          <p:nvSpPr>
            <p:cNvPr id="81" name="Oval 80">
              <a:extLst>
                <a:ext uri="{FF2B5EF4-FFF2-40B4-BE49-F238E27FC236}">
                  <a16:creationId xmlns:a16="http://schemas.microsoft.com/office/drawing/2014/main" id="{D34CE8E9-4FA9-4A1D-BCC2-92D223F8419D}"/>
                </a:ext>
              </a:extLst>
            </p:cNvPr>
            <p:cNvSpPr/>
            <p:nvPr/>
          </p:nvSpPr>
          <p:spPr>
            <a:xfrm>
              <a:off x="2354979" y="5505140"/>
              <a:ext cx="247124" cy="146861"/>
            </a:xfrm>
            <a:prstGeom prst="ellipse">
              <a:avLst/>
            </a:prstGeom>
            <a:solidFill>
              <a:srgbClr val="0000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560B4B81-829C-4E1F-9D7B-C36929E00371}"/>
                </a:ext>
              </a:extLst>
            </p:cNvPr>
            <p:cNvSpPr/>
            <p:nvPr/>
          </p:nvSpPr>
          <p:spPr>
            <a:xfrm>
              <a:off x="2599659" y="5391591"/>
              <a:ext cx="105910" cy="6294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E60CAC02-93FD-456A-8A24-4B2E5E58C594}"/>
                </a:ext>
              </a:extLst>
            </p:cNvPr>
            <p:cNvSpPr/>
            <p:nvPr/>
          </p:nvSpPr>
          <p:spPr>
            <a:xfrm>
              <a:off x="2771981" y="5540592"/>
              <a:ext cx="105910" cy="6294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78E1ABE4-0819-4568-A3E5-1913B3BAA779}"/>
                </a:ext>
              </a:extLst>
            </p:cNvPr>
            <p:cNvSpPr/>
            <p:nvPr/>
          </p:nvSpPr>
          <p:spPr>
            <a:xfrm>
              <a:off x="2161140" y="5391591"/>
              <a:ext cx="105910" cy="6294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00D6C5E6-3E0D-4BB2-A227-7502A07ABC6D}"/>
                </a:ext>
              </a:extLst>
            </p:cNvPr>
            <p:cNvSpPr/>
            <p:nvPr/>
          </p:nvSpPr>
          <p:spPr>
            <a:xfrm>
              <a:off x="2870234" y="5377461"/>
              <a:ext cx="105910" cy="6294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5494BE30-BB6E-41C2-ABC1-A8F2FE072928}"/>
                </a:ext>
              </a:extLst>
            </p:cNvPr>
            <p:cNvSpPr/>
            <p:nvPr/>
          </p:nvSpPr>
          <p:spPr>
            <a:xfrm>
              <a:off x="2504437" y="5707577"/>
              <a:ext cx="105910" cy="6294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813CE0D0-8F32-4FDA-8266-97CE80446EB0}"/>
                </a:ext>
              </a:extLst>
            </p:cNvPr>
            <p:cNvSpPr/>
            <p:nvPr/>
          </p:nvSpPr>
          <p:spPr>
            <a:xfrm>
              <a:off x="2394966" y="5301933"/>
              <a:ext cx="105910" cy="6294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96305172-B198-4D56-9916-D83C459405FA}"/>
                </a:ext>
              </a:extLst>
            </p:cNvPr>
            <p:cNvSpPr/>
            <p:nvPr/>
          </p:nvSpPr>
          <p:spPr>
            <a:xfrm>
              <a:off x="2814253" y="5730441"/>
              <a:ext cx="105910" cy="6294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D60F001F-F30F-4AA6-AAC2-E46F85926743}"/>
                </a:ext>
              </a:extLst>
            </p:cNvPr>
            <p:cNvSpPr/>
            <p:nvPr/>
          </p:nvSpPr>
          <p:spPr>
            <a:xfrm>
              <a:off x="2049178" y="5555492"/>
              <a:ext cx="105910" cy="6294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D2AC1B31-78C0-4F55-84DA-F92A415309D2}"/>
                </a:ext>
              </a:extLst>
            </p:cNvPr>
            <p:cNvSpPr/>
            <p:nvPr/>
          </p:nvSpPr>
          <p:spPr>
            <a:xfrm>
              <a:off x="1922622" y="5263868"/>
              <a:ext cx="1306226" cy="629404"/>
            </a:xfrm>
            <a:prstGeom prst="ellipse">
              <a:avLst/>
            </a:prstGeom>
            <a:solidFill>
              <a:srgbClr val="FFFF00">
                <a:alpha val="3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7ED66E7B-DBDB-4F55-9A2A-55FE09DD2FF2}"/>
                </a:ext>
              </a:extLst>
            </p:cNvPr>
            <p:cNvSpPr/>
            <p:nvPr/>
          </p:nvSpPr>
          <p:spPr>
            <a:xfrm>
              <a:off x="4758302" y="5590581"/>
              <a:ext cx="271783" cy="146861"/>
            </a:xfrm>
            <a:prstGeom prst="ellipse">
              <a:avLst/>
            </a:prstGeom>
            <a:solidFill>
              <a:srgbClr val="0000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3CA8E103-DEDF-4A5E-A683-6375CCAE3B3D}"/>
                </a:ext>
              </a:extLst>
            </p:cNvPr>
            <p:cNvSpPr/>
            <p:nvPr/>
          </p:nvSpPr>
          <p:spPr>
            <a:xfrm>
              <a:off x="5039874" y="5469784"/>
              <a:ext cx="116479" cy="6294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BE0F6097-78D6-4C30-B246-8AA0FDC2D40E}"/>
                </a:ext>
              </a:extLst>
            </p:cNvPr>
            <p:cNvSpPr/>
            <p:nvPr/>
          </p:nvSpPr>
          <p:spPr>
            <a:xfrm>
              <a:off x="5238179" y="5628296"/>
              <a:ext cx="116479" cy="6294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3E1A20C4-A2C0-4454-BF3D-0FAC1EBC33BA}"/>
                </a:ext>
              </a:extLst>
            </p:cNvPr>
            <p:cNvSpPr/>
            <p:nvPr/>
          </p:nvSpPr>
          <p:spPr>
            <a:xfrm>
              <a:off x="4535236" y="5469784"/>
              <a:ext cx="116479" cy="6294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52F31387-82B1-4EFD-9B02-40CCD7D9E43C}"/>
                </a:ext>
              </a:extLst>
            </p:cNvPr>
            <p:cNvSpPr/>
            <p:nvPr/>
          </p:nvSpPr>
          <p:spPr>
            <a:xfrm>
              <a:off x="5351247" y="5454752"/>
              <a:ext cx="116479" cy="6294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53A80CE5-CBB5-4465-918B-E7B6E8CDD154}"/>
                </a:ext>
              </a:extLst>
            </p:cNvPr>
            <p:cNvSpPr/>
            <p:nvPr/>
          </p:nvSpPr>
          <p:spPr>
            <a:xfrm>
              <a:off x="4933162" y="5764225"/>
              <a:ext cx="116479" cy="6294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89B63BF6-858C-44D5-A3BE-FCF112D57D38}"/>
                </a:ext>
              </a:extLst>
            </p:cNvPr>
            <p:cNvSpPr/>
            <p:nvPr/>
          </p:nvSpPr>
          <p:spPr>
            <a:xfrm>
              <a:off x="4804318" y="5374402"/>
              <a:ext cx="116479" cy="6294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C3DFB3BA-F840-44B0-BFE5-1CFA38AA7A2B}"/>
                </a:ext>
              </a:extLst>
            </p:cNvPr>
            <p:cNvSpPr/>
            <p:nvPr/>
          </p:nvSpPr>
          <p:spPr>
            <a:xfrm>
              <a:off x="5205750" y="5762184"/>
              <a:ext cx="116479" cy="6294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62FAD13F-EFB6-41BD-A75D-DF3828C5080B}"/>
                </a:ext>
              </a:extLst>
            </p:cNvPr>
            <p:cNvSpPr/>
            <p:nvPr/>
          </p:nvSpPr>
          <p:spPr>
            <a:xfrm>
              <a:off x="4406392" y="5644147"/>
              <a:ext cx="116479" cy="6294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44387C9F-1F11-469F-930F-C011D66D59DD}"/>
                </a:ext>
              </a:extLst>
            </p:cNvPr>
            <p:cNvSpPr/>
            <p:nvPr/>
          </p:nvSpPr>
          <p:spPr>
            <a:xfrm>
              <a:off x="4175910" y="5288830"/>
              <a:ext cx="1436566" cy="629404"/>
            </a:xfrm>
            <a:prstGeom prst="ellipse">
              <a:avLst/>
            </a:prstGeom>
            <a:solidFill>
              <a:srgbClr val="FFFF00">
                <a:alpha val="3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9BD3DF9C-D97A-4B25-A1A1-ABF6E2C5B4C0}"/>
                </a:ext>
              </a:extLst>
            </p:cNvPr>
            <p:cNvSpPr/>
            <p:nvPr/>
          </p:nvSpPr>
          <p:spPr>
            <a:xfrm>
              <a:off x="6646920" y="4720710"/>
              <a:ext cx="271783" cy="157500"/>
            </a:xfrm>
            <a:prstGeom prst="ellipse">
              <a:avLst/>
            </a:prstGeom>
            <a:solidFill>
              <a:srgbClr val="0000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E3D7661A-AD51-4894-A69E-D0B1FF520A12}"/>
                </a:ext>
              </a:extLst>
            </p:cNvPr>
            <p:cNvSpPr/>
            <p:nvPr/>
          </p:nvSpPr>
          <p:spPr>
            <a:xfrm>
              <a:off x="6928492" y="4591162"/>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991D3E52-1A40-4B86-AC93-9A40A57ADD09}"/>
                </a:ext>
              </a:extLst>
            </p:cNvPr>
            <p:cNvSpPr/>
            <p:nvPr/>
          </p:nvSpPr>
          <p:spPr>
            <a:xfrm>
              <a:off x="7126797" y="4761157"/>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F7A728D4-1353-4341-8651-3FAD907763B4}"/>
                </a:ext>
              </a:extLst>
            </p:cNvPr>
            <p:cNvSpPr/>
            <p:nvPr/>
          </p:nvSpPr>
          <p:spPr>
            <a:xfrm>
              <a:off x="6423854" y="4591162"/>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930FD0F6-B5A5-4D08-9516-311AFC64E03F}"/>
                </a:ext>
              </a:extLst>
            </p:cNvPr>
            <p:cNvSpPr/>
            <p:nvPr/>
          </p:nvSpPr>
          <p:spPr>
            <a:xfrm>
              <a:off x="7239865" y="4575042"/>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F3EFDAE3-1B50-4D50-B94C-4745CA76AC38}"/>
                </a:ext>
              </a:extLst>
            </p:cNvPr>
            <p:cNvSpPr/>
            <p:nvPr/>
          </p:nvSpPr>
          <p:spPr>
            <a:xfrm>
              <a:off x="6821780" y="4906933"/>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1CAC5238-6613-4CC2-A474-77D3E596A7BE}"/>
                </a:ext>
              </a:extLst>
            </p:cNvPr>
            <p:cNvSpPr/>
            <p:nvPr/>
          </p:nvSpPr>
          <p:spPr>
            <a:xfrm>
              <a:off x="6692936" y="4488872"/>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451E8594-9712-4FD2-BCC9-EE20F58A04CB}"/>
                </a:ext>
              </a:extLst>
            </p:cNvPr>
            <p:cNvSpPr/>
            <p:nvPr/>
          </p:nvSpPr>
          <p:spPr>
            <a:xfrm>
              <a:off x="7094368" y="4904745"/>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66728785-9C6B-469C-B0DD-19E02E1FCCA7}"/>
                </a:ext>
              </a:extLst>
            </p:cNvPr>
            <p:cNvSpPr/>
            <p:nvPr/>
          </p:nvSpPr>
          <p:spPr>
            <a:xfrm>
              <a:off x="6295010" y="4778157"/>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83B5BC64-F0E1-41E4-AAEF-565F0E420969}"/>
                </a:ext>
              </a:extLst>
            </p:cNvPr>
            <p:cNvSpPr/>
            <p:nvPr/>
          </p:nvSpPr>
          <p:spPr>
            <a:xfrm>
              <a:off x="6149837" y="4457407"/>
              <a:ext cx="1436566" cy="674999"/>
            </a:xfrm>
            <a:prstGeom prst="ellipse">
              <a:avLst/>
            </a:prstGeom>
            <a:solidFill>
              <a:srgbClr val="FFFF00">
                <a:alpha val="3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a:extLst>
                <a:ext uri="{FF2B5EF4-FFF2-40B4-BE49-F238E27FC236}">
                  <a16:creationId xmlns:a16="http://schemas.microsoft.com/office/drawing/2014/main" id="{F5971C19-1700-4308-9AF9-B7FCEAAABF02}"/>
                </a:ext>
              </a:extLst>
            </p:cNvPr>
            <p:cNvSpPr/>
            <p:nvPr/>
          </p:nvSpPr>
          <p:spPr>
            <a:xfrm>
              <a:off x="3738212" y="4652228"/>
              <a:ext cx="271783" cy="157500"/>
            </a:xfrm>
            <a:prstGeom prst="ellipse">
              <a:avLst/>
            </a:prstGeom>
            <a:solidFill>
              <a:srgbClr val="0000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A178877-F0CE-4581-A36F-3BF48C772A57}"/>
                </a:ext>
              </a:extLst>
            </p:cNvPr>
            <p:cNvSpPr/>
            <p:nvPr/>
          </p:nvSpPr>
          <p:spPr>
            <a:xfrm>
              <a:off x="4019784" y="4522680"/>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97D372C5-A3D0-4359-988C-3F7E340DD39E}"/>
                </a:ext>
              </a:extLst>
            </p:cNvPr>
            <p:cNvSpPr/>
            <p:nvPr/>
          </p:nvSpPr>
          <p:spPr>
            <a:xfrm>
              <a:off x="4218089" y="4692675"/>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DECB07A8-0DD3-41E3-B618-08E0892C62E2}"/>
                </a:ext>
              </a:extLst>
            </p:cNvPr>
            <p:cNvSpPr/>
            <p:nvPr/>
          </p:nvSpPr>
          <p:spPr>
            <a:xfrm>
              <a:off x="3515146" y="4522680"/>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4143DE7F-829F-46DD-963D-AED6031D4CB8}"/>
                </a:ext>
              </a:extLst>
            </p:cNvPr>
            <p:cNvSpPr/>
            <p:nvPr/>
          </p:nvSpPr>
          <p:spPr>
            <a:xfrm>
              <a:off x="4331157" y="4506560"/>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ABB035B4-8A4A-4AD2-A336-2CDEEDF33EF0}"/>
                </a:ext>
              </a:extLst>
            </p:cNvPr>
            <p:cNvSpPr/>
            <p:nvPr/>
          </p:nvSpPr>
          <p:spPr>
            <a:xfrm>
              <a:off x="3913072" y="4838451"/>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8FF70C35-BE12-45B8-B887-C77CEB2E783B}"/>
                </a:ext>
              </a:extLst>
            </p:cNvPr>
            <p:cNvSpPr/>
            <p:nvPr/>
          </p:nvSpPr>
          <p:spPr>
            <a:xfrm>
              <a:off x="3784228" y="4420390"/>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99FD25FC-F060-4FD9-B7C3-34D5A9BC3700}"/>
                </a:ext>
              </a:extLst>
            </p:cNvPr>
            <p:cNvSpPr/>
            <p:nvPr/>
          </p:nvSpPr>
          <p:spPr>
            <a:xfrm>
              <a:off x="4185660" y="4836263"/>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6CB2CC41-20D3-4BDE-897E-578D8CD571FA}"/>
                </a:ext>
              </a:extLst>
            </p:cNvPr>
            <p:cNvSpPr/>
            <p:nvPr/>
          </p:nvSpPr>
          <p:spPr>
            <a:xfrm>
              <a:off x="3386302" y="4709675"/>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3CBCB615-CB04-4C38-A664-1123C5BC9FA0}"/>
                </a:ext>
              </a:extLst>
            </p:cNvPr>
            <p:cNvSpPr/>
            <p:nvPr/>
          </p:nvSpPr>
          <p:spPr>
            <a:xfrm>
              <a:off x="3178070" y="4352314"/>
              <a:ext cx="1436566" cy="674999"/>
            </a:xfrm>
            <a:prstGeom prst="ellipse">
              <a:avLst/>
            </a:prstGeom>
            <a:solidFill>
              <a:srgbClr val="FFFF00">
                <a:alpha val="3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7C8B77F-6AEF-44C4-B977-92A5DCE14096}"/>
                </a:ext>
              </a:extLst>
            </p:cNvPr>
            <p:cNvSpPr/>
            <p:nvPr/>
          </p:nvSpPr>
          <p:spPr>
            <a:xfrm>
              <a:off x="5334358" y="3784506"/>
              <a:ext cx="271783" cy="157500"/>
            </a:xfrm>
            <a:prstGeom prst="ellipse">
              <a:avLst/>
            </a:prstGeom>
            <a:solidFill>
              <a:srgbClr val="0000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0287413E-455C-4062-AF29-0EA5BFFEA13E}"/>
                </a:ext>
              </a:extLst>
            </p:cNvPr>
            <p:cNvSpPr/>
            <p:nvPr/>
          </p:nvSpPr>
          <p:spPr>
            <a:xfrm>
              <a:off x="5615930" y="3654958"/>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232045A1-58B5-46F9-B8CD-BB6AF69FF285}"/>
                </a:ext>
              </a:extLst>
            </p:cNvPr>
            <p:cNvSpPr/>
            <p:nvPr/>
          </p:nvSpPr>
          <p:spPr>
            <a:xfrm>
              <a:off x="5814235" y="3824953"/>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B84FC6C3-1B26-4C8A-8350-3A69F0420A7B}"/>
                </a:ext>
              </a:extLst>
            </p:cNvPr>
            <p:cNvSpPr/>
            <p:nvPr/>
          </p:nvSpPr>
          <p:spPr>
            <a:xfrm>
              <a:off x="5111292" y="3654958"/>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61D5E818-3D75-4812-AA96-51E884FC45CB}"/>
                </a:ext>
              </a:extLst>
            </p:cNvPr>
            <p:cNvSpPr/>
            <p:nvPr/>
          </p:nvSpPr>
          <p:spPr>
            <a:xfrm>
              <a:off x="5927303" y="3638838"/>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BC9BEC05-1CF3-4AEF-B0C6-155AB095553B}"/>
                </a:ext>
              </a:extLst>
            </p:cNvPr>
            <p:cNvSpPr/>
            <p:nvPr/>
          </p:nvSpPr>
          <p:spPr>
            <a:xfrm>
              <a:off x="5509218" y="3970729"/>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B324801D-246F-4FF1-B16F-747C7D0CD5E0}"/>
                </a:ext>
              </a:extLst>
            </p:cNvPr>
            <p:cNvSpPr/>
            <p:nvPr/>
          </p:nvSpPr>
          <p:spPr>
            <a:xfrm>
              <a:off x="5380374" y="3552668"/>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B493E3BC-FD1F-44AB-A2B5-C4B8A0641D08}"/>
                </a:ext>
              </a:extLst>
            </p:cNvPr>
            <p:cNvSpPr/>
            <p:nvPr/>
          </p:nvSpPr>
          <p:spPr>
            <a:xfrm>
              <a:off x="5781806" y="3968541"/>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46D1332E-7B87-4CCE-9B44-60B5AAE93B39}"/>
                </a:ext>
              </a:extLst>
            </p:cNvPr>
            <p:cNvSpPr/>
            <p:nvPr/>
          </p:nvSpPr>
          <p:spPr>
            <a:xfrm>
              <a:off x="4982448" y="3841953"/>
              <a:ext cx="116479" cy="675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0596AC3-8857-4A91-A001-C10B6E64F187}"/>
                </a:ext>
              </a:extLst>
            </p:cNvPr>
            <p:cNvSpPr/>
            <p:nvPr/>
          </p:nvSpPr>
          <p:spPr>
            <a:xfrm>
              <a:off x="4758302" y="3507813"/>
              <a:ext cx="1436566" cy="674999"/>
            </a:xfrm>
            <a:prstGeom prst="ellipse">
              <a:avLst/>
            </a:prstGeom>
            <a:solidFill>
              <a:srgbClr val="FFFF00">
                <a:alpha val="3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23A7CF1C-90FB-4B5E-96D3-4FABD7DB6518}"/>
                </a:ext>
              </a:extLst>
            </p:cNvPr>
            <p:cNvSpPr/>
            <p:nvPr/>
          </p:nvSpPr>
          <p:spPr>
            <a:xfrm>
              <a:off x="5978551" y="6222524"/>
              <a:ext cx="171286" cy="139997"/>
            </a:xfrm>
            <a:prstGeom prst="ellipse">
              <a:avLst/>
            </a:prstGeom>
            <a:solidFill>
              <a:srgbClr val="0000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D2B7B6ED-5530-47AA-99AE-6CB04E22BB8B}"/>
                </a:ext>
              </a:extLst>
            </p:cNvPr>
            <p:cNvSpPr/>
            <p:nvPr/>
          </p:nvSpPr>
          <p:spPr>
            <a:xfrm>
              <a:off x="6156007" y="6107373"/>
              <a:ext cx="73408" cy="59999"/>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1C56C12-49C0-49B4-ACA1-16696F4F85C1}"/>
                </a:ext>
              </a:extLst>
            </p:cNvPr>
            <p:cNvSpPr/>
            <p:nvPr/>
          </p:nvSpPr>
          <p:spPr>
            <a:xfrm>
              <a:off x="6280984" y="6258477"/>
              <a:ext cx="73408" cy="59999"/>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9255A125-8515-4083-8C57-66917080EA88}"/>
                </a:ext>
              </a:extLst>
            </p:cNvPr>
            <p:cNvSpPr/>
            <p:nvPr/>
          </p:nvSpPr>
          <p:spPr>
            <a:xfrm>
              <a:off x="5837968" y="6107373"/>
              <a:ext cx="73408" cy="59999"/>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5EA0703C-33ED-4CB4-B21B-D1F1430782FF}"/>
                </a:ext>
              </a:extLst>
            </p:cNvPr>
            <p:cNvSpPr/>
            <p:nvPr/>
          </p:nvSpPr>
          <p:spPr>
            <a:xfrm>
              <a:off x="6352243" y="6093044"/>
              <a:ext cx="73408" cy="59999"/>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AFD08906-C59A-4BC8-8821-86A3D6A10C96}"/>
                </a:ext>
              </a:extLst>
            </p:cNvPr>
            <p:cNvSpPr/>
            <p:nvPr/>
          </p:nvSpPr>
          <p:spPr>
            <a:xfrm>
              <a:off x="6088753" y="6388053"/>
              <a:ext cx="73408" cy="59999"/>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CF2B8BF5-2D66-4C02-AF07-F93334250AC2}"/>
                </a:ext>
              </a:extLst>
            </p:cNvPr>
            <p:cNvSpPr/>
            <p:nvPr/>
          </p:nvSpPr>
          <p:spPr>
            <a:xfrm>
              <a:off x="6007552" y="6016450"/>
              <a:ext cx="73408" cy="59999"/>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A1BCE3BD-434F-4265-A5DF-99573AF32A67}"/>
                </a:ext>
              </a:extLst>
            </p:cNvPr>
            <p:cNvSpPr/>
            <p:nvPr/>
          </p:nvSpPr>
          <p:spPr>
            <a:xfrm>
              <a:off x="6260546" y="6386108"/>
              <a:ext cx="73408" cy="59999"/>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4F0E8F0A-3439-46F4-90D9-3634B12FAC22}"/>
                </a:ext>
              </a:extLst>
            </p:cNvPr>
            <p:cNvSpPr/>
            <p:nvPr/>
          </p:nvSpPr>
          <p:spPr>
            <a:xfrm>
              <a:off x="5756767" y="6273587"/>
              <a:ext cx="73408" cy="59999"/>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2B87F669-6B07-41F2-ABCD-7A572A0029A5}"/>
                </a:ext>
              </a:extLst>
            </p:cNvPr>
            <p:cNvSpPr/>
            <p:nvPr/>
          </p:nvSpPr>
          <p:spPr>
            <a:xfrm>
              <a:off x="5653868" y="5930802"/>
              <a:ext cx="905367" cy="599987"/>
            </a:xfrm>
            <a:prstGeom prst="ellipse">
              <a:avLst/>
            </a:prstGeom>
            <a:solidFill>
              <a:srgbClr val="FFFF00">
                <a:alpha val="3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EF386D5-AFD4-430B-B306-4728AC7CFD49}"/>
                </a:ext>
              </a:extLst>
            </p:cNvPr>
            <p:cNvSpPr/>
            <p:nvPr/>
          </p:nvSpPr>
          <p:spPr>
            <a:xfrm>
              <a:off x="3485461" y="6339607"/>
              <a:ext cx="195467" cy="98017"/>
            </a:xfrm>
            <a:prstGeom prst="ellipse">
              <a:avLst/>
            </a:prstGeom>
            <a:solidFill>
              <a:srgbClr val="0000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3526126-7AC1-495C-8A24-5B3E34E8A129}"/>
                </a:ext>
              </a:extLst>
            </p:cNvPr>
            <p:cNvSpPr/>
            <p:nvPr/>
          </p:nvSpPr>
          <p:spPr>
            <a:xfrm>
              <a:off x="3687969" y="6258985"/>
              <a:ext cx="83772" cy="42007"/>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EC51168-8F7E-49A2-8F4F-7782604B44E1}"/>
                </a:ext>
              </a:extLst>
            </p:cNvPr>
            <p:cNvSpPr/>
            <p:nvPr/>
          </p:nvSpPr>
          <p:spPr>
            <a:xfrm>
              <a:off x="3830591" y="6364778"/>
              <a:ext cx="83772" cy="42007"/>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EBAC32F6-F833-4879-8226-81B18EF29B08}"/>
                </a:ext>
              </a:extLst>
            </p:cNvPr>
            <p:cNvSpPr/>
            <p:nvPr/>
          </p:nvSpPr>
          <p:spPr>
            <a:xfrm>
              <a:off x="3325031" y="6258985"/>
              <a:ext cx="83772" cy="42007"/>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47AB24B-56B1-4D6D-9655-48994040825C}"/>
                </a:ext>
              </a:extLst>
            </p:cNvPr>
            <p:cNvSpPr/>
            <p:nvPr/>
          </p:nvSpPr>
          <p:spPr>
            <a:xfrm>
              <a:off x="3911910" y="6248953"/>
              <a:ext cx="83772" cy="42007"/>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A9B4FB03-234D-4345-8D0D-10CB23449145}"/>
                </a:ext>
              </a:extLst>
            </p:cNvPr>
            <p:cNvSpPr/>
            <p:nvPr/>
          </p:nvSpPr>
          <p:spPr>
            <a:xfrm>
              <a:off x="3611221" y="6455499"/>
              <a:ext cx="83772" cy="42007"/>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41CB6FF-CDF1-4485-BF7D-E00CB98D5B47}"/>
                </a:ext>
              </a:extLst>
            </p:cNvPr>
            <p:cNvSpPr/>
            <p:nvPr/>
          </p:nvSpPr>
          <p:spPr>
            <a:xfrm>
              <a:off x="3518556" y="6195326"/>
              <a:ext cx="83772" cy="42007"/>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02E39782-89CA-4041-ACC8-3821A34A9ACA}"/>
                </a:ext>
              </a:extLst>
            </p:cNvPr>
            <p:cNvSpPr/>
            <p:nvPr/>
          </p:nvSpPr>
          <p:spPr>
            <a:xfrm>
              <a:off x="3807268" y="6454137"/>
              <a:ext cx="83772" cy="42007"/>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FCC289A-E9AA-4312-B033-EBB7A18017A1}"/>
                </a:ext>
              </a:extLst>
            </p:cNvPr>
            <p:cNvSpPr/>
            <p:nvPr/>
          </p:nvSpPr>
          <p:spPr>
            <a:xfrm>
              <a:off x="3232366" y="6375358"/>
              <a:ext cx="83772" cy="42007"/>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7E8759F7-95A8-4F31-BA99-62E874CE8881}"/>
                </a:ext>
              </a:extLst>
            </p:cNvPr>
            <p:cNvSpPr/>
            <p:nvPr/>
          </p:nvSpPr>
          <p:spPr>
            <a:xfrm>
              <a:off x="3085735" y="6113925"/>
              <a:ext cx="1033185" cy="420073"/>
            </a:xfrm>
            <a:prstGeom prst="ellipse">
              <a:avLst/>
            </a:prstGeom>
            <a:solidFill>
              <a:srgbClr val="FFFF00">
                <a:alpha val="3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9FF89CF7-631D-4EC9-AAAE-ACB16E1A3AB5}"/>
                </a:ext>
              </a:extLst>
            </p:cNvPr>
            <p:cNvCxnSpPr>
              <a:cxnSpLocks/>
            </p:cNvCxnSpPr>
            <p:nvPr/>
          </p:nvCxnSpPr>
          <p:spPr>
            <a:xfrm flipV="1">
              <a:off x="3592225" y="5706268"/>
              <a:ext cx="1203612" cy="6562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2FB5B35-56D4-4EE4-A107-5B02731D3082}"/>
                </a:ext>
              </a:extLst>
            </p:cNvPr>
            <p:cNvCxnSpPr>
              <a:cxnSpLocks/>
              <a:stCxn id="31" idx="1"/>
            </p:cNvCxnSpPr>
            <p:nvPr/>
          </p:nvCxnSpPr>
          <p:spPr>
            <a:xfrm flipH="1" flipV="1">
              <a:off x="4969847" y="5706270"/>
              <a:ext cx="1033788" cy="53675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3ADB14D-118C-441B-9BD9-BD7996EB4B23}"/>
                </a:ext>
              </a:extLst>
            </p:cNvPr>
            <p:cNvCxnSpPr>
              <a:cxnSpLocks/>
            </p:cNvCxnSpPr>
            <p:nvPr/>
          </p:nvCxnSpPr>
          <p:spPr>
            <a:xfrm flipV="1">
              <a:off x="2522673" y="4763724"/>
              <a:ext cx="1234288" cy="74877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BD079A5-29AA-40B9-91E0-5A74385C532B}"/>
                </a:ext>
              </a:extLst>
            </p:cNvPr>
            <p:cNvCxnSpPr>
              <a:cxnSpLocks/>
            </p:cNvCxnSpPr>
            <p:nvPr/>
          </p:nvCxnSpPr>
          <p:spPr>
            <a:xfrm flipH="1" flipV="1">
              <a:off x="3926839" y="4777175"/>
              <a:ext cx="896029" cy="8134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E69B09B-7091-45B8-AF9D-C68A8025486B}"/>
                </a:ext>
              </a:extLst>
            </p:cNvPr>
            <p:cNvCxnSpPr>
              <a:cxnSpLocks/>
            </p:cNvCxnSpPr>
            <p:nvPr/>
          </p:nvCxnSpPr>
          <p:spPr>
            <a:xfrm flipH="1" flipV="1">
              <a:off x="5576895" y="3879882"/>
              <a:ext cx="1148953" cy="8393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8B7EC34-A62E-41D1-AD7D-6AB50B2433A7}"/>
                </a:ext>
              </a:extLst>
            </p:cNvPr>
            <p:cNvCxnSpPr>
              <a:cxnSpLocks/>
            </p:cNvCxnSpPr>
            <p:nvPr/>
          </p:nvCxnSpPr>
          <p:spPr>
            <a:xfrm flipH="1">
              <a:off x="3974407" y="3875696"/>
              <a:ext cx="1405967" cy="82197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3B3786C-4889-44BB-9891-11F11A4179B6}"/>
                </a:ext>
              </a:extLst>
            </p:cNvPr>
            <p:cNvCxnSpPr>
              <a:cxnSpLocks/>
            </p:cNvCxnSpPr>
            <p:nvPr/>
          </p:nvCxnSpPr>
          <p:spPr>
            <a:xfrm flipH="1">
              <a:off x="5556513" y="3274955"/>
              <a:ext cx="1362189" cy="53634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B464BEEA-7900-4E13-B92C-C05BBF77AF33}"/>
                </a:ext>
              </a:extLst>
            </p:cNvPr>
            <p:cNvSpPr/>
            <p:nvPr/>
          </p:nvSpPr>
          <p:spPr>
            <a:xfrm>
              <a:off x="6454784" y="2971799"/>
              <a:ext cx="1231249" cy="30166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rPr>
                <a:t>BS</a:t>
              </a:r>
            </a:p>
          </p:txBody>
        </p:sp>
      </p:grpSp>
      <p:sp>
        <p:nvSpPr>
          <p:cNvPr id="91" name="Rectangle 90">
            <a:extLst>
              <a:ext uri="{FF2B5EF4-FFF2-40B4-BE49-F238E27FC236}">
                <a16:creationId xmlns:a16="http://schemas.microsoft.com/office/drawing/2014/main" id="{C9697C37-D0D6-418B-8354-B583B9D16D55}"/>
              </a:ext>
            </a:extLst>
          </p:cNvPr>
          <p:cNvSpPr/>
          <p:nvPr/>
        </p:nvSpPr>
        <p:spPr>
          <a:xfrm>
            <a:off x="432322" y="6343150"/>
            <a:ext cx="9788257" cy="461665"/>
          </a:xfrm>
          <a:prstGeom prst="rect">
            <a:avLst/>
          </a:prstGeom>
          <a:solidFill>
            <a:srgbClr val="FFCCFF"/>
          </a:solidFill>
        </p:spPr>
        <p:txBody>
          <a:bodyPr wrap="none">
            <a:spAutoFit/>
          </a:bodyPr>
          <a:lstStyle/>
          <a:p>
            <a:r>
              <a:rPr lang="en-US" sz="2400" dirty="0">
                <a:solidFill>
                  <a:srgbClr val="0000FF"/>
                </a:solidFill>
                <a:latin typeface="Times New Roman" panose="02020603050405020304" pitchFamily="18" charset="0"/>
                <a:cs typeface="Times New Roman" panose="02020603050405020304" pitchFamily="18" charset="0"/>
              </a:rPr>
              <a:t>Hierarchical clustering, suitable for information gathering then sending to BS. </a:t>
            </a:r>
          </a:p>
        </p:txBody>
      </p:sp>
      <p:sp>
        <p:nvSpPr>
          <p:cNvPr id="92" name="Rectangle 91">
            <a:extLst>
              <a:ext uri="{FF2B5EF4-FFF2-40B4-BE49-F238E27FC236}">
                <a16:creationId xmlns:a16="http://schemas.microsoft.com/office/drawing/2014/main" id="{ACDA3BFB-6367-4A6D-8FAB-DC1278E428D0}"/>
              </a:ext>
            </a:extLst>
          </p:cNvPr>
          <p:cNvSpPr/>
          <p:nvPr/>
        </p:nvSpPr>
        <p:spPr>
          <a:xfrm>
            <a:off x="6020169" y="3550037"/>
            <a:ext cx="6007384" cy="1631216"/>
          </a:xfrm>
          <a:prstGeom prst="rect">
            <a:avLst/>
          </a:prstGeom>
          <a:solidFill>
            <a:srgbClr val="CCECFF"/>
          </a:solid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a:t>
            </a:r>
            <a:r>
              <a:rPr lang="en-US" sz="2000" dirty="0">
                <a:solidFill>
                  <a:srgbClr val="FF0000"/>
                </a:solidFill>
                <a:latin typeface="Times New Roman" panose="02020603050405020304" pitchFamily="18" charset="0"/>
                <a:cs typeface="Times New Roman" panose="02020603050405020304" pitchFamily="18" charset="0"/>
              </a:rPr>
              <a:t>Low-Energy Adaptive Clustering Hierarchy (</a:t>
            </a:r>
            <a:r>
              <a:rPr lang="en-US" sz="2000" b="1" dirty="0">
                <a:solidFill>
                  <a:srgbClr val="FF0000"/>
                </a:solidFill>
                <a:latin typeface="Times New Roman" panose="02020603050405020304" pitchFamily="18" charset="0"/>
                <a:cs typeface="Times New Roman" panose="02020603050405020304" pitchFamily="18" charset="0"/>
              </a:rPr>
              <a:t>LEACH</a:t>
            </a:r>
            <a:r>
              <a:rPr lang="en-US" sz="2000" dirty="0">
                <a:solidFill>
                  <a:srgbClr val="FF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algorithm and the </a:t>
            </a:r>
            <a:r>
              <a:rPr lang="en-US" sz="2000" dirty="0">
                <a:solidFill>
                  <a:srgbClr val="FF0000"/>
                </a:solidFill>
                <a:latin typeface="Times New Roman" panose="02020603050405020304" pitchFamily="18" charset="0"/>
                <a:cs typeface="Times New Roman" panose="02020603050405020304" pitchFamily="18" charset="0"/>
              </a:rPr>
              <a:t>Decentralized Energy-Efficient Cluster Propagation (</a:t>
            </a:r>
            <a:r>
              <a:rPr lang="en-US" sz="2000" b="1" dirty="0">
                <a:solidFill>
                  <a:srgbClr val="FF0000"/>
                </a:solidFill>
                <a:latin typeface="Times New Roman" panose="02020603050405020304" pitchFamily="18" charset="0"/>
                <a:cs typeface="Times New Roman" panose="02020603050405020304" pitchFamily="18" charset="0"/>
              </a:rPr>
              <a:t>DEEP</a:t>
            </a:r>
            <a:r>
              <a:rPr lang="en-US" sz="2000" dirty="0">
                <a:solidFill>
                  <a:srgbClr val="FF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protocol are two examples of the </a:t>
            </a:r>
            <a:r>
              <a:rPr lang="en-US" sz="2000" dirty="0">
                <a:solidFill>
                  <a:srgbClr val="FF0000"/>
                </a:solidFill>
                <a:latin typeface="Times New Roman" panose="02020603050405020304" pitchFamily="18" charset="0"/>
                <a:cs typeface="Times New Roman" panose="02020603050405020304" pitchFamily="18" charset="0"/>
              </a:rPr>
              <a:t>decentralized</a:t>
            </a:r>
            <a:r>
              <a:rPr lang="en-US" sz="2000" dirty="0">
                <a:latin typeface="Times New Roman" panose="02020603050405020304" pitchFamily="18" charset="0"/>
                <a:cs typeface="Times New Roman" panose="02020603050405020304" pitchFamily="18" charset="0"/>
              </a:rPr>
              <a:t> clustering protocols and are explained next.</a:t>
            </a:r>
            <a:endParaRPr lang="en-US" sz="2000" dirty="0"/>
          </a:p>
        </p:txBody>
      </p:sp>
      <p:sp>
        <p:nvSpPr>
          <p:cNvPr id="7" name="Slide Number Placeholder 6">
            <a:extLst>
              <a:ext uri="{FF2B5EF4-FFF2-40B4-BE49-F238E27FC236}">
                <a16:creationId xmlns:a16="http://schemas.microsoft.com/office/drawing/2014/main" id="{AD6DE9F4-76FE-4403-937A-D27F1E8569F2}"/>
              </a:ext>
            </a:extLst>
          </p:cNvPr>
          <p:cNvSpPr>
            <a:spLocks noGrp="1"/>
          </p:cNvSpPr>
          <p:nvPr>
            <p:ph type="sldNum" sz="quarter" idx="12"/>
          </p:nvPr>
        </p:nvSpPr>
        <p:spPr/>
        <p:txBody>
          <a:bodyPr/>
          <a:lstStyle/>
          <a:p>
            <a:fld id="{C3F1913A-7668-436E-8561-76A60B792217}"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5"/>
          <p:cNvSpPr txBox="1">
            <a:spLocks noChangeArrowheads="1"/>
          </p:cNvSpPr>
          <p:nvPr/>
        </p:nvSpPr>
        <p:spPr bwMode="auto">
          <a:xfrm>
            <a:off x="531844" y="249169"/>
            <a:ext cx="11279052" cy="236988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sz="2800" b="1" dirty="0">
                <a:solidFill>
                  <a:srgbClr val="FF0000"/>
                </a:solidFill>
              </a:rPr>
              <a:t>LEACH Clustering Protocol</a:t>
            </a:r>
          </a:p>
          <a:p>
            <a:pPr algn="just" eaLnBrk="1" hangingPunct="1">
              <a:spcBef>
                <a:spcPct val="0"/>
              </a:spcBef>
              <a:buFontTx/>
              <a:buNone/>
            </a:pPr>
            <a:r>
              <a:rPr lang="en-US" sz="2400" dirty="0"/>
              <a:t>It is an application-specific protocol architecture that aims to </a:t>
            </a:r>
            <a:r>
              <a:rPr lang="en-US" sz="2400" b="1" dirty="0">
                <a:solidFill>
                  <a:srgbClr val="0000FF"/>
                </a:solidFill>
              </a:rPr>
              <a:t>prolong network lifetime </a:t>
            </a:r>
            <a:r>
              <a:rPr lang="en-US" sz="2400" dirty="0"/>
              <a:t>by periodic </a:t>
            </a:r>
            <a:r>
              <a:rPr lang="en-US" sz="2400" b="1" dirty="0">
                <a:solidFill>
                  <a:srgbClr val="0000FF"/>
                </a:solidFill>
              </a:rPr>
              <a:t>re-clustering </a:t>
            </a:r>
            <a:r>
              <a:rPr lang="en-US" sz="2400" dirty="0"/>
              <a:t>or</a:t>
            </a:r>
            <a:r>
              <a:rPr lang="en-US" sz="2400" b="1" dirty="0">
                <a:solidFill>
                  <a:srgbClr val="0000FF"/>
                </a:solidFill>
              </a:rPr>
              <a:t> change of the network topology</a:t>
            </a:r>
            <a:r>
              <a:rPr lang="en-US" sz="2400" dirty="0"/>
              <a:t>. LEACH protocol has two stages:</a:t>
            </a:r>
          </a:p>
          <a:p>
            <a:pPr algn="just" eaLnBrk="1" hangingPunct="1">
              <a:spcBef>
                <a:spcPct val="0"/>
              </a:spcBef>
              <a:buFontTx/>
              <a:buNone/>
            </a:pPr>
            <a:r>
              <a:rPr lang="en-US" sz="2400" dirty="0"/>
              <a:t>(a) </a:t>
            </a:r>
            <a:r>
              <a:rPr lang="en-US" sz="2400" b="1" dirty="0">
                <a:solidFill>
                  <a:srgbClr val="FF0000"/>
                </a:solidFill>
              </a:rPr>
              <a:t>cluster setup phase </a:t>
            </a:r>
            <a:endParaRPr lang="en-US" sz="2400" dirty="0"/>
          </a:p>
          <a:p>
            <a:pPr algn="just" eaLnBrk="1" hangingPunct="1">
              <a:spcBef>
                <a:spcPct val="0"/>
              </a:spcBef>
              <a:buFontTx/>
              <a:buNone/>
            </a:pPr>
            <a:r>
              <a:rPr lang="en-US" sz="2400" dirty="0"/>
              <a:t>(b) </a:t>
            </a:r>
            <a:r>
              <a:rPr lang="en-US" sz="2400" b="1" dirty="0">
                <a:solidFill>
                  <a:srgbClr val="FF0000"/>
                </a:solidFill>
              </a:rPr>
              <a:t>steady phase</a:t>
            </a:r>
            <a:r>
              <a:rPr lang="en-US" sz="2400" dirty="0"/>
              <a:t>.  </a:t>
            </a:r>
          </a:p>
        </p:txBody>
      </p:sp>
      <p:sp>
        <p:nvSpPr>
          <p:cNvPr id="32771" name="Rectangle 2"/>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sz="2400"/>
          </a:p>
        </p:txBody>
      </p:sp>
      <p:sp>
        <p:nvSpPr>
          <p:cNvPr id="3" name="Rectangle 2"/>
          <p:cNvSpPr/>
          <p:nvPr/>
        </p:nvSpPr>
        <p:spPr>
          <a:xfrm>
            <a:off x="8000587" y="6111685"/>
            <a:ext cx="1992853" cy="369332"/>
          </a:xfrm>
          <a:prstGeom prst="rect">
            <a:avLst/>
          </a:prstGeom>
          <a:solidFill>
            <a:srgbClr val="CCFFFF"/>
          </a:solidFill>
        </p:spPr>
        <p:txBody>
          <a:bodyPr wrap="none">
            <a:spAutoFit/>
          </a:bodyPr>
          <a:lstStyle/>
          <a:p>
            <a:r>
              <a:rPr lang="en-US" dirty="0">
                <a:latin typeface="Times New Roman" panose="02020603050405020304" pitchFamily="18" charset="0"/>
                <a:cs typeface="Times New Roman" panose="02020603050405020304" pitchFamily="18" charset="0"/>
              </a:rPr>
              <a:t>Routing in LEACH</a:t>
            </a:r>
          </a:p>
        </p:txBody>
      </p:sp>
      <p:sp>
        <p:nvSpPr>
          <p:cNvPr id="32791" name="Rectangle 32790">
            <a:extLst>
              <a:ext uri="{FF2B5EF4-FFF2-40B4-BE49-F238E27FC236}">
                <a16:creationId xmlns:a16="http://schemas.microsoft.com/office/drawing/2014/main" id="{E0279DB6-9ADC-4B92-B303-EB23BD106A0C}"/>
              </a:ext>
            </a:extLst>
          </p:cNvPr>
          <p:cNvSpPr/>
          <p:nvPr/>
        </p:nvSpPr>
        <p:spPr>
          <a:xfrm>
            <a:off x="262967" y="3774077"/>
            <a:ext cx="5415559" cy="1200329"/>
          </a:xfrm>
          <a:prstGeom prst="rect">
            <a:avLst/>
          </a:prstGeom>
          <a:solidFill>
            <a:srgbClr val="FFC000"/>
          </a:solid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After formation of clusters, cluster-members send data to cluster head and the cluster head transmit it to base station.</a:t>
            </a:r>
            <a:endParaRPr lang="en-US" sz="2400" dirty="0"/>
          </a:p>
        </p:txBody>
      </p:sp>
      <p:sp>
        <p:nvSpPr>
          <p:cNvPr id="32792" name="Arrow: Down 32791">
            <a:extLst>
              <a:ext uri="{FF2B5EF4-FFF2-40B4-BE49-F238E27FC236}">
                <a16:creationId xmlns:a16="http://schemas.microsoft.com/office/drawing/2014/main" id="{E1AD34D9-EB8B-4242-A78F-873F6314A9DB}"/>
              </a:ext>
            </a:extLst>
          </p:cNvPr>
          <p:cNvSpPr/>
          <p:nvPr/>
        </p:nvSpPr>
        <p:spPr>
          <a:xfrm rot="20599542">
            <a:off x="2000758" y="2667422"/>
            <a:ext cx="405959" cy="1085980"/>
          </a:xfrm>
          <a:prstGeom prst="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93" name="Arrow: Down 32792">
            <a:extLst>
              <a:ext uri="{FF2B5EF4-FFF2-40B4-BE49-F238E27FC236}">
                <a16:creationId xmlns:a16="http://schemas.microsoft.com/office/drawing/2014/main" id="{48C03716-9FE4-43F9-A7C2-9037BABF36F1}"/>
              </a:ext>
            </a:extLst>
          </p:cNvPr>
          <p:cNvSpPr/>
          <p:nvPr/>
        </p:nvSpPr>
        <p:spPr>
          <a:xfrm rot="17973801">
            <a:off x="4795745" y="1351796"/>
            <a:ext cx="426720" cy="318148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803" name="Group 32802">
            <a:extLst>
              <a:ext uri="{FF2B5EF4-FFF2-40B4-BE49-F238E27FC236}">
                <a16:creationId xmlns:a16="http://schemas.microsoft.com/office/drawing/2014/main" id="{0C6A7156-5F2B-4580-9C7B-5032F67339F9}"/>
              </a:ext>
            </a:extLst>
          </p:cNvPr>
          <p:cNvGrpSpPr/>
          <p:nvPr/>
        </p:nvGrpSpPr>
        <p:grpSpPr>
          <a:xfrm>
            <a:off x="6424774" y="2717550"/>
            <a:ext cx="5585234" cy="3295634"/>
            <a:chOff x="6541231" y="2693719"/>
            <a:chExt cx="5585234" cy="3295634"/>
          </a:xfrm>
        </p:grpSpPr>
        <p:sp>
          <p:nvSpPr>
            <p:cNvPr id="32787" name="Freeform: Shape 32786">
              <a:extLst>
                <a:ext uri="{FF2B5EF4-FFF2-40B4-BE49-F238E27FC236}">
                  <a16:creationId xmlns:a16="http://schemas.microsoft.com/office/drawing/2014/main" id="{A64DAA11-866F-4BB7-8F6D-F052F815C2B9}"/>
                </a:ext>
              </a:extLst>
            </p:cNvPr>
            <p:cNvSpPr/>
            <p:nvPr/>
          </p:nvSpPr>
          <p:spPr>
            <a:xfrm>
              <a:off x="8617036" y="3948985"/>
              <a:ext cx="1385256" cy="1040944"/>
            </a:xfrm>
            <a:custGeom>
              <a:avLst/>
              <a:gdLst>
                <a:gd name="connsiteX0" fmla="*/ 1376524 w 1637222"/>
                <a:gd name="connsiteY0" fmla="*/ 93493 h 1413669"/>
                <a:gd name="connsiteX1" fmla="*/ 311050 w 1637222"/>
                <a:gd name="connsiteY1" fmla="*/ 29883 h 1413669"/>
                <a:gd name="connsiteX2" fmla="*/ 136121 w 1637222"/>
                <a:gd name="connsiteY2" fmla="*/ 514912 h 1413669"/>
                <a:gd name="connsiteX3" fmla="*/ 56608 w 1637222"/>
                <a:gd name="connsiteY3" fmla="*/ 1095358 h 1413669"/>
                <a:gd name="connsiteX4" fmla="*/ 1026667 w 1637222"/>
                <a:gd name="connsiteY4" fmla="*/ 1413410 h 1413669"/>
                <a:gd name="connsiteX5" fmla="*/ 1527599 w 1637222"/>
                <a:gd name="connsiteY5" fmla="*/ 1047650 h 1413669"/>
                <a:gd name="connsiteX6" fmla="*/ 1623015 w 1637222"/>
                <a:gd name="connsiteY6" fmla="*/ 332032 h 1413669"/>
                <a:gd name="connsiteX7" fmla="*/ 1312914 w 1637222"/>
                <a:gd name="connsiteY7" fmla="*/ 77591 h 141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7222" h="1413669">
                  <a:moveTo>
                    <a:pt x="1376524" y="93493"/>
                  </a:moveTo>
                  <a:cubicBezTo>
                    <a:pt x="947154" y="26570"/>
                    <a:pt x="517784" y="-40353"/>
                    <a:pt x="311050" y="29883"/>
                  </a:cubicBezTo>
                  <a:cubicBezTo>
                    <a:pt x="104316" y="100119"/>
                    <a:pt x="178528" y="337333"/>
                    <a:pt x="136121" y="514912"/>
                  </a:cubicBezTo>
                  <a:cubicBezTo>
                    <a:pt x="93714" y="692491"/>
                    <a:pt x="-91816" y="945608"/>
                    <a:pt x="56608" y="1095358"/>
                  </a:cubicBezTo>
                  <a:cubicBezTo>
                    <a:pt x="205032" y="1245108"/>
                    <a:pt x="781502" y="1421361"/>
                    <a:pt x="1026667" y="1413410"/>
                  </a:cubicBezTo>
                  <a:cubicBezTo>
                    <a:pt x="1271832" y="1405459"/>
                    <a:pt x="1428208" y="1227880"/>
                    <a:pt x="1527599" y="1047650"/>
                  </a:cubicBezTo>
                  <a:cubicBezTo>
                    <a:pt x="1626990" y="867420"/>
                    <a:pt x="1658796" y="493709"/>
                    <a:pt x="1623015" y="332032"/>
                  </a:cubicBezTo>
                  <a:cubicBezTo>
                    <a:pt x="1587234" y="170356"/>
                    <a:pt x="1450074" y="123973"/>
                    <a:pt x="1312914" y="77591"/>
                  </a:cubicBezTo>
                </a:path>
              </a:pathLst>
            </a:custGeom>
            <a:solidFill>
              <a:srgbClr val="92D050">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86" name="Freeform: Shape 32785">
              <a:extLst>
                <a:ext uri="{FF2B5EF4-FFF2-40B4-BE49-F238E27FC236}">
                  <a16:creationId xmlns:a16="http://schemas.microsoft.com/office/drawing/2014/main" id="{08648226-EDCF-4829-B7C0-7AF22F849374}"/>
                </a:ext>
              </a:extLst>
            </p:cNvPr>
            <p:cNvSpPr/>
            <p:nvPr/>
          </p:nvSpPr>
          <p:spPr>
            <a:xfrm>
              <a:off x="8618918" y="2835663"/>
              <a:ext cx="1474431" cy="1152393"/>
            </a:xfrm>
            <a:custGeom>
              <a:avLst/>
              <a:gdLst>
                <a:gd name="connsiteX0" fmla="*/ 263369 w 1742618"/>
                <a:gd name="connsiteY0" fmla="*/ 223996 h 1565024"/>
                <a:gd name="connsiteX1" fmla="*/ 1320893 w 1742618"/>
                <a:gd name="connsiteY1" fmla="*/ 25214 h 1565024"/>
                <a:gd name="connsiteX2" fmla="*/ 1742312 w 1742618"/>
                <a:gd name="connsiteY2" fmla="*/ 820344 h 1565024"/>
                <a:gd name="connsiteX3" fmla="*/ 1376552 w 1742618"/>
                <a:gd name="connsiteY3" fmla="*/ 1313325 h 1565024"/>
                <a:gd name="connsiteX4" fmla="*/ 708643 w 1742618"/>
                <a:gd name="connsiteY4" fmla="*/ 1559815 h 1565024"/>
                <a:gd name="connsiteX5" fmla="*/ 342883 w 1742618"/>
                <a:gd name="connsiteY5" fmla="*/ 1448497 h 1565024"/>
                <a:gd name="connsiteX6" fmla="*/ 16879 w 1742618"/>
                <a:gd name="connsiteY6" fmla="*/ 1074786 h 1565024"/>
                <a:gd name="connsiteX7" fmla="*/ 72538 w 1742618"/>
                <a:gd name="connsiteY7" fmla="*/ 486389 h 1565024"/>
                <a:gd name="connsiteX8" fmla="*/ 263369 w 1742618"/>
                <a:gd name="connsiteY8" fmla="*/ 223996 h 156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2618" h="1565024">
                  <a:moveTo>
                    <a:pt x="263369" y="223996"/>
                  </a:moveTo>
                  <a:cubicBezTo>
                    <a:pt x="471428" y="147134"/>
                    <a:pt x="1074403" y="-74177"/>
                    <a:pt x="1320893" y="25214"/>
                  </a:cubicBezTo>
                  <a:cubicBezTo>
                    <a:pt x="1567383" y="124605"/>
                    <a:pt x="1733036" y="605659"/>
                    <a:pt x="1742312" y="820344"/>
                  </a:cubicBezTo>
                  <a:cubicBezTo>
                    <a:pt x="1751588" y="1035029"/>
                    <a:pt x="1548830" y="1190080"/>
                    <a:pt x="1376552" y="1313325"/>
                  </a:cubicBezTo>
                  <a:cubicBezTo>
                    <a:pt x="1204274" y="1436570"/>
                    <a:pt x="880921" y="1537286"/>
                    <a:pt x="708643" y="1559815"/>
                  </a:cubicBezTo>
                  <a:cubicBezTo>
                    <a:pt x="536365" y="1582344"/>
                    <a:pt x="458177" y="1529335"/>
                    <a:pt x="342883" y="1448497"/>
                  </a:cubicBezTo>
                  <a:cubicBezTo>
                    <a:pt x="227589" y="1367659"/>
                    <a:pt x="61936" y="1235137"/>
                    <a:pt x="16879" y="1074786"/>
                  </a:cubicBezTo>
                  <a:cubicBezTo>
                    <a:pt x="-28179" y="914435"/>
                    <a:pt x="26155" y="626862"/>
                    <a:pt x="72538" y="486389"/>
                  </a:cubicBezTo>
                  <a:cubicBezTo>
                    <a:pt x="118921" y="345916"/>
                    <a:pt x="55310" y="300858"/>
                    <a:pt x="263369" y="223996"/>
                  </a:cubicBezTo>
                  <a:close/>
                </a:path>
              </a:pathLst>
            </a:custGeom>
            <a:solidFill>
              <a:schemeClr val="accent1">
                <a:alpha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84" name="Freeform: Shape 32783">
              <a:extLst>
                <a:ext uri="{FF2B5EF4-FFF2-40B4-BE49-F238E27FC236}">
                  <a16:creationId xmlns:a16="http://schemas.microsoft.com/office/drawing/2014/main" id="{BD60E9AC-C976-4E3E-BFB9-2B1531E3C387}"/>
                </a:ext>
              </a:extLst>
            </p:cNvPr>
            <p:cNvSpPr/>
            <p:nvPr/>
          </p:nvSpPr>
          <p:spPr>
            <a:xfrm>
              <a:off x="7704370" y="3706897"/>
              <a:ext cx="1273353" cy="1127258"/>
            </a:xfrm>
            <a:custGeom>
              <a:avLst/>
              <a:gdLst>
                <a:gd name="connsiteX0" fmla="*/ 151571 w 1504965"/>
                <a:gd name="connsiteY0" fmla="*/ 305062 h 1530889"/>
                <a:gd name="connsiteX1" fmla="*/ 827432 w 1504965"/>
                <a:gd name="connsiteY1" fmla="*/ 2912 h 1530889"/>
                <a:gd name="connsiteX2" fmla="*/ 1352218 w 1504965"/>
                <a:gd name="connsiteY2" fmla="*/ 201695 h 1530889"/>
                <a:gd name="connsiteX3" fmla="*/ 1495341 w 1504965"/>
                <a:gd name="connsiteY3" fmla="*/ 949117 h 1530889"/>
                <a:gd name="connsiteX4" fmla="*/ 1137533 w 1504965"/>
                <a:gd name="connsiteY4" fmla="*/ 1386439 h 1530889"/>
                <a:gd name="connsiteX5" fmla="*/ 533233 w 1504965"/>
                <a:gd name="connsiteY5" fmla="*/ 1473903 h 1530889"/>
                <a:gd name="connsiteX6" fmla="*/ 183376 w 1504965"/>
                <a:gd name="connsiteY6" fmla="*/ 1473903 h 1530889"/>
                <a:gd name="connsiteX7" fmla="*/ 496 w 1504965"/>
                <a:gd name="connsiteY7" fmla="*/ 750335 h 1530889"/>
                <a:gd name="connsiteX8" fmla="*/ 151571 w 1504965"/>
                <a:gd name="connsiteY8" fmla="*/ 305062 h 153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4965" h="1530889">
                  <a:moveTo>
                    <a:pt x="151571" y="305062"/>
                  </a:moveTo>
                  <a:cubicBezTo>
                    <a:pt x="289394" y="180492"/>
                    <a:pt x="627324" y="20140"/>
                    <a:pt x="827432" y="2912"/>
                  </a:cubicBezTo>
                  <a:cubicBezTo>
                    <a:pt x="1027540" y="-14316"/>
                    <a:pt x="1240900" y="43994"/>
                    <a:pt x="1352218" y="201695"/>
                  </a:cubicBezTo>
                  <a:cubicBezTo>
                    <a:pt x="1463536" y="359396"/>
                    <a:pt x="1531122" y="751660"/>
                    <a:pt x="1495341" y="949117"/>
                  </a:cubicBezTo>
                  <a:cubicBezTo>
                    <a:pt x="1459560" y="1146574"/>
                    <a:pt x="1297884" y="1298975"/>
                    <a:pt x="1137533" y="1386439"/>
                  </a:cubicBezTo>
                  <a:cubicBezTo>
                    <a:pt x="977182" y="1473903"/>
                    <a:pt x="692259" y="1459326"/>
                    <a:pt x="533233" y="1473903"/>
                  </a:cubicBezTo>
                  <a:cubicBezTo>
                    <a:pt x="374207" y="1488480"/>
                    <a:pt x="272165" y="1594498"/>
                    <a:pt x="183376" y="1473903"/>
                  </a:cubicBezTo>
                  <a:cubicBezTo>
                    <a:pt x="94587" y="1353308"/>
                    <a:pt x="4472" y="949117"/>
                    <a:pt x="496" y="750335"/>
                  </a:cubicBezTo>
                  <a:cubicBezTo>
                    <a:pt x="-3480" y="551553"/>
                    <a:pt x="13748" y="429632"/>
                    <a:pt x="151571" y="305062"/>
                  </a:cubicBezTo>
                  <a:close/>
                </a:path>
              </a:pathLst>
            </a:custGeom>
            <a:solidFill>
              <a:schemeClr val="accent1">
                <a:alpha val="3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83" name="Freeform: Shape 32782">
              <a:extLst>
                <a:ext uri="{FF2B5EF4-FFF2-40B4-BE49-F238E27FC236}">
                  <a16:creationId xmlns:a16="http://schemas.microsoft.com/office/drawing/2014/main" id="{A64B3763-C91E-4BE4-93C5-61B888302F29}"/>
                </a:ext>
              </a:extLst>
            </p:cNvPr>
            <p:cNvSpPr/>
            <p:nvPr/>
          </p:nvSpPr>
          <p:spPr>
            <a:xfrm>
              <a:off x="6614419" y="3860717"/>
              <a:ext cx="1383671" cy="1204027"/>
            </a:xfrm>
            <a:custGeom>
              <a:avLst/>
              <a:gdLst>
                <a:gd name="connsiteX0" fmla="*/ 1097868 w 1635349"/>
                <a:gd name="connsiteY0" fmla="*/ 749 h 1635146"/>
                <a:gd name="connsiteX1" fmla="*/ 342494 w 1635349"/>
                <a:gd name="connsiteY1" fmla="*/ 255191 h 1635146"/>
                <a:gd name="connsiteX2" fmla="*/ 588 w 1635349"/>
                <a:gd name="connsiteY2" fmla="*/ 612999 h 1635146"/>
                <a:gd name="connsiteX3" fmla="*/ 286835 w 1635349"/>
                <a:gd name="connsiteY3" fmla="*/ 1320665 h 1635146"/>
                <a:gd name="connsiteX4" fmla="*/ 1169429 w 1635349"/>
                <a:gd name="connsiteY4" fmla="*/ 1630766 h 1635146"/>
                <a:gd name="connsiteX5" fmla="*/ 1566995 w 1635349"/>
                <a:gd name="connsiteY5" fmla="*/ 1113932 h 1635146"/>
                <a:gd name="connsiteX6" fmla="*/ 1590849 w 1635349"/>
                <a:gd name="connsiteY6" fmla="*/ 334704 h 1635146"/>
                <a:gd name="connsiteX7" fmla="*/ 1097868 w 1635349"/>
                <a:gd name="connsiteY7" fmla="*/ 749 h 1635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5349" h="1635146">
                  <a:moveTo>
                    <a:pt x="1097868" y="749"/>
                  </a:moveTo>
                  <a:cubicBezTo>
                    <a:pt x="889809" y="-12503"/>
                    <a:pt x="525374" y="153149"/>
                    <a:pt x="342494" y="255191"/>
                  </a:cubicBezTo>
                  <a:cubicBezTo>
                    <a:pt x="159614" y="357233"/>
                    <a:pt x="9865" y="435420"/>
                    <a:pt x="588" y="612999"/>
                  </a:cubicBezTo>
                  <a:cubicBezTo>
                    <a:pt x="-8689" y="790578"/>
                    <a:pt x="92028" y="1151037"/>
                    <a:pt x="286835" y="1320665"/>
                  </a:cubicBezTo>
                  <a:cubicBezTo>
                    <a:pt x="481642" y="1490293"/>
                    <a:pt x="956069" y="1665222"/>
                    <a:pt x="1169429" y="1630766"/>
                  </a:cubicBezTo>
                  <a:cubicBezTo>
                    <a:pt x="1382789" y="1596310"/>
                    <a:pt x="1496758" y="1329942"/>
                    <a:pt x="1566995" y="1113932"/>
                  </a:cubicBezTo>
                  <a:cubicBezTo>
                    <a:pt x="1637232" y="897922"/>
                    <a:pt x="1666386" y="525535"/>
                    <a:pt x="1590849" y="334704"/>
                  </a:cubicBezTo>
                  <a:cubicBezTo>
                    <a:pt x="1515312" y="143873"/>
                    <a:pt x="1305927" y="14001"/>
                    <a:pt x="1097868" y="749"/>
                  </a:cubicBezTo>
                  <a:close/>
                </a:path>
              </a:pathLst>
            </a:custGeom>
            <a:solidFill>
              <a:schemeClr val="accent1">
                <a:alpha val="3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81" name="Freeform: Shape 32780">
              <a:extLst>
                <a:ext uri="{FF2B5EF4-FFF2-40B4-BE49-F238E27FC236}">
                  <a16:creationId xmlns:a16="http://schemas.microsoft.com/office/drawing/2014/main" id="{D86BBAF1-BF72-4C3F-A9BB-C6E33D832936}"/>
                </a:ext>
              </a:extLst>
            </p:cNvPr>
            <p:cNvSpPr/>
            <p:nvPr/>
          </p:nvSpPr>
          <p:spPr>
            <a:xfrm>
              <a:off x="7511785" y="2889528"/>
              <a:ext cx="1155118" cy="949644"/>
            </a:xfrm>
            <a:custGeom>
              <a:avLst/>
              <a:gdLst>
                <a:gd name="connsiteX0" fmla="*/ 172451 w 1365224"/>
                <a:gd name="connsiteY0" fmla="*/ 301919 h 1289678"/>
                <a:gd name="connsiteX1" fmla="*/ 570016 w 1365224"/>
                <a:gd name="connsiteY1" fmla="*/ 15672 h 1289678"/>
                <a:gd name="connsiteX2" fmla="*/ 1245877 w 1365224"/>
                <a:gd name="connsiteY2" fmla="*/ 79282 h 1289678"/>
                <a:gd name="connsiteX3" fmla="*/ 1365147 w 1365224"/>
                <a:gd name="connsiteY3" fmla="*/ 429140 h 1289678"/>
                <a:gd name="connsiteX4" fmla="*/ 1261780 w 1365224"/>
                <a:gd name="connsiteY4" fmla="*/ 890315 h 1289678"/>
                <a:gd name="connsiteX5" fmla="*/ 1126607 w 1365224"/>
                <a:gd name="connsiteY5" fmla="*/ 1256075 h 1289678"/>
                <a:gd name="connsiteX6" fmla="*/ 116792 w 1365224"/>
                <a:gd name="connsiteY6" fmla="*/ 1208368 h 1289678"/>
                <a:gd name="connsiteX7" fmla="*/ 29327 w 1365224"/>
                <a:gd name="connsiteY7" fmla="*/ 683582 h 1289678"/>
                <a:gd name="connsiteX8" fmla="*/ 188354 w 1365224"/>
                <a:gd name="connsiteY8" fmla="*/ 246260 h 1289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24" h="1289678">
                  <a:moveTo>
                    <a:pt x="172451" y="301919"/>
                  </a:moveTo>
                  <a:cubicBezTo>
                    <a:pt x="281781" y="177348"/>
                    <a:pt x="391112" y="52778"/>
                    <a:pt x="570016" y="15672"/>
                  </a:cubicBezTo>
                  <a:cubicBezTo>
                    <a:pt x="748920" y="-21434"/>
                    <a:pt x="1113355" y="10371"/>
                    <a:pt x="1245877" y="79282"/>
                  </a:cubicBezTo>
                  <a:cubicBezTo>
                    <a:pt x="1378399" y="148193"/>
                    <a:pt x="1362497" y="293968"/>
                    <a:pt x="1365147" y="429140"/>
                  </a:cubicBezTo>
                  <a:cubicBezTo>
                    <a:pt x="1367797" y="564312"/>
                    <a:pt x="1301537" y="752493"/>
                    <a:pt x="1261780" y="890315"/>
                  </a:cubicBezTo>
                  <a:cubicBezTo>
                    <a:pt x="1222023" y="1028137"/>
                    <a:pt x="1317438" y="1203066"/>
                    <a:pt x="1126607" y="1256075"/>
                  </a:cubicBezTo>
                  <a:cubicBezTo>
                    <a:pt x="935776" y="1309084"/>
                    <a:pt x="299672" y="1303784"/>
                    <a:pt x="116792" y="1208368"/>
                  </a:cubicBezTo>
                  <a:cubicBezTo>
                    <a:pt x="-66088" y="1112952"/>
                    <a:pt x="17400" y="843933"/>
                    <a:pt x="29327" y="683582"/>
                  </a:cubicBezTo>
                  <a:cubicBezTo>
                    <a:pt x="41254" y="523231"/>
                    <a:pt x="168476" y="324448"/>
                    <a:pt x="188354" y="246260"/>
                  </a:cubicBezTo>
                </a:path>
              </a:pathLst>
            </a:custGeom>
            <a:solidFill>
              <a:srgbClr val="FFCCFF"/>
            </a:solidFill>
            <a:ln>
              <a:solidFill>
                <a:schemeClr val="accent1">
                  <a:shade val="50000"/>
                  <a:alpha val="7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6EFD7B0-C3AF-4564-9D61-B0B8532F5B46}"/>
                </a:ext>
              </a:extLst>
            </p:cNvPr>
            <p:cNvSpPr/>
            <p:nvPr/>
          </p:nvSpPr>
          <p:spPr>
            <a:xfrm>
              <a:off x="9383047" y="2950563"/>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37E55F6-8F92-48A2-A23B-0AEA409D7828}"/>
                </a:ext>
              </a:extLst>
            </p:cNvPr>
            <p:cNvSpPr/>
            <p:nvPr/>
          </p:nvSpPr>
          <p:spPr>
            <a:xfrm>
              <a:off x="7098081" y="3136461"/>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659CEB7-41E2-4AB0-A091-CBBA91A1DAFA}"/>
                </a:ext>
              </a:extLst>
            </p:cNvPr>
            <p:cNvSpPr/>
            <p:nvPr/>
          </p:nvSpPr>
          <p:spPr>
            <a:xfrm>
              <a:off x="6978877" y="3445839"/>
              <a:ext cx="119205" cy="1031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D3D088D-754E-42F9-9BE9-12137DEED1CA}"/>
                </a:ext>
              </a:extLst>
            </p:cNvPr>
            <p:cNvSpPr/>
            <p:nvPr/>
          </p:nvSpPr>
          <p:spPr>
            <a:xfrm>
              <a:off x="7366292" y="3213805"/>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34BA322-3C7F-4CD7-B9B1-79B78B333BC5}"/>
                </a:ext>
              </a:extLst>
            </p:cNvPr>
            <p:cNvSpPr/>
            <p:nvPr/>
          </p:nvSpPr>
          <p:spPr>
            <a:xfrm>
              <a:off x="7208817" y="3600527"/>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E4FA93EE-5719-4013-BA66-0A3AAD6228BE}"/>
                </a:ext>
              </a:extLst>
            </p:cNvPr>
            <p:cNvSpPr/>
            <p:nvPr/>
          </p:nvSpPr>
          <p:spPr>
            <a:xfrm>
              <a:off x="6861868" y="3239586"/>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019D335-A5F2-437B-8A69-56836F6CB045}"/>
                </a:ext>
              </a:extLst>
            </p:cNvPr>
            <p:cNvSpPr/>
            <p:nvPr/>
          </p:nvSpPr>
          <p:spPr>
            <a:xfrm>
              <a:off x="7749316" y="3291149"/>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68153ED-801A-42A6-8409-2AB6FB5AF1CE}"/>
                </a:ext>
              </a:extLst>
            </p:cNvPr>
            <p:cNvSpPr/>
            <p:nvPr/>
          </p:nvSpPr>
          <p:spPr>
            <a:xfrm>
              <a:off x="7268419" y="3397261"/>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852EF57-BB38-4DED-8534-6ABEA1B54F75}"/>
                </a:ext>
              </a:extLst>
            </p:cNvPr>
            <p:cNvSpPr/>
            <p:nvPr/>
          </p:nvSpPr>
          <p:spPr>
            <a:xfrm>
              <a:off x="7268419" y="3809765"/>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C4271075-FD0F-4F94-95C3-7920C649C6A1}"/>
                </a:ext>
              </a:extLst>
            </p:cNvPr>
            <p:cNvSpPr/>
            <p:nvPr/>
          </p:nvSpPr>
          <p:spPr>
            <a:xfrm>
              <a:off x="8000587" y="3497402"/>
              <a:ext cx="119205" cy="1031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0AD4F7E-07AF-4D9C-A941-AC8D97655E3D}"/>
                </a:ext>
              </a:extLst>
            </p:cNvPr>
            <p:cNvSpPr/>
            <p:nvPr/>
          </p:nvSpPr>
          <p:spPr>
            <a:xfrm>
              <a:off x="7563294" y="3961468"/>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598E437-25D8-409C-9020-DB1276B69336}"/>
                </a:ext>
              </a:extLst>
            </p:cNvPr>
            <p:cNvSpPr/>
            <p:nvPr/>
          </p:nvSpPr>
          <p:spPr>
            <a:xfrm>
              <a:off x="7574587" y="3574746"/>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52D0924-48DE-4BA9-B2B5-0CABFD753C4B}"/>
                </a:ext>
              </a:extLst>
            </p:cNvPr>
            <p:cNvSpPr/>
            <p:nvPr/>
          </p:nvSpPr>
          <p:spPr>
            <a:xfrm>
              <a:off x="7821153" y="3746532"/>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E3D99911-3784-4214-8338-9C2163918D35}"/>
                </a:ext>
              </a:extLst>
            </p:cNvPr>
            <p:cNvSpPr/>
            <p:nvPr/>
          </p:nvSpPr>
          <p:spPr>
            <a:xfrm>
              <a:off x="8172493" y="2927223"/>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F88833DB-8390-4E8F-9C59-6C1A1F97E8BE}"/>
                </a:ext>
              </a:extLst>
            </p:cNvPr>
            <p:cNvSpPr/>
            <p:nvPr/>
          </p:nvSpPr>
          <p:spPr>
            <a:xfrm>
              <a:off x="8053288" y="3236601"/>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110DC68B-2A60-4910-BEA2-9687D91E34ED}"/>
                </a:ext>
              </a:extLst>
            </p:cNvPr>
            <p:cNvSpPr/>
            <p:nvPr/>
          </p:nvSpPr>
          <p:spPr>
            <a:xfrm>
              <a:off x="8440704" y="3004568"/>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DC2C6AC5-C11D-4270-831E-84FB7B2B0714}"/>
                </a:ext>
              </a:extLst>
            </p:cNvPr>
            <p:cNvSpPr/>
            <p:nvPr/>
          </p:nvSpPr>
          <p:spPr>
            <a:xfrm>
              <a:off x="8283228" y="3391290"/>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B9C83C8-ED49-4D80-88D3-974E241D3B50}"/>
                </a:ext>
              </a:extLst>
            </p:cNvPr>
            <p:cNvSpPr/>
            <p:nvPr/>
          </p:nvSpPr>
          <p:spPr>
            <a:xfrm>
              <a:off x="7936279" y="3030350"/>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9A9CB659-FFDB-4225-A0FB-2BB3DFBA4971}"/>
                </a:ext>
              </a:extLst>
            </p:cNvPr>
            <p:cNvSpPr/>
            <p:nvPr/>
          </p:nvSpPr>
          <p:spPr>
            <a:xfrm>
              <a:off x="8823727" y="3081913"/>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A0CFCC55-230D-4B47-B362-4C8744B4018F}"/>
                </a:ext>
              </a:extLst>
            </p:cNvPr>
            <p:cNvSpPr/>
            <p:nvPr/>
          </p:nvSpPr>
          <p:spPr>
            <a:xfrm>
              <a:off x="8342830" y="3188023"/>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CA8C3264-E5DB-47D8-A88B-A6B5DF7C3BB8}"/>
                </a:ext>
              </a:extLst>
            </p:cNvPr>
            <p:cNvSpPr/>
            <p:nvPr/>
          </p:nvSpPr>
          <p:spPr>
            <a:xfrm>
              <a:off x="8342830" y="3600527"/>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F75C89DD-9CEB-406C-9B0C-853908E2955C}"/>
                </a:ext>
              </a:extLst>
            </p:cNvPr>
            <p:cNvSpPr/>
            <p:nvPr/>
          </p:nvSpPr>
          <p:spPr>
            <a:xfrm>
              <a:off x="9074999" y="3288164"/>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A3F6E815-8D5A-45D0-BF3E-529BAF234DBC}"/>
                </a:ext>
              </a:extLst>
            </p:cNvPr>
            <p:cNvSpPr/>
            <p:nvPr/>
          </p:nvSpPr>
          <p:spPr>
            <a:xfrm>
              <a:off x="8637706" y="3752231"/>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8A2B964F-2B7C-481A-ADB1-7DBC67DA1A8F}"/>
                </a:ext>
              </a:extLst>
            </p:cNvPr>
            <p:cNvSpPr/>
            <p:nvPr/>
          </p:nvSpPr>
          <p:spPr>
            <a:xfrm>
              <a:off x="8648999" y="3365509"/>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FECD7F04-0882-489E-9A89-833771AB91A1}"/>
                </a:ext>
              </a:extLst>
            </p:cNvPr>
            <p:cNvSpPr/>
            <p:nvPr/>
          </p:nvSpPr>
          <p:spPr>
            <a:xfrm>
              <a:off x="8895564" y="3537295"/>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95A704C9-9998-4EDA-99E1-613E3054C506}"/>
                </a:ext>
              </a:extLst>
            </p:cNvPr>
            <p:cNvSpPr/>
            <p:nvPr/>
          </p:nvSpPr>
          <p:spPr>
            <a:xfrm>
              <a:off x="8175317" y="3821705"/>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92FC7C04-C37B-447B-901A-6C64CCFA2572}"/>
                </a:ext>
              </a:extLst>
            </p:cNvPr>
            <p:cNvSpPr/>
            <p:nvPr/>
          </p:nvSpPr>
          <p:spPr>
            <a:xfrm>
              <a:off x="8056112" y="4131083"/>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9F96B647-B7EE-4626-9ADB-540BDDD385DC}"/>
                </a:ext>
              </a:extLst>
            </p:cNvPr>
            <p:cNvSpPr/>
            <p:nvPr/>
          </p:nvSpPr>
          <p:spPr>
            <a:xfrm>
              <a:off x="8443527" y="3899050"/>
              <a:ext cx="119205" cy="1031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C0ACC0B2-BF9D-4753-AE0E-008235DE9E91}"/>
                </a:ext>
              </a:extLst>
            </p:cNvPr>
            <p:cNvSpPr/>
            <p:nvPr/>
          </p:nvSpPr>
          <p:spPr>
            <a:xfrm>
              <a:off x="8286052" y="4285772"/>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E8406D0C-65C2-42F9-ADEA-5BB812A2C4F2}"/>
                </a:ext>
              </a:extLst>
            </p:cNvPr>
            <p:cNvSpPr/>
            <p:nvPr/>
          </p:nvSpPr>
          <p:spPr>
            <a:xfrm>
              <a:off x="7939103" y="3924831"/>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A642BF22-6316-4BCA-92F9-0EEE105668C4}"/>
                </a:ext>
              </a:extLst>
            </p:cNvPr>
            <p:cNvSpPr/>
            <p:nvPr/>
          </p:nvSpPr>
          <p:spPr>
            <a:xfrm>
              <a:off x="8826551" y="3976394"/>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CCF11519-C09E-44CB-B921-2CF158F3A3C8}"/>
                </a:ext>
              </a:extLst>
            </p:cNvPr>
            <p:cNvSpPr/>
            <p:nvPr/>
          </p:nvSpPr>
          <p:spPr>
            <a:xfrm>
              <a:off x="8345654" y="4082505"/>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E6A6AEEA-63FA-4EB0-BC68-815EF418A4E8}"/>
                </a:ext>
              </a:extLst>
            </p:cNvPr>
            <p:cNvSpPr/>
            <p:nvPr/>
          </p:nvSpPr>
          <p:spPr>
            <a:xfrm>
              <a:off x="8433442" y="4697284"/>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6F653C7E-AA31-432E-A714-362856AFD037}"/>
                </a:ext>
              </a:extLst>
            </p:cNvPr>
            <p:cNvSpPr/>
            <p:nvPr/>
          </p:nvSpPr>
          <p:spPr>
            <a:xfrm>
              <a:off x="9077822" y="4182646"/>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25E05893-E685-4468-B776-F53796B2C412}"/>
                </a:ext>
              </a:extLst>
            </p:cNvPr>
            <p:cNvSpPr/>
            <p:nvPr/>
          </p:nvSpPr>
          <p:spPr>
            <a:xfrm>
              <a:off x="9158442" y="4451317"/>
              <a:ext cx="119205" cy="1031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ED17CB1F-E154-4FBE-A584-0EEAC712A4C9}"/>
                </a:ext>
              </a:extLst>
            </p:cNvPr>
            <p:cNvSpPr/>
            <p:nvPr/>
          </p:nvSpPr>
          <p:spPr>
            <a:xfrm>
              <a:off x="8651822" y="4259991"/>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D7BAB10C-23FB-4EA5-9488-9280FD048B81}"/>
                </a:ext>
              </a:extLst>
            </p:cNvPr>
            <p:cNvSpPr/>
            <p:nvPr/>
          </p:nvSpPr>
          <p:spPr>
            <a:xfrm>
              <a:off x="8898387" y="4431776"/>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026B2FFB-E258-4EEF-9133-7CCDBFFA2CDF}"/>
                </a:ext>
              </a:extLst>
            </p:cNvPr>
            <p:cNvSpPr/>
            <p:nvPr/>
          </p:nvSpPr>
          <p:spPr>
            <a:xfrm>
              <a:off x="6864063" y="4098788"/>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705FEF6F-D3DC-479F-84FF-0DE776816618}"/>
                </a:ext>
              </a:extLst>
            </p:cNvPr>
            <p:cNvSpPr/>
            <p:nvPr/>
          </p:nvSpPr>
          <p:spPr>
            <a:xfrm>
              <a:off x="6744859" y="4408166"/>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6A8B6B47-EFA8-43F0-9BC7-61FAD5A67791}"/>
                </a:ext>
              </a:extLst>
            </p:cNvPr>
            <p:cNvSpPr/>
            <p:nvPr/>
          </p:nvSpPr>
          <p:spPr>
            <a:xfrm>
              <a:off x="7132274" y="4176132"/>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EF9DC570-978D-4E59-AAE8-5FDAF95D8395}"/>
                </a:ext>
              </a:extLst>
            </p:cNvPr>
            <p:cNvSpPr/>
            <p:nvPr/>
          </p:nvSpPr>
          <p:spPr>
            <a:xfrm>
              <a:off x="6974799" y="4562855"/>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1DC55413-C0C6-43AA-9BC7-76A17751089E}"/>
                </a:ext>
              </a:extLst>
            </p:cNvPr>
            <p:cNvSpPr/>
            <p:nvPr/>
          </p:nvSpPr>
          <p:spPr>
            <a:xfrm>
              <a:off x="6627850" y="4201914"/>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DB7975C4-52BD-423F-BDE8-F03BAB049695}"/>
                </a:ext>
              </a:extLst>
            </p:cNvPr>
            <p:cNvSpPr/>
            <p:nvPr/>
          </p:nvSpPr>
          <p:spPr>
            <a:xfrm>
              <a:off x="7515298" y="4253477"/>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2D66ABC3-BB44-435C-9E94-1582C59B3900}"/>
                </a:ext>
              </a:extLst>
            </p:cNvPr>
            <p:cNvSpPr/>
            <p:nvPr/>
          </p:nvSpPr>
          <p:spPr>
            <a:xfrm>
              <a:off x="7034400" y="4772092"/>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65ADA985-2F1E-4A1F-9F86-885AF7B35781}"/>
                </a:ext>
              </a:extLst>
            </p:cNvPr>
            <p:cNvSpPr/>
            <p:nvPr/>
          </p:nvSpPr>
          <p:spPr>
            <a:xfrm>
              <a:off x="7766569" y="4459729"/>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5010C766-47F4-4A7E-8F19-097EDA78510A}"/>
                </a:ext>
              </a:extLst>
            </p:cNvPr>
            <p:cNvSpPr/>
            <p:nvPr/>
          </p:nvSpPr>
          <p:spPr>
            <a:xfrm>
              <a:off x="7329276" y="4923796"/>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54606425-4DBD-4AF4-94C1-D4C361AE715B}"/>
                </a:ext>
              </a:extLst>
            </p:cNvPr>
            <p:cNvSpPr/>
            <p:nvPr/>
          </p:nvSpPr>
          <p:spPr>
            <a:xfrm>
              <a:off x="7340569" y="4537074"/>
              <a:ext cx="119205" cy="1031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0084ABD4-B114-477A-B018-C3F87A021CA5}"/>
                </a:ext>
              </a:extLst>
            </p:cNvPr>
            <p:cNvSpPr/>
            <p:nvPr/>
          </p:nvSpPr>
          <p:spPr>
            <a:xfrm>
              <a:off x="7587135" y="4708859"/>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729BDE14-1797-410F-9685-71EF9C5BB6D9}"/>
                </a:ext>
              </a:extLst>
            </p:cNvPr>
            <p:cNvSpPr/>
            <p:nvPr/>
          </p:nvSpPr>
          <p:spPr>
            <a:xfrm>
              <a:off x="9292704" y="3556835"/>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BC7F191B-FA1B-4FE5-A6DE-0E765875F96B}"/>
                </a:ext>
              </a:extLst>
            </p:cNvPr>
            <p:cNvSpPr/>
            <p:nvPr/>
          </p:nvSpPr>
          <p:spPr>
            <a:xfrm>
              <a:off x="9173499" y="3866213"/>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6409E572-0503-4B20-8C5A-49221A2528CD}"/>
                </a:ext>
              </a:extLst>
            </p:cNvPr>
            <p:cNvSpPr/>
            <p:nvPr/>
          </p:nvSpPr>
          <p:spPr>
            <a:xfrm>
              <a:off x="9560915" y="3634179"/>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1C2F608F-8EFE-41B1-963C-082814F9914C}"/>
                </a:ext>
              </a:extLst>
            </p:cNvPr>
            <p:cNvSpPr/>
            <p:nvPr/>
          </p:nvSpPr>
          <p:spPr>
            <a:xfrm>
              <a:off x="9403439" y="4020902"/>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2311E12-C2A9-4784-A5D2-5940A0B2B18E}"/>
                </a:ext>
              </a:extLst>
            </p:cNvPr>
            <p:cNvSpPr/>
            <p:nvPr/>
          </p:nvSpPr>
          <p:spPr>
            <a:xfrm>
              <a:off x="9056490" y="3659961"/>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3E45D18D-241B-4D17-AF98-42FB6E740F87}"/>
                </a:ext>
              </a:extLst>
            </p:cNvPr>
            <p:cNvSpPr/>
            <p:nvPr/>
          </p:nvSpPr>
          <p:spPr>
            <a:xfrm>
              <a:off x="9463041" y="3817635"/>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E8DD3262-D849-48CF-B68F-9A1988C7838C}"/>
                </a:ext>
              </a:extLst>
            </p:cNvPr>
            <p:cNvSpPr/>
            <p:nvPr/>
          </p:nvSpPr>
          <p:spPr>
            <a:xfrm>
              <a:off x="9463041" y="4230139"/>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356A2C20-6E13-498D-8242-37659F9A6307}"/>
                </a:ext>
              </a:extLst>
            </p:cNvPr>
            <p:cNvSpPr/>
            <p:nvPr/>
          </p:nvSpPr>
          <p:spPr>
            <a:xfrm>
              <a:off x="9691726" y="3107287"/>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1FD21B41-6F4F-4C0A-B904-CF1B3DD73CB9}"/>
                </a:ext>
              </a:extLst>
            </p:cNvPr>
            <p:cNvSpPr/>
            <p:nvPr/>
          </p:nvSpPr>
          <p:spPr>
            <a:xfrm>
              <a:off x="9757917" y="4381843"/>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71011150-66E9-4E62-8ADA-6C4824C1835E}"/>
                </a:ext>
              </a:extLst>
            </p:cNvPr>
            <p:cNvSpPr/>
            <p:nvPr/>
          </p:nvSpPr>
          <p:spPr>
            <a:xfrm>
              <a:off x="9265725" y="3184632"/>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A4DCB97B-2533-4582-B0BC-1473A2247F6F}"/>
                </a:ext>
              </a:extLst>
            </p:cNvPr>
            <p:cNvSpPr/>
            <p:nvPr/>
          </p:nvSpPr>
          <p:spPr>
            <a:xfrm>
              <a:off x="9512291" y="3356417"/>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6674ED33-D9A7-43B2-8FF9-42622281A07D}"/>
                </a:ext>
              </a:extLst>
            </p:cNvPr>
            <p:cNvSpPr/>
            <p:nvPr/>
          </p:nvSpPr>
          <p:spPr>
            <a:xfrm>
              <a:off x="8348014" y="4194935"/>
              <a:ext cx="119205" cy="1031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7539A646-3560-48F6-BEBA-9F7D69E1F879}"/>
                </a:ext>
              </a:extLst>
            </p:cNvPr>
            <p:cNvSpPr/>
            <p:nvPr/>
          </p:nvSpPr>
          <p:spPr>
            <a:xfrm>
              <a:off x="7934084" y="4635857"/>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186B5C54-402F-4298-BFF6-24F31BC37BCB}"/>
                </a:ext>
              </a:extLst>
            </p:cNvPr>
            <p:cNvSpPr/>
            <p:nvPr/>
          </p:nvSpPr>
          <p:spPr>
            <a:xfrm>
              <a:off x="8321499" y="4403824"/>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E710A603-0DD4-46EA-82E5-8ED91257D5BA}"/>
                </a:ext>
              </a:extLst>
            </p:cNvPr>
            <p:cNvSpPr/>
            <p:nvPr/>
          </p:nvSpPr>
          <p:spPr>
            <a:xfrm>
              <a:off x="7749316" y="4154422"/>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0576B5C0-7018-4063-B478-A4A70A7219D2}"/>
                </a:ext>
              </a:extLst>
            </p:cNvPr>
            <p:cNvSpPr/>
            <p:nvPr/>
          </p:nvSpPr>
          <p:spPr>
            <a:xfrm>
              <a:off x="8704522" y="4481169"/>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F6973C56-8555-49CF-A0D5-794C8B22ED87}"/>
                </a:ext>
              </a:extLst>
            </p:cNvPr>
            <p:cNvSpPr/>
            <p:nvPr/>
          </p:nvSpPr>
          <p:spPr>
            <a:xfrm>
              <a:off x="8223626" y="4587279"/>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04DF86EB-C5EC-4B28-9547-E92E7D9920F9}"/>
                </a:ext>
              </a:extLst>
            </p:cNvPr>
            <p:cNvSpPr/>
            <p:nvPr/>
          </p:nvSpPr>
          <p:spPr>
            <a:xfrm>
              <a:off x="9473707" y="4492024"/>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9B54D11D-6141-4E0F-B818-389A816816BE}"/>
                </a:ext>
              </a:extLst>
            </p:cNvPr>
            <p:cNvSpPr/>
            <p:nvPr/>
          </p:nvSpPr>
          <p:spPr>
            <a:xfrm>
              <a:off x="8839412" y="4720529"/>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405C886E-4DB4-40FB-901D-FF34CC2D916B}"/>
                </a:ext>
              </a:extLst>
            </p:cNvPr>
            <p:cNvSpPr/>
            <p:nvPr/>
          </p:nvSpPr>
          <p:spPr>
            <a:xfrm>
              <a:off x="9109187" y="4692020"/>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A7388E78-DE79-47AC-B813-CF6D4902B451}"/>
                </a:ext>
              </a:extLst>
            </p:cNvPr>
            <p:cNvSpPr/>
            <p:nvPr/>
          </p:nvSpPr>
          <p:spPr>
            <a:xfrm>
              <a:off x="9294273" y="4741154"/>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53E16C57-9422-4BC2-B71B-E91BE2FEF68E}"/>
                </a:ext>
              </a:extLst>
            </p:cNvPr>
            <p:cNvSpPr/>
            <p:nvPr/>
          </p:nvSpPr>
          <p:spPr>
            <a:xfrm>
              <a:off x="6826891" y="3464699"/>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F807290C-53C9-4FBB-9BFD-60E409862B58}"/>
                </a:ext>
              </a:extLst>
            </p:cNvPr>
            <p:cNvSpPr/>
            <p:nvPr/>
          </p:nvSpPr>
          <p:spPr>
            <a:xfrm>
              <a:off x="6707686" y="3774077"/>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DBC9D371-A2B8-47EC-B81E-76F9ACA294BD}"/>
                </a:ext>
              </a:extLst>
            </p:cNvPr>
            <p:cNvSpPr/>
            <p:nvPr/>
          </p:nvSpPr>
          <p:spPr>
            <a:xfrm>
              <a:off x="7455382" y="2927223"/>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A0BEF1E5-64AF-4534-AEAF-BCD02600936A}"/>
                </a:ext>
              </a:extLst>
            </p:cNvPr>
            <p:cNvSpPr/>
            <p:nvPr/>
          </p:nvSpPr>
          <p:spPr>
            <a:xfrm>
              <a:off x="6937626" y="3928766"/>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896802BB-3DE8-4E33-91DE-EFFA9D252AC8}"/>
                </a:ext>
              </a:extLst>
            </p:cNvPr>
            <p:cNvSpPr/>
            <p:nvPr/>
          </p:nvSpPr>
          <p:spPr>
            <a:xfrm>
              <a:off x="6590677" y="3567825"/>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09945EC3-6069-47BD-BF10-AAB3E92D088E}"/>
                </a:ext>
              </a:extLst>
            </p:cNvPr>
            <p:cNvSpPr/>
            <p:nvPr/>
          </p:nvSpPr>
          <p:spPr>
            <a:xfrm>
              <a:off x="6997228" y="3725500"/>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53FBD680-BE9F-4E6C-98D8-6436CD364B50}"/>
                </a:ext>
              </a:extLst>
            </p:cNvPr>
            <p:cNvSpPr/>
            <p:nvPr/>
          </p:nvSpPr>
          <p:spPr>
            <a:xfrm>
              <a:off x="6997228" y="4138004"/>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79809DB1-B8BB-490C-A1B5-8920B7839E35}"/>
                </a:ext>
              </a:extLst>
            </p:cNvPr>
            <p:cNvSpPr/>
            <p:nvPr/>
          </p:nvSpPr>
          <p:spPr>
            <a:xfrm>
              <a:off x="6973544" y="3011488"/>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95889D37-F9A8-45E6-8C1E-1717A39036E6}"/>
                </a:ext>
              </a:extLst>
            </p:cNvPr>
            <p:cNvSpPr/>
            <p:nvPr/>
          </p:nvSpPr>
          <p:spPr>
            <a:xfrm>
              <a:off x="7100748" y="4422549"/>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D2A769E7-9102-47BD-B337-6AEDE194F89A}"/>
                </a:ext>
              </a:extLst>
            </p:cNvPr>
            <p:cNvSpPr/>
            <p:nvPr/>
          </p:nvSpPr>
          <p:spPr>
            <a:xfrm>
              <a:off x="9331915" y="3391290"/>
              <a:ext cx="119205" cy="1031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84D4CA16-CEF3-416A-B22C-C763AA010611}"/>
                </a:ext>
              </a:extLst>
            </p:cNvPr>
            <p:cNvSpPr/>
            <p:nvPr/>
          </p:nvSpPr>
          <p:spPr>
            <a:xfrm>
              <a:off x="7221430" y="4627400"/>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0" name="Straight Connector 99">
              <a:extLst>
                <a:ext uri="{FF2B5EF4-FFF2-40B4-BE49-F238E27FC236}">
                  <a16:creationId xmlns:a16="http://schemas.microsoft.com/office/drawing/2014/main" id="{F82B029F-D948-4C3F-8026-C798AEFD1902}"/>
                </a:ext>
              </a:extLst>
            </p:cNvPr>
            <p:cNvCxnSpPr>
              <a:cxnSpLocks/>
              <a:stCxn id="27" idx="4"/>
            </p:cNvCxnSpPr>
            <p:nvPr/>
          </p:nvCxnSpPr>
          <p:spPr>
            <a:xfrm>
              <a:off x="8060190" y="3600528"/>
              <a:ext cx="718364" cy="201720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DE5BF4BD-8333-490A-9A2C-CC5EC3DCBEDD}"/>
                </a:ext>
              </a:extLst>
            </p:cNvPr>
            <p:cNvCxnSpPr>
              <a:cxnSpLocks/>
              <a:stCxn id="98" idx="3"/>
            </p:cNvCxnSpPr>
            <p:nvPr/>
          </p:nvCxnSpPr>
          <p:spPr>
            <a:xfrm flipH="1">
              <a:off x="8773130" y="3479314"/>
              <a:ext cx="576242" cy="215673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CFC4E087-495A-4DA4-9BED-3731BFB43F84}"/>
                </a:ext>
              </a:extLst>
            </p:cNvPr>
            <p:cNvCxnSpPr>
              <a:cxnSpLocks/>
            </p:cNvCxnSpPr>
            <p:nvPr/>
          </p:nvCxnSpPr>
          <p:spPr>
            <a:xfrm flipH="1">
              <a:off x="8755836" y="4533566"/>
              <a:ext cx="430642" cy="10227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CA721A08-F073-454B-8937-5FC9C09306DD}"/>
                </a:ext>
              </a:extLst>
            </p:cNvPr>
            <p:cNvCxnSpPr>
              <a:cxnSpLocks/>
              <a:stCxn id="45" idx="4"/>
            </p:cNvCxnSpPr>
            <p:nvPr/>
          </p:nvCxnSpPr>
          <p:spPr>
            <a:xfrm>
              <a:off x="8503130" y="4002176"/>
              <a:ext cx="284915" cy="162623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10EBA60-E60E-4CF4-B7F0-25276971D76C}"/>
                </a:ext>
              </a:extLst>
            </p:cNvPr>
            <p:cNvCxnSpPr>
              <a:cxnSpLocks/>
              <a:stCxn id="20" idx="5"/>
            </p:cNvCxnSpPr>
            <p:nvPr/>
          </p:nvCxnSpPr>
          <p:spPr>
            <a:xfrm>
              <a:off x="7080625" y="3533863"/>
              <a:ext cx="1716439" cy="210218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65F6152B-191C-468A-944D-E2D46277DC09}"/>
                </a:ext>
              </a:extLst>
            </p:cNvPr>
            <p:cNvCxnSpPr>
              <a:cxnSpLocks/>
              <a:stCxn id="64" idx="6"/>
            </p:cNvCxnSpPr>
            <p:nvPr/>
          </p:nvCxnSpPr>
          <p:spPr>
            <a:xfrm>
              <a:off x="7459774" y="4588637"/>
              <a:ext cx="1363953" cy="104307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09" name="Oval 108">
              <a:extLst>
                <a:ext uri="{FF2B5EF4-FFF2-40B4-BE49-F238E27FC236}">
                  <a16:creationId xmlns:a16="http://schemas.microsoft.com/office/drawing/2014/main" id="{4B5F1A73-C447-4478-A41D-57866CB654AA}"/>
                </a:ext>
              </a:extLst>
            </p:cNvPr>
            <p:cNvSpPr/>
            <p:nvPr/>
          </p:nvSpPr>
          <p:spPr>
            <a:xfrm>
              <a:off x="9654453" y="4138004"/>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77" name="Rectangle 32776">
              <a:extLst>
                <a:ext uri="{FF2B5EF4-FFF2-40B4-BE49-F238E27FC236}">
                  <a16:creationId xmlns:a16="http://schemas.microsoft.com/office/drawing/2014/main" id="{E9E749D5-8FD4-4E38-8835-CF26D3A11A6A}"/>
                </a:ext>
              </a:extLst>
            </p:cNvPr>
            <p:cNvSpPr/>
            <p:nvPr/>
          </p:nvSpPr>
          <p:spPr>
            <a:xfrm>
              <a:off x="8075789" y="5586620"/>
              <a:ext cx="1504725" cy="4027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Base Station</a:t>
              </a:r>
            </a:p>
          </p:txBody>
        </p:sp>
        <p:sp>
          <p:nvSpPr>
            <p:cNvPr id="32779" name="Freeform: Shape 32778">
              <a:extLst>
                <a:ext uri="{FF2B5EF4-FFF2-40B4-BE49-F238E27FC236}">
                  <a16:creationId xmlns:a16="http://schemas.microsoft.com/office/drawing/2014/main" id="{E13C1ABE-1A18-4A7F-9602-48D88B94E426}"/>
                </a:ext>
              </a:extLst>
            </p:cNvPr>
            <p:cNvSpPr/>
            <p:nvPr/>
          </p:nvSpPr>
          <p:spPr>
            <a:xfrm>
              <a:off x="6541231" y="2847490"/>
              <a:ext cx="1079054" cy="1200188"/>
            </a:xfrm>
            <a:custGeom>
              <a:avLst/>
              <a:gdLst>
                <a:gd name="connsiteX0" fmla="*/ 318224 w 1275325"/>
                <a:gd name="connsiteY0" fmla="*/ 135623 h 1629933"/>
                <a:gd name="connsiteX1" fmla="*/ 1169014 w 1275325"/>
                <a:gd name="connsiteY1" fmla="*/ 48159 h 1629933"/>
                <a:gd name="connsiteX2" fmla="*/ 1256478 w 1275325"/>
                <a:gd name="connsiteY2" fmla="*/ 636556 h 1629933"/>
                <a:gd name="connsiteX3" fmla="*/ 1113355 w 1275325"/>
                <a:gd name="connsiteY3" fmla="*/ 1169293 h 1629933"/>
                <a:gd name="connsiteX4" fmla="*/ 787351 w 1275325"/>
                <a:gd name="connsiteY4" fmla="*/ 1487345 h 1629933"/>
                <a:gd name="connsiteX5" fmla="*/ 310273 w 1275325"/>
                <a:gd name="connsiteY5" fmla="*/ 1598663 h 1629933"/>
                <a:gd name="connsiteX6" fmla="*/ 172 w 1275325"/>
                <a:gd name="connsiteY6" fmla="*/ 938705 h 1629933"/>
                <a:gd name="connsiteX7" fmla="*/ 318224 w 1275325"/>
                <a:gd name="connsiteY7" fmla="*/ 135623 h 1629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75325" h="1629933">
                  <a:moveTo>
                    <a:pt x="318224" y="135623"/>
                  </a:moveTo>
                  <a:cubicBezTo>
                    <a:pt x="513031" y="-12801"/>
                    <a:pt x="1012638" y="-35330"/>
                    <a:pt x="1169014" y="48159"/>
                  </a:cubicBezTo>
                  <a:cubicBezTo>
                    <a:pt x="1325390" y="131648"/>
                    <a:pt x="1265754" y="449700"/>
                    <a:pt x="1256478" y="636556"/>
                  </a:cubicBezTo>
                  <a:cubicBezTo>
                    <a:pt x="1247202" y="823412"/>
                    <a:pt x="1191543" y="1027495"/>
                    <a:pt x="1113355" y="1169293"/>
                  </a:cubicBezTo>
                  <a:cubicBezTo>
                    <a:pt x="1035167" y="1311091"/>
                    <a:pt x="921198" y="1415783"/>
                    <a:pt x="787351" y="1487345"/>
                  </a:cubicBezTo>
                  <a:cubicBezTo>
                    <a:pt x="653504" y="1558907"/>
                    <a:pt x="441469" y="1690103"/>
                    <a:pt x="310273" y="1598663"/>
                  </a:cubicBezTo>
                  <a:cubicBezTo>
                    <a:pt x="179077" y="1507223"/>
                    <a:pt x="-6454" y="1187846"/>
                    <a:pt x="172" y="938705"/>
                  </a:cubicBezTo>
                  <a:cubicBezTo>
                    <a:pt x="6798" y="689564"/>
                    <a:pt x="123417" y="284047"/>
                    <a:pt x="318224" y="135623"/>
                  </a:cubicBezTo>
                  <a:close/>
                </a:path>
              </a:pathLst>
            </a:custGeom>
            <a:solidFill>
              <a:srgbClr val="00B0F0">
                <a:alpha val="2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790" name="Group 32789">
              <a:extLst>
                <a:ext uri="{FF2B5EF4-FFF2-40B4-BE49-F238E27FC236}">
                  <a16:creationId xmlns:a16="http://schemas.microsoft.com/office/drawing/2014/main" id="{3D4CB51D-65EC-4617-9EE3-504818476DB4}"/>
                </a:ext>
              </a:extLst>
            </p:cNvPr>
            <p:cNvGrpSpPr/>
            <p:nvPr/>
          </p:nvGrpSpPr>
          <p:grpSpPr>
            <a:xfrm>
              <a:off x="10190629" y="2693719"/>
              <a:ext cx="1935836" cy="727142"/>
              <a:chOff x="5295155" y="2743465"/>
              <a:chExt cx="1935836" cy="727142"/>
            </a:xfrm>
          </p:grpSpPr>
          <p:sp>
            <p:nvSpPr>
              <p:cNvPr id="131" name="Oval 130">
                <a:extLst>
                  <a:ext uri="{FF2B5EF4-FFF2-40B4-BE49-F238E27FC236}">
                    <a16:creationId xmlns:a16="http://schemas.microsoft.com/office/drawing/2014/main" id="{F04B9CC9-27F3-4641-A5EC-A7AE491483A8}"/>
                  </a:ext>
                </a:extLst>
              </p:cNvPr>
              <p:cNvSpPr/>
              <p:nvPr/>
            </p:nvSpPr>
            <p:spPr>
              <a:xfrm>
                <a:off x="5295155" y="2897282"/>
                <a:ext cx="119205" cy="1031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32" name="Oval 131">
                <a:extLst>
                  <a:ext uri="{FF2B5EF4-FFF2-40B4-BE49-F238E27FC236}">
                    <a16:creationId xmlns:a16="http://schemas.microsoft.com/office/drawing/2014/main" id="{3593D33C-523A-4BE3-8590-22BF1B512863}"/>
                  </a:ext>
                </a:extLst>
              </p:cNvPr>
              <p:cNvSpPr/>
              <p:nvPr/>
            </p:nvSpPr>
            <p:spPr>
              <a:xfrm>
                <a:off x="5385824" y="3244974"/>
                <a:ext cx="119205" cy="103126"/>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2789" name="TextBox 32788">
                <a:extLst>
                  <a:ext uri="{FF2B5EF4-FFF2-40B4-BE49-F238E27FC236}">
                    <a16:creationId xmlns:a16="http://schemas.microsoft.com/office/drawing/2014/main" id="{B98D64DC-81ED-4994-BD1C-42D0A6595585}"/>
                  </a:ext>
                </a:extLst>
              </p:cNvPr>
              <p:cNvSpPr txBox="1"/>
              <p:nvPr/>
            </p:nvSpPr>
            <p:spPr>
              <a:xfrm>
                <a:off x="5443035" y="2743465"/>
                <a:ext cx="147238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Cluster Head</a:t>
                </a:r>
              </a:p>
            </p:txBody>
          </p:sp>
          <p:sp>
            <p:nvSpPr>
              <p:cNvPr id="134" name="TextBox 133">
                <a:extLst>
                  <a:ext uri="{FF2B5EF4-FFF2-40B4-BE49-F238E27FC236}">
                    <a16:creationId xmlns:a16="http://schemas.microsoft.com/office/drawing/2014/main" id="{51993DF5-6FBA-4BF2-86A4-8905BDEE680A}"/>
                  </a:ext>
                </a:extLst>
              </p:cNvPr>
              <p:cNvSpPr txBox="1"/>
              <p:nvPr/>
            </p:nvSpPr>
            <p:spPr>
              <a:xfrm>
                <a:off x="5504671" y="3101275"/>
                <a:ext cx="172632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Cluster Member</a:t>
                </a:r>
              </a:p>
            </p:txBody>
          </p:sp>
        </p:grpSp>
        <p:cxnSp>
          <p:nvCxnSpPr>
            <p:cNvPr id="139" name="Straight Connector 138">
              <a:extLst>
                <a:ext uri="{FF2B5EF4-FFF2-40B4-BE49-F238E27FC236}">
                  <a16:creationId xmlns:a16="http://schemas.microsoft.com/office/drawing/2014/main" id="{9F807F1F-F75D-45FC-8817-DFC583CE25EC}"/>
                </a:ext>
              </a:extLst>
            </p:cNvPr>
            <p:cNvCxnSpPr>
              <a:cxnSpLocks/>
              <a:stCxn id="77" idx="0"/>
              <a:endCxn id="32777" idx="0"/>
            </p:cNvCxnSpPr>
            <p:nvPr/>
          </p:nvCxnSpPr>
          <p:spPr>
            <a:xfrm>
              <a:off x="8407617" y="4194935"/>
              <a:ext cx="420535" cy="139168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 name="TextBox 1"/>
          <p:cNvSpPr txBox="1"/>
          <p:nvPr/>
        </p:nvSpPr>
        <p:spPr>
          <a:xfrm>
            <a:off x="4489470" y="1889250"/>
            <a:ext cx="5584702" cy="646331"/>
          </a:xfrm>
          <a:prstGeom prst="rect">
            <a:avLst/>
          </a:prstGeom>
          <a:solidFill>
            <a:srgbClr val="FFCCCC"/>
          </a:solid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Each round of algorithm </a:t>
            </a:r>
            <a:r>
              <a:rPr lang="en-US" i="1"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 a new set of CH is selected and each CH gets a set of member nodes under its coverage. </a:t>
            </a:r>
          </a:p>
        </p:txBody>
      </p:sp>
      <p:sp>
        <p:nvSpPr>
          <p:cNvPr id="7" name="Slide Number Placeholder 6">
            <a:extLst>
              <a:ext uri="{FF2B5EF4-FFF2-40B4-BE49-F238E27FC236}">
                <a16:creationId xmlns:a16="http://schemas.microsoft.com/office/drawing/2014/main" id="{C5B8A91A-498C-43F7-8224-7AFCF7D6BF31}"/>
              </a:ext>
            </a:extLst>
          </p:cNvPr>
          <p:cNvSpPr>
            <a:spLocks noGrp="1"/>
          </p:cNvSpPr>
          <p:nvPr>
            <p:ph type="sldNum" sz="quarter" idx="12"/>
          </p:nvPr>
        </p:nvSpPr>
        <p:spPr/>
        <p:txBody>
          <a:bodyPr/>
          <a:lstStyle/>
          <a:p>
            <a:fld id="{C3F1913A-7668-436E-8561-76A60B792217}"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alpha val="46000"/>
          </a:schemeClr>
        </a:solidFill>
        <a:effectLst/>
      </p:bgPr>
    </p:bg>
    <p:spTree>
      <p:nvGrpSpPr>
        <p:cNvPr id="1" name=""/>
        <p:cNvGrpSpPr/>
        <p:nvPr/>
      </p:nvGrpSpPr>
      <p:grpSpPr>
        <a:xfrm>
          <a:off x="0" y="0"/>
          <a:ext cx="0" cy="0"/>
          <a:chOff x="0" y="0"/>
          <a:chExt cx="0" cy="0"/>
        </a:xfrm>
      </p:grpSpPr>
      <p:sp>
        <p:nvSpPr>
          <p:cNvPr id="111" name="TextBox 110"/>
          <p:cNvSpPr txBox="1"/>
          <p:nvPr/>
        </p:nvSpPr>
        <p:spPr>
          <a:xfrm>
            <a:off x="7200199" y="3260073"/>
            <a:ext cx="4672234" cy="830997"/>
          </a:xfrm>
          <a:prstGeom prst="rect">
            <a:avLst/>
          </a:prstGeom>
          <a:solidFill>
            <a:srgbClr val="FFFF00"/>
          </a:solid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Random number is found less than </a:t>
            </a:r>
            <a:r>
              <a:rPr lang="en-US" sz="2400" i="1"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n</a:t>
            </a:r>
            <a:r>
              <a:rPr lang="en-US" sz="2400" dirty="0">
                <a:latin typeface="Times New Roman" panose="02020603050405020304" pitchFamily="18" charset="0"/>
                <a:cs typeface="Times New Roman" panose="02020603050405020304" pitchFamily="18" charset="0"/>
              </a:rPr>
              <a:t>) for 8 blue nodes at </a:t>
            </a:r>
            <a:r>
              <a:rPr lang="en-US" sz="2400" i="1" dirty="0">
                <a:latin typeface="Times New Roman" panose="02020603050405020304" pitchFamily="18" charset="0"/>
                <a:cs typeface="Times New Roman" panose="02020603050405020304" pitchFamily="18" charset="0"/>
              </a:rPr>
              <a:t>r</a:t>
            </a:r>
            <a:r>
              <a:rPr lang="en-US" sz="2400" dirty="0">
                <a:latin typeface="Times New Roman" panose="02020603050405020304" pitchFamily="18" charset="0"/>
                <a:cs typeface="Times New Roman" panose="02020603050405020304" pitchFamily="18" charset="0"/>
              </a:rPr>
              <a:t> = 0.</a:t>
            </a:r>
          </a:p>
        </p:txBody>
      </p:sp>
      <p:sp>
        <p:nvSpPr>
          <p:cNvPr id="102" name="Rectangle 101">
            <a:extLst>
              <a:ext uri="{FF2B5EF4-FFF2-40B4-BE49-F238E27FC236}">
                <a16:creationId xmlns:a16="http://schemas.microsoft.com/office/drawing/2014/main" id="{7EB03050-8BAD-46EF-9A1B-F2EBAA782CFB}"/>
              </a:ext>
            </a:extLst>
          </p:cNvPr>
          <p:cNvSpPr/>
          <p:nvPr/>
        </p:nvSpPr>
        <p:spPr>
          <a:xfrm>
            <a:off x="7321387" y="2271149"/>
            <a:ext cx="4049442" cy="954107"/>
          </a:xfrm>
          <a:prstGeom prst="rect">
            <a:avLst/>
          </a:prstGeom>
          <a:solidFill>
            <a:srgbClr val="FFCCFF"/>
          </a:solidFill>
        </p:spPr>
        <p:txBody>
          <a:bodyPr wrap="none">
            <a:spAutoFit/>
          </a:bodyPr>
          <a:lstStyle/>
          <a:p>
            <a:r>
              <a:rPr lang="en-US" sz="2800" dirty="0">
                <a:latin typeface="Times New Roman" panose="02020603050405020304" pitchFamily="18" charset="0"/>
                <a:cs typeface="Times New Roman" panose="02020603050405020304" pitchFamily="18" charset="0"/>
              </a:rPr>
              <a:t>rand() &lt; </a:t>
            </a:r>
            <a:r>
              <a:rPr lang="en-US" sz="2800" i="1" dirty="0">
                <a:latin typeface="Times New Roman" panose="02020603050405020304" pitchFamily="18" charset="0"/>
                <a:cs typeface="Times New Roman" panose="02020603050405020304" pitchFamily="18" charset="0"/>
              </a:rPr>
              <a:t>T</a:t>
            </a:r>
            <a:r>
              <a:rPr lang="en-US" sz="2800" dirty="0">
                <a:latin typeface="Times New Roman" panose="02020603050405020304" pitchFamily="18" charset="0"/>
                <a:cs typeface="Times New Roman" panose="02020603050405020304" pitchFamily="18" charset="0"/>
              </a:rPr>
              <a:t>(</a:t>
            </a:r>
            <a:r>
              <a:rPr lang="en-US" sz="2800" i="1" dirty="0">
                <a:latin typeface="Times New Roman" panose="02020603050405020304" pitchFamily="18" charset="0"/>
                <a:cs typeface="Times New Roman" panose="02020603050405020304" pitchFamily="18" charset="0"/>
              </a:rPr>
              <a:t>n</a:t>
            </a:r>
            <a:r>
              <a:rPr lang="en-US" sz="2800" dirty="0">
                <a:latin typeface="Times New Roman" panose="02020603050405020304" pitchFamily="18" charset="0"/>
                <a:cs typeface="Times New Roman" panose="02020603050405020304" pitchFamily="18" charset="0"/>
              </a:rPr>
              <a:t>)</a:t>
            </a:r>
          </a:p>
          <a:p>
            <a:r>
              <a:rPr lang="en-US" sz="2800" dirty="0">
                <a:solidFill>
                  <a:srgbClr val="0000FF"/>
                </a:solidFill>
                <a:latin typeface="Times New Roman" panose="02020603050405020304" pitchFamily="18" charset="0"/>
                <a:cs typeface="Times New Roman" panose="02020603050405020304" pitchFamily="18" charset="0"/>
              </a:rPr>
              <a:t>Local rand() &lt; Global </a:t>
            </a:r>
            <a:r>
              <a:rPr lang="en-US" sz="2800" i="1" dirty="0">
                <a:solidFill>
                  <a:srgbClr val="0000FF"/>
                </a:solidFill>
                <a:latin typeface="Times New Roman" panose="02020603050405020304" pitchFamily="18" charset="0"/>
                <a:cs typeface="Times New Roman" panose="02020603050405020304" pitchFamily="18" charset="0"/>
              </a:rPr>
              <a:t>T</a:t>
            </a:r>
            <a:r>
              <a:rPr lang="en-US" sz="2800" dirty="0">
                <a:solidFill>
                  <a:srgbClr val="0000FF"/>
                </a:solidFill>
                <a:latin typeface="Times New Roman" panose="02020603050405020304" pitchFamily="18" charset="0"/>
                <a:cs typeface="Times New Roman" panose="02020603050405020304" pitchFamily="18" charset="0"/>
              </a:rPr>
              <a:t>(</a:t>
            </a:r>
            <a:r>
              <a:rPr lang="en-US" sz="2800" i="1" dirty="0">
                <a:solidFill>
                  <a:srgbClr val="0000FF"/>
                </a:solidFill>
                <a:latin typeface="Times New Roman" panose="02020603050405020304" pitchFamily="18" charset="0"/>
                <a:cs typeface="Times New Roman" panose="02020603050405020304" pitchFamily="18" charset="0"/>
              </a:rPr>
              <a:t>n</a:t>
            </a:r>
            <a:r>
              <a:rPr lang="en-US" sz="2800" dirty="0">
                <a:solidFill>
                  <a:srgbClr val="0000FF"/>
                </a:solidFill>
                <a:latin typeface="Times New Roman" panose="02020603050405020304" pitchFamily="18" charset="0"/>
                <a:cs typeface="Times New Roman" panose="02020603050405020304" pitchFamily="18" charset="0"/>
              </a:rPr>
              <a:t>)</a:t>
            </a:r>
            <a:endParaRPr lang="en-US" sz="2800" dirty="0">
              <a:solidFill>
                <a:srgbClr val="0000FF"/>
              </a:solidFill>
            </a:endParaRPr>
          </a:p>
        </p:txBody>
      </p:sp>
      <p:sp>
        <p:nvSpPr>
          <p:cNvPr id="110" name="TextBox 109">
            <a:extLst>
              <a:ext uri="{FF2B5EF4-FFF2-40B4-BE49-F238E27FC236}">
                <a16:creationId xmlns:a16="http://schemas.microsoft.com/office/drawing/2014/main" id="{EFD71813-A927-40B3-9DB7-115043A84B9D}"/>
              </a:ext>
            </a:extLst>
          </p:cNvPr>
          <p:cNvSpPr txBox="1"/>
          <p:nvPr/>
        </p:nvSpPr>
        <p:spPr>
          <a:xfrm>
            <a:off x="7216819" y="250024"/>
            <a:ext cx="4531116" cy="1938992"/>
          </a:xfrm>
          <a:prstGeom prst="rect">
            <a:avLst/>
          </a:prstGeom>
          <a:solidFill>
            <a:srgbClr val="FFFF00"/>
          </a:solid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CH selection algorithm has </a:t>
            </a:r>
            <a:r>
              <a:rPr lang="en-US" sz="2400" i="1" dirty="0">
                <a:latin typeface="Times New Roman" panose="02020603050405020304" pitchFamily="18" charset="0"/>
                <a:cs typeface="Times New Roman" panose="02020603050405020304" pitchFamily="18" charset="0"/>
              </a:rPr>
              <a:t>r</a:t>
            </a:r>
            <a:r>
              <a:rPr lang="en-US" sz="2400" dirty="0">
                <a:latin typeface="Times New Roman" panose="02020603050405020304" pitchFamily="18" charset="0"/>
                <a:cs typeface="Times New Roman" panose="02020603050405020304" pitchFamily="18" charset="0"/>
              </a:rPr>
              <a:t> = 0, 1, 2, 3,…,</a:t>
            </a:r>
            <a:r>
              <a:rPr lang="en-US" sz="2400" i="1" dirty="0">
                <a:latin typeface="Times New Roman" panose="02020603050405020304" pitchFamily="18" charset="0"/>
                <a:cs typeface="Times New Roman" panose="02020603050405020304" pitchFamily="18" charset="0"/>
              </a:rPr>
              <a:t>N</a:t>
            </a:r>
            <a:r>
              <a:rPr lang="en-US" sz="2400" dirty="0">
                <a:latin typeface="Times New Roman" panose="02020603050405020304" pitchFamily="18" charset="0"/>
                <a:cs typeface="Times New Roman" panose="02020603050405020304" pitchFamily="18" charset="0"/>
              </a:rPr>
              <a:t> -1 rounds and on each round it has a threshold number </a:t>
            </a:r>
            <a:r>
              <a:rPr lang="en-US" sz="2400" i="1"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n</a:t>
            </a:r>
            <a:r>
              <a:rPr lang="en-US" sz="2400" dirty="0">
                <a:latin typeface="Times New Roman" panose="02020603050405020304" pitchFamily="18" charset="0"/>
                <a:cs typeface="Times New Roman" panose="02020603050405020304" pitchFamily="18" charset="0"/>
              </a:rPr>
              <a:t>) and each  node generates a random number [0,1]. </a:t>
            </a:r>
          </a:p>
        </p:txBody>
      </p:sp>
      <p:grpSp>
        <p:nvGrpSpPr>
          <p:cNvPr id="117" name="Group 116">
            <a:extLst>
              <a:ext uri="{FF2B5EF4-FFF2-40B4-BE49-F238E27FC236}">
                <a16:creationId xmlns:a16="http://schemas.microsoft.com/office/drawing/2014/main" id="{36106D5B-3C44-4A7C-889B-C0C7550EC4C8}"/>
              </a:ext>
            </a:extLst>
          </p:cNvPr>
          <p:cNvGrpSpPr/>
          <p:nvPr/>
        </p:nvGrpSpPr>
        <p:grpSpPr>
          <a:xfrm>
            <a:off x="123848" y="230542"/>
            <a:ext cx="6790136" cy="5570450"/>
            <a:chOff x="123848" y="230542"/>
            <a:chExt cx="6790136" cy="5570450"/>
          </a:xfrm>
        </p:grpSpPr>
        <p:grpSp>
          <p:nvGrpSpPr>
            <p:cNvPr id="106" name="Group 105">
              <a:extLst>
                <a:ext uri="{FF2B5EF4-FFF2-40B4-BE49-F238E27FC236}">
                  <a16:creationId xmlns:a16="http://schemas.microsoft.com/office/drawing/2014/main" id="{C4AB33C8-6F5C-4A8B-A35C-298F8A6A19B0}"/>
                </a:ext>
              </a:extLst>
            </p:cNvPr>
            <p:cNvGrpSpPr/>
            <p:nvPr/>
          </p:nvGrpSpPr>
          <p:grpSpPr>
            <a:xfrm>
              <a:off x="240851" y="314716"/>
              <a:ext cx="6673133" cy="5486276"/>
              <a:chOff x="239851" y="321199"/>
              <a:chExt cx="7151238" cy="5931791"/>
            </a:xfrm>
          </p:grpSpPr>
          <p:sp>
            <p:nvSpPr>
              <p:cNvPr id="3" name="TextBox 2">
                <a:extLst>
                  <a:ext uri="{FF2B5EF4-FFF2-40B4-BE49-F238E27FC236}">
                    <a16:creationId xmlns:a16="http://schemas.microsoft.com/office/drawing/2014/main" id="{5C85A6E2-8BBB-4F46-9AB5-796BC92F9F51}"/>
                  </a:ext>
                </a:extLst>
              </p:cNvPr>
              <p:cNvSpPr txBox="1"/>
              <p:nvPr/>
            </p:nvSpPr>
            <p:spPr>
              <a:xfrm>
                <a:off x="3070280" y="5753835"/>
                <a:ext cx="3831871" cy="499155"/>
              </a:xfrm>
              <a:prstGeom prst="rect">
                <a:avLst/>
              </a:prstGeom>
              <a:solidFill>
                <a:srgbClr val="FFCCFF"/>
              </a:solidFill>
            </p:spPr>
            <p:txBody>
              <a:bodyPr wrap="square" rtlCol="0">
                <a:spAutoFit/>
              </a:bodyPr>
              <a:lstStyle/>
              <a:p>
                <a:r>
                  <a:rPr lang="en-US" sz="2400" dirty="0">
                    <a:latin typeface="Times New Roman" panose="02020603050405020304" pitchFamily="18" charset="0"/>
                    <a:cs typeface="Times New Roman" panose="02020603050405020304" pitchFamily="18" charset="0"/>
                  </a:rPr>
                  <a:t>Selected CH of 1</a:t>
                </a:r>
                <a:r>
                  <a:rPr lang="en-US" sz="2400" baseline="30000" dirty="0">
                    <a:latin typeface="Times New Roman" panose="02020603050405020304" pitchFamily="18" charset="0"/>
                    <a:cs typeface="Times New Roman" panose="02020603050405020304" pitchFamily="18" charset="0"/>
                  </a:rPr>
                  <a:t>st</a:t>
                </a:r>
                <a:r>
                  <a:rPr lang="en-US" sz="2400" dirty="0">
                    <a:latin typeface="Times New Roman" panose="02020603050405020304" pitchFamily="18" charset="0"/>
                    <a:cs typeface="Times New Roman" panose="02020603050405020304" pitchFamily="18" charset="0"/>
                  </a:rPr>
                  <a:t> round</a:t>
                </a:r>
              </a:p>
            </p:txBody>
          </p:sp>
          <p:grpSp>
            <p:nvGrpSpPr>
              <p:cNvPr id="104" name="Group 103">
                <a:extLst>
                  <a:ext uri="{FF2B5EF4-FFF2-40B4-BE49-F238E27FC236}">
                    <a16:creationId xmlns:a16="http://schemas.microsoft.com/office/drawing/2014/main" id="{1D8B74BE-C952-40CE-94AB-7EFCC4AA4F02}"/>
                  </a:ext>
                </a:extLst>
              </p:cNvPr>
              <p:cNvGrpSpPr/>
              <p:nvPr/>
            </p:nvGrpSpPr>
            <p:grpSpPr>
              <a:xfrm>
                <a:off x="239851" y="321199"/>
                <a:ext cx="7151238" cy="5168511"/>
                <a:chOff x="34269" y="60987"/>
                <a:chExt cx="7151238" cy="5168511"/>
              </a:xfrm>
            </p:grpSpPr>
            <p:sp>
              <p:nvSpPr>
                <p:cNvPr id="5" name="Oval 4"/>
                <p:cNvSpPr/>
                <p:nvPr/>
              </p:nvSpPr>
              <p:spPr>
                <a:xfrm>
                  <a:off x="899364" y="730702"/>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639778" y="1501229"/>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1483431" y="923334"/>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140505" y="1886493"/>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384975" y="987544"/>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2317519" y="1115965"/>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1270297" y="1380243"/>
                  <a:ext cx="259585" cy="256842"/>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1270297" y="2407613"/>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2864698" y="1629650"/>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1912430" y="2785442"/>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1937022" y="1822282"/>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2473953" y="2250127"/>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406498" y="60987"/>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2979462" y="980109"/>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3823114" y="402214"/>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3480188" y="1365373"/>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2724659" y="466424"/>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4657203" y="594846"/>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3609981" y="859123"/>
                  <a:ext cx="259585" cy="256842"/>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3609981" y="1886493"/>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5204382" y="1108531"/>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4252113" y="2264322"/>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4276706" y="1301163"/>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4813637" y="1729008"/>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3245195" y="2437352"/>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2985610" y="3207879"/>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3829263" y="2629984"/>
                  <a:ext cx="259585" cy="256842"/>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3486336" y="3593143"/>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2730807" y="2694194"/>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4663351" y="2822616"/>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3616129" y="3086893"/>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3807300" y="4618044"/>
                  <a:ext cx="259585" cy="256842"/>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5210530" y="3336301"/>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5386091" y="4005443"/>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4282854" y="3528932"/>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4819785" y="3956777"/>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389756" y="3127447"/>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1711903" y="3818660"/>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973823" y="3320079"/>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630897" y="4283238"/>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1474993" y="3090618"/>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1807912" y="3512710"/>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760690" y="4804358"/>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2355091" y="4026395"/>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1435683" y="4932779"/>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1427415" y="4219027"/>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964346" y="4646872"/>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5678466" y="1777674"/>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5418881" y="2548201"/>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6262533" y="1970306"/>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5919607" y="2933465"/>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5164077" y="2034516"/>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5786738" y="386668"/>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6049400" y="2427215"/>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6049400" y="3454585"/>
                  <a:ext cx="259585" cy="256842"/>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6547393" y="658043"/>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6691532" y="3832414"/>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5619716" y="850675"/>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6156648" y="1278520"/>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a:off x="2979462" y="3694528"/>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2719877" y="4465055"/>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3563529" y="3887159"/>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3220603" y="4850319"/>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2317519" y="3266006"/>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4397618" y="4079791"/>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3350396" y="4344069"/>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6200737" y="4621381"/>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6072626" y="4106828"/>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4691358" y="4675936"/>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5144950" y="4299460"/>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5681881" y="4727305"/>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308807" y="1548204"/>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49221" y="2318732"/>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p:cNvSpPr/>
                <p:nvPr/>
              </p:nvSpPr>
              <p:spPr>
                <a:xfrm>
                  <a:off x="1677437" y="209582"/>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549948" y="2703995"/>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424936" y="1963830"/>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679740" y="2197745"/>
                  <a:ext cx="259585" cy="256842"/>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p:cNvSpPr/>
                <p:nvPr/>
              </p:nvSpPr>
              <p:spPr>
                <a:xfrm>
                  <a:off x="679740" y="3225115"/>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290362" y="429758"/>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p:cNvSpPr/>
                <p:nvPr/>
              </p:nvSpPr>
              <p:spPr>
                <a:xfrm>
                  <a:off x="905170" y="3933796"/>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p:cNvSpPr/>
                <p:nvPr/>
              </p:nvSpPr>
              <p:spPr>
                <a:xfrm>
                  <a:off x="5763853" y="1365373"/>
                  <a:ext cx="259585" cy="256842"/>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p:cNvSpPr/>
                <p:nvPr/>
              </p:nvSpPr>
              <p:spPr>
                <a:xfrm>
                  <a:off x="1078683" y="4411659"/>
                  <a:ext cx="259585" cy="256842"/>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Straight Connector 89"/>
                <p:cNvCxnSpPr>
                  <a:stCxn id="11" idx="5"/>
                </p:cNvCxnSpPr>
                <p:nvPr/>
              </p:nvCxnSpPr>
              <p:spPr>
                <a:xfrm>
                  <a:off x="1491867" y="1599471"/>
                  <a:ext cx="3354219" cy="362597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3785132" y="945418"/>
                  <a:ext cx="1054464" cy="426539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86" idx="4"/>
                </p:cNvCxnSpPr>
                <p:nvPr/>
              </p:nvCxnSpPr>
              <p:spPr>
                <a:xfrm flipH="1">
                  <a:off x="4831671" y="1622216"/>
                  <a:ext cx="1061974" cy="358116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31" idx="4"/>
                </p:cNvCxnSpPr>
                <p:nvPr/>
              </p:nvCxnSpPr>
              <p:spPr>
                <a:xfrm>
                  <a:off x="3959055" y="2886826"/>
                  <a:ext cx="853558" cy="234267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cxnSpLocks/>
                  <a:stCxn id="60" idx="3"/>
                </p:cNvCxnSpPr>
                <p:nvPr/>
              </p:nvCxnSpPr>
              <p:spPr>
                <a:xfrm flipH="1">
                  <a:off x="4818010" y="3673813"/>
                  <a:ext cx="1269405" cy="150837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a:off x="883410" y="2348354"/>
                  <a:ext cx="3946550" cy="282978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a:off x="1208475" y="4540080"/>
                  <a:ext cx="3584668" cy="63805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36" idx="5"/>
                </p:cNvCxnSpPr>
                <p:nvPr/>
              </p:nvCxnSpPr>
              <p:spPr>
                <a:xfrm>
                  <a:off x="4028870" y="4837273"/>
                  <a:ext cx="776225" cy="33478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12" name="Oval 111"/>
                <p:cNvSpPr/>
                <p:nvPr/>
              </p:nvSpPr>
              <p:spPr>
                <a:xfrm>
                  <a:off x="6466226" y="3225115"/>
                  <a:ext cx="259585" cy="25684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9" name="Group 98">
                  <a:extLst>
                    <a:ext uri="{FF2B5EF4-FFF2-40B4-BE49-F238E27FC236}">
                      <a16:creationId xmlns:a16="http://schemas.microsoft.com/office/drawing/2014/main" id="{1B9A8F9F-65C8-48DB-8485-D76401B364C6}"/>
                    </a:ext>
                  </a:extLst>
                </p:cNvPr>
                <p:cNvGrpSpPr/>
                <p:nvPr/>
              </p:nvGrpSpPr>
              <p:grpSpPr>
                <a:xfrm>
                  <a:off x="34269" y="188117"/>
                  <a:ext cx="7151238" cy="4963340"/>
                  <a:chOff x="1568438" y="172580"/>
                  <a:chExt cx="8308405" cy="5858717"/>
                </a:xfrm>
              </p:grpSpPr>
              <p:sp>
                <p:nvSpPr>
                  <p:cNvPr id="88" name="Freeform: Shape 87">
                    <a:extLst>
                      <a:ext uri="{FF2B5EF4-FFF2-40B4-BE49-F238E27FC236}">
                        <a16:creationId xmlns:a16="http://schemas.microsoft.com/office/drawing/2014/main" id="{1F8F1C59-7576-4CF4-A557-6D7B329E2A9A}"/>
                      </a:ext>
                    </a:extLst>
                  </p:cNvPr>
                  <p:cNvSpPr/>
                  <p:nvPr/>
                </p:nvSpPr>
                <p:spPr>
                  <a:xfrm>
                    <a:off x="1568438" y="172580"/>
                    <a:ext cx="2990183" cy="2546397"/>
                  </a:xfrm>
                  <a:custGeom>
                    <a:avLst/>
                    <a:gdLst>
                      <a:gd name="connsiteX0" fmla="*/ 242495 w 3427588"/>
                      <a:gd name="connsiteY0" fmla="*/ 240622 h 2703966"/>
                      <a:gd name="connsiteX1" fmla="*/ 2173932 w 3427588"/>
                      <a:gd name="connsiteY1" fmla="*/ 44679 h 2703966"/>
                      <a:gd name="connsiteX2" fmla="*/ 3265613 w 3427588"/>
                      <a:gd name="connsiteY2" fmla="*/ 828450 h 2703966"/>
                      <a:gd name="connsiteX3" fmla="*/ 3312266 w 3427588"/>
                      <a:gd name="connsiteY3" fmla="*/ 2144067 h 2703966"/>
                      <a:gd name="connsiteX4" fmla="*/ 2211254 w 3427588"/>
                      <a:gd name="connsiteY4" fmla="*/ 2703903 h 2703966"/>
                      <a:gd name="connsiteX5" fmla="*/ 951621 w 3427588"/>
                      <a:gd name="connsiteY5" fmla="*/ 2116075 h 2703966"/>
                      <a:gd name="connsiteX6" fmla="*/ 102536 w 3427588"/>
                      <a:gd name="connsiteY6" fmla="*/ 1434940 h 2703966"/>
                      <a:gd name="connsiteX7" fmla="*/ 242495 w 3427588"/>
                      <a:gd name="connsiteY7" fmla="*/ 240622 h 270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7588" h="2703966">
                        <a:moveTo>
                          <a:pt x="242495" y="240622"/>
                        </a:moveTo>
                        <a:cubicBezTo>
                          <a:pt x="587728" y="8912"/>
                          <a:pt x="1670079" y="-53292"/>
                          <a:pt x="2173932" y="44679"/>
                        </a:cubicBezTo>
                        <a:cubicBezTo>
                          <a:pt x="2677785" y="142650"/>
                          <a:pt x="3075891" y="478552"/>
                          <a:pt x="3265613" y="828450"/>
                        </a:cubicBezTo>
                        <a:cubicBezTo>
                          <a:pt x="3455335" y="1178348"/>
                          <a:pt x="3487993" y="1831491"/>
                          <a:pt x="3312266" y="2144067"/>
                        </a:cubicBezTo>
                        <a:cubicBezTo>
                          <a:pt x="3136539" y="2456643"/>
                          <a:pt x="2604695" y="2708568"/>
                          <a:pt x="2211254" y="2703903"/>
                        </a:cubicBezTo>
                        <a:cubicBezTo>
                          <a:pt x="1817813" y="2699238"/>
                          <a:pt x="1303074" y="2327569"/>
                          <a:pt x="951621" y="2116075"/>
                        </a:cubicBezTo>
                        <a:cubicBezTo>
                          <a:pt x="600168" y="1904581"/>
                          <a:pt x="216058" y="1747516"/>
                          <a:pt x="102536" y="1434940"/>
                        </a:cubicBezTo>
                        <a:cubicBezTo>
                          <a:pt x="-10986" y="1122364"/>
                          <a:pt x="-102738" y="472332"/>
                          <a:pt x="242495" y="240622"/>
                        </a:cubicBezTo>
                        <a:close/>
                      </a:path>
                    </a:pathLst>
                  </a:custGeom>
                  <a:solidFill>
                    <a:srgbClr val="00B0F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reeform: Shape 94">
                    <a:extLst>
                      <a:ext uri="{FF2B5EF4-FFF2-40B4-BE49-F238E27FC236}">
                        <a16:creationId xmlns:a16="http://schemas.microsoft.com/office/drawing/2014/main" id="{99AD25C5-467C-4459-BAE3-CBF174C7374F}"/>
                      </a:ext>
                    </a:extLst>
                  </p:cNvPr>
                  <p:cNvSpPr/>
                  <p:nvPr/>
                </p:nvSpPr>
                <p:spPr>
                  <a:xfrm>
                    <a:off x="6878260" y="305916"/>
                    <a:ext cx="2687562" cy="2909754"/>
                  </a:xfrm>
                  <a:custGeom>
                    <a:avLst/>
                    <a:gdLst>
                      <a:gd name="connsiteX0" fmla="*/ 555988 w 3527695"/>
                      <a:gd name="connsiteY0" fmla="*/ 124671 h 2909755"/>
                      <a:gd name="connsiteX1" fmla="*/ 555988 w 3527695"/>
                      <a:gd name="connsiteY1" fmla="*/ 189985 h 2909755"/>
                      <a:gd name="connsiteX2" fmla="*/ 61465 w 3527695"/>
                      <a:gd name="connsiteY2" fmla="*/ 1654891 h 2909755"/>
                      <a:gd name="connsiteX3" fmla="*/ 2151522 w 3527695"/>
                      <a:gd name="connsiteY3" fmla="*/ 2895862 h 2909755"/>
                      <a:gd name="connsiteX4" fmla="*/ 3429816 w 3527695"/>
                      <a:gd name="connsiteY4" fmla="*/ 2196067 h 2909755"/>
                      <a:gd name="connsiteX5" fmla="*/ 3205882 w 3527695"/>
                      <a:gd name="connsiteY5" fmla="*/ 329944 h 2909755"/>
                      <a:gd name="connsiteX6" fmla="*/ 1349090 w 3527695"/>
                      <a:gd name="connsiteY6" fmla="*/ 12703 h 2909755"/>
                      <a:gd name="connsiteX7" fmla="*/ 583980 w 3527695"/>
                      <a:gd name="connsiteY7" fmla="*/ 68687 h 2909755"/>
                      <a:gd name="connsiteX8" fmla="*/ 555988 w 3527695"/>
                      <a:gd name="connsiteY8" fmla="*/ 124671 h 2909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7695" h="2909755">
                        <a:moveTo>
                          <a:pt x="555988" y="124671"/>
                        </a:moveTo>
                        <a:cubicBezTo>
                          <a:pt x="551323" y="144887"/>
                          <a:pt x="638409" y="-65052"/>
                          <a:pt x="555988" y="189985"/>
                        </a:cubicBezTo>
                        <a:cubicBezTo>
                          <a:pt x="473567" y="445022"/>
                          <a:pt x="-204457" y="1203912"/>
                          <a:pt x="61465" y="1654891"/>
                        </a:cubicBezTo>
                        <a:cubicBezTo>
                          <a:pt x="327387" y="2105870"/>
                          <a:pt x="1590130" y="2805666"/>
                          <a:pt x="2151522" y="2895862"/>
                        </a:cubicBezTo>
                        <a:cubicBezTo>
                          <a:pt x="2712914" y="2986058"/>
                          <a:pt x="3254089" y="2623720"/>
                          <a:pt x="3429816" y="2196067"/>
                        </a:cubicBezTo>
                        <a:cubicBezTo>
                          <a:pt x="3605543" y="1768414"/>
                          <a:pt x="3552670" y="693838"/>
                          <a:pt x="3205882" y="329944"/>
                        </a:cubicBezTo>
                        <a:cubicBezTo>
                          <a:pt x="2859094" y="-33950"/>
                          <a:pt x="1786074" y="56246"/>
                          <a:pt x="1349090" y="12703"/>
                        </a:cubicBezTo>
                        <a:cubicBezTo>
                          <a:pt x="912106" y="-30840"/>
                          <a:pt x="714609" y="50026"/>
                          <a:pt x="583980" y="68687"/>
                        </a:cubicBezTo>
                        <a:cubicBezTo>
                          <a:pt x="453351" y="87348"/>
                          <a:pt x="560653" y="104455"/>
                          <a:pt x="555988" y="124671"/>
                        </a:cubicBezTo>
                        <a:close/>
                      </a:path>
                    </a:pathLst>
                  </a:custGeom>
                  <a:solidFill>
                    <a:srgbClr val="FFCCFF">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Shape 95">
                    <a:extLst>
                      <a:ext uri="{FF2B5EF4-FFF2-40B4-BE49-F238E27FC236}">
                        <a16:creationId xmlns:a16="http://schemas.microsoft.com/office/drawing/2014/main" id="{0740A4C3-84C4-4F16-83CD-785AFD19E523}"/>
                      </a:ext>
                    </a:extLst>
                  </p:cNvPr>
                  <p:cNvSpPr/>
                  <p:nvPr/>
                </p:nvSpPr>
                <p:spPr>
                  <a:xfrm>
                    <a:off x="7361124" y="2816215"/>
                    <a:ext cx="2515719" cy="3215082"/>
                  </a:xfrm>
                  <a:custGeom>
                    <a:avLst/>
                    <a:gdLst>
                      <a:gd name="connsiteX0" fmla="*/ 864283 w 3221726"/>
                      <a:gd name="connsiteY0" fmla="*/ 17819 h 3582123"/>
                      <a:gd name="connsiteX1" fmla="*/ 5866 w 3221726"/>
                      <a:gd name="connsiteY1" fmla="*/ 866905 h 3582123"/>
                      <a:gd name="connsiteX2" fmla="*/ 565703 w 3221726"/>
                      <a:gd name="connsiteY2" fmla="*/ 3059599 h 3582123"/>
                      <a:gd name="connsiteX3" fmla="*/ 2021279 w 3221726"/>
                      <a:gd name="connsiteY3" fmla="*/ 3507468 h 3582123"/>
                      <a:gd name="connsiteX4" fmla="*/ 3131622 w 3221726"/>
                      <a:gd name="connsiteY4" fmla="*/ 1883942 h 3582123"/>
                      <a:gd name="connsiteX5" fmla="*/ 2898356 w 3221726"/>
                      <a:gd name="connsiteY5" fmla="*/ 419035 h 3582123"/>
                      <a:gd name="connsiteX6" fmla="*/ 864283 w 3221726"/>
                      <a:gd name="connsiteY6" fmla="*/ 17819 h 3582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21726" h="3582123">
                        <a:moveTo>
                          <a:pt x="864283" y="17819"/>
                        </a:moveTo>
                        <a:cubicBezTo>
                          <a:pt x="382201" y="92464"/>
                          <a:pt x="55629" y="359942"/>
                          <a:pt x="5866" y="866905"/>
                        </a:cubicBezTo>
                        <a:cubicBezTo>
                          <a:pt x="-43897" y="1373868"/>
                          <a:pt x="229801" y="2619505"/>
                          <a:pt x="565703" y="3059599"/>
                        </a:cubicBezTo>
                        <a:cubicBezTo>
                          <a:pt x="901605" y="3499693"/>
                          <a:pt x="1593626" y="3703411"/>
                          <a:pt x="2021279" y="3507468"/>
                        </a:cubicBezTo>
                        <a:cubicBezTo>
                          <a:pt x="2448932" y="3311525"/>
                          <a:pt x="2985443" y="2398681"/>
                          <a:pt x="3131622" y="1883942"/>
                        </a:cubicBezTo>
                        <a:cubicBezTo>
                          <a:pt x="3277801" y="1369203"/>
                          <a:pt x="3276246" y="730055"/>
                          <a:pt x="2898356" y="419035"/>
                        </a:cubicBezTo>
                        <a:cubicBezTo>
                          <a:pt x="2520466" y="108015"/>
                          <a:pt x="1346365" y="-56826"/>
                          <a:pt x="864283" y="17819"/>
                        </a:cubicBezTo>
                        <a:close/>
                      </a:path>
                    </a:pathLst>
                  </a:custGeom>
                  <a:solidFill>
                    <a:srgbClr val="CCECFF">
                      <a:alpha val="1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2" name="Freeform: Shape 1">
              <a:extLst>
                <a:ext uri="{FF2B5EF4-FFF2-40B4-BE49-F238E27FC236}">
                  <a16:creationId xmlns:a16="http://schemas.microsoft.com/office/drawing/2014/main" id="{300E16D0-EED3-41CB-AE3E-74840955883D}"/>
                </a:ext>
              </a:extLst>
            </p:cNvPr>
            <p:cNvSpPr/>
            <p:nvPr/>
          </p:nvSpPr>
          <p:spPr>
            <a:xfrm>
              <a:off x="2657789" y="230542"/>
              <a:ext cx="2376946" cy="2054400"/>
            </a:xfrm>
            <a:custGeom>
              <a:avLst/>
              <a:gdLst>
                <a:gd name="connsiteX0" fmla="*/ 2184799 w 2376946"/>
                <a:gd name="connsiteY0" fmla="*/ 49376 h 2054400"/>
                <a:gd name="connsiteX1" fmla="*/ 2371411 w 2376946"/>
                <a:gd name="connsiteY1" fmla="*/ 637205 h 2054400"/>
                <a:gd name="connsiteX2" fmla="*/ 2278105 w 2376946"/>
                <a:gd name="connsiteY2" fmla="*/ 1682234 h 2054400"/>
                <a:gd name="connsiteX3" fmla="*/ 1867558 w 2376946"/>
                <a:gd name="connsiteY3" fmla="*/ 2046127 h 2054400"/>
                <a:gd name="connsiteX4" fmla="*/ 738554 w 2376946"/>
                <a:gd name="connsiteY4" fmla="*/ 1906168 h 2054400"/>
                <a:gd name="connsiteX5" fmla="*/ 197378 w 2376946"/>
                <a:gd name="connsiteY5" fmla="*/ 1560936 h 2054400"/>
                <a:gd name="connsiteX6" fmla="*/ 29427 w 2376946"/>
                <a:gd name="connsiteY6" fmla="*/ 459923 h 2054400"/>
                <a:gd name="connsiteX7" fmla="*/ 747884 w 2376946"/>
                <a:gd name="connsiteY7" fmla="*/ 77368 h 2054400"/>
                <a:gd name="connsiteX8" fmla="*/ 2184799 w 2376946"/>
                <a:gd name="connsiteY8" fmla="*/ 49376 h 205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6946" h="2054400">
                  <a:moveTo>
                    <a:pt x="2184799" y="49376"/>
                  </a:moveTo>
                  <a:cubicBezTo>
                    <a:pt x="2455387" y="142682"/>
                    <a:pt x="2355860" y="365062"/>
                    <a:pt x="2371411" y="637205"/>
                  </a:cubicBezTo>
                  <a:cubicBezTo>
                    <a:pt x="2386962" y="909348"/>
                    <a:pt x="2362081" y="1447414"/>
                    <a:pt x="2278105" y="1682234"/>
                  </a:cubicBezTo>
                  <a:cubicBezTo>
                    <a:pt x="2194130" y="1917054"/>
                    <a:pt x="2124150" y="2008805"/>
                    <a:pt x="1867558" y="2046127"/>
                  </a:cubicBezTo>
                  <a:cubicBezTo>
                    <a:pt x="1610966" y="2083449"/>
                    <a:pt x="1016917" y="1987033"/>
                    <a:pt x="738554" y="1906168"/>
                  </a:cubicBezTo>
                  <a:cubicBezTo>
                    <a:pt x="460191" y="1825303"/>
                    <a:pt x="315566" y="1801977"/>
                    <a:pt x="197378" y="1560936"/>
                  </a:cubicBezTo>
                  <a:cubicBezTo>
                    <a:pt x="79190" y="1319895"/>
                    <a:pt x="-62324" y="707184"/>
                    <a:pt x="29427" y="459923"/>
                  </a:cubicBezTo>
                  <a:cubicBezTo>
                    <a:pt x="121178" y="212662"/>
                    <a:pt x="387100" y="142682"/>
                    <a:pt x="747884" y="77368"/>
                  </a:cubicBezTo>
                  <a:cubicBezTo>
                    <a:pt x="1108668" y="12054"/>
                    <a:pt x="1914211" y="-43930"/>
                    <a:pt x="2184799" y="49376"/>
                  </a:cubicBezTo>
                  <a:close/>
                </a:path>
              </a:pathLst>
            </a:custGeom>
            <a:solidFill>
              <a:srgbClr val="92D050">
                <a:alpha val="24000"/>
              </a:srgb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Freeform: Shape 97">
              <a:extLst>
                <a:ext uri="{FF2B5EF4-FFF2-40B4-BE49-F238E27FC236}">
                  <a16:creationId xmlns:a16="http://schemas.microsoft.com/office/drawing/2014/main" id="{4DB2056B-0F63-4801-817E-73F5993EE38B}"/>
                </a:ext>
              </a:extLst>
            </p:cNvPr>
            <p:cNvSpPr/>
            <p:nvPr/>
          </p:nvSpPr>
          <p:spPr>
            <a:xfrm>
              <a:off x="123848" y="2024302"/>
              <a:ext cx="1958311" cy="1752929"/>
            </a:xfrm>
            <a:custGeom>
              <a:avLst/>
              <a:gdLst>
                <a:gd name="connsiteX0" fmla="*/ 90161 w 1958311"/>
                <a:gd name="connsiteY0" fmla="*/ 193604 h 1752929"/>
                <a:gd name="connsiteX1" fmla="*/ 722458 w 1958311"/>
                <a:gd name="connsiteY1" fmla="*/ 28234 h 1752929"/>
                <a:gd name="connsiteX2" fmla="*/ 1364484 w 1958311"/>
                <a:gd name="connsiteY2" fmla="*/ 329792 h 1752929"/>
                <a:gd name="connsiteX3" fmla="*/ 1880050 w 1958311"/>
                <a:gd name="connsiteY3" fmla="*/ 806447 h 1752929"/>
                <a:gd name="connsiteX4" fmla="*/ 1870322 w 1958311"/>
                <a:gd name="connsiteY4" fmla="*/ 1302558 h 1752929"/>
                <a:gd name="connsiteX5" fmla="*/ 1062926 w 1958311"/>
                <a:gd name="connsiteY5" fmla="*/ 1652753 h 1752929"/>
                <a:gd name="connsiteX6" fmla="*/ 109616 w 1958311"/>
                <a:gd name="connsiteY6" fmla="*/ 1623570 h 1752929"/>
                <a:gd name="connsiteX7" fmla="*/ 90161 w 1958311"/>
                <a:gd name="connsiteY7" fmla="*/ 193604 h 175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8311" h="1752929">
                  <a:moveTo>
                    <a:pt x="90161" y="193604"/>
                  </a:moveTo>
                  <a:cubicBezTo>
                    <a:pt x="192301" y="-72285"/>
                    <a:pt x="510071" y="5536"/>
                    <a:pt x="722458" y="28234"/>
                  </a:cubicBezTo>
                  <a:cubicBezTo>
                    <a:pt x="934845" y="50932"/>
                    <a:pt x="1171552" y="200090"/>
                    <a:pt x="1364484" y="329792"/>
                  </a:cubicBezTo>
                  <a:cubicBezTo>
                    <a:pt x="1557416" y="459494"/>
                    <a:pt x="1795744" y="644319"/>
                    <a:pt x="1880050" y="806447"/>
                  </a:cubicBezTo>
                  <a:cubicBezTo>
                    <a:pt x="1964356" y="968575"/>
                    <a:pt x="2006509" y="1161507"/>
                    <a:pt x="1870322" y="1302558"/>
                  </a:cubicBezTo>
                  <a:cubicBezTo>
                    <a:pt x="1734135" y="1443609"/>
                    <a:pt x="1356377" y="1599251"/>
                    <a:pt x="1062926" y="1652753"/>
                  </a:cubicBezTo>
                  <a:cubicBezTo>
                    <a:pt x="769475" y="1706255"/>
                    <a:pt x="273365" y="1863519"/>
                    <a:pt x="109616" y="1623570"/>
                  </a:cubicBezTo>
                  <a:cubicBezTo>
                    <a:pt x="-54133" y="1383621"/>
                    <a:pt x="-11979" y="459493"/>
                    <a:pt x="90161" y="193604"/>
                  </a:cubicBezTo>
                  <a:close/>
                </a:path>
              </a:pathLst>
            </a:cu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Shape 113">
              <a:extLst>
                <a:ext uri="{FF2B5EF4-FFF2-40B4-BE49-F238E27FC236}">
                  <a16:creationId xmlns:a16="http://schemas.microsoft.com/office/drawing/2014/main" id="{F289BE05-8673-4470-8AC5-8161FB8ED7CA}"/>
                </a:ext>
              </a:extLst>
            </p:cNvPr>
            <p:cNvSpPr/>
            <p:nvPr/>
          </p:nvSpPr>
          <p:spPr>
            <a:xfrm>
              <a:off x="2720321" y="3540712"/>
              <a:ext cx="2173967" cy="1734797"/>
            </a:xfrm>
            <a:custGeom>
              <a:avLst/>
              <a:gdLst>
                <a:gd name="connsiteX0" fmla="*/ 110428 w 2173967"/>
                <a:gd name="connsiteY0" fmla="*/ 340624 h 1734797"/>
                <a:gd name="connsiteX1" fmla="*/ 878913 w 2173967"/>
                <a:gd name="connsiteY1" fmla="*/ 156 h 1734797"/>
                <a:gd name="connsiteX2" fmla="*/ 1666853 w 2173967"/>
                <a:gd name="connsiteY2" fmla="*/ 301714 h 1734797"/>
                <a:gd name="connsiteX3" fmla="*/ 2075415 w 2173967"/>
                <a:gd name="connsiteY3" fmla="*/ 671365 h 1734797"/>
                <a:gd name="connsiteX4" fmla="*/ 2153236 w 2173967"/>
                <a:gd name="connsiteY4" fmla="*/ 1167475 h 1734797"/>
                <a:gd name="connsiteX5" fmla="*/ 1773858 w 2173967"/>
                <a:gd name="connsiteY5" fmla="*/ 1624675 h 1734797"/>
                <a:gd name="connsiteX6" fmla="*/ 840002 w 2173967"/>
                <a:gd name="connsiteY6" fmla="*/ 1731679 h 1734797"/>
                <a:gd name="connsiteX7" fmla="*/ 285526 w 2173967"/>
                <a:gd name="connsiteY7" fmla="*/ 1546854 h 1734797"/>
                <a:gd name="connsiteX8" fmla="*/ 22879 w 2173967"/>
                <a:gd name="connsiteY8" fmla="*/ 827007 h 1734797"/>
                <a:gd name="connsiteX9" fmla="*/ 110428 w 2173967"/>
                <a:gd name="connsiteY9" fmla="*/ 340624 h 1734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73967" h="1734797">
                  <a:moveTo>
                    <a:pt x="110428" y="340624"/>
                  </a:moveTo>
                  <a:cubicBezTo>
                    <a:pt x="253100" y="202816"/>
                    <a:pt x="619509" y="6641"/>
                    <a:pt x="878913" y="156"/>
                  </a:cubicBezTo>
                  <a:cubicBezTo>
                    <a:pt x="1138317" y="-6329"/>
                    <a:pt x="1467436" y="189846"/>
                    <a:pt x="1666853" y="301714"/>
                  </a:cubicBezTo>
                  <a:cubicBezTo>
                    <a:pt x="1866270" y="413582"/>
                    <a:pt x="1994351" y="527072"/>
                    <a:pt x="2075415" y="671365"/>
                  </a:cubicBezTo>
                  <a:cubicBezTo>
                    <a:pt x="2156479" y="815659"/>
                    <a:pt x="2203495" y="1008590"/>
                    <a:pt x="2153236" y="1167475"/>
                  </a:cubicBezTo>
                  <a:cubicBezTo>
                    <a:pt x="2102977" y="1326360"/>
                    <a:pt x="1992730" y="1530641"/>
                    <a:pt x="1773858" y="1624675"/>
                  </a:cubicBezTo>
                  <a:cubicBezTo>
                    <a:pt x="1554986" y="1718709"/>
                    <a:pt x="1088057" y="1744649"/>
                    <a:pt x="840002" y="1731679"/>
                  </a:cubicBezTo>
                  <a:cubicBezTo>
                    <a:pt x="591947" y="1718709"/>
                    <a:pt x="421713" y="1697633"/>
                    <a:pt x="285526" y="1546854"/>
                  </a:cubicBezTo>
                  <a:cubicBezTo>
                    <a:pt x="149339" y="1396075"/>
                    <a:pt x="52062" y="1031288"/>
                    <a:pt x="22879" y="827007"/>
                  </a:cubicBezTo>
                  <a:cubicBezTo>
                    <a:pt x="-6304" y="622726"/>
                    <a:pt x="-32244" y="478432"/>
                    <a:pt x="110428" y="340624"/>
                  </a:cubicBezTo>
                  <a:close/>
                </a:path>
              </a:pathLst>
            </a:cu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885A5F16-EB0A-44D0-9DCF-0795C40393A4}"/>
                </a:ext>
              </a:extLst>
            </p:cNvPr>
            <p:cNvSpPr/>
            <p:nvPr/>
          </p:nvSpPr>
          <p:spPr>
            <a:xfrm>
              <a:off x="558009" y="3370875"/>
              <a:ext cx="2470217" cy="2183885"/>
            </a:xfrm>
            <a:custGeom>
              <a:avLst/>
              <a:gdLst>
                <a:gd name="connsiteX0" fmla="*/ 327208 w 2470217"/>
                <a:gd name="connsiteY0" fmla="*/ 598010 h 2183885"/>
                <a:gd name="connsiteX1" fmla="*/ 512034 w 2470217"/>
                <a:gd name="connsiteY1" fmla="*/ 510461 h 2183885"/>
                <a:gd name="connsiteX2" fmla="*/ 1241608 w 2470217"/>
                <a:gd name="connsiteY2" fmla="*/ 24078 h 2183885"/>
                <a:gd name="connsiteX3" fmla="*/ 1893361 w 2470217"/>
                <a:gd name="connsiteY3" fmla="*/ 160265 h 2183885"/>
                <a:gd name="connsiteX4" fmla="*/ 2418655 w 2470217"/>
                <a:gd name="connsiteY4" fmla="*/ 899568 h 2183885"/>
                <a:gd name="connsiteX5" fmla="*/ 2360289 w 2470217"/>
                <a:gd name="connsiteY5" fmla="*/ 1347040 h 2183885"/>
                <a:gd name="connsiteX6" fmla="*/ 1620987 w 2470217"/>
                <a:gd name="connsiteY6" fmla="*/ 1969610 h 2183885"/>
                <a:gd name="connsiteX7" fmla="*/ 667676 w 2470217"/>
                <a:gd name="connsiteY7" fmla="*/ 2154436 h 2183885"/>
                <a:gd name="connsiteX8" fmla="*/ 6195 w 2470217"/>
                <a:gd name="connsiteY8" fmla="*/ 1415134 h 2183885"/>
                <a:gd name="connsiteX9" fmla="*/ 327208 w 2470217"/>
                <a:gd name="connsiteY9" fmla="*/ 598010 h 2183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0217" h="2183885">
                  <a:moveTo>
                    <a:pt x="327208" y="598010"/>
                  </a:moveTo>
                  <a:cubicBezTo>
                    <a:pt x="411515" y="447231"/>
                    <a:pt x="359634" y="606116"/>
                    <a:pt x="512034" y="510461"/>
                  </a:cubicBezTo>
                  <a:cubicBezTo>
                    <a:pt x="664434" y="414806"/>
                    <a:pt x="1011387" y="82444"/>
                    <a:pt x="1241608" y="24078"/>
                  </a:cubicBezTo>
                  <a:cubicBezTo>
                    <a:pt x="1471829" y="-34288"/>
                    <a:pt x="1697187" y="14350"/>
                    <a:pt x="1893361" y="160265"/>
                  </a:cubicBezTo>
                  <a:cubicBezTo>
                    <a:pt x="2089535" y="306180"/>
                    <a:pt x="2340834" y="701772"/>
                    <a:pt x="2418655" y="899568"/>
                  </a:cubicBezTo>
                  <a:cubicBezTo>
                    <a:pt x="2496476" y="1097364"/>
                    <a:pt x="2493234" y="1168700"/>
                    <a:pt x="2360289" y="1347040"/>
                  </a:cubicBezTo>
                  <a:cubicBezTo>
                    <a:pt x="2227344" y="1525380"/>
                    <a:pt x="1903089" y="1835044"/>
                    <a:pt x="1620987" y="1969610"/>
                  </a:cubicBezTo>
                  <a:cubicBezTo>
                    <a:pt x="1338885" y="2104176"/>
                    <a:pt x="936808" y="2246849"/>
                    <a:pt x="667676" y="2154436"/>
                  </a:cubicBezTo>
                  <a:cubicBezTo>
                    <a:pt x="398544" y="2062023"/>
                    <a:pt x="58076" y="1674538"/>
                    <a:pt x="6195" y="1415134"/>
                  </a:cubicBezTo>
                  <a:cubicBezTo>
                    <a:pt x="-45686" y="1155730"/>
                    <a:pt x="242901" y="748789"/>
                    <a:pt x="327208" y="598010"/>
                  </a:cubicBezTo>
                  <a:close/>
                </a:path>
              </a:pathLst>
            </a:custGeom>
            <a:solidFill>
              <a:srgbClr val="FF00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Freeform: Shape 115">
              <a:extLst>
                <a:ext uri="{FF2B5EF4-FFF2-40B4-BE49-F238E27FC236}">
                  <a16:creationId xmlns:a16="http://schemas.microsoft.com/office/drawing/2014/main" id="{7E0FF85D-1B16-4571-9310-29D2F0EF4E93}"/>
                </a:ext>
              </a:extLst>
            </p:cNvPr>
            <p:cNvSpPr/>
            <p:nvPr/>
          </p:nvSpPr>
          <p:spPr>
            <a:xfrm>
              <a:off x="2146619" y="2065552"/>
              <a:ext cx="2565978" cy="1739835"/>
            </a:xfrm>
            <a:custGeom>
              <a:avLst/>
              <a:gdLst>
                <a:gd name="connsiteX0" fmla="*/ 156899 w 2565978"/>
                <a:gd name="connsiteY0" fmla="*/ 50185 h 1579378"/>
                <a:gd name="connsiteX1" fmla="*/ 1304763 w 2565978"/>
                <a:gd name="connsiteY1" fmla="*/ 50185 h 1579378"/>
                <a:gd name="connsiteX2" fmla="*/ 1917605 w 2565978"/>
                <a:gd name="connsiteY2" fmla="*/ 40458 h 1579378"/>
                <a:gd name="connsiteX3" fmla="*/ 2530448 w 2565978"/>
                <a:gd name="connsiteY3" fmla="*/ 624117 h 1579378"/>
                <a:gd name="connsiteX4" fmla="*/ 2423444 w 2565978"/>
                <a:gd name="connsiteY4" fmla="*/ 1412058 h 1579378"/>
                <a:gd name="connsiteX5" fmla="*/ 1849512 w 2565978"/>
                <a:gd name="connsiteY5" fmla="*/ 1577428 h 1579378"/>
                <a:gd name="connsiteX6" fmla="*/ 867018 w 2565978"/>
                <a:gd name="connsiteY6" fmla="*/ 1480151 h 1579378"/>
                <a:gd name="connsiteX7" fmla="*/ 283358 w 2565978"/>
                <a:gd name="connsiteY7" fmla="*/ 1159139 h 1579378"/>
                <a:gd name="connsiteX8" fmla="*/ 20712 w 2565978"/>
                <a:gd name="connsiteY8" fmla="*/ 546296 h 1579378"/>
                <a:gd name="connsiteX9" fmla="*/ 156899 w 2565978"/>
                <a:gd name="connsiteY9" fmla="*/ 50185 h 1579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65978" h="1579378">
                  <a:moveTo>
                    <a:pt x="156899" y="50185"/>
                  </a:moveTo>
                  <a:cubicBezTo>
                    <a:pt x="370907" y="-32500"/>
                    <a:pt x="1011312" y="51806"/>
                    <a:pt x="1304763" y="50185"/>
                  </a:cubicBezTo>
                  <a:cubicBezTo>
                    <a:pt x="1598214" y="48564"/>
                    <a:pt x="1713324" y="-55197"/>
                    <a:pt x="1917605" y="40458"/>
                  </a:cubicBezTo>
                  <a:cubicBezTo>
                    <a:pt x="2121886" y="136113"/>
                    <a:pt x="2446142" y="395517"/>
                    <a:pt x="2530448" y="624117"/>
                  </a:cubicBezTo>
                  <a:cubicBezTo>
                    <a:pt x="2614754" y="852717"/>
                    <a:pt x="2536933" y="1253173"/>
                    <a:pt x="2423444" y="1412058"/>
                  </a:cubicBezTo>
                  <a:cubicBezTo>
                    <a:pt x="2309955" y="1570943"/>
                    <a:pt x="2108916" y="1566079"/>
                    <a:pt x="1849512" y="1577428"/>
                  </a:cubicBezTo>
                  <a:cubicBezTo>
                    <a:pt x="1590108" y="1588777"/>
                    <a:pt x="1128044" y="1549866"/>
                    <a:pt x="867018" y="1480151"/>
                  </a:cubicBezTo>
                  <a:cubicBezTo>
                    <a:pt x="605992" y="1410436"/>
                    <a:pt x="424409" y="1314781"/>
                    <a:pt x="283358" y="1159139"/>
                  </a:cubicBezTo>
                  <a:cubicBezTo>
                    <a:pt x="142307" y="1003497"/>
                    <a:pt x="36925" y="729500"/>
                    <a:pt x="20712" y="546296"/>
                  </a:cubicBezTo>
                  <a:cubicBezTo>
                    <a:pt x="4499" y="363092"/>
                    <a:pt x="-57109" y="132870"/>
                    <a:pt x="156899" y="50185"/>
                  </a:cubicBezTo>
                  <a:close/>
                </a:path>
              </a:pathLst>
            </a:custGeom>
            <a:solidFill>
              <a:srgbClr val="FFFF00">
                <a:alpha val="3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13" name="Object 1">
                <a:extLst>
                  <a:ext uri="{FF2B5EF4-FFF2-40B4-BE49-F238E27FC236}">
                    <a16:creationId xmlns:a16="http://schemas.microsoft.com/office/drawing/2014/main" id="{01ABA75E-B1CC-4D78-8778-EEB70815883C}"/>
                  </a:ext>
                </a:extLst>
              </p:cNvPr>
              <p:cNvSpPr txBox="1"/>
              <p:nvPr/>
            </p:nvSpPr>
            <p:spPr bwMode="auto">
              <a:xfrm>
                <a:off x="7332749" y="4555095"/>
                <a:ext cx="4532367" cy="1245897"/>
              </a:xfrm>
              <a:prstGeom prst="rect">
                <a:avLst/>
              </a:prstGeom>
              <a:solidFill>
                <a:srgbClr val="CCFFFF"/>
              </a:solidFill>
              <a:ln>
                <a:noFill/>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𝑇</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d>
                        <m:dPr>
                          <m:begChr m:val="{"/>
                          <m:endChr m:val=""/>
                          <m:ctrlPr>
                            <a:rPr lang="en-US" sz="2800" i="1">
                              <a:solidFill>
                                <a:srgbClr val="000000"/>
                              </a:solidFill>
                              <a:latin typeface="Cambria Math" panose="02040503050406030204" pitchFamily="18" charset="0"/>
                            </a:rPr>
                          </m:ctrlPr>
                        </m:dPr>
                        <m:e>
                          <m:eqArr>
                            <m:eqArrPr>
                              <m:ctrlPr>
                                <a:rPr lang="en-US" sz="2800" i="1">
                                  <a:solidFill>
                                    <a:srgbClr val="000000"/>
                                  </a:solidFill>
                                  <a:latin typeface="Cambria Math" panose="02040503050406030204" pitchFamily="18" charset="0"/>
                                </a:rPr>
                              </m:ctrlPr>
                            </m:eqArrPr>
                            <m:e>
                              <m:r>
                                <a:rPr lang="en-US" sz="2800" i="1">
                                  <a:solidFill>
                                    <a:srgbClr val="000000"/>
                                  </a:solidFill>
                                  <a:latin typeface="Cambria Math" panose="02040503050406030204" pitchFamily="18" charset="0"/>
                                </a:rPr>
                                <m:t>&amp;</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𝑝</m:t>
                                  </m:r>
                                </m:num>
                                <m:den>
                                  <m:r>
                                    <a:rPr lang="en-US" sz="2800" i="1">
                                      <a:solidFill>
                                        <a:srgbClr val="000000"/>
                                      </a:solidFill>
                                      <a:latin typeface="Cambria Math" panose="02040503050406030204" pitchFamily="18" charset="0"/>
                                    </a:rPr>
                                    <m:t>1−</m:t>
                                  </m:r>
                                  <m:r>
                                    <a:rPr lang="en-US" sz="2800" i="1">
                                      <a:solidFill>
                                        <a:srgbClr val="000000"/>
                                      </a:solidFill>
                                      <a:latin typeface="Cambria Math" panose="02040503050406030204" pitchFamily="18" charset="0"/>
                                    </a:rPr>
                                    <m:t>𝑝</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𝑟</m:t>
                                  </m:r>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mod</m:t>
                                      </m:r>
                                    </m:fName>
                                    <m:e>
                                      <m:r>
                                        <a:rPr lang="en-US" sz="2800" i="1">
                                          <a:solidFill>
                                            <a:srgbClr val="000000"/>
                                          </a:solidFill>
                                          <a:latin typeface="Cambria Math" panose="02040503050406030204" pitchFamily="18" charset="0"/>
                                        </a:rPr>
                                        <m:t>(</m:t>
                                      </m:r>
                                    </m:e>
                                  </m:func>
                                  <m:r>
                                    <a:rPr lang="en-US" sz="2800" i="1">
                                      <a:solidFill>
                                        <a:srgbClr val="000000"/>
                                      </a:solidFill>
                                      <a:latin typeface="Cambria Math" panose="02040503050406030204" pitchFamily="18" charset="0"/>
                                    </a:rPr>
                                    <m:t>1/</m:t>
                                  </m:r>
                                  <m:r>
                                    <a:rPr lang="en-US" sz="2800" i="1">
                                      <a:solidFill>
                                        <a:srgbClr val="000000"/>
                                      </a:solidFill>
                                      <a:latin typeface="Cambria Math" panose="02040503050406030204" pitchFamily="18" charset="0"/>
                                    </a:rPr>
                                    <m:t>𝑝</m:t>
                                  </m:r>
                                  <m:r>
                                    <a:rPr lang="en-US" sz="2800" i="1">
                                      <a:solidFill>
                                        <a:srgbClr val="000000"/>
                                      </a:solidFill>
                                      <a:latin typeface="Cambria Math" panose="02040503050406030204" pitchFamily="18" charset="0"/>
                                    </a:rPr>
                                    <m:t>))</m:t>
                                  </m:r>
                                </m:den>
                              </m:f>
                              <m:r>
                                <a:rPr lang="en-US" sz="2800" i="1">
                                  <a:solidFill>
                                    <a:srgbClr val="000000"/>
                                  </a:solidFill>
                                  <a:latin typeface="Cambria Math" panose="02040503050406030204" pitchFamily="18" charset="0"/>
                                </a:rPr>
                                <m:t> </m:t>
                              </m:r>
                              <m:r>
                                <m:rPr>
                                  <m:nor/>
                                </m:rPr>
                                <a:rPr lang="en-US" sz="2800" i="0">
                                  <a:solidFill>
                                    <a:srgbClr val="000000"/>
                                  </a:solidFill>
                                  <a:latin typeface="Cambria Math" panose="02040503050406030204" pitchFamily="18" charset="0"/>
                                </a:rPr>
                                <m:t>for</m:t>
                              </m:r>
                              <m:r>
                                <a:rPr lang="en-US" sz="2800" i="1">
                                  <a:solidFill>
                                    <a:srgbClr val="000000"/>
                                  </a:solidFill>
                                  <a:latin typeface="Cambria Math" panose="02040503050406030204" pitchFamily="18" charset="0"/>
                                </a:rPr>
                                <m:t> </m:t>
                              </m:r>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𝐺</m:t>
                              </m:r>
                            </m:e>
                            <m:e>
                              <m:r>
                                <a:rPr lang="en-US" sz="2800" i="1">
                                  <a:solidFill>
                                    <a:srgbClr val="000000"/>
                                  </a:solidFill>
                                  <a:latin typeface="Cambria Math" panose="02040503050406030204" pitchFamily="18" charset="0"/>
                                </a:rPr>
                                <m:t>&amp;0        </m:t>
                              </m:r>
                              <m:r>
                                <m:rPr>
                                  <m:nor/>
                                </m:rPr>
                                <a:rPr lang="en-US" sz="2800" i="0">
                                  <a:solidFill>
                                    <a:srgbClr val="000000"/>
                                  </a:solidFill>
                                  <a:latin typeface="Cambria Math" panose="02040503050406030204" pitchFamily="18" charset="0"/>
                                </a:rPr>
                                <m:t>otherwise</m:t>
                              </m:r>
                            </m:e>
                          </m:eqArr>
                        </m:e>
                      </m:d>
                    </m:oMath>
                  </m:oMathPara>
                </a14:m>
                <a:endParaRPr lang="en-US" sz="2800" dirty="0"/>
              </a:p>
            </p:txBody>
          </p:sp>
        </mc:Choice>
        <mc:Fallback xmlns="">
          <p:sp>
            <p:nvSpPr>
              <p:cNvPr id="113" name="Object 1">
                <a:extLst>
                  <a:ext uri="{FF2B5EF4-FFF2-40B4-BE49-F238E27FC236}">
                    <a16:creationId xmlns:a16="http://schemas.microsoft.com/office/drawing/2014/main" id="{01ABA75E-B1CC-4D78-8778-EEB70815883C}"/>
                  </a:ext>
                </a:extLst>
              </p:cNvPr>
              <p:cNvSpPr txBox="1">
                <a:spLocks noRot="1" noChangeAspect="1" noMove="1" noResize="1" noEditPoints="1" noAdjustHandles="1" noChangeArrowheads="1" noChangeShapeType="1" noTextEdit="1"/>
              </p:cNvSpPr>
              <p:nvPr/>
            </p:nvSpPr>
            <p:spPr bwMode="auto">
              <a:xfrm>
                <a:off x="7332749" y="4555095"/>
                <a:ext cx="4532367" cy="1245897"/>
              </a:xfrm>
              <a:prstGeom prst="rect">
                <a:avLst/>
              </a:prstGeom>
              <a:blipFill>
                <a:blip r:embed="rId2"/>
                <a:stretch>
                  <a:fillRect/>
                </a:stretch>
              </a:blipFill>
              <a:ln>
                <a:noFill/>
              </a:ln>
            </p:spPr>
            <p:txBody>
              <a:bodyPr/>
              <a:lstStyle/>
              <a:p>
                <a:r>
                  <a:rPr lang="en-US">
                    <a:noFill/>
                  </a:rPr>
                  <a:t> </a:t>
                </a:r>
              </a:p>
            </p:txBody>
          </p:sp>
        </mc:Fallback>
      </mc:AlternateContent>
      <p:sp>
        <p:nvSpPr>
          <p:cNvPr id="89" name="Rectangle 88">
            <a:extLst>
              <a:ext uri="{FF2B5EF4-FFF2-40B4-BE49-F238E27FC236}">
                <a16:creationId xmlns:a16="http://schemas.microsoft.com/office/drawing/2014/main" id="{0A2B1570-74C4-450E-800B-F4A0111AF3CE}"/>
              </a:ext>
            </a:extLst>
          </p:cNvPr>
          <p:cNvSpPr/>
          <p:nvPr/>
        </p:nvSpPr>
        <p:spPr>
          <a:xfrm>
            <a:off x="261021" y="5876942"/>
            <a:ext cx="11361899" cy="646331"/>
          </a:xfrm>
          <a:prstGeom prst="rect">
            <a:avLst/>
          </a:prstGeom>
        </p:spPr>
        <p:txBody>
          <a:bodyPr wrap="square">
            <a:spAutoFit/>
          </a:bodyPr>
          <a:lstStyle/>
          <a:p>
            <a:pPr algn="just">
              <a:spcBef>
                <a:spcPct val="50000"/>
              </a:spcBef>
              <a:buFont typeface="Wingdings" panose="05000000000000000000" pitchFamily="2" charset="2"/>
              <a:buChar char="v"/>
            </a:pPr>
            <a:r>
              <a:rPr lang="en-US" dirty="0">
                <a:solidFill>
                  <a:srgbClr val="0000FF"/>
                </a:solidFill>
                <a:latin typeface="Times New Roman" panose="02020603050405020304" pitchFamily="18" charset="0"/>
                <a:cs typeface="Times New Roman" panose="02020603050405020304" pitchFamily="18" charset="0"/>
              </a:rPr>
              <a:t>where </a:t>
            </a:r>
            <a:r>
              <a:rPr lang="en-US" i="1" dirty="0">
                <a:solidFill>
                  <a:srgbClr val="0000FF"/>
                </a:solidFill>
                <a:latin typeface="Times New Roman" panose="02020603050405020304" pitchFamily="18" charset="0"/>
                <a:cs typeface="Times New Roman" panose="02020603050405020304" pitchFamily="18" charset="0"/>
              </a:rPr>
              <a:t>p</a:t>
            </a:r>
            <a:r>
              <a:rPr lang="en-US" dirty="0">
                <a:solidFill>
                  <a:srgbClr val="0000FF"/>
                </a:solidFill>
                <a:latin typeface="Times New Roman" panose="02020603050405020304" pitchFamily="18" charset="0"/>
                <a:cs typeface="Times New Roman" panose="02020603050405020304" pitchFamily="18" charset="0"/>
              </a:rPr>
              <a:t> is the ratio of the total number of cluster heads to the total number of nodes</a:t>
            </a:r>
            <a:r>
              <a:rPr lang="en-US" dirty="0">
                <a:latin typeface="Times New Roman" panose="02020603050405020304" pitchFamily="18" charset="0"/>
                <a:cs typeface="Times New Roman" panose="02020603050405020304" pitchFamily="18" charset="0"/>
              </a:rPr>
              <a:t>, </a:t>
            </a:r>
            <a:r>
              <a:rPr lang="en-US" i="1" dirty="0">
                <a:solidFill>
                  <a:srgbClr val="FF0000"/>
                </a:solidFill>
                <a:latin typeface="Times New Roman" panose="02020603050405020304" pitchFamily="18" charset="0"/>
                <a:cs typeface="Times New Roman" panose="02020603050405020304" pitchFamily="18" charset="0"/>
              </a:rPr>
              <a:t>r</a:t>
            </a:r>
            <a:r>
              <a:rPr lang="en-US" dirty="0">
                <a:solidFill>
                  <a:srgbClr val="FF0000"/>
                </a:solidFill>
                <a:latin typeface="Times New Roman" panose="02020603050405020304" pitchFamily="18" charset="0"/>
                <a:cs typeface="Times New Roman" panose="02020603050405020304" pitchFamily="18" charset="0"/>
              </a:rPr>
              <a:t> is the number of rounds</a:t>
            </a:r>
            <a:r>
              <a:rPr lang="en-US" dirty="0">
                <a:latin typeface="Times New Roman" panose="02020603050405020304" pitchFamily="18" charset="0"/>
                <a:cs typeface="Times New Roman" panose="02020603050405020304" pitchFamily="18" charset="0"/>
              </a:rPr>
              <a:t>, and </a:t>
            </a:r>
            <a:r>
              <a:rPr lang="en-US" i="1" dirty="0">
                <a:solidFill>
                  <a:srgbClr val="FF0000"/>
                </a:solidFill>
                <a:latin typeface="Times New Roman" panose="02020603050405020304" pitchFamily="18" charset="0"/>
                <a:cs typeface="Times New Roman" panose="02020603050405020304" pitchFamily="18" charset="0"/>
              </a:rPr>
              <a:t>G</a:t>
            </a:r>
            <a:r>
              <a:rPr lang="en-US" dirty="0">
                <a:solidFill>
                  <a:srgbClr val="FF0000"/>
                </a:solidFill>
                <a:latin typeface="Times New Roman" panose="02020603050405020304" pitchFamily="18" charset="0"/>
                <a:cs typeface="Times New Roman" panose="02020603050405020304" pitchFamily="18" charset="0"/>
              </a:rPr>
              <a:t> is a set of nodes that have not been chosen as cluster heads</a:t>
            </a:r>
            <a:r>
              <a:rPr lang="en-US" dirty="0">
                <a:latin typeface="Times New Roman" panose="02020603050405020304" pitchFamily="18" charset="0"/>
                <a:cs typeface="Times New Roman" panose="02020603050405020304" pitchFamily="18" charset="0"/>
              </a:rPr>
              <a:t> till the last rounds. </a:t>
            </a:r>
          </a:p>
        </p:txBody>
      </p:sp>
      <p:sp>
        <p:nvSpPr>
          <p:cNvPr id="91" name="Slide Number Placeholder 90">
            <a:extLst>
              <a:ext uri="{FF2B5EF4-FFF2-40B4-BE49-F238E27FC236}">
                <a16:creationId xmlns:a16="http://schemas.microsoft.com/office/drawing/2014/main" id="{B0A8F7B9-CE1F-412A-A749-5A79290B47F7}"/>
              </a:ext>
            </a:extLst>
          </p:cNvPr>
          <p:cNvSpPr>
            <a:spLocks noGrp="1"/>
          </p:cNvSpPr>
          <p:nvPr>
            <p:ph type="sldNum" sz="quarter" idx="12"/>
          </p:nvPr>
        </p:nvSpPr>
        <p:spPr/>
        <p:txBody>
          <a:bodyPr/>
          <a:lstStyle/>
          <a:p>
            <a:fld id="{C3F1913A-7668-436E-8561-76A60B792217}" type="slidenum">
              <a:rPr lang="en-US" smtClean="0"/>
              <a:t>23</a:t>
            </a:fld>
            <a:endParaRPr lang="en-US"/>
          </a:p>
        </p:txBody>
      </p:sp>
    </p:spTree>
    <p:extLst>
      <p:ext uri="{BB962C8B-B14F-4D97-AF65-F5344CB8AC3E}">
        <p14:creationId xmlns:p14="http://schemas.microsoft.com/office/powerpoint/2010/main" val="3327685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93E2868-1453-4E74-8A55-41237B4BA501}"/>
              </a:ext>
            </a:extLst>
          </p:cNvPr>
          <p:cNvGrpSpPr/>
          <p:nvPr/>
        </p:nvGrpSpPr>
        <p:grpSpPr>
          <a:xfrm>
            <a:off x="370173" y="96653"/>
            <a:ext cx="11095117" cy="6686620"/>
            <a:chOff x="370173" y="96653"/>
            <a:chExt cx="11095117" cy="6686620"/>
          </a:xfrm>
        </p:grpSpPr>
        <p:sp>
          <p:nvSpPr>
            <p:cNvPr id="58" name="Oval 57"/>
            <p:cNvSpPr/>
            <p:nvPr/>
          </p:nvSpPr>
          <p:spPr>
            <a:xfrm>
              <a:off x="8734920" y="16563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3" name="Group 92"/>
            <p:cNvGrpSpPr/>
            <p:nvPr/>
          </p:nvGrpSpPr>
          <p:grpSpPr>
            <a:xfrm>
              <a:off x="1594988" y="96653"/>
              <a:ext cx="9870302" cy="6430476"/>
              <a:chOff x="70987" y="96653"/>
              <a:chExt cx="9870302" cy="6430476"/>
            </a:xfrm>
          </p:grpSpPr>
          <p:sp>
            <p:nvSpPr>
              <p:cNvPr id="5" name="Oval 4"/>
              <p:cNvSpPr/>
              <p:nvPr/>
            </p:nvSpPr>
            <p:spPr>
              <a:xfrm>
                <a:off x="1368392" y="71507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063592" y="162947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054192" y="94367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651535" y="2086676"/>
                <a:ext cx="304800" cy="3048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64407" y="101987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3033562" y="117227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1803935" y="1485899"/>
                <a:ext cx="304800" cy="3048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1803935" y="2705099"/>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3676049" y="1781876"/>
                <a:ext cx="304800" cy="3048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2557914" y="315347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2586790" y="201047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3217244" y="2518208"/>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115602" y="966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3810802" y="10110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4801402" y="3252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4398745" y="14682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3511617" y="4014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5780772" y="5538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4551145" y="867476"/>
                <a:ext cx="304800" cy="3048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4551145" y="208667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6423259" y="11634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5305124" y="25350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5334000" y="13920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5964454" y="1899785"/>
                <a:ext cx="304800" cy="3048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4122821" y="274039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3818021" y="365479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4808621" y="2968991"/>
                <a:ext cx="304800" cy="3048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4405964" y="411199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3518836" y="304519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5787991" y="319759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4558364" y="3511214"/>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4782833" y="5328261"/>
                <a:ext cx="304800" cy="3048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6430478" y="3807191"/>
                <a:ext cx="304800" cy="3048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6636618" y="460127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5341219" y="403579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5971673" y="454352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770021" y="3559340"/>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465221" y="4473740"/>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1455821" y="3787940"/>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1053164" y="4930940"/>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166036" y="3864140"/>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2435191" y="4016540"/>
                <a:ext cx="304800" cy="3048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1205564" y="554936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3077678" y="4626140"/>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1959543" y="5997740"/>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1988419" y="4854740"/>
                <a:ext cx="304800" cy="3048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2618873" y="5362472"/>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6979919" y="1957538"/>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6675119" y="2871938"/>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7665719" y="2186138"/>
                <a:ext cx="304800" cy="3048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7263062" y="3329138"/>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6375934" y="2262338"/>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7415462" y="272836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7415462" y="394756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8000195" y="62885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8169441" y="4395938"/>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6910936" y="85745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7541390" y="136518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a:off x="3810802" y="423230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3506002" y="514670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4496602" y="446090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4093945" y="5603906"/>
                <a:ext cx="304800" cy="3048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3033562" y="372377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5475972" y="468950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4246345" y="5003129"/>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4246345" y="6222329"/>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7442734" y="472159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5820876" y="539696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6353475" y="495019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6983929" y="545792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674972" y="1685222"/>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370172" y="2599622"/>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p:cNvSpPr/>
              <p:nvPr/>
            </p:nvSpPr>
            <p:spPr>
              <a:xfrm>
                <a:off x="2281990" y="966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958115" y="3056822"/>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70987" y="1990022"/>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1110515" y="2456045"/>
                <a:ext cx="304800" cy="3048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p:cNvSpPr/>
              <p:nvPr/>
            </p:nvSpPr>
            <p:spPr>
              <a:xfrm>
                <a:off x="1110515" y="3675245"/>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1049956" y="345707"/>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p:cNvSpPr/>
              <p:nvPr/>
            </p:nvSpPr>
            <p:spPr>
              <a:xfrm>
                <a:off x="1375210" y="451625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p:cNvSpPr/>
              <p:nvPr/>
            </p:nvSpPr>
            <p:spPr>
              <a:xfrm>
                <a:off x="7080178" y="1468253"/>
                <a:ext cx="304800" cy="3048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p:cNvSpPr/>
              <p:nvPr/>
            </p:nvSpPr>
            <p:spPr>
              <a:xfrm>
                <a:off x="1578945" y="5083340"/>
                <a:ext cx="304800" cy="3048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Straight Connector 89"/>
              <p:cNvCxnSpPr>
                <a:stCxn id="13" idx="4"/>
              </p:cNvCxnSpPr>
              <p:nvPr/>
            </p:nvCxnSpPr>
            <p:spPr>
              <a:xfrm>
                <a:off x="3828449" y="2086676"/>
                <a:ext cx="2174106" cy="39624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28" idx="4"/>
              </p:cNvCxnSpPr>
              <p:nvPr/>
            </p:nvCxnSpPr>
            <p:spPr>
              <a:xfrm flipH="1">
                <a:off x="5994935" y="2204585"/>
                <a:ext cx="121919" cy="382712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37" idx="4"/>
              </p:cNvCxnSpPr>
              <p:nvPr/>
            </p:nvCxnSpPr>
            <p:spPr>
              <a:xfrm flipH="1">
                <a:off x="5985630" y="4111991"/>
                <a:ext cx="597248" cy="191089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31" idx="4"/>
              </p:cNvCxnSpPr>
              <p:nvPr/>
            </p:nvCxnSpPr>
            <p:spPr>
              <a:xfrm>
                <a:off x="4961021" y="3273791"/>
                <a:ext cx="1002231" cy="278009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8" idx="5"/>
              </p:cNvCxnSpPr>
              <p:nvPr/>
            </p:nvCxnSpPr>
            <p:spPr>
              <a:xfrm>
                <a:off x="1911698" y="2346839"/>
                <a:ext cx="4057890" cy="365090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a:stCxn id="46" idx="6"/>
              </p:cNvCxnSpPr>
              <p:nvPr/>
            </p:nvCxnSpPr>
            <p:spPr>
              <a:xfrm>
                <a:off x="2739991" y="4168940"/>
                <a:ext cx="3243629" cy="182399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a:stCxn id="68" idx="6"/>
              </p:cNvCxnSpPr>
              <p:nvPr/>
            </p:nvCxnSpPr>
            <p:spPr>
              <a:xfrm>
                <a:off x="4398745" y="5756306"/>
                <a:ext cx="1541646" cy="23662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1" idx="6"/>
              </p:cNvCxnSpPr>
              <p:nvPr/>
            </p:nvCxnSpPr>
            <p:spPr>
              <a:xfrm>
                <a:off x="2293219" y="5007140"/>
                <a:ext cx="3661205" cy="97857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11" name="TextBox 110"/>
              <p:cNvSpPr txBox="1"/>
              <p:nvPr/>
            </p:nvSpPr>
            <p:spPr>
              <a:xfrm>
                <a:off x="5446291" y="6094012"/>
                <a:ext cx="4494998"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Random number is less than </a:t>
                </a:r>
                <a:r>
                  <a:rPr lang="en-US" sz="2000" i="1" dirty="0">
                    <a:latin typeface="Times New Roman" panose="02020603050405020304" pitchFamily="18" charset="0"/>
                    <a:cs typeface="Times New Roman" panose="02020603050405020304" pitchFamily="18" charset="0"/>
                  </a:rPr>
                  <a:t>T</a:t>
                </a:r>
                <a:r>
                  <a:rPr lang="en-US" sz="2000" dirty="0">
                    <a:latin typeface="Times New Roman" panose="02020603050405020304" pitchFamily="18" charset="0"/>
                    <a:cs typeface="Times New Roman" panose="02020603050405020304" pitchFamily="18" charset="0"/>
                  </a:rPr>
                  <a:t>(</a:t>
                </a:r>
                <a:r>
                  <a:rPr lang="en-US" sz="2000" i="1" dirty="0">
                    <a:latin typeface="Times New Roman" panose="02020603050405020304" pitchFamily="18" charset="0"/>
                    <a:cs typeface="Times New Roman" panose="02020603050405020304" pitchFamily="18" charset="0"/>
                  </a:rPr>
                  <a:t>n</a:t>
                </a:r>
                <a:r>
                  <a:rPr lang="en-US" sz="2000" dirty="0">
                    <a:latin typeface="Times New Roman" panose="02020603050405020304" pitchFamily="18" charset="0"/>
                    <a:cs typeface="Times New Roman" panose="02020603050405020304" pitchFamily="18" charset="0"/>
                  </a:rPr>
                  <a:t>) for </a:t>
                </a:r>
                <a:r>
                  <a:rPr lang="en-US" sz="2000" i="1" dirty="0">
                    <a:latin typeface="Times New Roman" panose="02020603050405020304" pitchFamily="18" charset="0"/>
                    <a:cs typeface="Times New Roman" panose="02020603050405020304" pitchFamily="18" charset="0"/>
                  </a:rPr>
                  <a:t>r</a:t>
                </a:r>
                <a:r>
                  <a:rPr lang="en-US" sz="2000" dirty="0">
                    <a:latin typeface="Times New Roman" panose="02020603050405020304" pitchFamily="18" charset="0"/>
                    <a:cs typeface="Times New Roman" panose="02020603050405020304" pitchFamily="18" charset="0"/>
                  </a:rPr>
                  <a:t> = 1</a:t>
                </a:r>
              </a:p>
            </p:txBody>
          </p:sp>
          <p:sp>
            <p:nvSpPr>
              <p:cNvPr id="112" name="Oval 111"/>
              <p:cNvSpPr/>
              <p:nvPr/>
            </p:nvSpPr>
            <p:spPr>
              <a:xfrm>
                <a:off x="7904891" y="3675245"/>
                <a:ext cx="304800" cy="3048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5" name="TextBox 94">
              <a:extLst>
                <a:ext uri="{FF2B5EF4-FFF2-40B4-BE49-F238E27FC236}">
                  <a16:creationId xmlns:a16="http://schemas.microsoft.com/office/drawing/2014/main" id="{9B37E345-26C1-4356-A5A9-89174E281B7B}"/>
                </a:ext>
              </a:extLst>
            </p:cNvPr>
            <p:cNvSpPr txBox="1"/>
            <p:nvPr/>
          </p:nvSpPr>
          <p:spPr>
            <a:xfrm>
              <a:off x="370173" y="6321608"/>
              <a:ext cx="3352800" cy="461665"/>
            </a:xfrm>
            <a:prstGeom prst="rect">
              <a:avLst/>
            </a:prstGeom>
            <a:solidFill>
              <a:srgbClr val="FFCCFF"/>
            </a:solidFill>
          </p:spPr>
          <p:txBody>
            <a:bodyPr wrap="square" rtlCol="0">
              <a:spAutoFit/>
            </a:bodyPr>
            <a:lstStyle/>
            <a:p>
              <a:r>
                <a:rPr lang="en-US" sz="2400" dirty="0">
                  <a:latin typeface="Times New Roman" panose="02020603050405020304" pitchFamily="18" charset="0"/>
                  <a:cs typeface="Times New Roman" panose="02020603050405020304" pitchFamily="18" charset="0"/>
                </a:rPr>
                <a:t>Selected CH of 2</a:t>
              </a:r>
              <a:r>
                <a:rPr lang="en-US" sz="2400" baseline="30000" dirty="0">
                  <a:latin typeface="Times New Roman" panose="02020603050405020304" pitchFamily="18" charset="0"/>
                  <a:cs typeface="Times New Roman" panose="02020603050405020304" pitchFamily="18" charset="0"/>
                </a:rPr>
                <a:t>nd</a:t>
              </a:r>
              <a:r>
                <a:rPr lang="en-US" sz="2400" dirty="0">
                  <a:latin typeface="Times New Roman" panose="02020603050405020304" pitchFamily="18" charset="0"/>
                  <a:cs typeface="Times New Roman" panose="02020603050405020304" pitchFamily="18" charset="0"/>
                </a:rPr>
                <a:t>  round</a:t>
              </a:r>
            </a:p>
          </p:txBody>
        </p:sp>
      </p:grpSp>
      <p:cxnSp>
        <p:nvCxnSpPr>
          <p:cNvPr id="98" name="Straight Connector 97">
            <a:extLst>
              <a:ext uri="{FF2B5EF4-FFF2-40B4-BE49-F238E27FC236}">
                <a16:creationId xmlns:a16="http://schemas.microsoft.com/office/drawing/2014/main" id="{502928F2-1C88-4BBF-9598-DACECBB88973}"/>
              </a:ext>
            </a:extLst>
          </p:cNvPr>
          <p:cNvCxnSpPr>
            <a:cxnSpLocks/>
            <a:stCxn id="55" idx="4"/>
          </p:cNvCxnSpPr>
          <p:nvPr/>
        </p:nvCxnSpPr>
        <p:spPr>
          <a:xfrm flipH="1">
            <a:off x="7495674" y="2490938"/>
            <a:ext cx="1846446" cy="349478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88" name="Slide Number Placeholder 87">
            <a:extLst>
              <a:ext uri="{FF2B5EF4-FFF2-40B4-BE49-F238E27FC236}">
                <a16:creationId xmlns:a16="http://schemas.microsoft.com/office/drawing/2014/main" id="{BDBAC2C3-A790-4C4D-9911-03D71DB60DCA}"/>
              </a:ext>
            </a:extLst>
          </p:cNvPr>
          <p:cNvSpPr>
            <a:spLocks noGrp="1"/>
          </p:cNvSpPr>
          <p:nvPr>
            <p:ph type="sldNum" sz="quarter" idx="12"/>
          </p:nvPr>
        </p:nvSpPr>
        <p:spPr/>
        <p:txBody>
          <a:bodyPr/>
          <a:lstStyle/>
          <a:p>
            <a:fld id="{C3F1913A-7668-436E-8561-76A60B792217}" type="slidenum">
              <a:rPr lang="en-US" smtClean="0"/>
              <a:t>24</a:t>
            </a:fld>
            <a:endParaRPr lang="en-US"/>
          </a:p>
        </p:txBody>
      </p:sp>
    </p:spTree>
    <p:extLst>
      <p:ext uri="{BB962C8B-B14F-4D97-AF65-F5344CB8AC3E}">
        <p14:creationId xmlns:p14="http://schemas.microsoft.com/office/powerpoint/2010/main" val="4240971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Oval 57"/>
          <p:cNvSpPr/>
          <p:nvPr/>
        </p:nvSpPr>
        <p:spPr>
          <a:xfrm>
            <a:off x="8734920" y="16563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892392" y="715076"/>
            <a:ext cx="304800" cy="3048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2587592" y="162947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3578192" y="94367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3175535" y="2086676"/>
            <a:ext cx="304800" cy="3048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288407" y="101987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557562" y="117227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327935" y="1485899"/>
            <a:ext cx="304800" cy="3048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3327935" y="2705099"/>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200049" y="1781876"/>
            <a:ext cx="304800" cy="3048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4081914" y="315347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4110790" y="201047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4741244" y="2518208"/>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5639602" y="966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5334802" y="1011053"/>
            <a:ext cx="304800" cy="3048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6325402" y="3252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5922745" y="14682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035617" y="4014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7304772" y="5538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6075145" y="867476"/>
            <a:ext cx="304800" cy="3048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6075145" y="208667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7947259" y="11634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6829124" y="25350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6858000" y="13920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7488454" y="1899785"/>
            <a:ext cx="304800" cy="3048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5646821" y="274039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5342021" y="365479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6332621" y="2968991"/>
            <a:ext cx="304800" cy="3048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5929964" y="411199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5042836" y="304519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7311991" y="319759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6082364" y="3511214"/>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6306833" y="5328261"/>
            <a:ext cx="304800" cy="3048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7954478" y="3807191"/>
            <a:ext cx="304800" cy="3048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8160618" y="460127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6865219" y="403579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7495673" y="454352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2294021" y="3559340"/>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1989221" y="4473740"/>
            <a:ext cx="304800" cy="3048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2979821" y="3787940"/>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2577164" y="4930940"/>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1690036" y="3864140"/>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3959191" y="4016540"/>
            <a:ext cx="304800" cy="3048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2729564" y="554936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4601678" y="4626140"/>
            <a:ext cx="304800" cy="3048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3483543" y="5997740"/>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3512419" y="4854740"/>
            <a:ext cx="304800" cy="3048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4142873" y="5362472"/>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8503919" y="1957538"/>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8199119" y="2871938"/>
            <a:ext cx="304800" cy="3048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9189719" y="2186138"/>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8787062" y="3329138"/>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7899934" y="2262338"/>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8939462" y="272836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8939462" y="394756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9524195" y="62885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9693441" y="4395938"/>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8434936" y="857451"/>
            <a:ext cx="304800" cy="3048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9065390" y="136518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a:off x="5334802" y="423230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5030002" y="514670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6020602" y="446090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5617945" y="5603906"/>
            <a:ext cx="304800" cy="3048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4557562" y="372377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6999972" y="4689506"/>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5770345" y="5003129"/>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5770345" y="6222329"/>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8966734" y="4721591"/>
            <a:ext cx="304800" cy="3048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7344876" y="539696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7877475" y="495019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8507929" y="545792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2198972" y="1685222"/>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1894172" y="2599622"/>
            <a:ext cx="304800" cy="3048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p:cNvSpPr/>
          <p:nvPr/>
        </p:nvSpPr>
        <p:spPr>
          <a:xfrm>
            <a:off x="3805990" y="96653"/>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2482115" y="3056822"/>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1594987" y="1990022"/>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2634515" y="2456045"/>
            <a:ext cx="304800" cy="3048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p:cNvSpPr/>
          <p:nvPr/>
        </p:nvSpPr>
        <p:spPr>
          <a:xfrm>
            <a:off x="2634515" y="3675245"/>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2573956" y="345707"/>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p:cNvSpPr/>
          <p:nvPr/>
        </p:nvSpPr>
        <p:spPr>
          <a:xfrm>
            <a:off x="2899210" y="4516251"/>
            <a:ext cx="304800" cy="3048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p:cNvSpPr/>
          <p:nvPr/>
        </p:nvSpPr>
        <p:spPr>
          <a:xfrm>
            <a:off x="8604178" y="1468253"/>
            <a:ext cx="304800" cy="3048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p:cNvSpPr/>
          <p:nvPr/>
        </p:nvSpPr>
        <p:spPr>
          <a:xfrm>
            <a:off x="3102945" y="5083340"/>
            <a:ext cx="304800" cy="3048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Straight Connector 89"/>
          <p:cNvCxnSpPr>
            <a:stCxn id="5" idx="5"/>
          </p:cNvCxnSpPr>
          <p:nvPr/>
        </p:nvCxnSpPr>
        <p:spPr>
          <a:xfrm>
            <a:off x="3152555" y="975240"/>
            <a:ext cx="4374000" cy="507383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63" idx="4"/>
          </p:cNvCxnSpPr>
          <p:nvPr/>
        </p:nvCxnSpPr>
        <p:spPr>
          <a:xfrm flipH="1">
            <a:off x="7518936" y="1162251"/>
            <a:ext cx="1068400" cy="486945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73" idx="3"/>
          </p:cNvCxnSpPr>
          <p:nvPr/>
        </p:nvCxnSpPr>
        <p:spPr>
          <a:xfrm flipH="1">
            <a:off x="7509631" y="4981754"/>
            <a:ext cx="1501741" cy="104113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18" idx="5"/>
          </p:cNvCxnSpPr>
          <p:nvPr/>
        </p:nvCxnSpPr>
        <p:spPr>
          <a:xfrm>
            <a:off x="5594966" y="1271216"/>
            <a:ext cx="1892287" cy="478267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78" idx="6"/>
          </p:cNvCxnSpPr>
          <p:nvPr/>
        </p:nvCxnSpPr>
        <p:spPr>
          <a:xfrm>
            <a:off x="2198972" y="2752022"/>
            <a:ext cx="5294616" cy="324571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a:stCxn id="42" idx="6"/>
          </p:cNvCxnSpPr>
          <p:nvPr/>
        </p:nvCxnSpPr>
        <p:spPr>
          <a:xfrm>
            <a:off x="2294022" y="4626140"/>
            <a:ext cx="5213599" cy="136679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a:stCxn id="68" idx="6"/>
          </p:cNvCxnSpPr>
          <p:nvPr/>
        </p:nvCxnSpPr>
        <p:spPr>
          <a:xfrm>
            <a:off x="5922745" y="5756306"/>
            <a:ext cx="1541646" cy="23662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49" idx="5"/>
          </p:cNvCxnSpPr>
          <p:nvPr/>
        </p:nvCxnSpPr>
        <p:spPr>
          <a:xfrm>
            <a:off x="4861842" y="4886304"/>
            <a:ext cx="2616583" cy="109941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11" name="TextBox 110"/>
          <p:cNvSpPr txBox="1"/>
          <p:nvPr/>
        </p:nvSpPr>
        <p:spPr>
          <a:xfrm>
            <a:off x="6332621" y="6058552"/>
            <a:ext cx="4687830" cy="400110"/>
          </a:xfrm>
          <a:prstGeom prst="rect">
            <a:avLst/>
          </a:prstGeom>
          <a:noFill/>
        </p:spPr>
        <p:txBody>
          <a:bodyPr wrap="square" rtlCol="0">
            <a:spAutoFit/>
          </a:bodyPr>
          <a:lstStyle/>
          <a:p>
            <a:r>
              <a:rPr lang="en-US" sz="2000" dirty="0"/>
              <a:t>Random number is less than </a:t>
            </a:r>
            <a:r>
              <a:rPr lang="en-US" sz="2000" i="1" dirty="0"/>
              <a:t>T</a:t>
            </a:r>
            <a:r>
              <a:rPr lang="en-US" sz="2000" dirty="0"/>
              <a:t>(</a:t>
            </a:r>
            <a:r>
              <a:rPr lang="en-US" sz="2000" i="1" dirty="0"/>
              <a:t>n</a:t>
            </a:r>
            <a:r>
              <a:rPr lang="en-US" sz="2000" dirty="0"/>
              <a:t>) for </a:t>
            </a:r>
            <a:r>
              <a:rPr lang="en-US" sz="2000" i="1" dirty="0"/>
              <a:t>r</a:t>
            </a:r>
            <a:r>
              <a:rPr lang="en-US" sz="2000" dirty="0"/>
              <a:t> = 2</a:t>
            </a:r>
          </a:p>
        </p:txBody>
      </p:sp>
      <p:sp>
        <p:nvSpPr>
          <p:cNvPr id="112" name="Oval 111"/>
          <p:cNvSpPr/>
          <p:nvPr/>
        </p:nvSpPr>
        <p:spPr>
          <a:xfrm>
            <a:off x="9428891" y="3675245"/>
            <a:ext cx="304800" cy="3048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94">
            <a:extLst>
              <a:ext uri="{FF2B5EF4-FFF2-40B4-BE49-F238E27FC236}">
                <a16:creationId xmlns:a16="http://schemas.microsoft.com/office/drawing/2014/main" id="{5EEB3DAF-B91C-4B96-9B8A-CF62A70ADE6F}"/>
              </a:ext>
            </a:extLst>
          </p:cNvPr>
          <p:cNvSpPr txBox="1"/>
          <p:nvPr/>
        </p:nvSpPr>
        <p:spPr>
          <a:xfrm>
            <a:off x="1615038" y="6359489"/>
            <a:ext cx="3365635" cy="369332"/>
          </a:xfrm>
          <a:prstGeom prst="rect">
            <a:avLst/>
          </a:prstGeom>
          <a:solidFill>
            <a:srgbClr val="FFCCFF"/>
          </a:solidFill>
        </p:spPr>
        <p:txBody>
          <a:bodyPr wrap="square" rtlCol="0">
            <a:spAutoFit/>
          </a:bodyPr>
          <a:lstStyle/>
          <a:p>
            <a:r>
              <a:rPr lang="en-US" dirty="0"/>
              <a:t>Selected CH of 3</a:t>
            </a:r>
            <a:r>
              <a:rPr lang="en-US" baseline="30000" dirty="0"/>
              <a:t>rd</a:t>
            </a:r>
            <a:r>
              <a:rPr lang="en-US" dirty="0"/>
              <a:t>  round</a:t>
            </a:r>
          </a:p>
        </p:txBody>
      </p:sp>
      <p:sp>
        <p:nvSpPr>
          <p:cNvPr id="47" name="Slide Number Placeholder 46">
            <a:extLst>
              <a:ext uri="{FF2B5EF4-FFF2-40B4-BE49-F238E27FC236}">
                <a16:creationId xmlns:a16="http://schemas.microsoft.com/office/drawing/2014/main" id="{3BA41B33-9C28-4D2F-8E0D-74B3E2C4DF77}"/>
              </a:ext>
            </a:extLst>
          </p:cNvPr>
          <p:cNvSpPr>
            <a:spLocks noGrp="1"/>
          </p:cNvSpPr>
          <p:nvPr>
            <p:ph type="sldNum" sz="quarter" idx="12"/>
          </p:nvPr>
        </p:nvSpPr>
        <p:spPr/>
        <p:txBody>
          <a:bodyPr/>
          <a:lstStyle/>
          <a:p>
            <a:fld id="{C3F1913A-7668-436E-8561-76A60B792217}" type="slidenum">
              <a:rPr lang="en-US" smtClean="0"/>
              <a:t>25</a:t>
            </a:fld>
            <a:endParaRPr lang="en-US"/>
          </a:p>
        </p:txBody>
      </p:sp>
    </p:spTree>
    <p:extLst>
      <p:ext uri="{BB962C8B-B14F-4D97-AF65-F5344CB8AC3E}">
        <p14:creationId xmlns:p14="http://schemas.microsoft.com/office/powerpoint/2010/main" val="2896806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60918" y="2108541"/>
            <a:ext cx="4068147" cy="4524315"/>
          </a:xfrm>
          <a:prstGeom prst="rect">
            <a:avLst/>
          </a:prstGeom>
          <a:solidFill>
            <a:srgbClr val="CCFFFF"/>
          </a:solidFill>
        </p:spPr>
        <p:txBody>
          <a:bodyPr wrap="square" rtlCol="0">
            <a:spAutoFit/>
          </a:bodyPr>
          <a:lstStyle/>
          <a:p>
            <a:r>
              <a:rPr lang="en-US" sz="2400" dirty="0">
                <a:latin typeface="Times New Roman" panose="02020603050405020304" pitchFamily="18" charset="0"/>
                <a:cs typeface="Times New Roman" panose="02020603050405020304" pitchFamily="18" charset="0"/>
              </a:rPr>
              <a:t>Here, </a:t>
            </a:r>
            <a:r>
              <a:rPr lang="en-US" sz="2400" i="1" dirty="0">
                <a:latin typeface="Times New Roman" panose="02020603050405020304" pitchFamily="18" charset="0"/>
                <a:cs typeface="Times New Roman" panose="02020603050405020304" pitchFamily="18" charset="0"/>
              </a:rPr>
              <a:t>p</a:t>
            </a:r>
            <a:r>
              <a:rPr lang="en-US" sz="2400" dirty="0">
                <a:latin typeface="Times New Roman" panose="02020603050405020304" pitchFamily="18" charset="0"/>
                <a:cs typeface="Times New Roman" panose="02020603050405020304" pitchFamily="18" charset="0"/>
              </a:rPr>
              <a:t> =  5/80 = 1/16</a:t>
            </a:r>
          </a:p>
          <a:p>
            <a:r>
              <a:rPr lang="en-US" sz="2400" dirty="0">
                <a:latin typeface="Times New Roman" panose="02020603050405020304" pitchFamily="18" charset="0"/>
                <a:cs typeface="Times New Roman" panose="02020603050405020304" pitchFamily="18" charset="0"/>
              </a:rPr>
              <a:t>Taking, </a:t>
            </a:r>
            <a:r>
              <a:rPr lang="en-US" sz="2400" i="1" dirty="0">
                <a:latin typeface="Times New Roman" panose="02020603050405020304" pitchFamily="18" charset="0"/>
                <a:cs typeface="Times New Roman" panose="02020603050405020304" pitchFamily="18" charset="0"/>
              </a:rPr>
              <a:t>p</a:t>
            </a:r>
            <a:r>
              <a:rPr lang="en-US" sz="2400" dirty="0">
                <a:latin typeface="Times New Roman" panose="02020603050405020304" pitchFamily="18" charset="0"/>
                <a:cs typeface="Times New Roman" panose="02020603050405020304" pitchFamily="18" charset="0"/>
              </a:rPr>
              <a:t> = 1/16 and </a:t>
            </a:r>
            <a:r>
              <a:rPr lang="en-US" sz="2400" i="1" dirty="0">
                <a:latin typeface="Times New Roman" panose="02020603050405020304" pitchFamily="18" charset="0"/>
                <a:cs typeface="Times New Roman" panose="02020603050405020304" pitchFamily="18" charset="0"/>
              </a:rPr>
              <a:t>r</a:t>
            </a:r>
            <a:r>
              <a:rPr lang="en-US" sz="2400" dirty="0">
                <a:latin typeface="Times New Roman" panose="02020603050405020304" pitchFamily="18" charset="0"/>
                <a:cs typeface="Times New Roman" panose="02020603050405020304" pitchFamily="18" charset="0"/>
              </a:rPr>
              <a:t> = 0</a:t>
            </a:r>
          </a:p>
          <a:p>
            <a:r>
              <a:rPr lang="en-US" sz="2400" i="1"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(n) = </a:t>
            </a:r>
            <a:r>
              <a:rPr lang="en-US" sz="2400" i="1" dirty="0">
                <a:latin typeface="Times New Roman" panose="02020603050405020304" pitchFamily="18" charset="0"/>
                <a:cs typeface="Times New Roman" panose="02020603050405020304" pitchFamily="18" charset="0"/>
              </a:rPr>
              <a:t>p</a:t>
            </a:r>
            <a:r>
              <a:rPr lang="en-US" sz="2400" dirty="0">
                <a:latin typeface="Times New Roman" panose="02020603050405020304" pitchFamily="18" charset="0"/>
                <a:cs typeface="Times New Roman" panose="02020603050405020304" pitchFamily="18" charset="0"/>
              </a:rPr>
              <a:t>/{1-</a:t>
            </a:r>
            <a:r>
              <a:rPr lang="en-US" sz="2400" i="1" dirty="0">
                <a:latin typeface="Times New Roman" panose="02020603050405020304" pitchFamily="18" charset="0"/>
                <a:cs typeface="Times New Roman" panose="02020603050405020304" pitchFamily="18" charset="0"/>
              </a:rPr>
              <a:t>p</a:t>
            </a:r>
            <a:r>
              <a:rPr lang="en-US" sz="2400" dirty="0">
                <a:latin typeface="Times New Roman" panose="02020603050405020304" pitchFamily="18" charset="0"/>
                <a:cs typeface="Times New Roman" panose="02020603050405020304" pitchFamily="18" charset="0"/>
              </a:rPr>
              <a:t>*(mod(</a:t>
            </a:r>
            <a:r>
              <a:rPr lang="en-US" sz="2400" i="1" dirty="0">
                <a:latin typeface="Times New Roman" panose="02020603050405020304" pitchFamily="18" charset="0"/>
                <a:cs typeface="Times New Roman" panose="02020603050405020304" pitchFamily="18" charset="0"/>
              </a:rPr>
              <a:t>r</a:t>
            </a:r>
            <a:r>
              <a:rPr lang="en-US" sz="2400" dirty="0">
                <a:latin typeface="Times New Roman" panose="02020603050405020304" pitchFamily="18" charset="0"/>
                <a:cs typeface="Times New Roman" panose="02020603050405020304" pitchFamily="18" charset="0"/>
              </a:rPr>
              <a:t>, 1/</a:t>
            </a:r>
            <a:r>
              <a:rPr lang="en-US" sz="2400" i="1" dirty="0">
                <a:latin typeface="Times New Roman" panose="02020603050405020304" pitchFamily="18" charset="0"/>
                <a:cs typeface="Times New Roman" panose="02020603050405020304" pitchFamily="18" charset="0"/>
              </a:rPr>
              <a:t>p</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=(1/16)/{1- 1/16 *(mod(0, 16))</a:t>
            </a:r>
          </a:p>
          <a:p>
            <a:r>
              <a:rPr lang="en-US" sz="2400" dirty="0">
                <a:latin typeface="Times New Roman" panose="02020603050405020304" pitchFamily="18" charset="0"/>
                <a:cs typeface="Times New Roman" panose="02020603050405020304" pitchFamily="18" charset="0"/>
              </a:rPr>
              <a:t>=(1/16)/{1- 1/16 *0)</a:t>
            </a:r>
          </a:p>
          <a:p>
            <a:r>
              <a:rPr lang="en-US" sz="2400" dirty="0">
                <a:latin typeface="Times New Roman" panose="02020603050405020304" pitchFamily="18" charset="0"/>
                <a:cs typeface="Times New Roman" panose="02020603050405020304" pitchFamily="18" charset="0"/>
              </a:rPr>
              <a:t>=1/16</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Taking, </a:t>
            </a:r>
            <a:r>
              <a:rPr lang="en-US" sz="2400" i="1" dirty="0">
                <a:latin typeface="Times New Roman" panose="02020603050405020304" pitchFamily="18" charset="0"/>
                <a:cs typeface="Times New Roman" panose="02020603050405020304" pitchFamily="18" charset="0"/>
              </a:rPr>
              <a:t>p</a:t>
            </a:r>
            <a:r>
              <a:rPr lang="en-US" sz="2400" dirty="0">
                <a:latin typeface="Times New Roman" panose="02020603050405020304" pitchFamily="18" charset="0"/>
                <a:cs typeface="Times New Roman" panose="02020603050405020304" pitchFamily="18" charset="0"/>
              </a:rPr>
              <a:t> = 1/16 and </a:t>
            </a:r>
            <a:r>
              <a:rPr lang="en-US" sz="2400" i="1" dirty="0">
                <a:latin typeface="Times New Roman" panose="02020603050405020304" pitchFamily="18" charset="0"/>
                <a:cs typeface="Times New Roman" panose="02020603050405020304" pitchFamily="18" charset="0"/>
              </a:rPr>
              <a:t>r</a:t>
            </a:r>
            <a:r>
              <a:rPr lang="en-US" sz="2400" dirty="0">
                <a:latin typeface="Times New Roman" panose="02020603050405020304" pitchFamily="18" charset="0"/>
                <a:cs typeface="Times New Roman" panose="02020603050405020304" pitchFamily="18" charset="0"/>
              </a:rPr>
              <a:t> = 1</a:t>
            </a:r>
          </a:p>
          <a:p>
            <a:r>
              <a:rPr lang="en-US" sz="2400" i="1"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(n) = </a:t>
            </a:r>
            <a:r>
              <a:rPr lang="en-US" sz="2400" i="1" dirty="0">
                <a:latin typeface="Times New Roman" panose="02020603050405020304" pitchFamily="18" charset="0"/>
                <a:cs typeface="Times New Roman" panose="02020603050405020304" pitchFamily="18" charset="0"/>
              </a:rPr>
              <a:t>p</a:t>
            </a:r>
            <a:r>
              <a:rPr lang="en-US" sz="2400" dirty="0">
                <a:latin typeface="Times New Roman" panose="02020603050405020304" pitchFamily="18" charset="0"/>
                <a:cs typeface="Times New Roman" panose="02020603050405020304" pitchFamily="18" charset="0"/>
              </a:rPr>
              <a:t>/{1-</a:t>
            </a:r>
            <a:r>
              <a:rPr lang="en-US" sz="2400" i="1" dirty="0">
                <a:latin typeface="Times New Roman" panose="02020603050405020304" pitchFamily="18" charset="0"/>
                <a:cs typeface="Times New Roman" panose="02020603050405020304" pitchFamily="18" charset="0"/>
              </a:rPr>
              <a:t>p</a:t>
            </a:r>
            <a:r>
              <a:rPr lang="en-US" sz="2400" dirty="0">
                <a:latin typeface="Times New Roman" panose="02020603050405020304" pitchFamily="18" charset="0"/>
                <a:cs typeface="Times New Roman" panose="02020603050405020304" pitchFamily="18" charset="0"/>
              </a:rPr>
              <a:t>*(mod(</a:t>
            </a:r>
            <a:r>
              <a:rPr lang="en-US" sz="2400" i="1" dirty="0">
                <a:latin typeface="Times New Roman" panose="02020603050405020304" pitchFamily="18" charset="0"/>
                <a:cs typeface="Times New Roman" panose="02020603050405020304" pitchFamily="18" charset="0"/>
              </a:rPr>
              <a:t>r</a:t>
            </a:r>
            <a:r>
              <a:rPr lang="en-US" sz="2400" dirty="0">
                <a:latin typeface="Times New Roman" panose="02020603050405020304" pitchFamily="18" charset="0"/>
                <a:cs typeface="Times New Roman" panose="02020603050405020304" pitchFamily="18" charset="0"/>
              </a:rPr>
              <a:t>, 1/</a:t>
            </a:r>
            <a:r>
              <a:rPr lang="en-US" sz="2400" i="1" dirty="0">
                <a:latin typeface="Times New Roman" panose="02020603050405020304" pitchFamily="18" charset="0"/>
                <a:cs typeface="Times New Roman" panose="02020603050405020304" pitchFamily="18" charset="0"/>
              </a:rPr>
              <a:t>p</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=(1/16)/{1- 1/16 *(mod(1, 16))</a:t>
            </a:r>
          </a:p>
          <a:p>
            <a:r>
              <a:rPr lang="en-US" sz="2400" dirty="0">
                <a:latin typeface="Times New Roman" panose="02020603050405020304" pitchFamily="18" charset="0"/>
                <a:cs typeface="Times New Roman" panose="02020603050405020304" pitchFamily="18" charset="0"/>
              </a:rPr>
              <a:t>=(1/16)/{1- 1/16 *1)</a:t>
            </a:r>
          </a:p>
          <a:p>
            <a:r>
              <a:rPr lang="en-US" sz="2400" dirty="0">
                <a:latin typeface="Times New Roman" panose="02020603050405020304" pitchFamily="18" charset="0"/>
                <a:cs typeface="Times New Roman" panose="02020603050405020304" pitchFamily="18" charset="0"/>
              </a:rPr>
              <a:t>=(1/16)/(15/16) =1/15</a:t>
            </a:r>
          </a:p>
        </p:txBody>
      </p:sp>
      <p:sp>
        <p:nvSpPr>
          <p:cNvPr id="6" name="TextBox 5"/>
          <p:cNvSpPr txBox="1"/>
          <p:nvPr/>
        </p:nvSpPr>
        <p:spPr>
          <a:xfrm>
            <a:off x="942709" y="225144"/>
            <a:ext cx="8209067" cy="461665"/>
          </a:xfrm>
          <a:prstGeom prst="rect">
            <a:avLst/>
          </a:prstGeom>
          <a:solidFill>
            <a:srgbClr val="FFCCFF"/>
          </a:solidFill>
        </p:spPr>
        <p:txBody>
          <a:bodyPr wrap="square" rtlCol="0">
            <a:spAutoFit/>
          </a:bodyPr>
          <a:lstStyle/>
          <a:p>
            <a:r>
              <a:rPr lang="en-US" sz="2400" dirty="0">
                <a:latin typeface="Times New Roman" panose="02020603050405020304" pitchFamily="18" charset="0"/>
                <a:cs typeface="Times New Roman" panose="02020603050405020304" pitchFamily="18" charset="0"/>
              </a:rPr>
              <a:t>mod(33, 16) = 1, mod(12, 16) =12,  mod(40, 16) = 8 etc.</a:t>
            </a:r>
          </a:p>
        </p:txBody>
      </p:sp>
      <p:sp>
        <p:nvSpPr>
          <p:cNvPr id="7" name="TextBox 6"/>
          <p:cNvSpPr txBox="1"/>
          <p:nvPr/>
        </p:nvSpPr>
        <p:spPr>
          <a:xfrm>
            <a:off x="476026" y="827314"/>
            <a:ext cx="11239947" cy="1200329"/>
          </a:xfrm>
          <a:prstGeom prst="rect">
            <a:avLst/>
          </a:prstGeom>
          <a:solidFill>
            <a:srgbClr val="CCFFFF"/>
          </a:solid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Example-1</a:t>
            </a:r>
          </a:p>
          <a:p>
            <a:pPr algn="just"/>
            <a:r>
              <a:rPr lang="en-US" sz="2400" dirty="0">
                <a:latin typeface="Times New Roman" panose="02020603050405020304" pitchFamily="18" charset="0"/>
                <a:cs typeface="Times New Roman" panose="02020603050405020304" pitchFamily="18" charset="0"/>
              </a:rPr>
              <a:t>If the number of nodes </a:t>
            </a:r>
            <a:r>
              <a:rPr lang="en-US" sz="2400" i="1" dirty="0">
                <a:latin typeface="Times New Roman" panose="02020603050405020304" pitchFamily="18" charset="0"/>
                <a:cs typeface="Times New Roman" panose="02020603050405020304" pitchFamily="18" charset="0"/>
              </a:rPr>
              <a:t>N </a:t>
            </a:r>
            <a:r>
              <a:rPr lang="en-US" sz="2400" dirty="0">
                <a:latin typeface="Times New Roman" panose="02020603050405020304" pitchFamily="18" charset="0"/>
                <a:cs typeface="Times New Roman" panose="02020603050405020304" pitchFamily="18" charset="0"/>
              </a:rPr>
              <a:t>= 80 and the number of CH is 5 then find </a:t>
            </a:r>
            <a:r>
              <a:rPr lang="en-US" sz="2400" i="1"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(n) for </a:t>
            </a:r>
            <a:r>
              <a:rPr lang="en-US" sz="2400" i="1" dirty="0">
                <a:latin typeface="Times New Roman" panose="02020603050405020304" pitchFamily="18" charset="0"/>
                <a:cs typeface="Times New Roman" panose="02020603050405020304" pitchFamily="18" charset="0"/>
              </a:rPr>
              <a:t>r</a:t>
            </a:r>
            <a:r>
              <a:rPr lang="en-US" sz="2400" dirty="0">
                <a:latin typeface="Times New Roman" panose="02020603050405020304" pitchFamily="18" charset="0"/>
                <a:cs typeface="Times New Roman" panose="02020603050405020304" pitchFamily="18" charset="0"/>
              </a:rPr>
              <a:t> = 0 (1</a:t>
            </a:r>
            <a:r>
              <a:rPr lang="en-US" sz="2400" baseline="30000" dirty="0">
                <a:latin typeface="Times New Roman" panose="02020603050405020304" pitchFamily="18" charset="0"/>
                <a:cs typeface="Times New Roman" panose="02020603050405020304" pitchFamily="18" charset="0"/>
              </a:rPr>
              <a:t>st</a:t>
            </a:r>
            <a:r>
              <a:rPr lang="en-US" sz="2400" dirty="0">
                <a:latin typeface="Times New Roman" panose="02020603050405020304" pitchFamily="18" charset="0"/>
                <a:cs typeface="Times New Roman" panose="02020603050405020304" pitchFamily="18" charset="0"/>
              </a:rPr>
              <a:t> round) and 1 (2</a:t>
            </a:r>
            <a:r>
              <a:rPr lang="en-US" sz="2400" baseline="30000" dirty="0">
                <a:latin typeface="Times New Roman" panose="02020603050405020304" pitchFamily="18" charset="0"/>
                <a:cs typeface="Times New Roman" panose="02020603050405020304" pitchFamily="18" charset="0"/>
              </a:rPr>
              <a:t>nd</a:t>
            </a:r>
            <a:r>
              <a:rPr lang="en-US" sz="2400" dirty="0">
                <a:latin typeface="Times New Roman" panose="02020603050405020304" pitchFamily="18" charset="0"/>
                <a:cs typeface="Times New Roman" panose="02020603050405020304" pitchFamily="18" charset="0"/>
              </a:rPr>
              <a:t> round).  </a:t>
            </a:r>
          </a:p>
        </p:txBody>
      </p:sp>
      <mc:AlternateContent xmlns:mc="http://schemas.openxmlformats.org/markup-compatibility/2006" xmlns:a14="http://schemas.microsoft.com/office/drawing/2010/main">
        <mc:Choice Requires="a14">
          <p:sp>
            <p:nvSpPr>
              <p:cNvPr id="8" name="Object 1">
                <a:extLst>
                  <a:ext uri="{FF2B5EF4-FFF2-40B4-BE49-F238E27FC236}">
                    <a16:creationId xmlns:a16="http://schemas.microsoft.com/office/drawing/2014/main" id="{8A4376B7-0FC0-4416-B552-73875CABBE85}"/>
                  </a:ext>
                </a:extLst>
              </p:cNvPr>
              <p:cNvSpPr txBox="1"/>
              <p:nvPr/>
            </p:nvSpPr>
            <p:spPr bwMode="auto">
              <a:xfrm>
                <a:off x="6249249" y="3124201"/>
                <a:ext cx="5104551" cy="1559766"/>
              </a:xfrm>
              <a:prstGeom prst="rect">
                <a:avLst/>
              </a:prstGeom>
              <a:solidFill>
                <a:srgbClr val="FFFF00"/>
              </a:solidFill>
              <a:ln>
                <a:noFill/>
              </a:ln>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𝑇</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d>
                        <m:dPr>
                          <m:begChr m:val="{"/>
                          <m:endChr m:val=""/>
                          <m:ctrlPr>
                            <a:rPr lang="en-US" sz="2800" i="1">
                              <a:solidFill>
                                <a:srgbClr val="000000"/>
                              </a:solidFill>
                              <a:latin typeface="Cambria Math" panose="02040503050406030204" pitchFamily="18" charset="0"/>
                            </a:rPr>
                          </m:ctrlPr>
                        </m:dPr>
                        <m:e>
                          <m:eqArr>
                            <m:eqArrPr>
                              <m:ctrlPr>
                                <a:rPr lang="en-US" sz="2800" i="1">
                                  <a:solidFill>
                                    <a:srgbClr val="000000"/>
                                  </a:solidFill>
                                  <a:latin typeface="Cambria Math" panose="02040503050406030204" pitchFamily="18" charset="0"/>
                                </a:rPr>
                              </m:ctrlPr>
                            </m:eqArrPr>
                            <m:e>
                              <m:r>
                                <a:rPr lang="en-US" sz="2800" i="1">
                                  <a:solidFill>
                                    <a:srgbClr val="000000"/>
                                  </a:solidFill>
                                  <a:latin typeface="Cambria Math" panose="02040503050406030204" pitchFamily="18" charset="0"/>
                                </a:rPr>
                                <m:t>&amp;</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𝑝</m:t>
                                  </m:r>
                                </m:num>
                                <m:den>
                                  <m:r>
                                    <a:rPr lang="en-US" sz="2800" i="1">
                                      <a:solidFill>
                                        <a:srgbClr val="000000"/>
                                      </a:solidFill>
                                      <a:latin typeface="Cambria Math" panose="02040503050406030204" pitchFamily="18" charset="0"/>
                                    </a:rPr>
                                    <m:t>1−</m:t>
                                  </m:r>
                                  <m:r>
                                    <a:rPr lang="en-US" sz="2800" i="1">
                                      <a:solidFill>
                                        <a:srgbClr val="000000"/>
                                      </a:solidFill>
                                      <a:latin typeface="Cambria Math" panose="02040503050406030204" pitchFamily="18" charset="0"/>
                                    </a:rPr>
                                    <m:t>𝑝</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𝑟</m:t>
                                  </m:r>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mod</m:t>
                                      </m:r>
                                    </m:fName>
                                    <m:e>
                                      <m:r>
                                        <a:rPr lang="en-US" sz="2800" i="1">
                                          <a:solidFill>
                                            <a:srgbClr val="000000"/>
                                          </a:solidFill>
                                          <a:latin typeface="Cambria Math" panose="02040503050406030204" pitchFamily="18" charset="0"/>
                                        </a:rPr>
                                        <m:t>(</m:t>
                                      </m:r>
                                    </m:e>
                                  </m:func>
                                  <m:r>
                                    <a:rPr lang="en-US" sz="2800" i="1">
                                      <a:solidFill>
                                        <a:srgbClr val="000000"/>
                                      </a:solidFill>
                                      <a:latin typeface="Cambria Math" panose="02040503050406030204" pitchFamily="18" charset="0"/>
                                    </a:rPr>
                                    <m:t>1/</m:t>
                                  </m:r>
                                  <m:r>
                                    <a:rPr lang="en-US" sz="2800" i="1">
                                      <a:solidFill>
                                        <a:srgbClr val="000000"/>
                                      </a:solidFill>
                                      <a:latin typeface="Cambria Math" panose="02040503050406030204" pitchFamily="18" charset="0"/>
                                    </a:rPr>
                                    <m:t>𝑝</m:t>
                                  </m:r>
                                  <m:r>
                                    <a:rPr lang="en-US" sz="2800" i="1">
                                      <a:solidFill>
                                        <a:srgbClr val="000000"/>
                                      </a:solidFill>
                                      <a:latin typeface="Cambria Math" panose="02040503050406030204" pitchFamily="18" charset="0"/>
                                    </a:rPr>
                                    <m:t>))</m:t>
                                  </m:r>
                                </m:den>
                              </m:f>
                              <m:r>
                                <a:rPr lang="en-US" sz="2800" i="1">
                                  <a:solidFill>
                                    <a:srgbClr val="000000"/>
                                  </a:solidFill>
                                  <a:latin typeface="Cambria Math" panose="02040503050406030204" pitchFamily="18" charset="0"/>
                                </a:rPr>
                                <m:t> </m:t>
                              </m:r>
                              <m:r>
                                <m:rPr>
                                  <m:nor/>
                                </m:rPr>
                                <a:rPr lang="en-US" sz="2800" i="0">
                                  <a:solidFill>
                                    <a:srgbClr val="000000"/>
                                  </a:solidFill>
                                  <a:latin typeface="Times New Roman" panose="02020603050405020304" pitchFamily="18" charset="0"/>
                                  <a:cs typeface="Times New Roman" panose="02020603050405020304" pitchFamily="18" charset="0"/>
                                </a:rPr>
                                <m:t>for</m:t>
                              </m:r>
                              <m:r>
                                <a:rPr lang="en-US" sz="2800" i="1">
                                  <a:solidFill>
                                    <a:srgbClr val="000000"/>
                                  </a:solidFill>
                                  <a:latin typeface="Cambria Math" panose="02040503050406030204" pitchFamily="18" charset="0"/>
                                </a:rPr>
                                <m:t> </m:t>
                              </m:r>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𝐺</m:t>
                              </m:r>
                            </m:e>
                            <m:e>
                              <m:r>
                                <a:rPr lang="en-US" sz="2800" i="1">
                                  <a:solidFill>
                                    <a:srgbClr val="000000"/>
                                  </a:solidFill>
                                  <a:latin typeface="Cambria Math" panose="02040503050406030204" pitchFamily="18" charset="0"/>
                                </a:rPr>
                                <m:t>&amp;0        </m:t>
                              </m:r>
                              <m:r>
                                <m:rPr>
                                  <m:nor/>
                                </m:rPr>
                                <a:rPr lang="en-US" sz="2800" i="0">
                                  <a:solidFill>
                                    <a:srgbClr val="000000"/>
                                  </a:solidFill>
                                  <a:latin typeface="Times New Roman" panose="02020603050405020304" pitchFamily="18" charset="0"/>
                                  <a:cs typeface="Times New Roman" panose="02020603050405020304" pitchFamily="18" charset="0"/>
                                </a:rPr>
                                <m:t>otherwise</m:t>
                              </m:r>
                            </m:e>
                          </m:eqArr>
                        </m:e>
                      </m:d>
                    </m:oMath>
                  </m:oMathPara>
                </a14:m>
                <a:endParaRPr lang="en-US" sz="2800" dirty="0">
                  <a:latin typeface="Times New Roman" panose="02020603050405020304" pitchFamily="18" charset="0"/>
                  <a:cs typeface="Times New Roman" panose="02020603050405020304" pitchFamily="18" charset="0"/>
                </a:endParaRPr>
              </a:p>
            </p:txBody>
          </p:sp>
        </mc:Choice>
        <mc:Fallback xmlns="">
          <p:sp>
            <p:nvSpPr>
              <p:cNvPr id="8" name="Object 1">
                <a:extLst>
                  <a:ext uri="{FF2B5EF4-FFF2-40B4-BE49-F238E27FC236}">
                    <a16:creationId xmlns:a16="http://schemas.microsoft.com/office/drawing/2014/main" id="{8A4376B7-0FC0-4416-B552-73875CABBE85}"/>
                  </a:ext>
                </a:extLst>
              </p:cNvPr>
              <p:cNvSpPr txBox="1">
                <a:spLocks noRot="1" noChangeAspect="1" noMove="1" noResize="1" noEditPoints="1" noAdjustHandles="1" noChangeArrowheads="1" noChangeShapeType="1" noTextEdit="1"/>
              </p:cNvSpPr>
              <p:nvPr/>
            </p:nvSpPr>
            <p:spPr bwMode="auto">
              <a:xfrm>
                <a:off x="6249249" y="3124201"/>
                <a:ext cx="5104551" cy="1559766"/>
              </a:xfrm>
              <a:prstGeom prst="rect">
                <a:avLst/>
              </a:prstGeom>
              <a:blipFill>
                <a:blip r:embed="rId2"/>
                <a:stretch>
                  <a:fillRect/>
                </a:stretch>
              </a:blipFill>
              <a:ln>
                <a:noFill/>
              </a:ln>
            </p:spPr>
            <p:txBody>
              <a:bodyPr/>
              <a:lstStyle/>
              <a:p>
                <a:r>
                  <a:rPr lang="en-US">
                    <a:noFill/>
                  </a:rPr>
                  <a:t> </a:t>
                </a:r>
              </a:p>
            </p:txBody>
          </p:sp>
        </mc:Fallback>
      </mc:AlternateContent>
      <p:sp>
        <p:nvSpPr>
          <p:cNvPr id="9" name="Slide Number Placeholder 8">
            <a:extLst>
              <a:ext uri="{FF2B5EF4-FFF2-40B4-BE49-F238E27FC236}">
                <a16:creationId xmlns:a16="http://schemas.microsoft.com/office/drawing/2014/main" id="{77108434-0FD7-4C0D-BDE8-6F82CB382BE6}"/>
              </a:ext>
            </a:extLst>
          </p:cNvPr>
          <p:cNvSpPr>
            <a:spLocks noGrp="1"/>
          </p:cNvSpPr>
          <p:nvPr>
            <p:ph type="sldNum" sz="quarter" idx="12"/>
          </p:nvPr>
        </p:nvSpPr>
        <p:spPr/>
        <p:txBody>
          <a:bodyPr/>
          <a:lstStyle/>
          <a:p>
            <a:fld id="{C3F1913A-7668-436E-8561-76A60B792217}" type="slidenum">
              <a:rPr lang="en-US" smtClean="0"/>
              <a:t>26</a:t>
            </a:fld>
            <a:endParaRPr lang="en-US"/>
          </a:p>
        </p:txBody>
      </p:sp>
    </p:spTree>
    <p:extLst>
      <p:ext uri="{BB962C8B-B14F-4D97-AF65-F5344CB8AC3E}">
        <p14:creationId xmlns:p14="http://schemas.microsoft.com/office/powerpoint/2010/main" val="27343164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Box 4"/>
          <p:cNvSpPr txBox="1">
            <a:spLocks noChangeArrowheads="1"/>
          </p:cNvSpPr>
          <p:nvPr/>
        </p:nvSpPr>
        <p:spPr bwMode="auto">
          <a:xfrm>
            <a:off x="404327" y="1634362"/>
            <a:ext cx="3505200" cy="26781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sz="2400" dirty="0"/>
              <a:t>r = 0:15;</a:t>
            </a:r>
          </a:p>
          <a:p>
            <a:pPr eaLnBrk="1" hangingPunct="1">
              <a:spcBef>
                <a:spcPct val="0"/>
              </a:spcBef>
              <a:buFontTx/>
              <a:buNone/>
            </a:pPr>
            <a:r>
              <a:rPr lang="en-US" sz="2400" dirty="0"/>
              <a:t>p = 1/16;</a:t>
            </a:r>
          </a:p>
          <a:p>
            <a:pPr eaLnBrk="1" hangingPunct="1">
              <a:spcBef>
                <a:spcPct val="0"/>
              </a:spcBef>
              <a:buFontTx/>
              <a:buNone/>
            </a:pPr>
            <a:r>
              <a:rPr lang="en-US" sz="2400" dirty="0" err="1"/>
              <a:t>Tn</a:t>
            </a:r>
            <a:r>
              <a:rPr lang="en-US" sz="2400" dirty="0"/>
              <a:t> =p./(1-p*(mod(r,1/p)));</a:t>
            </a:r>
          </a:p>
          <a:p>
            <a:pPr eaLnBrk="1" hangingPunct="1">
              <a:spcBef>
                <a:spcPct val="0"/>
              </a:spcBef>
              <a:buFontTx/>
              <a:buNone/>
            </a:pPr>
            <a:r>
              <a:rPr lang="en-US" sz="2400" dirty="0"/>
              <a:t>plot(</a:t>
            </a:r>
            <a:r>
              <a:rPr lang="en-US" sz="2400" dirty="0" err="1"/>
              <a:t>r,Tn</a:t>
            </a:r>
            <a:r>
              <a:rPr lang="en-US" sz="2400" dirty="0"/>
              <a:t>, 'b&gt;-')</a:t>
            </a:r>
          </a:p>
          <a:p>
            <a:pPr eaLnBrk="1" hangingPunct="1">
              <a:spcBef>
                <a:spcPct val="0"/>
              </a:spcBef>
              <a:buFontTx/>
              <a:buNone/>
            </a:pPr>
            <a:r>
              <a:rPr lang="en-US" sz="2400" dirty="0" err="1"/>
              <a:t>xlabel</a:t>
            </a:r>
            <a:r>
              <a:rPr lang="en-US" sz="2400" dirty="0"/>
              <a:t>('r')</a:t>
            </a:r>
          </a:p>
          <a:p>
            <a:pPr eaLnBrk="1" hangingPunct="1">
              <a:spcBef>
                <a:spcPct val="0"/>
              </a:spcBef>
              <a:buFontTx/>
              <a:buNone/>
            </a:pPr>
            <a:r>
              <a:rPr lang="en-US" sz="2400" dirty="0" err="1"/>
              <a:t>ylabel</a:t>
            </a:r>
            <a:r>
              <a:rPr lang="en-US" sz="2400" dirty="0"/>
              <a:t>('T(n)')</a:t>
            </a:r>
          </a:p>
          <a:p>
            <a:pPr eaLnBrk="1" hangingPunct="1">
              <a:spcBef>
                <a:spcPct val="0"/>
              </a:spcBef>
              <a:buFontTx/>
              <a:buNone/>
            </a:pPr>
            <a:r>
              <a:rPr lang="en-US" sz="2400" dirty="0"/>
              <a:t>grid on</a:t>
            </a:r>
          </a:p>
        </p:txBody>
      </p:sp>
      <p:pic>
        <p:nvPicPr>
          <p:cNvPr id="3482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3490" y="1634362"/>
            <a:ext cx="5594220" cy="419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404FCA2A-8FCB-4BA0-BFD5-49757E2E6684}"/>
              </a:ext>
            </a:extLst>
          </p:cNvPr>
          <p:cNvSpPr>
            <a:spLocks noChangeArrowheads="1"/>
          </p:cNvSpPr>
          <p:nvPr/>
        </p:nvSpPr>
        <p:spPr bwMode="auto">
          <a:xfrm>
            <a:off x="1600200" y="5768976"/>
            <a:ext cx="8991600" cy="7080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sz="2000" i="1" dirty="0"/>
              <a:t>r  </a:t>
            </a:r>
            <a:r>
              <a:rPr lang="en-US" sz="2000" dirty="0"/>
              <a:t>=      0     1       2       3       4       5      6      7     8       9     10    11  12    13    14    15</a:t>
            </a:r>
          </a:p>
          <a:p>
            <a:pPr eaLnBrk="1" hangingPunct="1">
              <a:spcBef>
                <a:spcPct val="0"/>
              </a:spcBef>
              <a:buFontTx/>
              <a:buNone/>
            </a:pPr>
            <a:r>
              <a:rPr lang="en-US" sz="2000" i="1" dirty="0"/>
              <a:t>T</a:t>
            </a:r>
            <a:r>
              <a:rPr lang="en-US" sz="2000" i="1" baseline="-25000" dirty="0"/>
              <a:t>n</a:t>
            </a:r>
            <a:r>
              <a:rPr lang="en-US" sz="2000" i="1" dirty="0"/>
              <a:t> </a:t>
            </a:r>
            <a:r>
              <a:rPr lang="en-US" sz="2000" dirty="0"/>
              <a:t>= </a:t>
            </a:r>
            <a:r>
              <a:rPr lang="en-US" sz="1200" dirty="0"/>
              <a:t>0.0625    0.0667    0.0714    0.0769    0.0833    0.0909    0.1    0.1111    0.125    0.1429    0.1667    0.2    0.25    0.3333       0.5           1</a:t>
            </a:r>
          </a:p>
        </p:txBody>
      </p:sp>
      <p:sp>
        <p:nvSpPr>
          <p:cNvPr id="2" name="TextBox 1"/>
          <p:cNvSpPr txBox="1"/>
          <p:nvPr/>
        </p:nvSpPr>
        <p:spPr>
          <a:xfrm>
            <a:off x="226422" y="4459421"/>
            <a:ext cx="5129349" cy="1015663"/>
          </a:xfrm>
          <a:prstGeom prst="rect">
            <a:avLst/>
          </a:prstGeom>
          <a:solidFill>
            <a:srgbClr val="FFCCCC"/>
          </a:solid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threshold number </a:t>
            </a:r>
            <a:r>
              <a:rPr lang="en-US" sz="2000" i="1" dirty="0">
                <a:latin typeface="Times New Roman" panose="02020603050405020304" pitchFamily="18" charset="0"/>
                <a:cs typeface="Times New Roman" panose="02020603050405020304" pitchFamily="18" charset="0"/>
              </a:rPr>
              <a:t>T</a:t>
            </a:r>
            <a:r>
              <a:rPr lang="en-US" sz="2000" dirty="0">
                <a:latin typeface="Times New Roman" panose="02020603050405020304" pitchFamily="18" charset="0"/>
                <a:cs typeface="Times New Roman" panose="02020603050405020304" pitchFamily="18" charset="0"/>
              </a:rPr>
              <a:t>(</a:t>
            </a:r>
            <a:r>
              <a:rPr lang="en-US" sz="2000" i="1" dirty="0">
                <a:latin typeface="Times New Roman" panose="02020603050405020304" pitchFamily="18" charset="0"/>
                <a:cs typeface="Times New Roman" panose="02020603050405020304" pitchFamily="18" charset="0"/>
              </a:rPr>
              <a:t>n</a:t>
            </a:r>
            <a:r>
              <a:rPr lang="en-US" sz="2000" dirty="0">
                <a:latin typeface="Times New Roman" panose="02020603050405020304" pitchFamily="18" charset="0"/>
                <a:cs typeface="Times New Roman" panose="02020603050405020304" pitchFamily="18" charset="0"/>
              </a:rPr>
              <a:t>) increases with round </a:t>
            </a:r>
            <a:r>
              <a:rPr lang="en-US" sz="2000" i="1" dirty="0">
                <a:latin typeface="Times New Roman" panose="02020603050405020304" pitchFamily="18" charset="0"/>
                <a:cs typeface="Times New Roman" panose="02020603050405020304" pitchFamily="18" charset="0"/>
              </a:rPr>
              <a:t>r</a:t>
            </a:r>
            <a:r>
              <a:rPr lang="en-US" sz="2000" dirty="0">
                <a:latin typeface="Times New Roman" panose="02020603050405020304" pitchFamily="18" charset="0"/>
                <a:cs typeface="Times New Roman" panose="02020603050405020304" pitchFamily="18" charset="0"/>
              </a:rPr>
              <a:t> indicates the probability of the rest of the nodes will have more chance to become CH. </a:t>
            </a:r>
          </a:p>
        </p:txBody>
      </p:sp>
      <p:graphicFrame>
        <p:nvGraphicFramePr>
          <p:cNvPr id="7" name="Object 1">
            <a:extLst>
              <a:ext uri="{FF2B5EF4-FFF2-40B4-BE49-F238E27FC236}">
                <a16:creationId xmlns:a16="http://schemas.microsoft.com/office/drawing/2014/main" id="{547F5E62-4693-4A74-8B33-02E451B0DC7A}"/>
              </a:ext>
            </a:extLst>
          </p:cNvPr>
          <p:cNvGraphicFramePr>
            <a:graphicFrameLocks noChangeAspect="1"/>
          </p:cNvGraphicFramePr>
          <p:nvPr>
            <p:extLst>
              <p:ext uri="{D42A27DB-BD31-4B8C-83A1-F6EECF244321}">
                <p14:modId xmlns:p14="http://schemas.microsoft.com/office/powerpoint/2010/main" val="2028893604"/>
              </p:ext>
            </p:extLst>
          </p:nvPr>
        </p:nvGraphicFramePr>
        <p:xfrm>
          <a:off x="226423" y="125965"/>
          <a:ext cx="3953692" cy="1111322"/>
        </p:xfrm>
        <a:graphic>
          <a:graphicData uri="http://schemas.openxmlformats.org/presentationml/2006/ole">
            <mc:AlternateContent xmlns:mc="http://schemas.openxmlformats.org/markup-compatibility/2006">
              <mc:Choice xmlns:v="urn:schemas-microsoft-com:vml" Requires="v">
                <p:oleObj name="Equation" r:id="rId3" imgW="2438400" imgH="685800" progId="Equation.3">
                  <p:embed/>
                </p:oleObj>
              </mc:Choice>
              <mc:Fallback>
                <p:oleObj name="Equation" r:id="rId3" imgW="2438400" imgH="685800" progId="Equation.3">
                  <p:embed/>
                  <p:pic>
                    <p:nvPicPr>
                      <p:cNvPr id="6" name="Object 1">
                        <a:extLst>
                          <a:ext uri="{FF2B5EF4-FFF2-40B4-BE49-F238E27FC236}">
                            <a16:creationId xmlns:a16="http://schemas.microsoft.com/office/drawing/2014/main" id="{A6AC54B5-EBE0-4367-BF39-79BC4B7421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423" y="125965"/>
                        <a:ext cx="3953692" cy="1111322"/>
                      </a:xfrm>
                      <a:prstGeom prst="rect">
                        <a:avLst/>
                      </a:prstGeom>
                      <a:solidFill>
                        <a:srgbClr val="FFCCFF"/>
                      </a:solidFill>
                      <a:ln>
                        <a:noFill/>
                      </a:ln>
                    </p:spPr>
                  </p:pic>
                </p:oleObj>
              </mc:Fallback>
            </mc:AlternateContent>
          </a:graphicData>
        </a:graphic>
      </p:graphicFrame>
      <p:sp>
        <p:nvSpPr>
          <p:cNvPr id="8" name="Rectangle 7">
            <a:extLst>
              <a:ext uri="{FF2B5EF4-FFF2-40B4-BE49-F238E27FC236}">
                <a16:creationId xmlns:a16="http://schemas.microsoft.com/office/drawing/2014/main" id="{37F08AFF-0F54-46E2-8D36-EF6184A7840D}"/>
              </a:ext>
            </a:extLst>
          </p:cNvPr>
          <p:cNvSpPr/>
          <p:nvPr/>
        </p:nvSpPr>
        <p:spPr>
          <a:xfrm>
            <a:off x="4451425" y="163977"/>
            <a:ext cx="7120923" cy="1323439"/>
          </a:xfrm>
          <a:prstGeom prst="rect">
            <a:avLst/>
          </a:prstGeom>
          <a:solidFill>
            <a:srgbClr val="CCFFFF"/>
          </a:solidFill>
        </p:spPr>
        <p:txBody>
          <a:bodyPr wrap="square">
            <a:spAutoFit/>
          </a:bodyPr>
          <a:lstStyle/>
          <a:p>
            <a:pPr algn="just" eaLnBrk="1" hangingPunct="1">
              <a:spcBef>
                <a:spcPct val="50000"/>
              </a:spcBef>
              <a:buFont typeface="Wingdings" panose="05000000000000000000" pitchFamily="2" charset="2"/>
              <a:buChar char="v"/>
            </a:pPr>
            <a:r>
              <a:rPr lang="en-US" sz="2000" dirty="0">
                <a:solidFill>
                  <a:srgbClr val="0000FF"/>
                </a:solidFill>
                <a:latin typeface="Times New Roman" panose="02020603050405020304" pitchFamily="18" charset="0"/>
                <a:cs typeface="Times New Roman" panose="02020603050405020304" pitchFamily="18" charset="0"/>
              </a:rPr>
              <a:t>where </a:t>
            </a:r>
            <a:r>
              <a:rPr lang="en-US" sz="2000" i="1" dirty="0">
                <a:solidFill>
                  <a:srgbClr val="0000FF"/>
                </a:solidFill>
                <a:latin typeface="Times New Roman" panose="02020603050405020304" pitchFamily="18" charset="0"/>
                <a:cs typeface="Times New Roman" panose="02020603050405020304" pitchFamily="18" charset="0"/>
              </a:rPr>
              <a:t>p</a:t>
            </a:r>
            <a:r>
              <a:rPr lang="en-US" sz="2000" dirty="0">
                <a:solidFill>
                  <a:srgbClr val="0000FF"/>
                </a:solidFill>
                <a:latin typeface="Times New Roman" panose="02020603050405020304" pitchFamily="18" charset="0"/>
                <a:cs typeface="Times New Roman" panose="02020603050405020304" pitchFamily="18" charset="0"/>
              </a:rPr>
              <a:t> is the ratio of the total number of cluster heads to the total number of nodes</a:t>
            </a:r>
            <a:r>
              <a:rPr lang="en-US" sz="2000" dirty="0">
                <a:latin typeface="Times New Roman" panose="02020603050405020304" pitchFamily="18" charset="0"/>
                <a:cs typeface="Times New Roman" panose="02020603050405020304" pitchFamily="18" charset="0"/>
              </a:rPr>
              <a:t>, </a:t>
            </a:r>
            <a:r>
              <a:rPr lang="en-US" sz="2000" i="1" dirty="0">
                <a:solidFill>
                  <a:srgbClr val="FF0000"/>
                </a:solidFill>
                <a:latin typeface="Times New Roman" panose="02020603050405020304" pitchFamily="18" charset="0"/>
                <a:cs typeface="Times New Roman" panose="02020603050405020304" pitchFamily="18" charset="0"/>
              </a:rPr>
              <a:t>r</a:t>
            </a:r>
            <a:r>
              <a:rPr lang="en-US" sz="2000" dirty="0">
                <a:solidFill>
                  <a:srgbClr val="FF0000"/>
                </a:solidFill>
                <a:latin typeface="Times New Roman" panose="02020603050405020304" pitchFamily="18" charset="0"/>
                <a:cs typeface="Times New Roman" panose="02020603050405020304" pitchFamily="18" charset="0"/>
              </a:rPr>
              <a:t> is the number of rounds </a:t>
            </a:r>
            <a:r>
              <a:rPr lang="en-US" sz="2000" dirty="0">
                <a:latin typeface="Times New Roman" panose="02020603050405020304" pitchFamily="18" charset="0"/>
                <a:cs typeface="Times New Roman" panose="02020603050405020304" pitchFamily="18" charset="0"/>
              </a:rPr>
              <a:t>(</a:t>
            </a:r>
            <a:r>
              <a:rPr lang="en-US" sz="2000" i="1" dirty="0">
                <a:latin typeface="Times New Roman" panose="02020603050405020304" pitchFamily="18" charset="0"/>
                <a:cs typeface="Times New Roman" panose="02020603050405020304" pitchFamily="18" charset="0"/>
              </a:rPr>
              <a:t>r</a:t>
            </a:r>
            <a:r>
              <a:rPr lang="en-US" sz="2000" dirty="0">
                <a:latin typeface="Times New Roman" panose="02020603050405020304" pitchFamily="18" charset="0"/>
                <a:cs typeface="Times New Roman" panose="02020603050405020304" pitchFamily="18" charset="0"/>
              </a:rPr>
              <a:t> = 0, 1, 2, 3,…,number of nodes/cluster-1)</a:t>
            </a:r>
            <a:r>
              <a:rPr lang="en-US" sz="2000" dirty="0">
                <a:solidFill>
                  <a:srgbClr val="FF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and </a:t>
            </a:r>
            <a:r>
              <a:rPr lang="en-US" sz="2000" i="1" dirty="0">
                <a:solidFill>
                  <a:srgbClr val="FF0000"/>
                </a:solidFill>
                <a:latin typeface="Times New Roman" panose="02020603050405020304" pitchFamily="18" charset="0"/>
                <a:cs typeface="Times New Roman" panose="02020603050405020304" pitchFamily="18" charset="0"/>
              </a:rPr>
              <a:t>G</a:t>
            </a:r>
            <a:r>
              <a:rPr lang="en-US" sz="2000" dirty="0">
                <a:solidFill>
                  <a:srgbClr val="FF0000"/>
                </a:solidFill>
                <a:latin typeface="Times New Roman" panose="02020603050405020304" pitchFamily="18" charset="0"/>
                <a:cs typeface="Times New Roman" panose="02020603050405020304" pitchFamily="18" charset="0"/>
              </a:rPr>
              <a:t> is a set of nodes that have not been chosen as cluster heads</a:t>
            </a:r>
            <a:r>
              <a:rPr lang="en-US" sz="2000" dirty="0">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till the last rounds</a:t>
            </a:r>
            <a:r>
              <a:rPr lang="en-US" sz="2000" dirty="0">
                <a:latin typeface="Times New Roman" panose="02020603050405020304" pitchFamily="18" charset="0"/>
                <a:cs typeface="Times New Roman" panose="02020603050405020304" pitchFamily="18" charset="0"/>
              </a:rPr>
              <a:t>. </a:t>
            </a:r>
          </a:p>
        </p:txBody>
      </p:sp>
      <p:sp>
        <p:nvSpPr>
          <p:cNvPr id="9" name="Slide Number Placeholder 8">
            <a:extLst>
              <a:ext uri="{FF2B5EF4-FFF2-40B4-BE49-F238E27FC236}">
                <a16:creationId xmlns:a16="http://schemas.microsoft.com/office/drawing/2014/main" id="{DA4EEA14-45C4-448D-855D-AA33BF1F1CB4}"/>
              </a:ext>
            </a:extLst>
          </p:cNvPr>
          <p:cNvSpPr>
            <a:spLocks noGrp="1"/>
          </p:cNvSpPr>
          <p:nvPr>
            <p:ph type="sldNum" sz="quarter" idx="12"/>
          </p:nvPr>
        </p:nvSpPr>
        <p:spPr/>
        <p:txBody>
          <a:bodyPr/>
          <a:lstStyle/>
          <a:p>
            <a:fld id="{C3F1913A-7668-436E-8561-76A60B792217}" type="slidenum">
              <a:rPr lang="en-US" smtClean="0"/>
              <a:t>27</a:t>
            </a:fld>
            <a:endParaRPr lang="en-US"/>
          </a:p>
        </p:txBody>
      </p:sp>
    </p:spTree>
    <p:extLst>
      <p:ext uri="{BB962C8B-B14F-4D97-AF65-F5344CB8AC3E}">
        <p14:creationId xmlns:p14="http://schemas.microsoft.com/office/powerpoint/2010/main" val="39476233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24238" y="545269"/>
            <a:ext cx="11543523" cy="5816977"/>
          </a:xfrm>
          <a:prstGeom prst="rect">
            <a:avLst/>
          </a:prstGeom>
          <a:solidFill>
            <a:srgbClr val="FFCCFF"/>
          </a:solidFill>
        </p:spPr>
        <p:txBody>
          <a:bodyPr wrap="square" rtlCol="0">
            <a:spAutoFit/>
          </a:bodyPr>
          <a:lstStyle/>
          <a:p>
            <a:pPr algn="just"/>
            <a:r>
              <a:rPr lang="en-US" sz="3600" b="1" dirty="0">
                <a:solidFill>
                  <a:srgbClr val="0000FF"/>
                </a:solidFill>
                <a:latin typeface="Times New Roman" panose="02020603050405020304" pitchFamily="18" charset="0"/>
                <a:cs typeface="Times New Roman" panose="02020603050405020304" pitchFamily="18" charset="0"/>
              </a:rPr>
              <a:t>Setup phase algorithm</a:t>
            </a:r>
          </a:p>
          <a:p>
            <a:pPr marL="457200" indent="-457200" algn="just">
              <a:buAutoNum type="arabicPeriod"/>
            </a:pPr>
            <a:r>
              <a:rPr lang="en-US" sz="2800" dirty="0">
                <a:latin typeface="Times New Roman" panose="02020603050405020304" pitchFamily="18" charset="0"/>
                <a:cs typeface="Times New Roman" panose="02020603050405020304" pitchFamily="18" charset="0"/>
              </a:rPr>
              <a:t>Start round </a:t>
            </a:r>
            <a:r>
              <a:rPr lang="en-US" sz="2800" i="1" dirty="0">
                <a:latin typeface="Times New Roman" panose="02020603050405020304" pitchFamily="18" charset="0"/>
                <a:cs typeface="Times New Roman" panose="02020603050405020304" pitchFamily="18" charset="0"/>
              </a:rPr>
              <a:t>r</a:t>
            </a:r>
            <a:r>
              <a:rPr lang="en-US" sz="2800" dirty="0">
                <a:latin typeface="Times New Roman" panose="02020603050405020304" pitchFamily="18" charset="0"/>
                <a:cs typeface="Times New Roman" panose="02020603050405020304" pitchFamily="18" charset="0"/>
              </a:rPr>
              <a:t> = 0 </a:t>
            </a:r>
          </a:p>
          <a:p>
            <a:pPr marL="457200" indent="-457200" algn="just">
              <a:buAutoNum type="arabicPeriod"/>
            </a:pPr>
            <a:r>
              <a:rPr lang="en-US" sz="2800" dirty="0">
                <a:latin typeface="Times New Roman" panose="02020603050405020304" pitchFamily="18" charset="0"/>
                <a:cs typeface="Times New Roman" panose="02020603050405020304" pitchFamily="18" charset="0"/>
              </a:rPr>
              <a:t>All the </a:t>
            </a:r>
            <a:r>
              <a:rPr lang="en-US" sz="2800" dirty="0">
                <a:solidFill>
                  <a:srgbClr val="FF0000"/>
                </a:solidFill>
                <a:latin typeface="Times New Roman" panose="02020603050405020304" pitchFamily="18" charset="0"/>
                <a:cs typeface="Times New Roman" panose="02020603050405020304" pitchFamily="18" charset="0"/>
              </a:rPr>
              <a:t>sensing node </a:t>
            </a:r>
            <a:r>
              <a:rPr lang="en-US" sz="2800" dirty="0">
                <a:latin typeface="Times New Roman" panose="02020603050405020304" pitchFamily="18" charset="0"/>
                <a:cs typeface="Times New Roman" panose="02020603050405020304" pitchFamily="18" charset="0"/>
              </a:rPr>
              <a:t>(SN) has probability of becoming cluster head (CH). </a:t>
            </a:r>
          </a:p>
          <a:p>
            <a:pPr marL="457200" indent="-457200" algn="just">
              <a:buAutoNum type="arabicPeriod"/>
            </a:pPr>
            <a:r>
              <a:rPr lang="en-US" sz="2800" dirty="0">
                <a:latin typeface="Times New Roman" panose="02020603050405020304" pitchFamily="18" charset="0"/>
                <a:cs typeface="Times New Roman" panose="02020603050405020304" pitchFamily="18" charset="0"/>
              </a:rPr>
              <a:t>For round </a:t>
            </a:r>
            <a:r>
              <a:rPr lang="en-US" sz="2800" i="1" dirty="0">
                <a:latin typeface="Times New Roman" panose="02020603050405020304" pitchFamily="18" charset="0"/>
                <a:cs typeface="Times New Roman" panose="02020603050405020304" pitchFamily="18" charset="0"/>
              </a:rPr>
              <a:t>r</a:t>
            </a:r>
            <a:r>
              <a:rPr lang="en-US" sz="2800" dirty="0">
                <a:latin typeface="Times New Roman" panose="02020603050405020304" pitchFamily="18" charset="0"/>
                <a:cs typeface="Times New Roman" panose="02020603050405020304" pitchFamily="18" charset="0"/>
              </a:rPr>
              <a:t>, after node is elected as CH, it will start broadcasting ‘Hello’ message to nodes in a cluster. </a:t>
            </a:r>
          </a:p>
          <a:p>
            <a:pPr marL="457200" indent="-457200" algn="just">
              <a:buAutoNum type="arabicPeriod"/>
            </a:pPr>
            <a:r>
              <a:rPr lang="en-US" sz="2800" dirty="0">
                <a:latin typeface="Times New Roman" panose="02020603050405020304" pitchFamily="18" charset="0"/>
                <a:cs typeface="Times New Roman" panose="02020603050405020304" pitchFamily="18" charset="0"/>
              </a:rPr>
              <a:t>Energy used to broadcast message is equal for all the cluster heads. </a:t>
            </a:r>
          </a:p>
          <a:p>
            <a:pPr marL="457200" indent="-457200" algn="just">
              <a:buAutoNum type="arabicPeriod"/>
            </a:pPr>
            <a:r>
              <a:rPr lang="en-US" sz="2800" dirty="0">
                <a:latin typeface="Times New Roman" panose="02020603050405020304" pitchFamily="18" charset="0"/>
                <a:cs typeface="Times New Roman" panose="02020603050405020304" pitchFamily="18" charset="0"/>
              </a:rPr>
              <a:t>Initially, all the nodes those are not CH are supposed to keep their receiver ON to receive broadcasted message. </a:t>
            </a:r>
          </a:p>
          <a:p>
            <a:pPr marL="457200" indent="-457200" algn="just">
              <a:buAutoNum type="arabicPeriod"/>
            </a:pPr>
            <a:r>
              <a:rPr lang="en-US" sz="2800" dirty="0">
                <a:latin typeface="Times New Roman" panose="02020603050405020304" pitchFamily="18" charset="0"/>
                <a:cs typeface="Times New Roman" panose="02020603050405020304" pitchFamily="18" charset="0"/>
              </a:rPr>
              <a:t>For round </a:t>
            </a:r>
            <a:r>
              <a:rPr lang="en-US" sz="2800" i="1" dirty="0">
                <a:latin typeface="Times New Roman" panose="02020603050405020304" pitchFamily="18" charset="0"/>
                <a:cs typeface="Times New Roman" panose="02020603050405020304" pitchFamily="18" charset="0"/>
              </a:rPr>
              <a:t>r</a:t>
            </a:r>
            <a:r>
              <a:rPr lang="en-US" sz="2800" dirty="0">
                <a:latin typeface="Times New Roman" panose="02020603050405020304" pitchFamily="18" charset="0"/>
                <a:cs typeface="Times New Roman" panose="02020603050405020304" pitchFamily="18" charset="0"/>
              </a:rPr>
              <a:t>, </a:t>
            </a:r>
            <a:r>
              <a:rPr lang="en-US" sz="2800" dirty="0">
                <a:solidFill>
                  <a:srgbClr val="FF0000"/>
                </a:solidFill>
                <a:latin typeface="Times New Roman" panose="02020603050405020304" pitchFamily="18" charset="0"/>
                <a:cs typeface="Times New Roman" panose="02020603050405020304" pitchFamily="18" charset="0"/>
              </a:rPr>
              <a:t>non-cluster head nodes</a:t>
            </a:r>
            <a:r>
              <a:rPr lang="en-US" sz="2800" dirty="0">
                <a:latin typeface="Times New Roman" panose="02020603050405020304" pitchFamily="18" charset="0"/>
                <a:cs typeface="Times New Roman" panose="02020603050405020304" pitchFamily="18" charset="0"/>
              </a:rPr>
              <a:t> (member nodes) will choose the cluster based on minimum energy criteria required to transmit/receive messages/data i.e. it selects the nearest CH. </a:t>
            </a:r>
          </a:p>
          <a:p>
            <a:pPr marL="457200" indent="-457200" algn="just">
              <a:buAutoNum type="arabicPeriod"/>
            </a:pPr>
            <a:r>
              <a:rPr lang="en-US" sz="2800" dirty="0">
                <a:latin typeface="Times New Roman" panose="02020603050405020304" pitchFamily="18" charset="0"/>
                <a:cs typeface="Times New Roman" panose="02020603050405020304" pitchFamily="18" charset="0"/>
              </a:rPr>
              <a:t>Random selection of CH will be done if more number of nodes declare themselves as CH.</a:t>
            </a:r>
          </a:p>
        </p:txBody>
      </p:sp>
      <p:sp>
        <p:nvSpPr>
          <p:cNvPr id="6" name="Slide Number Placeholder 5">
            <a:extLst>
              <a:ext uri="{FF2B5EF4-FFF2-40B4-BE49-F238E27FC236}">
                <a16:creationId xmlns:a16="http://schemas.microsoft.com/office/drawing/2014/main" id="{E0EC6829-30BC-47D7-A119-EB2A8916524D}"/>
              </a:ext>
            </a:extLst>
          </p:cNvPr>
          <p:cNvSpPr>
            <a:spLocks noGrp="1"/>
          </p:cNvSpPr>
          <p:nvPr>
            <p:ph type="sldNum" sz="quarter" idx="12"/>
          </p:nvPr>
        </p:nvSpPr>
        <p:spPr/>
        <p:txBody>
          <a:bodyPr/>
          <a:lstStyle/>
          <a:p>
            <a:fld id="{C3F1913A-7668-436E-8561-76A60B792217}" type="slidenum">
              <a:rPr lang="en-US" smtClean="0"/>
              <a:t>28</a:t>
            </a:fld>
            <a:endParaRPr lang="en-US"/>
          </a:p>
        </p:txBody>
      </p:sp>
    </p:spTree>
    <p:extLst>
      <p:ext uri="{BB962C8B-B14F-4D97-AF65-F5344CB8AC3E}">
        <p14:creationId xmlns:p14="http://schemas.microsoft.com/office/powerpoint/2010/main" val="168636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1899330" y="972160"/>
            <a:ext cx="8757455" cy="4788560"/>
          </a:xfrm>
          <a:prstGeom prst="rect">
            <a:avLst/>
          </a:prstGeom>
        </p:spPr>
      </p:pic>
      <p:sp>
        <p:nvSpPr>
          <p:cNvPr id="5" name="Slide Number Placeholder 4"/>
          <p:cNvSpPr>
            <a:spLocks noGrp="1"/>
          </p:cNvSpPr>
          <p:nvPr>
            <p:ph type="sldNum" sz="quarter" idx="12"/>
          </p:nvPr>
        </p:nvSpPr>
        <p:spPr/>
        <p:txBody>
          <a:bodyPr/>
          <a:lstStyle/>
          <a:p>
            <a:fld id="{C3F1913A-7668-436E-8561-76A60B792217}" type="slidenum">
              <a:rPr lang="en-US" smtClean="0"/>
              <a:t>29</a:t>
            </a:fld>
            <a:endParaRPr lang="en-US"/>
          </a:p>
        </p:txBody>
      </p:sp>
      <p:sp>
        <p:nvSpPr>
          <p:cNvPr id="2" name="Rectangle 1"/>
          <p:cNvSpPr/>
          <p:nvPr/>
        </p:nvSpPr>
        <p:spPr>
          <a:xfrm>
            <a:off x="1127760" y="5227243"/>
            <a:ext cx="5218176" cy="646331"/>
          </a:xfrm>
          <a:prstGeom prst="rect">
            <a:avLst/>
          </a:prstGeom>
          <a:solidFill>
            <a:schemeClr val="accent4">
              <a:lumMod val="40000"/>
              <a:lumOff val="60000"/>
            </a:schemeClr>
          </a:solidFill>
        </p:spPr>
        <p:txBody>
          <a:bodyPr wrap="square">
            <a:spAutoFit/>
          </a:bodyPr>
          <a:lstStyle/>
          <a:p>
            <a:r>
              <a:rPr lang="en-US" dirty="0"/>
              <a:t>CHs broadcast their status to nearby nodes using </a:t>
            </a:r>
            <a:r>
              <a:rPr lang="en-US" b="1" dirty="0"/>
              <a:t>CSMA (Carrier Sense Multiple Access)</a:t>
            </a:r>
            <a:r>
              <a:rPr lang="en-US" dirty="0"/>
              <a:t>.</a:t>
            </a:r>
          </a:p>
        </p:txBody>
      </p:sp>
    </p:spTree>
    <p:extLst>
      <p:ext uri="{BB962C8B-B14F-4D97-AF65-F5344CB8AC3E}">
        <p14:creationId xmlns:p14="http://schemas.microsoft.com/office/powerpoint/2010/main" val="13603246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3F1913A-7668-436E-8561-76A60B792217}" type="slidenum">
              <a:rPr lang="en-US" smtClean="0"/>
              <a:t>30</a:t>
            </a:fld>
            <a:endParaRPr lang="en-US"/>
          </a:p>
        </p:txBody>
      </p:sp>
      <p:pic>
        <p:nvPicPr>
          <p:cNvPr id="6" name="Picture 5"/>
          <p:cNvPicPr>
            <a:picLocks noChangeAspect="1"/>
          </p:cNvPicPr>
          <p:nvPr/>
        </p:nvPicPr>
        <p:blipFill>
          <a:blip r:embed="rId2"/>
          <a:stretch>
            <a:fillRect/>
          </a:stretch>
        </p:blipFill>
        <p:spPr>
          <a:xfrm>
            <a:off x="1777440" y="1001859"/>
            <a:ext cx="8655864" cy="4827488"/>
          </a:xfrm>
          <a:prstGeom prst="rect">
            <a:avLst/>
          </a:prstGeom>
        </p:spPr>
      </p:pic>
    </p:spTree>
    <p:extLst>
      <p:ext uri="{BB962C8B-B14F-4D97-AF65-F5344CB8AC3E}">
        <p14:creationId xmlns:p14="http://schemas.microsoft.com/office/powerpoint/2010/main" val="37946078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1639508" y="911966"/>
            <a:ext cx="8574340" cy="4861185"/>
          </a:xfrm>
          <a:prstGeom prst="rect">
            <a:avLst/>
          </a:prstGeom>
        </p:spPr>
      </p:pic>
      <p:sp>
        <p:nvSpPr>
          <p:cNvPr id="5" name="Slide Number Placeholder 4"/>
          <p:cNvSpPr>
            <a:spLocks noGrp="1"/>
          </p:cNvSpPr>
          <p:nvPr>
            <p:ph type="sldNum" sz="quarter" idx="12"/>
          </p:nvPr>
        </p:nvSpPr>
        <p:spPr/>
        <p:txBody>
          <a:bodyPr/>
          <a:lstStyle/>
          <a:p>
            <a:fld id="{C3F1913A-7668-436E-8561-76A60B792217}" type="slidenum">
              <a:rPr lang="en-US" smtClean="0"/>
              <a:t>31</a:t>
            </a:fld>
            <a:endParaRPr lang="en-US"/>
          </a:p>
        </p:txBody>
      </p:sp>
    </p:spTree>
    <p:extLst>
      <p:ext uri="{BB962C8B-B14F-4D97-AF65-F5344CB8AC3E}">
        <p14:creationId xmlns:p14="http://schemas.microsoft.com/office/powerpoint/2010/main" val="7597522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1982398" y="996578"/>
            <a:ext cx="9689963" cy="4471534"/>
          </a:xfrm>
          <a:prstGeom prst="rect">
            <a:avLst/>
          </a:prstGeom>
        </p:spPr>
      </p:pic>
      <p:sp>
        <p:nvSpPr>
          <p:cNvPr id="5" name="Slide Number Placeholder 4"/>
          <p:cNvSpPr>
            <a:spLocks noGrp="1"/>
          </p:cNvSpPr>
          <p:nvPr>
            <p:ph type="sldNum" sz="quarter" idx="12"/>
          </p:nvPr>
        </p:nvSpPr>
        <p:spPr/>
        <p:txBody>
          <a:bodyPr/>
          <a:lstStyle/>
          <a:p>
            <a:fld id="{C3F1913A-7668-436E-8561-76A60B792217}" type="slidenum">
              <a:rPr lang="en-US" smtClean="0"/>
              <a:t>32</a:t>
            </a:fld>
            <a:endParaRPr lang="en-US"/>
          </a:p>
        </p:txBody>
      </p:sp>
    </p:spTree>
    <p:extLst>
      <p:ext uri="{BB962C8B-B14F-4D97-AF65-F5344CB8AC3E}">
        <p14:creationId xmlns:p14="http://schemas.microsoft.com/office/powerpoint/2010/main" val="23936176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2050988" y="975978"/>
            <a:ext cx="9191375" cy="5095637"/>
          </a:xfrm>
          <a:prstGeom prst="rect">
            <a:avLst/>
          </a:prstGeom>
        </p:spPr>
      </p:pic>
      <p:sp>
        <p:nvSpPr>
          <p:cNvPr id="5" name="Slide Number Placeholder 4"/>
          <p:cNvSpPr>
            <a:spLocks noGrp="1"/>
          </p:cNvSpPr>
          <p:nvPr>
            <p:ph type="sldNum" sz="quarter" idx="12"/>
          </p:nvPr>
        </p:nvSpPr>
        <p:spPr/>
        <p:txBody>
          <a:bodyPr/>
          <a:lstStyle/>
          <a:p>
            <a:fld id="{C3F1913A-7668-436E-8561-76A60B792217}" type="slidenum">
              <a:rPr lang="en-US" smtClean="0"/>
              <a:t>33</a:t>
            </a:fld>
            <a:endParaRPr lang="en-US"/>
          </a:p>
        </p:txBody>
      </p:sp>
    </p:spTree>
    <p:extLst>
      <p:ext uri="{BB962C8B-B14F-4D97-AF65-F5344CB8AC3E}">
        <p14:creationId xmlns:p14="http://schemas.microsoft.com/office/powerpoint/2010/main" val="29635985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88302" y="794901"/>
            <a:ext cx="11215395" cy="4585871"/>
          </a:xfrm>
          <a:prstGeom prst="rect">
            <a:avLst/>
          </a:prstGeom>
          <a:solidFill>
            <a:srgbClr val="FFCCFF"/>
          </a:solidFill>
        </p:spPr>
        <p:txBody>
          <a:bodyPr wrap="square" rtlCol="0">
            <a:spAutoFit/>
          </a:bodyPr>
          <a:lstStyle/>
          <a:p>
            <a:pPr algn="just"/>
            <a:r>
              <a:rPr lang="en-US" sz="3600" b="1" dirty="0">
                <a:solidFill>
                  <a:srgbClr val="0000FF"/>
                </a:solidFill>
                <a:latin typeface="Times New Roman" panose="02020603050405020304" pitchFamily="18" charset="0"/>
                <a:cs typeface="Times New Roman" panose="02020603050405020304" pitchFamily="18" charset="0"/>
              </a:rPr>
              <a:t>Steady state phase Algorithm</a:t>
            </a:r>
            <a:endParaRPr lang="en-US" b="1" dirty="0"/>
          </a:p>
          <a:p>
            <a:pPr>
              <a:buFont typeface="+mj-lt"/>
              <a:buAutoNum type="arabicPeriod"/>
            </a:pPr>
            <a:r>
              <a:rPr lang="en-US" sz="2000" b="1" dirty="0">
                <a:latin typeface="Times New Roman" panose="02020603050405020304" pitchFamily="18" charset="0"/>
                <a:cs typeface="Times New Roman" panose="02020603050405020304" pitchFamily="18" charset="0"/>
              </a:rPr>
              <a:t>Cluster Member Notification</a:t>
            </a:r>
            <a:endParaRPr lang="en-US" sz="20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Each </a:t>
            </a:r>
            <a:r>
              <a:rPr lang="en-US" sz="2000" b="1" dirty="0">
                <a:latin typeface="Times New Roman" panose="02020603050405020304" pitchFamily="18" charset="0"/>
                <a:cs typeface="Times New Roman" panose="02020603050405020304" pitchFamily="18" charset="0"/>
              </a:rPr>
              <a:t>non-cluster head (non-CH) node</a:t>
            </a:r>
            <a:r>
              <a:rPr lang="en-US" sz="2000" dirty="0">
                <a:latin typeface="Times New Roman" panose="02020603050405020304" pitchFamily="18" charset="0"/>
                <a:cs typeface="Times New Roman" panose="02020603050405020304" pitchFamily="18" charset="0"/>
              </a:rPr>
              <a:t> sends a message to its </a:t>
            </a:r>
            <a:r>
              <a:rPr lang="en-US" sz="2000" b="1" dirty="0">
                <a:latin typeface="Times New Roman" panose="02020603050405020304" pitchFamily="18" charset="0"/>
                <a:cs typeface="Times New Roman" panose="02020603050405020304" pitchFamily="18" charset="0"/>
              </a:rPr>
              <a:t>cluster head (CH)</a:t>
            </a:r>
            <a:r>
              <a:rPr lang="en-US" sz="2000" dirty="0">
                <a:latin typeface="Times New Roman" panose="02020603050405020304" pitchFamily="18" charset="0"/>
                <a:cs typeface="Times New Roman" panose="02020603050405020304" pitchFamily="18" charset="0"/>
              </a:rPr>
              <a:t> to announce its membership.</a:t>
            </a: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The CH compiles a </a:t>
            </a:r>
            <a:r>
              <a:rPr lang="en-US" sz="2000" b="1" dirty="0">
                <a:latin typeface="Times New Roman" panose="02020603050405020304" pitchFamily="18" charset="0"/>
                <a:cs typeface="Times New Roman" panose="02020603050405020304" pitchFamily="18" charset="0"/>
              </a:rPr>
              <a:t>list of member nodes</a:t>
            </a:r>
            <a:r>
              <a:rPr lang="en-US" sz="2000" dirty="0">
                <a:latin typeface="Times New Roman" panose="02020603050405020304" pitchFamily="18" charset="0"/>
                <a:cs typeface="Times New Roman" panose="02020603050405020304" pitchFamily="18" charset="0"/>
              </a:rPr>
              <a:t> in its cluster.</a:t>
            </a:r>
          </a:p>
          <a:p>
            <a:pPr>
              <a:buFont typeface="+mj-lt"/>
              <a:buAutoNum type="arabicPeriod"/>
            </a:pPr>
            <a:r>
              <a:rPr lang="en-US" sz="2000" b="1" dirty="0">
                <a:latin typeface="Times New Roman" panose="02020603050405020304" pitchFamily="18" charset="0"/>
                <a:cs typeface="Times New Roman" panose="02020603050405020304" pitchFamily="18" charset="0"/>
              </a:rPr>
              <a:t>TDMA Scheduling by CH</a:t>
            </a:r>
            <a:endParaRPr lang="en-US" sz="20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The CH creates a </a:t>
            </a:r>
            <a:r>
              <a:rPr lang="en-US" sz="2000" b="1" dirty="0">
                <a:latin typeface="Times New Roman" panose="02020603050405020304" pitchFamily="18" charset="0"/>
                <a:cs typeface="Times New Roman" panose="02020603050405020304" pitchFamily="18" charset="0"/>
              </a:rPr>
              <a:t>TDMA schedule</a:t>
            </a:r>
            <a:r>
              <a:rPr lang="en-US" sz="2000" dirty="0">
                <a:latin typeface="Times New Roman" panose="02020603050405020304" pitchFamily="18" charset="0"/>
                <a:cs typeface="Times New Roman" panose="02020603050405020304" pitchFamily="18" charset="0"/>
              </a:rPr>
              <a:t> and assigns </a:t>
            </a:r>
            <a:r>
              <a:rPr lang="en-US" sz="2000" b="1" dirty="0">
                <a:latin typeface="Times New Roman" panose="02020603050405020304" pitchFamily="18" charset="0"/>
                <a:cs typeface="Times New Roman" panose="02020603050405020304" pitchFamily="18" charset="0"/>
              </a:rPr>
              <a:t>time slots</a:t>
            </a:r>
            <a:r>
              <a:rPr lang="en-US" sz="2000" dirty="0">
                <a:latin typeface="Times New Roman" panose="02020603050405020304" pitchFamily="18" charset="0"/>
                <a:cs typeface="Times New Roman" panose="02020603050405020304" pitchFamily="18" charset="0"/>
              </a:rPr>
              <a:t> to each member node.</a:t>
            </a: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This schedule is broadcasted to all cluster members.</a:t>
            </a:r>
          </a:p>
          <a:p>
            <a:pPr>
              <a:buFont typeface="+mj-lt"/>
              <a:buAutoNum type="arabicPeriod"/>
            </a:pPr>
            <a:r>
              <a:rPr lang="en-US" sz="2000" b="1" dirty="0">
                <a:latin typeface="Times New Roman" panose="02020603050405020304" pitchFamily="18" charset="0"/>
                <a:cs typeface="Times New Roman" panose="02020603050405020304" pitchFamily="18" charset="0"/>
              </a:rPr>
              <a:t>Energy-Saving Mechanism</a:t>
            </a:r>
            <a:endParaRPr lang="en-US" sz="20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Non-CH nodes </a:t>
            </a:r>
            <a:r>
              <a:rPr lang="en-US" sz="2000" b="1" dirty="0">
                <a:latin typeface="Times New Roman" panose="02020603050405020304" pitchFamily="18" charset="0"/>
                <a:cs typeface="Times New Roman" panose="02020603050405020304" pitchFamily="18" charset="0"/>
              </a:rPr>
              <a:t>only switch on their transmitters</a:t>
            </a:r>
            <a:r>
              <a:rPr lang="en-US" sz="2000" dirty="0">
                <a:latin typeface="Times New Roman" panose="02020603050405020304" pitchFamily="18" charset="0"/>
                <a:cs typeface="Times New Roman" panose="02020603050405020304" pitchFamily="18" charset="0"/>
              </a:rPr>
              <a:t> during their allocated time slots.</a:t>
            </a: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At all other times, they keep their </a:t>
            </a:r>
            <a:r>
              <a:rPr lang="en-US" sz="2000" b="1" dirty="0">
                <a:latin typeface="Times New Roman" panose="02020603050405020304" pitchFamily="18" charset="0"/>
                <a:cs typeface="Times New Roman" panose="02020603050405020304" pitchFamily="18" charset="0"/>
              </a:rPr>
              <a:t>radio turned off</a:t>
            </a:r>
            <a:r>
              <a:rPr lang="en-US" sz="2000" dirty="0">
                <a:latin typeface="Times New Roman" panose="02020603050405020304" pitchFamily="18" charset="0"/>
                <a:cs typeface="Times New Roman" panose="02020603050405020304" pitchFamily="18" charset="0"/>
              </a:rPr>
              <a:t>, thus conserving energy (similar to GSM TDMA sleep cycles).</a:t>
            </a:r>
          </a:p>
          <a:p>
            <a:pPr algn="just"/>
            <a:endParaRPr lang="en-US" sz="3600" b="1" dirty="0">
              <a:solidFill>
                <a:srgbClr val="0000FF"/>
              </a:solidFill>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A3ABF54B-E86B-463B-B6BD-ED222DE2EFFB}"/>
              </a:ext>
            </a:extLst>
          </p:cNvPr>
          <p:cNvSpPr>
            <a:spLocks noGrp="1"/>
          </p:cNvSpPr>
          <p:nvPr>
            <p:ph type="sldNum" sz="quarter" idx="12"/>
          </p:nvPr>
        </p:nvSpPr>
        <p:spPr/>
        <p:txBody>
          <a:bodyPr/>
          <a:lstStyle/>
          <a:p>
            <a:fld id="{C3F1913A-7668-436E-8561-76A60B792217}" type="slidenum">
              <a:rPr lang="en-US" smtClean="0"/>
              <a:t>34</a:t>
            </a:fld>
            <a:endParaRPr lang="en-US"/>
          </a:p>
        </p:txBody>
      </p:sp>
    </p:spTree>
    <p:extLst>
      <p:ext uri="{BB962C8B-B14F-4D97-AF65-F5344CB8AC3E}">
        <p14:creationId xmlns:p14="http://schemas.microsoft.com/office/powerpoint/2010/main" val="37568143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88302" y="794901"/>
            <a:ext cx="11215395" cy="3662541"/>
          </a:xfrm>
          <a:prstGeom prst="rect">
            <a:avLst/>
          </a:prstGeom>
          <a:solidFill>
            <a:srgbClr val="FFCCFF"/>
          </a:solidFill>
        </p:spPr>
        <p:txBody>
          <a:bodyPr wrap="square" rtlCol="0">
            <a:spAutoFit/>
          </a:bodyPr>
          <a:lstStyle/>
          <a:p>
            <a:pPr algn="just"/>
            <a:r>
              <a:rPr lang="en-US" sz="3600" b="1" dirty="0">
                <a:solidFill>
                  <a:srgbClr val="0000FF"/>
                </a:solidFill>
                <a:latin typeface="Times New Roman" panose="02020603050405020304" pitchFamily="18" charset="0"/>
                <a:cs typeface="Times New Roman" panose="02020603050405020304" pitchFamily="18" charset="0"/>
              </a:rPr>
              <a:t>Steady state phase Algorithm</a:t>
            </a:r>
            <a:endParaRPr lang="en-US" b="1" dirty="0"/>
          </a:p>
          <a:p>
            <a:pPr lvl="0" eaLnBrk="0" fontAlgn="base" hangingPunct="0">
              <a:spcBef>
                <a:spcPct val="0"/>
              </a:spcBef>
              <a:spcAft>
                <a:spcPct val="0"/>
              </a:spcAft>
            </a:pPr>
            <a:r>
              <a:rPr lang="en-US" sz="2000" b="1" dirty="0">
                <a:solidFill>
                  <a:prstClr val="black"/>
                </a:solidFill>
                <a:latin typeface="Times New Roman" panose="02020603050405020304" pitchFamily="18" charset="0"/>
                <a:cs typeface="Times New Roman" panose="02020603050405020304" pitchFamily="18" charset="0"/>
              </a:rPr>
              <a:t>4. Intra-Cluster Communication</a:t>
            </a:r>
            <a:endParaRPr lang="en-US" sz="2000" dirty="0">
              <a:solidFill>
                <a:prstClr val="black"/>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sz="2000" dirty="0">
                <a:solidFill>
                  <a:prstClr val="black"/>
                </a:solidFill>
                <a:latin typeface="Times New Roman" panose="02020603050405020304" pitchFamily="18" charset="0"/>
                <a:cs typeface="Times New Roman" panose="02020603050405020304" pitchFamily="18" charset="0"/>
              </a:rPr>
              <a:t>Each non-CH node transmits its </a:t>
            </a:r>
            <a:r>
              <a:rPr lang="en-US" sz="2000" b="1" dirty="0">
                <a:solidFill>
                  <a:prstClr val="black"/>
                </a:solidFill>
                <a:latin typeface="Times New Roman" panose="02020603050405020304" pitchFamily="18" charset="0"/>
                <a:cs typeface="Times New Roman" panose="02020603050405020304" pitchFamily="18" charset="0"/>
              </a:rPr>
              <a:t>sensed data</a:t>
            </a:r>
            <a:r>
              <a:rPr lang="en-US" sz="2000" dirty="0">
                <a:solidFill>
                  <a:prstClr val="black"/>
                </a:solidFill>
                <a:latin typeface="Times New Roman" panose="02020603050405020304" pitchFamily="18" charset="0"/>
                <a:cs typeface="Times New Roman" panose="02020603050405020304" pitchFamily="18" charset="0"/>
              </a:rPr>
              <a:t> to the CH in its scheduled slot.</a:t>
            </a:r>
          </a:p>
          <a:p>
            <a:pPr lvl="0" eaLnBrk="0" fontAlgn="base" hangingPunct="0">
              <a:spcBef>
                <a:spcPct val="0"/>
              </a:spcBef>
              <a:spcAft>
                <a:spcPct val="0"/>
              </a:spcAft>
            </a:pPr>
            <a:r>
              <a:rPr lang="en-US" sz="2000" b="1" dirty="0">
                <a:solidFill>
                  <a:prstClr val="black"/>
                </a:solidFill>
                <a:latin typeface="Times New Roman" panose="02020603050405020304" pitchFamily="18" charset="0"/>
                <a:cs typeface="Times New Roman" panose="02020603050405020304" pitchFamily="18" charset="0"/>
              </a:rPr>
              <a:t>5. Data Aggregation at CH</a:t>
            </a:r>
            <a:endParaRPr lang="en-US" sz="2000" dirty="0">
              <a:solidFill>
                <a:prstClr val="black"/>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sz="2000" dirty="0">
                <a:solidFill>
                  <a:prstClr val="black"/>
                </a:solidFill>
                <a:latin typeface="Times New Roman" panose="02020603050405020304" pitchFamily="18" charset="0"/>
                <a:cs typeface="Times New Roman" panose="02020603050405020304" pitchFamily="18" charset="0"/>
              </a:rPr>
              <a:t>The CH </a:t>
            </a:r>
            <a:r>
              <a:rPr lang="en-US" sz="2000" b="1" dirty="0">
                <a:solidFill>
                  <a:prstClr val="black"/>
                </a:solidFill>
                <a:latin typeface="Times New Roman" panose="02020603050405020304" pitchFamily="18" charset="0"/>
                <a:cs typeface="Times New Roman" panose="02020603050405020304" pitchFamily="18" charset="0"/>
              </a:rPr>
              <a:t>receives and aggregates data</a:t>
            </a:r>
            <a:r>
              <a:rPr lang="en-US" sz="2000" dirty="0">
                <a:solidFill>
                  <a:prstClr val="black"/>
                </a:solidFill>
                <a:latin typeface="Times New Roman" panose="02020603050405020304" pitchFamily="18" charset="0"/>
                <a:cs typeface="Times New Roman" panose="02020603050405020304" pitchFamily="18" charset="0"/>
              </a:rPr>
              <a:t> from all cluster members (e.g., removing redundancy, computing averages).</a:t>
            </a:r>
          </a:p>
          <a:p>
            <a:pPr lvl="0" eaLnBrk="0" fontAlgn="base" hangingPunct="0">
              <a:spcBef>
                <a:spcPct val="0"/>
              </a:spcBef>
              <a:spcAft>
                <a:spcPct val="0"/>
              </a:spcAft>
            </a:pPr>
            <a:r>
              <a:rPr lang="en-US" sz="2000" b="1" dirty="0">
                <a:solidFill>
                  <a:prstClr val="black"/>
                </a:solidFill>
                <a:latin typeface="Times New Roman" panose="02020603050405020304" pitchFamily="18" charset="0"/>
                <a:cs typeface="Times New Roman" panose="02020603050405020304" pitchFamily="18" charset="0"/>
              </a:rPr>
              <a:t>6. Transmission to Base Station (BS)</a:t>
            </a:r>
            <a:endParaRPr lang="en-US" sz="2000" dirty="0">
              <a:solidFill>
                <a:prstClr val="black"/>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sz="2000" dirty="0">
                <a:solidFill>
                  <a:prstClr val="black"/>
                </a:solidFill>
                <a:latin typeface="Times New Roman" panose="02020603050405020304" pitchFamily="18" charset="0"/>
                <a:cs typeface="Times New Roman" panose="02020603050405020304" pitchFamily="18" charset="0"/>
              </a:rPr>
              <a:t>Finally, the CH transmits the </a:t>
            </a:r>
            <a:r>
              <a:rPr lang="en-US" sz="2000" b="1" dirty="0">
                <a:solidFill>
                  <a:prstClr val="black"/>
                </a:solidFill>
                <a:latin typeface="Times New Roman" panose="02020603050405020304" pitchFamily="18" charset="0"/>
                <a:cs typeface="Times New Roman" panose="02020603050405020304" pitchFamily="18" charset="0"/>
              </a:rPr>
              <a:t>aggregated data</a:t>
            </a:r>
            <a:r>
              <a:rPr lang="en-US" sz="2000" dirty="0">
                <a:solidFill>
                  <a:prstClr val="black"/>
                </a:solidFill>
                <a:latin typeface="Times New Roman" panose="02020603050405020304" pitchFamily="18" charset="0"/>
                <a:cs typeface="Times New Roman" panose="02020603050405020304" pitchFamily="18" charset="0"/>
              </a:rPr>
              <a:t> to the </a:t>
            </a:r>
            <a:r>
              <a:rPr lang="en-US" sz="2000" b="1" dirty="0">
                <a:solidFill>
                  <a:prstClr val="black"/>
                </a:solidFill>
                <a:latin typeface="Times New Roman" panose="02020603050405020304" pitchFamily="18" charset="0"/>
                <a:cs typeface="Times New Roman" panose="02020603050405020304" pitchFamily="18" charset="0"/>
              </a:rPr>
              <a:t>BS (sink)</a:t>
            </a:r>
            <a:r>
              <a:rPr lang="en-US" sz="2000" dirty="0">
                <a:solidFill>
                  <a:prstClr val="black"/>
                </a:solidFill>
                <a:latin typeface="Times New Roman" panose="02020603050405020304" pitchFamily="18" charset="0"/>
                <a:cs typeface="Times New Roman" panose="02020603050405020304" pitchFamily="18" charset="0"/>
              </a:rPr>
              <a:t>, usually via a longer-range communication link.</a:t>
            </a:r>
          </a:p>
          <a:p>
            <a:pPr algn="just"/>
            <a:endParaRPr lang="en-US" sz="3600" b="1" dirty="0">
              <a:solidFill>
                <a:srgbClr val="0000FF"/>
              </a:solidFill>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A3ABF54B-E86B-463B-B6BD-ED222DE2EFFB}"/>
              </a:ext>
            </a:extLst>
          </p:cNvPr>
          <p:cNvSpPr>
            <a:spLocks noGrp="1"/>
          </p:cNvSpPr>
          <p:nvPr>
            <p:ph type="sldNum" sz="quarter" idx="12"/>
          </p:nvPr>
        </p:nvSpPr>
        <p:spPr/>
        <p:txBody>
          <a:bodyPr/>
          <a:lstStyle/>
          <a:p>
            <a:fld id="{C3F1913A-7668-436E-8561-76A60B792217}" type="slidenum">
              <a:rPr lang="en-US" smtClean="0"/>
              <a:t>35</a:t>
            </a:fld>
            <a:endParaRPr lang="en-US"/>
          </a:p>
        </p:txBody>
      </p:sp>
    </p:spTree>
    <p:extLst>
      <p:ext uri="{BB962C8B-B14F-4D97-AF65-F5344CB8AC3E}">
        <p14:creationId xmlns:p14="http://schemas.microsoft.com/office/powerpoint/2010/main" val="5554063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14A59E16-5F66-4CD1-8015-CAB582B7C9B0}"/>
              </a:ext>
            </a:extLst>
          </p:cNvPr>
          <p:cNvSpPr>
            <a:spLocks noChangeArrowheads="1"/>
          </p:cNvSpPr>
          <p:nvPr/>
        </p:nvSpPr>
        <p:spPr bwMode="auto">
          <a:xfrm>
            <a:off x="214605" y="738999"/>
            <a:ext cx="11318032" cy="2308324"/>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 typeface="Wingdings" panose="05000000000000000000" pitchFamily="2" charset="2"/>
              <a:buChar char="v"/>
            </a:pPr>
            <a:r>
              <a:rPr lang="en-US" sz="2400" dirty="0"/>
              <a:t>In cluster setup phase the </a:t>
            </a:r>
            <a:r>
              <a:rPr lang="en-US" sz="2400" dirty="0">
                <a:solidFill>
                  <a:srgbClr val="FF0000"/>
                </a:solidFill>
              </a:rPr>
              <a:t>position </a:t>
            </a:r>
            <a:r>
              <a:rPr lang="en-US" sz="2400" dirty="0"/>
              <a:t>and</a:t>
            </a:r>
            <a:r>
              <a:rPr lang="en-US" sz="2400" dirty="0">
                <a:solidFill>
                  <a:srgbClr val="FF0000"/>
                </a:solidFill>
              </a:rPr>
              <a:t> energy </a:t>
            </a:r>
            <a:r>
              <a:rPr lang="en-US" sz="2400" dirty="0"/>
              <a:t>of each node is not considered.</a:t>
            </a:r>
          </a:p>
          <a:p>
            <a:pPr algn="just" eaLnBrk="1" hangingPunct="1">
              <a:spcBef>
                <a:spcPct val="50000"/>
              </a:spcBef>
              <a:buFont typeface="Wingdings" panose="05000000000000000000" pitchFamily="2" charset="2"/>
              <a:buChar char="v"/>
            </a:pPr>
            <a:r>
              <a:rPr lang="en-US" sz="2400" dirty="0"/>
              <a:t>Cluster head uses single hop to communicate with the BS which may cause more energy consumption.</a:t>
            </a:r>
          </a:p>
          <a:p>
            <a:pPr algn="just" eaLnBrk="1" hangingPunct="1">
              <a:spcBef>
                <a:spcPct val="50000"/>
              </a:spcBef>
              <a:buFont typeface="Wingdings" panose="05000000000000000000" pitchFamily="2" charset="2"/>
              <a:buChar char="v"/>
            </a:pPr>
            <a:r>
              <a:rPr lang="en-US" sz="2400" dirty="0"/>
              <a:t>Random rotation of cluster head and the network constantly update the cluster result in excessive energy consumption.  </a:t>
            </a:r>
          </a:p>
        </p:txBody>
      </p:sp>
      <p:sp>
        <p:nvSpPr>
          <p:cNvPr id="6" name="TextBox 5">
            <a:extLst>
              <a:ext uri="{FF2B5EF4-FFF2-40B4-BE49-F238E27FC236}">
                <a16:creationId xmlns:a16="http://schemas.microsoft.com/office/drawing/2014/main" id="{B9C7FBF9-CAEB-46F9-B7DB-27FFF10ECC0B}"/>
              </a:ext>
            </a:extLst>
          </p:cNvPr>
          <p:cNvSpPr txBox="1"/>
          <p:nvPr/>
        </p:nvSpPr>
        <p:spPr>
          <a:xfrm>
            <a:off x="214605" y="92668"/>
            <a:ext cx="6705600" cy="646331"/>
          </a:xfrm>
          <a:prstGeom prst="rect">
            <a:avLst/>
          </a:prstGeom>
          <a:noFill/>
        </p:spPr>
        <p:txBody>
          <a:bodyPr wrap="square" rtlCol="0">
            <a:spAutoFit/>
          </a:bodyPr>
          <a:lstStyle/>
          <a:p>
            <a:r>
              <a:rPr lang="en-US" sz="3600" b="1" dirty="0">
                <a:solidFill>
                  <a:srgbClr val="0000FF"/>
                </a:solidFill>
                <a:highlight>
                  <a:srgbClr val="FFFF00"/>
                </a:highlight>
                <a:latin typeface="Times New Roman" panose="02020603050405020304" pitchFamily="18" charset="0"/>
                <a:cs typeface="Times New Roman" panose="02020603050405020304" pitchFamily="18" charset="0"/>
              </a:rPr>
              <a:t>Limitation of LEACH algorithm</a:t>
            </a:r>
          </a:p>
        </p:txBody>
      </p:sp>
      <p:graphicFrame>
        <p:nvGraphicFramePr>
          <p:cNvPr id="9" name="Object 4">
            <a:extLst>
              <a:ext uri="{FF2B5EF4-FFF2-40B4-BE49-F238E27FC236}">
                <a16:creationId xmlns:a16="http://schemas.microsoft.com/office/drawing/2014/main" id="{6A30D4FD-E54A-4F99-90A2-67755E27B5D4}"/>
              </a:ext>
            </a:extLst>
          </p:cNvPr>
          <p:cNvGraphicFramePr>
            <a:graphicFrameLocks noChangeAspect="1"/>
          </p:cNvGraphicFramePr>
          <p:nvPr>
            <p:extLst>
              <p:ext uri="{D42A27DB-BD31-4B8C-83A1-F6EECF244321}">
                <p14:modId xmlns:p14="http://schemas.microsoft.com/office/powerpoint/2010/main" val="1522222295"/>
              </p:ext>
            </p:extLst>
          </p:nvPr>
        </p:nvGraphicFramePr>
        <p:xfrm>
          <a:off x="2427516" y="3045214"/>
          <a:ext cx="3676261" cy="3676261"/>
        </p:xfrm>
        <a:graphic>
          <a:graphicData uri="http://schemas.openxmlformats.org/presentationml/2006/ole">
            <mc:AlternateContent xmlns:mc="http://schemas.openxmlformats.org/markup-compatibility/2006">
              <mc:Choice xmlns:v="urn:schemas-microsoft-com:vml" Requires="v">
                <p:oleObj name="Bitmap Image" r:id="rId2" imgW="5106113" imgH="5106113" progId="Paint.Picture">
                  <p:embed/>
                </p:oleObj>
              </mc:Choice>
              <mc:Fallback>
                <p:oleObj name="Bitmap Image" r:id="rId2" imgW="5106113" imgH="5106113" progId="Paint.Picture">
                  <p:embed/>
                  <p:pic>
                    <p:nvPicPr>
                      <p:cNvPr id="9" name="Object 4">
                        <a:extLst>
                          <a:ext uri="{FF2B5EF4-FFF2-40B4-BE49-F238E27FC236}">
                            <a16:creationId xmlns:a16="http://schemas.microsoft.com/office/drawing/2014/main" id="{6A30D4FD-E54A-4F99-90A2-67755E27B5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7516" y="3045214"/>
                        <a:ext cx="3676261" cy="3676261"/>
                      </a:xfrm>
                      <a:prstGeom prst="rect">
                        <a:avLst/>
                      </a:prstGeom>
                      <a:noFill/>
                      <a:ln>
                        <a:noFill/>
                      </a:ln>
                      <a:effectLst/>
                    </p:spPr>
                  </p:pic>
                </p:oleObj>
              </mc:Fallback>
            </mc:AlternateContent>
          </a:graphicData>
        </a:graphic>
      </p:graphicFrame>
      <p:sp>
        <p:nvSpPr>
          <p:cNvPr id="10" name="Rectangle 6">
            <a:extLst>
              <a:ext uri="{FF2B5EF4-FFF2-40B4-BE49-F238E27FC236}">
                <a16:creationId xmlns:a16="http://schemas.microsoft.com/office/drawing/2014/main" id="{F8EA5896-C2FA-4618-ABC5-F2FC77D27B7A}"/>
              </a:ext>
            </a:extLst>
          </p:cNvPr>
          <p:cNvSpPr>
            <a:spLocks noChangeArrowheads="1"/>
          </p:cNvSpPr>
          <p:nvPr/>
        </p:nvSpPr>
        <p:spPr bwMode="auto">
          <a:xfrm>
            <a:off x="6546850" y="4185267"/>
            <a:ext cx="206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sz="2400" dirty="0"/>
              <a:t>Fig. 1. LEACH</a:t>
            </a:r>
          </a:p>
        </p:txBody>
      </p:sp>
      <p:sp>
        <p:nvSpPr>
          <p:cNvPr id="7" name="Slide Number Placeholder 6">
            <a:extLst>
              <a:ext uri="{FF2B5EF4-FFF2-40B4-BE49-F238E27FC236}">
                <a16:creationId xmlns:a16="http://schemas.microsoft.com/office/drawing/2014/main" id="{56832501-4B63-4C80-9847-23C847B3BE00}"/>
              </a:ext>
            </a:extLst>
          </p:cNvPr>
          <p:cNvSpPr>
            <a:spLocks noGrp="1"/>
          </p:cNvSpPr>
          <p:nvPr>
            <p:ph type="sldNum" sz="quarter" idx="12"/>
          </p:nvPr>
        </p:nvSpPr>
        <p:spPr/>
        <p:txBody>
          <a:bodyPr/>
          <a:lstStyle/>
          <a:p>
            <a:fld id="{C3F1913A-7668-436E-8561-76A60B792217}" type="slidenum">
              <a:rPr lang="en-US" smtClean="0"/>
              <a:t>36</a:t>
            </a:fld>
            <a:endParaRPr lang="en-US"/>
          </a:p>
        </p:txBody>
      </p:sp>
    </p:spTree>
    <p:extLst>
      <p:ext uri="{BB962C8B-B14F-4D97-AF65-F5344CB8AC3E}">
        <p14:creationId xmlns:p14="http://schemas.microsoft.com/office/powerpoint/2010/main" val="42123192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3"/>
          <p:cNvSpPr txBox="1">
            <a:spLocks noChangeArrowheads="1"/>
          </p:cNvSpPr>
          <p:nvPr/>
        </p:nvSpPr>
        <p:spPr bwMode="auto">
          <a:xfrm>
            <a:off x="217204" y="2043273"/>
            <a:ext cx="11399519" cy="4154984"/>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sz="2400" dirty="0"/>
              <a:t>The algorithm deals with </a:t>
            </a:r>
            <a:r>
              <a:rPr lang="en-US" sz="2400" dirty="0">
                <a:solidFill>
                  <a:srgbClr val="FF0000"/>
                </a:solidFill>
              </a:rPr>
              <a:t>control signals </a:t>
            </a:r>
            <a:r>
              <a:rPr lang="en-US" sz="2400" dirty="0"/>
              <a:t>and </a:t>
            </a:r>
            <a:r>
              <a:rPr lang="en-US" sz="2400" dirty="0">
                <a:solidFill>
                  <a:srgbClr val="FF0000"/>
                </a:solidFill>
              </a:rPr>
              <a:t>protocol parameters </a:t>
            </a:r>
            <a:r>
              <a:rPr lang="en-US" sz="2400" dirty="0"/>
              <a:t>like:</a:t>
            </a:r>
          </a:p>
          <a:p>
            <a:pPr algn="just" eaLnBrk="1" hangingPunct="1">
              <a:spcBef>
                <a:spcPct val="0"/>
              </a:spcBef>
              <a:buFontTx/>
              <a:buNone/>
            </a:pPr>
            <a:endParaRPr lang="en-US" sz="2400" dirty="0"/>
          </a:p>
          <a:p>
            <a:pPr algn="just" eaLnBrk="1" hangingPunct="1">
              <a:spcBef>
                <a:spcPct val="0"/>
              </a:spcBef>
              <a:buFont typeface="Wingdings" panose="05000000000000000000" pitchFamily="2" charset="2"/>
              <a:buChar char="q"/>
            </a:pPr>
            <a:r>
              <a:rPr lang="en-US" sz="2400" dirty="0">
                <a:solidFill>
                  <a:srgbClr val="FF0000"/>
                </a:solidFill>
              </a:rPr>
              <a:t>Control signals: </a:t>
            </a:r>
          </a:p>
          <a:p>
            <a:pPr marL="457200" indent="-457200" algn="just" eaLnBrk="1" hangingPunct="1">
              <a:spcBef>
                <a:spcPct val="0"/>
              </a:spcBef>
              <a:buAutoNum type="arabicParenBoth"/>
            </a:pPr>
            <a:r>
              <a:rPr lang="en-US" sz="2400" dirty="0"/>
              <a:t>cluster-head declaration signal (coverage of cluster)</a:t>
            </a:r>
          </a:p>
          <a:p>
            <a:pPr marL="457200" indent="-457200" algn="just" eaLnBrk="1" hangingPunct="1">
              <a:spcBef>
                <a:spcPct val="0"/>
              </a:spcBef>
              <a:buAutoNum type="arabicParenBoth"/>
            </a:pPr>
            <a:r>
              <a:rPr lang="en-US" sz="2400" dirty="0"/>
              <a:t>cluster-head exploration signal (location of other CH)</a:t>
            </a:r>
          </a:p>
          <a:p>
            <a:pPr algn="just" eaLnBrk="1" hangingPunct="1">
              <a:spcBef>
                <a:spcPct val="0"/>
              </a:spcBef>
              <a:buNone/>
            </a:pPr>
            <a:endParaRPr lang="en-US" sz="2400" dirty="0"/>
          </a:p>
          <a:p>
            <a:pPr algn="just" eaLnBrk="1" hangingPunct="1">
              <a:spcBef>
                <a:spcPct val="0"/>
              </a:spcBef>
              <a:buNone/>
            </a:pPr>
            <a:endParaRPr lang="en-US" sz="2400" dirty="0"/>
          </a:p>
          <a:p>
            <a:pPr algn="just" eaLnBrk="1" hangingPunct="1">
              <a:spcBef>
                <a:spcPct val="0"/>
              </a:spcBef>
              <a:buFont typeface="Wingdings" panose="05000000000000000000" pitchFamily="2" charset="2"/>
              <a:buChar char="q"/>
            </a:pPr>
            <a:r>
              <a:rPr lang="en-US" sz="2400" dirty="0">
                <a:solidFill>
                  <a:srgbClr val="FF0000"/>
                </a:solidFill>
              </a:rPr>
              <a:t>Membership search signal with control parameters:</a:t>
            </a:r>
            <a:r>
              <a:rPr lang="en-US" sz="2400" dirty="0"/>
              <a:t> </a:t>
            </a:r>
          </a:p>
          <a:p>
            <a:pPr marL="457200" indent="-457200" algn="just">
              <a:spcBef>
                <a:spcPct val="0"/>
              </a:spcBef>
              <a:buAutoNum type="arabicParenBoth"/>
            </a:pPr>
            <a:r>
              <a:rPr lang="en-US" sz="2400" dirty="0"/>
              <a:t>declaration range </a:t>
            </a:r>
            <a:r>
              <a:rPr lang="en-US" sz="2400" i="1" dirty="0" err="1"/>
              <a:t>d</a:t>
            </a:r>
            <a:r>
              <a:rPr lang="en-US" sz="2400" i="1" baseline="-25000" dirty="0" err="1"/>
              <a:t>r</a:t>
            </a:r>
            <a:r>
              <a:rPr lang="en-US" sz="2400" i="1" baseline="-25000" dirty="0"/>
              <a:t> </a:t>
            </a:r>
            <a:r>
              <a:rPr lang="en-US" sz="2400" dirty="0"/>
              <a:t>and received energy is greater than  </a:t>
            </a:r>
            <a:r>
              <a:rPr lang="en-US" sz="2400" i="1" dirty="0" err="1"/>
              <a:t>E</a:t>
            </a:r>
            <a:r>
              <a:rPr lang="en-US" sz="2400" i="1" baseline="-25000" dirty="0" err="1"/>
              <a:t>rc</a:t>
            </a:r>
            <a:endParaRPr lang="en-US" sz="2400" dirty="0"/>
          </a:p>
          <a:p>
            <a:pPr marL="457200" indent="-457200" algn="just">
              <a:spcBef>
                <a:spcPct val="0"/>
              </a:spcBef>
              <a:buAutoNum type="arabicParenBoth"/>
            </a:pPr>
            <a:r>
              <a:rPr lang="en-US" sz="2400" dirty="0"/>
              <a:t>exploration range (</a:t>
            </a:r>
            <a:r>
              <a:rPr lang="en-US" sz="2400" i="1" dirty="0"/>
              <a:t>d</a:t>
            </a:r>
            <a:r>
              <a:rPr lang="en-US" sz="2400" i="1" baseline="-25000" dirty="0"/>
              <a:t>r</a:t>
            </a:r>
            <a:r>
              <a:rPr lang="en-US" sz="2400" baseline="-25000" dirty="0"/>
              <a:t>1</a:t>
            </a:r>
            <a:r>
              <a:rPr lang="en-US" sz="2400" i="1" dirty="0"/>
              <a:t>, d</a:t>
            </a:r>
            <a:r>
              <a:rPr lang="en-US" sz="2400" i="1" baseline="-25000" dirty="0"/>
              <a:t>r</a:t>
            </a:r>
            <a:r>
              <a:rPr lang="en-US" sz="2400" baseline="-25000" dirty="0"/>
              <a:t>2</a:t>
            </a:r>
            <a:r>
              <a:rPr lang="en-US" sz="2400" dirty="0"/>
              <a:t>) and received energy </a:t>
            </a:r>
            <a:r>
              <a:rPr lang="en-US" sz="2400" i="1" dirty="0"/>
              <a:t>E</a:t>
            </a:r>
            <a:r>
              <a:rPr lang="en-US" sz="2400" i="1" baseline="-25000" dirty="0"/>
              <a:t>rc</a:t>
            </a:r>
            <a:r>
              <a:rPr lang="en-US" sz="2400" baseline="-25000" dirty="0"/>
              <a:t>1</a:t>
            </a:r>
            <a:r>
              <a:rPr lang="en-US" sz="2400" i="1" dirty="0"/>
              <a:t> &gt; </a:t>
            </a:r>
            <a:r>
              <a:rPr lang="en-US" sz="2400" i="1" dirty="0" err="1"/>
              <a:t>E</a:t>
            </a:r>
            <a:r>
              <a:rPr lang="en-US" sz="2400" i="1" baseline="-25000" dirty="0" err="1"/>
              <a:t>r</a:t>
            </a:r>
            <a:r>
              <a:rPr lang="en-US" sz="2400" i="1" dirty="0"/>
              <a:t> &gt; E</a:t>
            </a:r>
            <a:r>
              <a:rPr lang="en-US" sz="2400" i="1" baseline="-25000" dirty="0"/>
              <a:t>rc</a:t>
            </a:r>
            <a:r>
              <a:rPr lang="en-US" sz="2400" baseline="-25000" dirty="0"/>
              <a:t>2</a:t>
            </a:r>
            <a:r>
              <a:rPr lang="en-US" sz="2400" dirty="0"/>
              <a:t> </a:t>
            </a:r>
          </a:p>
          <a:p>
            <a:pPr marL="457200" indent="-457200" algn="just" eaLnBrk="1" hangingPunct="1">
              <a:spcBef>
                <a:spcPct val="0"/>
              </a:spcBef>
              <a:buAutoNum type="arabicParenBoth"/>
            </a:pPr>
            <a:r>
              <a:rPr lang="en-US" sz="2400" dirty="0"/>
              <a:t>minimum number of members (</a:t>
            </a:r>
            <a:r>
              <a:rPr lang="en-US" sz="2400" i="1" dirty="0" err="1"/>
              <a:t>m</a:t>
            </a:r>
            <a:r>
              <a:rPr lang="en-US" sz="2400" i="1" baseline="-25000" dirty="0" err="1"/>
              <a:t>n</a:t>
            </a:r>
            <a:r>
              <a:rPr lang="en-US" sz="2400" dirty="0"/>
              <a:t>) to sustain a cluster.</a:t>
            </a:r>
          </a:p>
        </p:txBody>
      </p:sp>
      <p:sp>
        <p:nvSpPr>
          <p:cNvPr id="2" name="Rectangle 1">
            <a:extLst>
              <a:ext uri="{FF2B5EF4-FFF2-40B4-BE49-F238E27FC236}">
                <a16:creationId xmlns:a16="http://schemas.microsoft.com/office/drawing/2014/main" id="{14D8D960-03E2-4605-8C5F-5AAFE96E7F23}"/>
              </a:ext>
            </a:extLst>
          </p:cNvPr>
          <p:cNvSpPr/>
          <p:nvPr/>
        </p:nvSpPr>
        <p:spPr>
          <a:xfrm>
            <a:off x="560033" y="303167"/>
            <a:ext cx="5295424" cy="584775"/>
          </a:xfrm>
          <a:prstGeom prst="rect">
            <a:avLst/>
          </a:prstGeom>
        </p:spPr>
        <p:txBody>
          <a:bodyPr wrap="none">
            <a:spAutoFit/>
          </a:bodyPr>
          <a:lstStyle/>
          <a:p>
            <a:pPr algn="just">
              <a:spcBef>
                <a:spcPct val="0"/>
              </a:spcBef>
            </a:pPr>
            <a:r>
              <a:rPr lang="en-US" sz="3200" b="1" dirty="0">
                <a:solidFill>
                  <a:srgbClr val="0070C0"/>
                </a:solidFill>
                <a:highlight>
                  <a:srgbClr val="FFFF00"/>
                </a:highlight>
                <a:latin typeface="Times New Roman" panose="02020603050405020304" pitchFamily="18" charset="0"/>
                <a:cs typeface="Times New Roman" panose="02020603050405020304" pitchFamily="18" charset="0"/>
              </a:rPr>
              <a:t>2.  DEEP Clustering Protocol</a:t>
            </a:r>
          </a:p>
        </p:txBody>
      </p:sp>
      <p:sp>
        <p:nvSpPr>
          <p:cNvPr id="3" name="Rectangle 2">
            <a:extLst>
              <a:ext uri="{FF2B5EF4-FFF2-40B4-BE49-F238E27FC236}">
                <a16:creationId xmlns:a16="http://schemas.microsoft.com/office/drawing/2014/main" id="{436F1771-DB3D-45DF-96D1-D2BA68CB4B3F}"/>
              </a:ext>
            </a:extLst>
          </p:cNvPr>
          <p:cNvSpPr/>
          <p:nvPr/>
        </p:nvSpPr>
        <p:spPr>
          <a:xfrm>
            <a:off x="217204" y="917092"/>
            <a:ext cx="11517086" cy="830997"/>
          </a:xfrm>
          <a:prstGeom prst="rect">
            <a:avLst/>
          </a:prstGeom>
          <a:solidFill>
            <a:srgbClr val="CCECFF"/>
          </a:solidFill>
        </p:spPr>
        <p:txBody>
          <a:bodyPr wrap="square">
            <a:spAutoFit/>
          </a:bodyPr>
          <a:lstStyle/>
          <a:p>
            <a:pPr algn="just">
              <a:spcBef>
                <a:spcPct val="0"/>
              </a:spcBef>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 </a:t>
            </a:r>
            <a:r>
              <a:rPr lang="en-US" sz="2400" dirty="0">
                <a:solidFill>
                  <a:srgbClr val="FF0000"/>
                </a:solidFill>
                <a:latin typeface="Times New Roman" panose="02020603050405020304" pitchFamily="18" charset="0"/>
                <a:cs typeface="Times New Roman" panose="02020603050405020304" pitchFamily="18" charset="0"/>
              </a:rPr>
              <a:t>Decentralized Energy-Efficient Cluster Propagation (DEEP) </a:t>
            </a:r>
            <a:r>
              <a:rPr lang="en-US" sz="2400" dirty="0">
                <a:latin typeface="Times New Roman" panose="02020603050405020304" pitchFamily="18" charset="0"/>
                <a:cs typeface="Times New Roman" panose="02020603050405020304" pitchFamily="18" charset="0"/>
              </a:rPr>
              <a:t>protocol that establishes clusters with </a:t>
            </a:r>
            <a:r>
              <a:rPr lang="en-US" sz="2400" dirty="0">
                <a:solidFill>
                  <a:srgbClr val="FF0000"/>
                </a:solidFill>
                <a:latin typeface="Times New Roman" panose="02020603050405020304" pitchFamily="18" charset="0"/>
                <a:cs typeface="Times New Roman" panose="02020603050405020304" pitchFamily="18" charset="0"/>
              </a:rPr>
              <a:t>uniformly distributed CHs </a:t>
            </a:r>
            <a:r>
              <a:rPr lang="en-US" sz="2400" dirty="0">
                <a:latin typeface="Times New Roman" panose="02020603050405020304" pitchFamily="18" charset="0"/>
                <a:cs typeface="Times New Roman" panose="02020603050405020304" pitchFamily="18" charset="0"/>
              </a:rPr>
              <a:t>and </a:t>
            </a:r>
            <a:r>
              <a:rPr lang="en-US" sz="2400" dirty="0">
                <a:solidFill>
                  <a:srgbClr val="FF0000"/>
                </a:solidFill>
                <a:latin typeface="Times New Roman" panose="02020603050405020304" pitchFamily="18" charset="0"/>
                <a:cs typeface="Times New Roman" panose="02020603050405020304" pitchFamily="18" charset="0"/>
              </a:rPr>
              <a:t>radius of each cluster is almost same</a:t>
            </a:r>
            <a:r>
              <a:rPr lang="en-US" sz="2400" dirty="0">
                <a:latin typeface="Times New Roman" panose="02020603050405020304" pitchFamily="18" charset="0"/>
                <a:cs typeface="Times New Roman" panose="02020603050405020304" pitchFamily="18" charset="0"/>
              </a:rPr>
              <a:t>. </a:t>
            </a:r>
          </a:p>
        </p:txBody>
      </p:sp>
      <p:grpSp>
        <p:nvGrpSpPr>
          <p:cNvPr id="19" name="Group 18">
            <a:extLst>
              <a:ext uri="{FF2B5EF4-FFF2-40B4-BE49-F238E27FC236}">
                <a16:creationId xmlns:a16="http://schemas.microsoft.com/office/drawing/2014/main" id="{CFC6D1EC-85F1-4BFC-8334-0C66BFCB8E14}"/>
              </a:ext>
            </a:extLst>
          </p:cNvPr>
          <p:cNvGrpSpPr/>
          <p:nvPr/>
        </p:nvGrpSpPr>
        <p:grpSpPr>
          <a:xfrm>
            <a:off x="8020594" y="2598754"/>
            <a:ext cx="3654913" cy="3462412"/>
            <a:chOff x="8170307" y="2598754"/>
            <a:chExt cx="3505200" cy="3342154"/>
          </a:xfrm>
        </p:grpSpPr>
        <p:grpSp>
          <p:nvGrpSpPr>
            <p:cNvPr id="18" name="Group 17">
              <a:extLst>
                <a:ext uri="{FF2B5EF4-FFF2-40B4-BE49-F238E27FC236}">
                  <a16:creationId xmlns:a16="http://schemas.microsoft.com/office/drawing/2014/main" id="{EAA6D67A-3651-4EA5-8D78-B61E9E846EAB}"/>
                </a:ext>
              </a:extLst>
            </p:cNvPr>
            <p:cNvGrpSpPr/>
            <p:nvPr/>
          </p:nvGrpSpPr>
          <p:grpSpPr>
            <a:xfrm>
              <a:off x="8170307" y="2598754"/>
              <a:ext cx="3505200" cy="3342154"/>
              <a:chOff x="8170307" y="2598754"/>
              <a:chExt cx="3505200" cy="3342154"/>
            </a:xfrm>
          </p:grpSpPr>
          <p:grpSp>
            <p:nvGrpSpPr>
              <p:cNvPr id="4" name="Group 3">
                <a:extLst>
                  <a:ext uri="{FF2B5EF4-FFF2-40B4-BE49-F238E27FC236}">
                    <a16:creationId xmlns:a16="http://schemas.microsoft.com/office/drawing/2014/main" id="{530EEA6A-BFF9-40FF-A7B4-A7B585B7523E}"/>
                  </a:ext>
                </a:extLst>
              </p:cNvPr>
              <p:cNvGrpSpPr/>
              <p:nvPr/>
            </p:nvGrpSpPr>
            <p:grpSpPr>
              <a:xfrm>
                <a:off x="8170307" y="2598754"/>
                <a:ext cx="3505200" cy="3342154"/>
                <a:chOff x="4343400" y="2062517"/>
                <a:chExt cx="3505200" cy="3342154"/>
              </a:xfrm>
            </p:grpSpPr>
            <p:sp>
              <p:nvSpPr>
                <p:cNvPr id="5" name="Oval 4">
                  <a:extLst>
                    <a:ext uri="{FF2B5EF4-FFF2-40B4-BE49-F238E27FC236}">
                      <a16:creationId xmlns:a16="http://schemas.microsoft.com/office/drawing/2014/main" id="{A7F8F2DE-069B-48E7-B74F-35B3C1A25CE0}"/>
                    </a:ext>
                  </a:extLst>
                </p:cNvPr>
                <p:cNvSpPr/>
                <p:nvPr/>
              </p:nvSpPr>
              <p:spPr>
                <a:xfrm>
                  <a:off x="5410200" y="3048000"/>
                  <a:ext cx="1447800" cy="1371600"/>
                </a:xfrm>
                <a:prstGeom prst="ellipse">
                  <a:avLst/>
                </a:prstGeom>
                <a:solidFill>
                  <a:srgbClr val="FFCCCC"/>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 name="Oval 5">
                  <a:extLst>
                    <a:ext uri="{FF2B5EF4-FFF2-40B4-BE49-F238E27FC236}">
                      <a16:creationId xmlns:a16="http://schemas.microsoft.com/office/drawing/2014/main" id="{5DD90E7E-F34A-4209-AAE7-8BCDA9356A87}"/>
                    </a:ext>
                  </a:extLst>
                </p:cNvPr>
                <p:cNvSpPr/>
                <p:nvPr/>
              </p:nvSpPr>
              <p:spPr>
                <a:xfrm>
                  <a:off x="4495800" y="2220446"/>
                  <a:ext cx="3200400" cy="3037354"/>
                </a:xfrm>
                <a:prstGeom prst="ellipse">
                  <a:avLst/>
                </a:prstGeom>
                <a:noFill/>
                <a:ln w="285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 name="Oval 6">
                  <a:extLst>
                    <a:ext uri="{FF2B5EF4-FFF2-40B4-BE49-F238E27FC236}">
                      <a16:creationId xmlns:a16="http://schemas.microsoft.com/office/drawing/2014/main" id="{1EE3DCD0-A799-44C6-A3BC-7FE600F9B310}"/>
                    </a:ext>
                  </a:extLst>
                </p:cNvPr>
                <p:cNvSpPr/>
                <p:nvPr/>
              </p:nvSpPr>
              <p:spPr>
                <a:xfrm>
                  <a:off x="4343400" y="2062517"/>
                  <a:ext cx="3505200" cy="3342154"/>
                </a:xfrm>
                <a:prstGeom prst="ellipse">
                  <a:avLst/>
                </a:prstGeom>
                <a:noFill/>
                <a:ln w="285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8" name="Oval 7">
                  <a:extLst>
                    <a:ext uri="{FF2B5EF4-FFF2-40B4-BE49-F238E27FC236}">
                      <a16:creationId xmlns:a16="http://schemas.microsoft.com/office/drawing/2014/main" id="{A5065EAF-BCEF-4610-9217-24EC4175E50B}"/>
                    </a:ext>
                  </a:extLst>
                </p:cNvPr>
                <p:cNvSpPr/>
                <p:nvPr/>
              </p:nvSpPr>
              <p:spPr>
                <a:xfrm>
                  <a:off x="6019800" y="3581400"/>
                  <a:ext cx="228600" cy="22860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FE74BD26-1C26-4293-9A9F-0A85C4004A92}"/>
                    </a:ext>
                  </a:extLst>
                </p:cNvPr>
                <p:cNvCxnSpPr>
                  <a:stCxn id="8" idx="6"/>
                  <a:endCxn id="5" idx="6"/>
                </p:cNvCxnSpPr>
                <p:nvPr/>
              </p:nvCxnSpPr>
              <p:spPr>
                <a:xfrm>
                  <a:off x="6248400" y="3695700"/>
                  <a:ext cx="609600" cy="381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4C3678D-913B-4E2D-A7E6-BA3F77CB2973}"/>
                    </a:ext>
                  </a:extLst>
                </p:cNvPr>
                <p:cNvCxnSpPr/>
                <p:nvPr/>
              </p:nvCxnSpPr>
              <p:spPr>
                <a:xfrm flipV="1">
                  <a:off x="6172200" y="2438400"/>
                  <a:ext cx="685800" cy="1143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B6C1F19-ED26-4E1B-9260-408CA7D1BE3E}"/>
                    </a:ext>
                  </a:extLst>
                </p:cNvPr>
                <p:cNvCxnSpPr/>
                <p:nvPr/>
              </p:nvCxnSpPr>
              <p:spPr>
                <a:xfrm flipV="1">
                  <a:off x="6120464" y="2091392"/>
                  <a:ext cx="444968" cy="14900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3054FD9-AFBC-4BC6-88E6-5E0C9DF3D00D}"/>
                    </a:ext>
                  </a:extLst>
                </p:cNvPr>
                <p:cNvSpPr txBox="1"/>
                <p:nvPr/>
              </p:nvSpPr>
              <p:spPr>
                <a:xfrm>
                  <a:off x="6356584" y="3308002"/>
                  <a:ext cx="762000" cy="369332"/>
                </a:xfrm>
                <a:prstGeom prst="rect">
                  <a:avLst/>
                </a:prstGeom>
                <a:noFill/>
              </p:spPr>
              <p:txBody>
                <a:bodyPr wrap="square" rtlCol="0">
                  <a:spAutoFit/>
                </a:bodyPr>
                <a:lstStyle/>
                <a:p>
                  <a:r>
                    <a:rPr lang="en-US" i="1" dirty="0" err="1">
                      <a:latin typeface="Times New Roman" panose="02020603050405020304" pitchFamily="18" charset="0"/>
                      <a:cs typeface="Times New Roman" panose="02020603050405020304" pitchFamily="18" charset="0"/>
                    </a:rPr>
                    <a:t>d</a:t>
                  </a:r>
                  <a:r>
                    <a:rPr lang="en-US" i="1" baseline="-25000" dirty="0" err="1">
                      <a:latin typeface="Times New Roman" panose="02020603050405020304" pitchFamily="18" charset="0"/>
                      <a:cs typeface="Times New Roman" panose="02020603050405020304" pitchFamily="18" charset="0"/>
                    </a:rPr>
                    <a:t>r</a:t>
                  </a:r>
                  <a:endParaRPr lang="en-US" i="1" baseline="-250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363F44EF-6998-471A-83E2-B5C5FAD46DDD}"/>
                    </a:ext>
                  </a:extLst>
                </p:cNvPr>
                <p:cNvSpPr txBox="1"/>
                <p:nvPr/>
              </p:nvSpPr>
              <p:spPr>
                <a:xfrm>
                  <a:off x="6589796" y="2604399"/>
                  <a:ext cx="762000"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d</a:t>
                  </a:r>
                  <a:r>
                    <a:rPr lang="en-US" i="1" baseline="-25000" dirty="0">
                      <a:latin typeface="Times New Roman" panose="02020603050405020304" pitchFamily="18" charset="0"/>
                      <a:cs typeface="Times New Roman" panose="02020603050405020304" pitchFamily="18" charset="0"/>
                    </a:rPr>
                    <a:t>r</a:t>
                  </a:r>
                  <a:r>
                    <a:rPr lang="en-US" baseline="-25000" dirty="0">
                      <a:latin typeface="Times New Roman" panose="02020603050405020304" pitchFamily="18" charset="0"/>
                      <a:cs typeface="Times New Roman" panose="02020603050405020304" pitchFamily="18" charset="0"/>
                    </a:rPr>
                    <a:t>1</a:t>
                  </a:r>
                </a:p>
              </p:txBody>
            </p:sp>
            <p:sp>
              <p:nvSpPr>
                <p:cNvPr id="14" name="TextBox 13">
                  <a:extLst>
                    <a:ext uri="{FF2B5EF4-FFF2-40B4-BE49-F238E27FC236}">
                      <a16:creationId xmlns:a16="http://schemas.microsoft.com/office/drawing/2014/main" id="{83B21415-710C-4218-8128-3CDF52A9F97E}"/>
                    </a:ext>
                  </a:extLst>
                </p:cNvPr>
                <p:cNvSpPr txBox="1"/>
                <p:nvPr/>
              </p:nvSpPr>
              <p:spPr>
                <a:xfrm>
                  <a:off x="5887202" y="2316417"/>
                  <a:ext cx="762000"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d</a:t>
                  </a:r>
                  <a:r>
                    <a:rPr lang="en-US" i="1" baseline="-25000" dirty="0">
                      <a:latin typeface="Times New Roman" panose="02020603050405020304" pitchFamily="18" charset="0"/>
                      <a:cs typeface="Times New Roman" panose="02020603050405020304" pitchFamily="18" charset="0"/>
                    </a:rPr>
                    <a:t>r</a:t>
                  </a:r>
                  <a:r>
                    <a:rPr lang="en-US" baseline="-25000" dirty="0">
                      <a:latin typeface="Times New Roman" panose="02020603050405020304" pitchFamily="18" charset="0"/>
                      <a:cs typeface="Times New Roman" panose="02020603050405020304" pitchFamily="18" charset="0"/>
                    </a:rPr>
                    <a:t>2</a:t>
                  </a:r>
                </a:p>
              </p:txBody>
            </p:sp>
            <p:sp>
              <p:nvSpPr>
                <p:cNvPr id="15" name="TextBox 14">
                  <a:extLst>
                    <a:ext uri="{FF2B5EF4-FFF2-40B4-BE49-F238E27FC236}">
                      <a16:creationId xmlns:a16="http://schemas.microsoft.com/office/drawing/2014/main" id="{CCC3844D-3039-4A46-A904-8A14FB8415FA}"/>
                    </a:ext>
                  </a:extLst>
                </p:cNvPr>
                <p:cNvSpPr txBox="1"/>
                <p:nvPr/>
              </p:nvSpPr>
              <p:spPr>
                <a:xfrm>
                  <a:off x="5791200" y="3715736"/>
                  <a:ext cx="7620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CH</a:t>
                  </a:r>
                </a:p>
              </p:txBody>
            </p:sp>
          </p:grpSp>
          <p:sp>
            <p:nvSpPr>
              <p:cNvPr id="17" name="Oval 16">
                <a:extLst>
                  <a:ext uri="{FF2B5EF4-FFF2-40B4-BE49-F238E27FC236}">
                    <a16:creationId xmlns:a16="http://schemas.microsoft.com/office/drawing/2014/main" id="{24E3F935-CDE9-4773-B50D-2CB3193ECD60}"/>
                  </a:ext>
                </a:extLst>
              </p:cNvPr>
              <p:cNvSpPr/>
              <p:nvPr/>
            </p:nvSpPr>
            <p:spPr>
              <a:xfrm>
                <a:off x="8170307" y="4084146"/>
                <a:ext cx="228600" cy="185891"/>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9AC276F5-9CD7-46E2-87F5-A9DEDD0CACD4}"/>
                  </a:ext>
                </a:extLst>
              </p:cNvPr>
              <p:cNvSpPr/>
              <p:nvPr/>
            </p:nvSpPr>
            <p:spPr>
              <a:xfrm>
                <a:off x="10570607" y="5589871"/>
                <a:ext cx="228600" cy="185891"/>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Oval 21">
              <a:extLst>
                <a:ext uri="{FF2B5EF4-FFF2-40B4-BE49-F238E27FC236}">
                  <a16:creationId xmlns:a16="http://schemas.microsoft.com/office/drawing/2014/main" id="{FB4A8A41-C11B-4AB8-971C-B75CC408005F}"/>
                </a:ext>
              </a:extLst>
            </p:cNvPr>
            <p:cNvSpPr/>
            <p:nvPr/>
          </p:nvSpPr>
          <p:spPr>
            <a:xfrm>
              <a:off x="9387176" y="3987117"/>
              <a:ext cx="228600" cy="185891"/>
            </a:xfrm>
            <a:prstGeom prst="ellips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71942AF5-B888-4293-9663-B461D46836F6}"/>
                </a:ext>
              </a:extLst>
            </p:cNvPr>
            <p:cNvSpPr/>
            <p:nvPr/>
          </p:nvSpPr>
          <p:spPr>
            <a:xfrm>
              <a:off x="10124144" y="4494275"/>
              <a:ext cx="228600" cy="185891"/>
            </a:xfrm>
            <a:prstGeom prst="ellips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Slide Number Placeholder 24">
            <a:extLst>
              <a:ext uri="{FF2B5EF4-FFF2-40B4-BE49-F238E27FC236}">
                <a16:creationId xmlns:a16="http://schemas.microsoft.com/office/drawing/2014/main" id="{B95E7CE0-1AF7-4072-A412-D515FE2B9E2D}"/>
              </a:ext>
            </a:extLst>
          </p:cNvPr>
          <p:cNvSpPr>
            <a:spLocks noGrp="1"/>
          </p:cNvSpPr>
          <p:nvPr>
            <p:ph type="sldNum" sz="quarter" idx="12"/>
          </p:nvPr>
        </p:nvSpPr>
        <p:spPr/>
        <p:txBody>
          <a:bodyPr/>
          <a:lstStyle/>
          <a:p>
            <a:fld id="{C3F1913A-7668-436E-8561-76A60B792217}" type="slidenum">
              <a:rPr lang="en-US" smtClean="0"/>
              <a:t>37</a:t>
            </a:fld>
            <a:endParaRPr lang="en-US" dirty="0"/>
          </a:p>
        </p:txBody>
      </p:sp>
      <p:sp>
        <p:nvSpPr>
          <p:cNvPr id="21" name="Rectangle 20"/>
          <p:cNvSpPr/>
          <p:nvPr/>
        </p:nvSpPr>
        <p:spPr>
          <a:xfrm>
            <a:off x="10904652" y="3325302"/>
            <a:ext cx="490519" cy="369332"/>
          </a:xfrm>
          <a:prstGeom prst="rect">
            <a:avLst/>
          </a:prstGeom>
        </p:spPr>
        <p:txBody>
          <a:bodyPr wrap="none">
            <a:spAutoFit/>
          </a:bodyPr>
          <a:lstStyle/>
          <a:p>
            <a:r>
              <a:rPr lang="en-US" i="1" dirty="0"/>
              <a:t>E</a:t>
            </a:r>
            <a:r>
              <a:rPr lang="en-US" i="1" baseline="-25000" dirty="0"/>
              <a:t>rc</a:t>
            </a:r>
            <a:r>
              <a:rPr lang="en-US" baseline="-25000" dirty="0"/>
              <a:t>1</a:t>
            </a:r>
            <a:endParaRPr lang="en-US" dirty="0"/>
          </a:p>
        </p:txBody>
      </p:sp>
      <p:sp>
        <p:nvSpPr>
          <p:cNvPr id="27" name="Rectangle 26"/>
          <p:cNvSpPr/>
          <p:nvPr/>
        </p:nvSpPr>
        <p:spPr>
          <a:xfrm>
            <a:off x="11213880" y="2943043"/>
            <a:ext cx="490519" cy="369332"/>
          </a:xfrm>
          <a:prstGeom prst="rect">
            <a:avLst/>
          </a:prstGeom>
        </p:spPr>
        <p:txBody>
          <a:bodyPr wrap="none">
            <a:spAutoFit/>
          </a:bodyPr>
          <a:lstStyle/>
          <a:p>
            <a:r>
              <a:rPr lang="en-US" i="1" dirty="0"/>
              <a:t>E</a:t>
            </a:r>
            <a:r>
              <a:rPr lang="en-US" i="1" baseline="-25000" dirty="0"/>
              <a:t>rc</a:t>
            </a:r>
            <a:r>
              <a:rPr lang="en-US" baseline="-25000" dirty="0"/>
              <a:t>2</a:t>
            </a:r>
            <a:endParaRPr lang="en-US" dirty="0"/>
          </a:p>
        </p:txBody>
      </p:sp>
      <p:sp>
        <p:nvSpPr>
          <p:cNvPr id="26" name="Rectangle 25"/>
          <p:cNvSpPr/>
          <p:nvPr/>
        </p:nvSpPr>
        <p:spPr>
          <a:xfrm>
            <a:off x="10116509" y="5794839"/>
            <a:ext cx="293991" cy="276999"/>
          </a:xfrm>
          <a:prstGeom prst="rect">
            <a:avLst/>
          </a:prstGeom>
        </p:spPr>
        <p:txBody>
          <a:bodyPr wrap="none">
            <a:spAutoFit/>
          </a:bodyPr>
          <a:lstStyle/>
          <a:p>
            <a:r>
              <a:rPr lang="en-US" sz="1200" b="1" i="1" dirty="0" err="1">
                <a:solidFill>
                  <a:srgbClr val="FF0000"/>
                </a:solidFill>
              </a:rPr>
              <a:t>E</a:t>
            </a:r>
            <a:r>
              <a:rPr lang="en-US" sz="1200" b="1" i="1" baseline="-25000" dirty="0" err="1">
                <a:solidFill>
                  <a:srgbClr val="FF0000"/>
                </a:solidFill>
              </a:rPr>
              <a:t>r</a:t>
            </a:r>
            <a:endParaRPr lang="en-US" sz="1200" b="1" dirty="0">
              <a:solidFill>
                <a:srgbClr val="FF0000"/>
              </a:solidFill>
            </a:endParaRPr>
          </a:p>
        </p:txBody>
      </p:sp>
    </p:spTree>
    <p:extLst>
      <p:ext uri="{BB962C8B-B14F-4D97-AF65-F5344CB8AC3E}">
        <p14:creationId xmlns:p14="http://schemas.microsoft.com/office/powerpoint/2010/main" val="13288136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0936"/>
            <a:ext cx="10515600" cy="5546027"/>
          </a:xfrm>
          <a:solidFill>
            <a:srgbClr val="CCFFFF"/>
          </a:solidFill>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Cluster Formation Using Control Signals &amp; Protocol Parameters</a:t>
            </a:r>
          </a:p>
          <a:p>
            <a:pPr marL="0" indent="0">
              <a:buNone/>
            </a:pPr>
            <a:r>
              <a:rPr lang="en-US" sz="2000" b="1" dirty="0">
                <a:latin typeface="Times New Roman" panose="02020603050405020304" pitchFamily="18" charset="0"/>
                <a:cs typeface="Times New Roman" panose="02020603050405020304" pitchFamily="18" charset="0"/>
              </a:rPr>
              <a:t>1. Cluster-Head (CH) Declaration Phase</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 node that decides (or is elected) to be a CH broadcasts a Cluster-Head Declaration Signal.</a:t>
            </a:r>
          </a:p>
          <a:p>
            <a:r>
              <a:rPr lang="en-US" sz="2000" dirty="0">
                <a:latin typeface="Times New Roman" panose="02020603050405020304" pitchFamily="18" charset="0"/>
                <a:cs typeface="Times New Roman" panose="02020603050405020304" pitchFamily="18" charset="0"/>
              </a:rPr>
              <a:t>This signal covers a range called the declaration range (</a:t>
            </a:r>
            <a:r>
              <a:rPr lang="en-US" sz="2000" dirty="0" err="1">
                <a:latin typeface="Times New Roman" panose="02020603050405020304" pitchFamily="18" charset="0"/>
                <a:cs typeface="Times New Roman" panose="02020603050405020304" pitchFamily="18" charset="0"/>
              </a:rPr>
              <a:t>dr</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A non-CH node becomes a member of this cluster if the received signal energy (</a:t>
            </a:r>
            <a:r>
              <a:rPr lang="en-US" sz="2000" dirty="0" err="1">
                <a:latin typeface="Times New Roman" panose="02020603050405020304" pitchFamily="18" charset="0"/>
                <a:cs typeface="Times New Roman" panose="02020603050405020304" pitchFamily="18" charset="0"/>
              </a:rPr>
              <a:t>Er</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Erc</a:t>
            </a:r>
            <a:r>
              <a:rPr lang="en-US" sz="2000" dirty="0">
                <a:latin typeface="Times New Roman" panose="02020603050405020304" pitchFamily="18" charset="0"/>
                <a:cs typeface="Times New Roman" panose="02020603050405020304" pitchFamily="18" charset="0"/>
              </a:rPr>
              <a:t> (the declaration threshold).</a:t>
            </a:r>
          </a:p>
          <a:p>
            <a:pPr marL="0" indent="0">
              <a:buNone/>
            </a:pPr>
            <a:r>
              <a:rPr lang="en-US" sz="2200" b="1" dirty="0">
                <a:latin typeface="Times New Roman" panose="02020603050405020304" pitchFamily="18" charset="0"/>
                <a:cs typeface="Times New Roman" panose="02020603050405020304" pitchFamily="18" charset="0"/>
              </a:rPr>
              <a:t>2. Cluster-Head Exploration Phase</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Each CH transmits a </a:t>
            </a:r>
            <a:r>
              <a:rPr lang="en-US" sz="2200" b="1" dirty="0">
                <a:latin typeface="Times New Roman" panose="02020603050405020304" pitchFamily="18" charset="0"/>
                <a:cs typeface="Times New Roman" panose="02020603050405020304" pitchFamily="18" charset="0"/>
              </a:rPr>
              <a:t>Cluster-Head Exploration Signal</a:t>
            </a:r>
            <a:r>
              <a:rPr lang="en-US" sz="2200" dirty="0">
                <a:latin typeface="Times New Roman" panose="02020603050405020304" pitchFamily="18" charset="0"/>
                <a:cs typeface="Times New Roman" panose="02020603050405020304" pitchFamily="18" charset="0"/>
              </a:rPr>
              <a:t> to identify other CHs in its neighborhood.</a:t>
            </a:r>
          </a:p>
          <a:p>
            <a:r>
              <a:rPr lang="en-US" sz="2200" dirty="0">
                <a:latin typeface="Times New Roman" panose="02020603050405020304" pitchFamily="18" charset="0"/>
                <a:cs typeface="Times New Roman" panose="02020603050405020304" pitchFamily="18" charset="0"/>
              </a:rPr>
              <a:t>Exploration is performed in a distance range </a:t>
            </a:r>
            <a:r>
              <a:rPr lang="en-US" sz="2200" b="1" dirty="0">
                <a:latin typeface="Times New Roman" panose="02020603050405020304" pitchFamily="18" charset="0"/>
                <a:cs typeface="Times New Roman" panose="02020603050405020304" pitchFamily="18" charset="0"/>
              </a:rPr>
              <a:t>(dr1, dr2)</a:t>
            </a:r>
            <a:r>
              <a:rPr lang="en-US" sz="2200" dirty="0">
                <a:latin typeface="Times New Roman" panose="02020603050405020304" pitchFamily="18" charset="0"/>
                <a:cs typeface="Times New Roman" panose="02020603050405020304" pitchFamily="18" charset="0"/>
              </a:rPr>
              <a:t>, i.e., beyond the direct declaration zone but within sensing range.</a:t>
            </a:r>
          </a:p>
          <a:p>
            <a:r>
              <a:rPr lang="en-US" sz="2200" dirty="0">
                <a:latin typeface="Times New Roman" panose="02020603050405020304" pitchFamily="18" charset="0"/>
                <a:cs typeface="Times New Roman" panose="02020603050405020304" pitchFamily="18" charset="0"/>
              </a:rPr>
              <a:t>Neighboring CHs compare the received signal energy:</a:t>
            </a:r>
          </a:p>
          <a:p>
            <a:pPr marL="742950" lvl="1" indent="-285750"/>
            <a:r>
              <a:rPr lang="en-US" sz="2200" dirty="0">
                <a:latin typeface="Times New Roman" panose="02020603050405020304" pitchFamily="18" charset="0"/>
                <a:cs typeface="Times New Roman" panose="02020603050405020304" pitchFamily="18" charset="0"/>
              </a:rPr>
              <a:t>If </a:t>
            </a:r>
            <a:r>
              <a:rPr lang="en-US" sz="2200" b="1" dirty="0">
                <a:latin typeface="Times New Roman" panose="02020603050405020304" pitchFamily="18" charset="0"/>
                <a:cs typeface="Times New Roman" panose="02020603050405020304" pitchFamily="18" charset="0"/>
              </a:rPr>
              <a:t>Erc1 &gt; </a:t>
            </a:r>
            <a:r>
              <a:rPr lang="en-US" sz="2200" b="1" dirty="0" err="1">
                <a:latin typeface="Times New Roman" panose="02020603050405020304" pitchFamily="18" charset="0"/>
                <a:cs typeface="Times New Roman" panose="02020603050405020304" pitchFamily="18" charset="0"/>
              </a:rPr>
              <a:t>Er</a:t>
            </a:r>
            <a:r>
              <a:rPr lang="en-US" sz="2200" b="1" dirty="0">
                <a:latin typeface="Times New Roman" panose="02020603050405020304" pitchFamily="18" charset="0"/>
                <a:cs typeface="Times New Roman" panose="02020603050405020304" pitchFamily="18" charset="0"/>
              </a:rPr>
              <a:t> &gt; Erc2</a:t>
            </a:r>
            <a:r>
              <a:rPr lang="en-US" sz="2200" dirty="0">
                <a:latin typeface="Times New Roman" panose="02020603050405020304" pitchFamily="18" charset="0"/>
                <a:cs typeface="Times New Roman" panose="02020603050405020304" pitchFamily="18" charset="0"/>
              </a:rPr>
              <a:t>, the CH records the presence of the other CH.</a:t>
            </a:r>
          </a:p>
          <a:p>
            <a:pPr marL="742950" lvl="1" indent="-285750"/>
            <a:r>
              <a:rPr lang="en-US" sz="2200" dirty="0">
                <a:latin typeface="Times New Roman" panose="02020603050405020304" pitchFamily="18" charset="0"/>
                <a:cs typeface="Times New Roman" panose="02020603050405020304" pitchFamily="18" charset="0"/>
              </a:rPr>
              <a:t>This prevents overlapping clusters and helps maintain balance in cluster distribution.</a:t>
            </a:r>
          </a:p>
          <a:p>
            <a:endParaRPr lang="en-US" sz="22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C3F1913A-7668-436E-8561-76A60B792217}" type="slidenum">
              <a:rPr lang="en-US" smtClean="0"/>
              <a:t>38</a:t>
            </a:fld>
            <a:endParaRPr lang="en-US"/>
          </a:p>
        </p:txBody>
      </p:sp>
    </p:spTree>
    <p:extLst>
      <p:ext uri="{BB962C8B-B14F-4D97-AF65-F5344CB8AC3E}">
        <p14:creationId xmlns:p14="http://schemas.microsoft.com/office/powerpoint/2010/main" val="39042423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1520"/>
            <a:ext cx="10515600" cy="5445443"/>
          </a:xfrm>
          <a:solidFill>
            <a:srgbClr val="CCFFFF"/>
          </a:solidFill>
        </p:spPr>
        <p:txBody>
          <a:bodyPr/>
          <a:lstStyle/>
          <a:p>
            <a:pPr marL="0" indent="0">
              <a:buNone/>
            </a:pPr>
            <a:r>
              <a:rPr lang="en-US" sz="2000" b="1" dirty="0">
                <a:latin typeface="Times New Roman" panose="02020603050405020304" pitchFamily="18" charset="0"/>
                <a:cs typeface="Times New Roman" panose="02020603050405020304" pitchFamily="18" charset="0"/>
              </a:rPr>
              <a:t>3. Membership Search &amp; Validation Phase</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Each CH checks how many nodes responded to its declaration.</a:t>
            </a:r>
          </a:p>
          <a:p>
            <a:r>
              <a:rPr lang="en-US" sz="2000" dirty="0">
                <a:latin typeface="Times New Roman" panose="02020603050405020304" pitchFamily="18" charset="0"/>
                <a:cs typeface="Times New Roman" panose="02020603050405020304" pitchFamily="18" charset="0"/>
              </a:rPr>
              <a:t>If the </a:t>
            </a:r>
            <a:r>
              <a:rPr lang="en-US" sz="2000" b="1" dirty="0">
                <a:latin typeface="Times New Roman" panose="02020603050405020304" pitchFamily="18" charset="0"/>
                <a:cs typeface="Times New Roman" panose="02020603050405020304" pitchFamily="18" charset="0"/>
              </a:rPr>
              <a:t>minimum number of members (</a:t>
            </a:r>
            <a:r>
              <a:rPr lang="en-US" sz="2000" b="1" dirty="0" err="1">
                <a:latin typeface="Times New Roman" panose="02020603050405020304" pitchFamily="18" charset="0"/>
                <a:cs typeface="Times New Roman" panose="02020603050405020304" pitchFamily="18" charset="0"/>
              </a:rPr>
              <a:t>mn</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is satisfied → the cluster is sustained.</a:t>
            </a:r>
          </a:p>
          <a:p>
            <a:r>
              <a:rPr lang="en-US" sz="2000" dirty="0">
                <a:latin typeface="Times New Roman" panose="02020603050405020304" pitchFamily="18" charset="0"/>
                <a:cs typeface="Times New Roman" panose="02020603050405020304" pitchFamily="18" charset="0"/>
              </a:rPr>
              <a:t>If not →</a:t>
            </a:r>
          </a:p>
          <a:p>
            <a:pPr marL="742950" lvl="1" indent="-285750"/>
            <a:r>
              <a:rPr lang="en-US" sz="2000" dirty="0">
                <a:latin typeface="Times New Roman" panose="02020603050405020304" pitchFamily="18" charset="0"/>
                <a:cs typeface="Times New Roman" panose="02020603050405020304" pitchFamily="18" charset="0"/>
              </a:rPr>
              <a:t>The CH may withdraw its declaration.</a:t>
            </a:r>
          </a:p>
          <a:p>
            <a:pPr marL="742950" lvl="1" indent="-285750"/>
            <a:r>
              <a:rPr lang="en-US" sz="2000" dirty="0">
                <a:latin typeface="Times New Roman" panose="02020603050405020304" pitchFamily="18" charset="0"/>
                <a:cs typeface="Times New Roman" panose="02020603050405020304" pitchFamily="18" charset="0"/>
              </a:rPr>
              <a:t>Its members return to the pool and search for other CHs to join.</a:t>
            </a:r>
          </a:p>
          <a:p>
            <a:pPr marL="742950" lvl="1" indent="-285750"/>
            <a:endParaRPr lang="en-US" sz="20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sz="1800" b="1" dirty="0">
                <a:solidFill>
                  <a:prstClr val="black"/>
                </a:solidFill>
                <a:latin typeface="Arial" panose="020B0604020202020204" pitchFamily="34" charset="0"/>
              </a:rPr>
              <a:t>Key Parameters:</a:t>
            </a:r>
            <a:endParaRPr lang="en-US" sz="1800" dirty="0">
              <a:solidFill>
                <a:prstClr val="black"/>
              </a:solidFill>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sz="2000" dirty="0" err="1">
                <a:solidFill>
                  <a:prstClr val="black"/>
                </a:solidFill>
                <a:latin typeface="Times New Roman" panose="02020603050405020304" pitchFamily="18" charset="0"/>
                <a:cs typeface="Times New Roman" panose="02020603050405020304" pitchFamily="18" charset="0"/>
              </a:rPr>
              <a:t>dr</a:t>
            </a:r>
            <a:r>
              <a:rPr lang="en-US" sz="2000" dirty="0">
                <a:solidFill>
                  <a:prstClr val="black"/>
                </a:solidFill>
                <a:latin typeface="Times New Roman" panose="02020603050405020304" pitchFamily="18" charset="0"/>
                <a:cs typeface="Times New Roman" panose="02020603050405020304" pitchFamily="18" charset="0"/>
              </a:rPr>
              <a:t> → Cluster-head declaration range.</a:t>
            </a:r>
          </a:p>
          <a:p>
            <a:pPr marL="0" lvl="0" indent="0" eaLnBrk="0" fontAlgn="base" hangingPunct="0">
              <a:lnSpc>
                <a:spcPct val="100000"/>
              </a:lnSpc>
              <a:spcBef>
                <a:spcPct val="0"/>
              </a:spcBef>
              <a:spcAft>
                <a:spcPct val="0"/>
              </a:spcAft>
              <a:buFontTx/>
              <a:buChar char="•"/>
            </a:pPr>
            <a:r>
              <a:rPr lang="en-US" sz="2000" dirty="0" err="1">
                <a:solidFill>
                  <a:prstClr val="black"/>
                </a:solidFill>
                <a:latin typeface="Times New Roman" panose="02020603050405020304" pitchFamily="18" charset="0"/>
                <a:cs typeface="Times New Roman" panose="02020603050405020304" pitchFamily="18" charset="0"/>
              </a:rPr>
              <a:t>Erc</a:t>
            </a:r>
            <a:r>
              <a:rPr lang="en-US" sz="2000" dirty="0">
                <a:solidFill>
                  <a:prstClr val="black"/>
                </a:solidFill>
                <a:latin typeface="Times New Roman" panose="02020603050405020304" pitchFamily="18" charset="0"/>
                <a:cs typeface="Times New Roman" panose="02020603050405020304" pitchFamily="18" charset="0"/>
              </a:rPr>
              <a:t> → Threshold received energy for cluster membership.</a:t>
            </a:r>
          </a:p>
          <a:p>
            <a:pPr marL="0" lvl="0" indent="0" eaLnBrk="0" fontAlgn="base" hangingPunct="0">
              <a:lnSpc>
                <a:spcPct val="100000"/>
              </a:lnSpc>
              <a:spcBef>
                <a:spcPct val="0"/>
              </a:spcBef>
              <a:spcAft>
                <a:spcPct val="0"/>
              </a:spcAft>
              <a:buFontTx/>
              <a:buChar char="•"/>
            </a:pPr>
            <a:r>
              <a:rPr lang="en-US" sz="2000" dirty="0">
                <a:solidFill>
                  <a:prstClr val="black"/>
                </a:solidFill>
                <a:latin typeface="Times New Roman" panose="02020603050405020304" pitchFamily="18" charset="0"/>
                <a:cs typeface="Times New Roman" panose="02020603050405020304" pitchFamily="18" charset="0"/>
              </a:rPr>
              <a:t>(dr1, dr2) → Exploration range for detecting neighboring CHs.</a:t>
            </a:r>
          </a:p>
          <a:p>
            <a:pPr marL="0" lvl="0" indent="0" eaLnBrk="0" fontAlgn="base" hangingPunct="0">
              <a:lnSpc>
                <a:spcPct val="100000"/>
              </a:lnSpc>
              <a:spcBef>
                <a:spcPct val="0"/>
              </a:spcBef>
              <a:spcAft>
                <a:spcPct val="0"/>
              </a:spcAft>
              <a:buFontTx/>
              <a:buChar char="•"/>
            </a:pPr>
            <a:r>
              <a:rPr lang="en-US" sz="2000" dirty="0">
                <a:solidFill>
                  <a:prstClr val="black"/>
                </a:solidFill>
                <a:latin typeface="Times New Roman" panose="02020603050405020304" pitchFamily="18" charset="0"/>
                <a:cs typeface="Times New Roman" panose="02020603050405020304" pitchFamily="18" charset="0"/>
              </a:rPr>
              <a:t>Erc1, Erc2 → Energy thresholds for exploration.</a:t>
            </a:r>
          </a:p>
          <a:p>
            <a:pPr marL="0" lvl="0" indent="0" eaLnBrk="0" fontAlgn="base" hangingPunct="0">
              <a:lnSpc>
                <a:spcPct val="100000"/>
              </a:lnSpc>
              <a:spcBef>
                <a:spcPct val="0"/>
              </a:spcBef>
              <a:spcAft>
                <a:spcPct val="0"/>
              </a:spcAft>
              <a:buFontTx/>
              <a:buChar char="•"/>
            </a:pPr>
            <a:r>
              <a:rPr lang="en-US" sz="2000" dirty="0" err="1">
                <a:solidFill>
                  <a:prstClr val="black"/>
                </a:solidFill>
                <a:latin typeface="Times New Roman" panose="02020603050405020304" pitchFamily="18" charset="0"/>
                <a:cs typeface="Times New Roman" panose="02020603050405020304" pitchFamily="18" charset="0"/>
              </a:rPr>
              <a:t>mn</a:t>
            </a:r>
            <a:r>
              <a:rPr lang="en-US" sz="2000" dirty="0">
                <a:solidFill>
                  <a:prstClr val="black"/>
                </a:solidFill>
                <a:latin typeface="Times New Roman" panose="02020603050405020304" pitchFamily="18" charset="0"/>
                <a:cs typeface="Times New Roman" panose="02020603050405020304" pitchFamily="18" charset="0"/>
              </a:rPr>
              <a:t> → Minimum required members per cluster.</a:t>
            </a:r>
          </a:p>
          <a:p>
            <a:endParaRPr lang="en-US" dirty="0"/>
          </a:p>
        </p:txBody>
      </p:sp>
      <p:sp>
        <p:nvSpPr>
          <p:cNvPr id="5" name="Slide Number Placeholder 4"/>
          <p:cNvSpPr>
            <a:spLocks noGrp="1"/>
          </p:cNvSpPr>
          <p:nvPr>
            <p:ph type="sldNum" sz="quarter" idx="12"/>
          </p:nvPr>
        </p:nvSpPr>
        <p:spPr/>
        <p:txBody>
          <a:bodyPr/>
          <a:lstStyle/>
          <a:p>
            <a:fld id="{C3F1913A-7668-436E-8561-76A60B792217}" type="slidenum">
              <a:rPr lang="en-US" smtClean="0"/>
              <a:t>39</a:t>
            </a:fld>
            <a:endParaRPr lang="en-US"/>
          </a:p>
        </p:txBody>
      </p:sp>
      <p:sp>
        <p:nvSpPr>
          <p:cNvPr id="6"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249416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4"/>
          <p:cNvSpPr txBox="1">
            <a:spLocks noChangeArrowheads="1"/>
          </p:cNvSpPr>
          <p:nvPr/>
        </p:nvSpPr>
        <p:spPr bwMode="auto">
          <a:xfrm>
            <a:off x="222462" y="1485992"/>
            <a:ext cx="7132342" cy="2308324"/>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 typeface="Wingdings" panose="05000000000000000000" pitchFamily="2" charset="2"/>
              <a:buChar char="ü"/>
            </a:pPr>
            <a:r>
              <a:rPr lang="en-US" sz="2400" dirty="0"/>
              <a:t>DEEP algorithm begins with an </a:t>
            </a:r>
            <a:r>
              <a:rPr lang="en-US" sz="2400" dirty="0">
                <a:solidFill>
                  <a:srgbClr val="FF0000"/>
                </a:solidFill>
              </a:rPr>
              <a:t>initial CH </a:t>
            </a:r>
            <a:r>
              <a:rPr lang="en-US" sz="2400" dirty="0"/>
              <a:t>which starts the </a:t>
            </a:r>
            <a:r>
              <a:rPr lang="en-US" sz="2400" dirty="0">
                <a:solidFill>
                  <a:srgbClr val="FF0000"/>
                </a:solidFill>
              </a:rPr>
              <a:t>cluster set-up phase </a:t>
            </a:r>
            <a:r>
              <a:rPr lang="en-US" sz="2400" dirty="0"/>
              <a:t>by propagating </a:t>
            </a:r>
            <a:r>
              <a:rPr lang="en-US" sz="2400" dirty="0">
                <a:solidFill>
                  <a:srgbClr val="FF0000"/>
                </a:solidFill>
              </a:rPr>
              <a:t>cluster-head declaration </a:t>
            </a:r>
            <a:r>
              <a:rPr lang="en-US" sz="2400" dirty="0"/>
              <a:t>signals within  the range of </a:t>
            </a:r>
            <a:r>
              <a:rPr lang="en-US" sz="2400" i="1" dirty="0"/>
              <a:t>d</a:t>
            </a:r>
            <a:r>
              <a:rPr lang="en-US" sz="2400" i="1" baseline="-25000" dirty="0"/>
              <a:t>r</a:t>
            </a:r>
            <a:r>
              <a:rPr lang="en-US" sz="2400" dirty="0"/>
              <a:t>. The sensor nodes that receive the declaration signal (with energy greater than </a:t>
            </a:r>
            <a:r>
              <a:rPr lang="en-US" sz="2400" i="1" dirty="0" err="1"/>
              <a:t>E</a:t>
            </a:r>
            <a:r>
              <a:rPr lang="en-US" sz="2400" i="1" baseline="-25000" dirty="0" err="1"/>
              <a:t>rc</a:t>
            </a:r>
            <a:r>
              <a:rPr lang="en-US" sz="2400" dirty="0"/>
              <a:t>) accept the corresponding CH as a leader. </a:t>
            </a:r>
          </a:p>
        </p:txBody>
      </p:sp>
      <p:grpSp>
        <p:nvGrpSpPr>
          <p:cNvPr id="23" name="Group 22"/>
          <p:cNvGrpSpPr/>
          <p:nvPr/>
        </p:nvGrpSpPr>
        <p:grpSpPr>
          <a:xfrm>
            <a:off x="7848600" y="1232092"/>
            <a:ext cx="3505200" cy="3342154"/>
            <a:chOff x="4343400" y="2062517"/>
            <a:chExt cx="3505200" cy="3342154"/>
          </a:xfrm>
        </p:grpSpPr>
        <p:sp>
          <p:nvSpPr>
            <p:cNvPr id="2" name="Oval 1"/>
            <p:cNvSpPr/>
            <p:nvPr/>
          </p:nvSpPr>
          <p:spPr>
            <a:xfrm>
              <a:off x="5410200" y="3048000"/>
              <a:ext cx="1447800" cy="1371600"/>
            </a:xfrm>
            <a:prstGeom prst="ellipse">
              <a:avLst/>
            </a:prstGeom>
            <a:solidFill>
              <a:srgbClr val="FFCCFF"/>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6" name="Oval 5"/>
            <p:cNvSpPr/>
            <p:nvPr/>
          </p:nvSpPr>
          <p:spPr>
            <a:xfrm>
              <a:off x="4495800" y="2220446"/>
              <a:ext cx="3200400" cy="3037354"/>
            </a:xfrm>
            <a:prstGeom prst="ellipse">
              <a:avLst/>
            </a:prstGeom>
            <a:noFill/>
            <a:ln w="285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 name="Oval 6"/>
            <p:cNvSpPr/>
            <p:nvPr/>
          </p:nvSpPr>
          <p:spPr>
            <a:xfrm>
              <a:off x="4343400" y="2062517"/>
              <a:ext cx="3505200" cy="3342154"/>
            </a:xfrm>
            <a:prstGeom prst="ellipse">
              <a:avLst/>
            </a:prstGeom>
            <a:noFill/>
            <a:ln w="285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Oval 2"/>
            <p:cNvSpPr/>
            <p:nvPr/>
          </p:nvSpPr>
          <p:spPr>
            <a:xfrm>
              <a:off x="6019800" y="3581400"/>
              <a:ext cx="228600" cy="22860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5" name="Straight Arrow Connector 4"/>
            <p:cNvCxnSpPr>
              <a:stCxn id="3" idx="6"/>
              <a:endCxn id="2" idx="6"/>
            </p:cNvCxnSpPr>
            <p:nvPr/>
          </p:nvCxnSpPr>
          <p:spPr>
            <a:xfrm>
              <a:off x="6248400" y="3695700"/>
              <a:ext cx="609600" cy="381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6172200" y="2438400"/>
              <a:ext cx="685800" cy="1143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6120464" y="2091392"/>
              <a:ext cx="444968" cy="14900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356584" y="3308002"/>
              <a:ext cx="762000" cy="369332"/>
            </a:xfrm>
            <a:prstGeom prst="rect">
              <a:avLst/>
            </a:prstGeom>
            <a:noFill/>
          </p:spPr>
          <p:txBody>
            <a:bodyPr wrap="square" rtlCol="0">
              <a:spAutoFit/>
            </a:bodyPr>
            <a:lstStyle/>
            <a:p>
              <a:r>
                <a:rPr lang="en-US" i="1" dirty="0" err="1">
                  <a:latin typeface="Times New Roman" panose="02020603050405020304" pitchFamily="18" charset="0"/>
                  <a:cs typeface="Times New Roman" panose="02020603050405020304" pitchFamily="18" charset="0"/>
                </a:rPr>
                <a:t>d</a:t>
              </a:r>
              <a:r>
                <a:rPr lang="en-US" i="1" baseline="-25000" dirty="0" err="1">
                  <a:latin typeface="Times New Roman" panose="02020603050405020304" pitchFamily="18" charset="0"/>
                  <a:cs typeface="Times New Roman" panose="02020603050405020304" pitchFamily="18" charset="0"/>
                </a:rPr>
                <a:t>r</a:t>
              </a:r>
              <a:endParaRPr lang="en-US" i="1" baseline="-25000" dirty="0">
                <a:latin typeface="Times New Roman" panose="02020603050405020304" pitchFamily="18" charset="0"/>
                <a:cs typeface="Times New Roman" panose="02020603050405020304" pitchFamily="18" charset="0"/>
              </a:endParaRPr>
            </a:p>
          </p:txBody>
        </p:sp>
        <p:sp>
          <p:nvSpPr>
            <p:cNvPr id="17" name="TextBox 16"/>
            <p:cNvSpPr txBox="1"/>
            <p:nvPr/>
          </p:nvSpPr>
          <p:spPr>
            <a:xfrm>
              <a:off x="6589796" y="2604399"/>
              <a:ext cx="762000"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d</a:t>
              </a:r>
              <a:r>
                <a:rPr lang="en-US" i="1" baseline="-25000" dirty="0">
                  <a:latin typeface="Times New Roman" panose="02020603050405020304" pitchFamily="18" charset="0"/>
                  <a:cs typeface="Times New Roman" panose="02020603050405020304" pitchFamily="18" charset="0"/>
                </a:rPr>
                <a:t>r</a:t>
              </a:r>
              <a:r>
                <a:rPr lang="en-US" baseline="-25000" dirty="0">
                  <a:latin typeface="Times New Roman" panose="02020603050405020304" pitchFamily="18" charset="0"/>
                  <a:cs typeface="Times New Roman" panose="02020603050405020304" pitchFamily="18" charset="0"/>
                </a:rPr>
                <a:t>1</a:t>
              </a:r>
            </a:p>
          </p:txBody>
        </p:sp>
        <p:sp>
          <p:nvSpPr>
            <p:cNvPr id="18" name="TextBox 17"/>
            <p:cNvSpPr txBox="1"/>
            <p:nvPr/>
          </p:nvSpPr>
          <p:spPr>
            <a:xfrm>
              <a:off x="5887202" y="2316417"/>
              <a:ext cx="762000"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d</a:t>
              </a:r>
              <a:r>
                <a:rPr lang="en-US" i="1" baseline="-25000" dirty="0">
                  <a:latin typeface="Times New Roman" panose="02020603050405020304" pitchFamily="18" charset="0"/>
                  <a:cs typeface="Times New Roman" panose="02020603050405020304" pitchFamily="18" charset="0"/>
                </a:rPr>
                <a:t>r</a:t>
              </a:r>
              <a:r>
                <a:rPr lang="en-US" baseline="-25000" dirty="0">
                  <a:latin typeface="Times New Roman" panose="02020603050405020304" pitchFamily="18" charset="0"/>
                  <a:cs typeface="Times New Roman" panose="02020603050405020304" pitchFamily="18" charset="0"/>
                </a:rPr>
                <a:t>2</a:t>
              </a:r>
            </a:p>
          </p:txBody>
        </p:sp>
        <p:sp>
          <p:nvSpPr>
            <p:cNvPr id="14" name="TextBox 13"/>
            <p:cNvSpPr txBox="1"/>
            <p:nvPr/>
          </p:nvSpPr>
          <p:spPr>
            <a:xfrm>
              <a:off x="5791200" y="3715736"/>
              <a:ext cx="7620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CH</a:t>
              </a:r>
            </a:p>
          </p:txBody>
        </p:sp>
      </p:grpSp>
      <p:cxnSp>
        <p:nvCxnSpPr>
          <p:cNvPr id="16" name="Straight Arrow Connector 15"/>
          <p:cNvCxnSpPr/>
          <p:nvPr/>
        </p:nvCxnSpPr>
        <p:spPr>
          <a:xfrm flipV="1">
            <a:off x="8097804" y="2939243"/>
            <a:ext cx="1046196" cy="1869132"/>
          </a:xfrm>
          <a:prstGeom prst="straightConnector1">
            <a:avLst/>
          </a:prstGeom>
          <a:ln w="19050">
            <a:solidFill>
              <a:srgbClr val="008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5945432" y="4676732"/>
            <a:ext cx="2347630" cy="646331"/>
          </a:xfrm>
          <a:prstGeom prst="rect">
            <a:avLst/>
          </a:prstGeom>
          <a:solidFill>
            <a:srgbClr val="FFCCCC"/>
          </a:solidFill>
        </p:spPr>
        <p:txBody>
          <a:bodyPr wrap="none">
            <a:spAutoFit/>
          </a:bodyPr>
          <a:lstStyle/>
          <a:p>
            <a:r>
              <a:rPr lang="en-US" dirty="0">
                <a:latin typeface="Times New Roman" panose="02020603050405020304" pitchFamily="18" charset="0"/>
                <a:cs typeface="Times New Roman" panose="02020603050405020304" pitchFamily="18" charset="0"/>
              </a:rPr>
              <a:t>Region of cluster-head </a:t>
            </a:r>
          </a:p>
          <a:p>
            <a:r>
              <a:rPr lang="en-US" dirty="0">
                <a:latin typeface="Times New Roman" panose="02020603050405020304" pitchFamily="18" charset="0"/>
                <a:cs typeface="Times New Roman" panose="02020603050405020304" pitchFamily="18" charset="0"/>
              </a:rPr>
              <a:t>declaration </a:t>
            </a:r>
          </a:p>
        </p:txBody>
      </p:sp>
      <p:sp>
        <p:nvSpPr>
          <p:cNvPr id="10" name="Slide Number Placeholder 9">
            <a:extLst>
              <a:ext uri="{FF2B5EF4-FFF2-40B4-BE49-F238E27FC236}">
                <a16:creationId xmlns:a16="http://schemas.microsoft.com/office/drawing/2014/main" id="{F014BEA1-0546-46B7-81E0-DF6E2F7EF0B1}"/>
              </a:ext>
            </a:extLst>
          </p:cNvPr>
          <p:cNvSpPr>
            <a:spLocks noGrp="1"/>
          </p:cNvSpPr>
          <p:nvPr>
            <p:ph type="sldNum" sz="quarter" idx="12"/>
          </p:nvPr>
        </p:nvSpPr>
        <p:spPr/>
        <p:txBody>
          <a:bodyPr/>
          <a:lstStyle/>
          <a:p>
            <a:fld id="{C3F1913A-7668-436E-8561-76A60B792217}" type="slidenum">
              <a:rPr lang="en-US" smtClean="0"/>
              <a:t>40</a:t>
            </a:fld>
            <a:endParaRPr lang="en-US"/>
          </a:p>
        </p:txBody>
      </p:sp>
    </p:spTree>
    <p:extLst>
      <p:ext uri="{BB962C8B-B14F-4D97-AF65-F5344CB8AC3E}">
        <p14:creationId xmlns:p14="http://schemas.microsoft.com/office/powerpoint/2010/main" val="4355736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TextBox 4"/>
          <p:cNvSpPr txBox="1">
            <a:spLocks noChangeArrowheads="1"/>
          </p:cNvSpPr>
          <p:nvPr/>
        </p:nvSpPr>
        <p:spPr bwMode="auto">
          <a:xfrm>
            <a:off x="313509" y="258869"/>
            <a:ext cx="11042468" cy="2308324"/>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 typeface="Wingdings" panose="05000000000000000000" pitchFamily="2" charset="2"/>
              <a:buChar char="ü"/>
            </a:pPr>
            <a:r>
              <a:rPr lang="en-US" sz="2400" dirty="0"/>
              <a:t>Now, the initial CH transmits the </a:t>
            </a:r>
            <a:r>
              <a:rPr lang="en-US" sz="2400" dirty="0">
                <a:solidFill>
                  <a:srgbClr val="FF0000"/>
                </a:solidFill>
              </a:rPr>
              <a:t>cluster-head exploration </a:t>
            </a:r>
            <a:r>
              <a:rPr lang="en-US" sz="2400" dirty="0"/>
              <a:t>signal. Only nodes that have never played the role of a cluster head and  the received signal satisfies the inequality </a:t>
            </a:r>
            <a:r>
              <a:rPr lang="en-US" sz="2400" i="1" dirty="0"/>
              <a:t>E</a:t>
            </a:r>
            <a:r>
              <a:rPr lang="en-US" sz="2400" i="1" baseline="-25000" dirty="0"/>
              <a:t>rc</a:t>
            </a:r>
            <a:r>
              <a:rPr lang="en-US" sz="2400" baseline="-25000" dirty="0"/>
              <a:t>1</a:t>
            </a:r>
            <a:r>
              <a:rPr lang="en-US" sz="2400" i="1" dirty="0"/>
              <a:t> &gt; </a:t>
            </a:r>
            <a:r>
              <a:rPr lang="en-US" sz="2400" i="1" dirty="0" err="1"/>
              <a:t>E</a:t>
            </a:r>
            <a:r>
              <a:rPr lang="en-US" sz="2400" i="1" baseline="-25000" dirty="0" err="1"/>
              <a:t>r</a:t>
            </a:r>
            <a:r>
              <a:rPr lang="en-US" sz="2400" i="1" dirty="0"/>
              <a:t> &gt; E</a:t>
            </a:r>
            <a:r>
              <a:rPr lang="en-US" sz="2400" i="1" baseline="-25000" dirty="0"/>
              <a:t>rc</a:t>
            </a:r>
            <a:r>
              <a:rPr lang="en-US" sz="2400" baseline="-25000" dirty="0"/>
              <a:t>2</a:t>
            </a:r>
            <a:r>
              <a:rPr lang="en-US" sz="2400" dirty="0"/>
              <a:t> i.e. nodes at a distance  </a:t>
            </a:r>
            <a:r>
              <a:rPr lang="en-US" sz="2400" i="1" dirty="0"/>
              <a:t>d</a:t>
            </a:r>
            <a:r>
              <a:rPr lang="en-US" sz="2400" i="1" baseline="-25000" dirty="0"/>
              <a:t>r</a:t>
            </a:r>
            <a:r>
              <a:rPr lang="en-US" sz="2400" baseline="-25000" dirty="0"/>
              <a:t>2 </a:t>
            </a:r>
            <a:r>
              <a:rPr lang="en-US" sz="2400" dirty="0"/>
              <a:t>&lt; </a:t>
            </a:r>
            <a:r>
              <a:rPr lang="en-US" sz="2400" i="1" dirty="0" err="1"/>
              <a:t>d</a:t>
            </a:r>
            <a:r>
              <a:rPr lang="en-US" sz="2400" i="1" baseline="-25000" dirty="0" err="1"/>
              <a:t>r</a:t>
            </a:r>
            <a:r>
              <a:rPr lang="en-US" sz="2400" baseline="-25000" dirty="0"/>
              <a:t> </a:t>
            </a:r>
            <a:r>
              <a:rPr lang="en-US" sz="2400" dirty="0"/>
              <a:t>&lt; </a:t>
            </a:r>
            <a:r>
              <a:rPr lang="en-US" sz="2400" i="1" dirty="0"/>
              <a:t>d</a:t>
            </a:r>
            <a:r>
              <a:rPr lang="en-US" sz="2400" i="1" baseline="-25000" dirty="0"/>
              <a:t>r</a:t>
            </a:r>
            <a:r>
              <a:rPr lang="en-US" sz="2400" baseline="-25000" dirty="0"/>
              <a:t>1</a:t>
            </a:r>
            <a:r>
              <a:rPr lang="en-US" sz="2400" dirty="0"/>
              <a:t> (meaning the node is not too close to the initial CH, and not too far either.)are eligible to be new cluster head. </a:t>
            </a:r>
          </a:p>
          <a:p>
            <a:pPr algn="just" eaLnBrk="1" hangingPunct="1">
              <a:spcBef>
                <a:spcPct val="0"/>
              </a:spcBef>
              <a:buFont typeface="Wingdings" panose="05000000000000000000" pitchFamily="2" charset="2"/>
              <a:buChar char="ü"/>
            </a:pPr>
            <a:r>
              <a:rPr lang="en-US" sz="2400" dirty="0"/>
              <a:t>Note that </a:t>
            </a:r>
            <a:r>
              <a:rPr lang="en-US" sz="2400" i="1" dirty="0"/>
              <a:t>E</a:t>
            </a:r>
            <a:r>
              <a:rPr lang="en-US" sz="2400" i="1" baseline="-25000" dirty="0"/>
              <a:t>rc</a:t>
            </a:r>
            <a:r>
              <a:rPr lang="en-US" sz="2400" baseline="-25000" dirty="0"/>
              <a:t>1</a:t>
            </a:r>
            <a:r>
              <a:rPr lang="en-US" sz="2400" dirty="0"/>
              <a:t> and </a:t>
            </a:r>
            <a:r>
              <a:rPr lang="en-US" sz="2400" i="1" dirty="0"/>
              <a:t>E</a:t>
            </a:r>
            <a:r>
              <a:rPr lang="en-US" sz="2400" i="1" baseline="-25000" dirty="0"/>
              <a:t>rc</a:t>
            </a:r>
            <a:r>
              <a:rPr lang="en-US" sz="2400" baseline="-25000" dirty="0"/>
              <a:t>2</a:t>
            </a:r>
            <a:r>
              <a:rPr lang="en-US" sz="2400" dirty="0"/>
              <a:t> are fixed protocol parameters that can be pre calculated and stored in the sensor-node memory, using the following formula:</a:t>
            </a:r>
          </a:p>
        </p:txBody>
      </p:sp>
      <p:graphicFrame>
        <p:nvGraphicFramePr>
          <p:cNvPr id="43012" name="Object 4"/>
          <p:cNvGraphicFramePr>
            <a:graphicFrameLocks noChangeAspect="1"/>
          </p:cNvGraphicFramePr>
          <p:nvPr/>
        </p:nvGraphicFramePr>
        <p:xfrm>
          <a:off x="2504554" y="3172946"/>
          <a:ext cx="2924175" cy="685800"/>
        </p:xfrm>
        <a:graphic>
          <a:graphicData uri="http://schemas.openxmlformats.org/presentationml/2006/ole">
            <mc:AlternateContent xmlns:mc="http://schemas.openxmlformats.org/markup-compatibility/2006">
              <mc:Choice xmlns:v="urn:schemas-microsoft-com:vml" Requires="v">
                <p:oleObj name="Equation" r:id="rId2" imgW="1028254" imgH="241195" progId="Equation.3">
                  <p:embed/>
                </p:oleObj>
              </mc:Choice>
              <mc:Fallback>
                <p:oleObj name="Equation" r:id="rId2" imgW="1028254" imgH="241195"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4554" y="3172946"/>
                        <a:ext cx="2924175"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3" name="Object 5"/>
          <p:cNvGraphicFramePr>
            <a:graphicFrameLocks noChangeAspect="1"/>
          </p:cNvGraphicFramePr>
          <p:nvPr/>
        </p:nvGraphicFramePr>
        <p:xfrm>
          <a:off x="2504554" y="4087346"/>
          <a:ext cx="3033713" cy="685800"/>
        </p:xfrm>
        <a:graphic>
          <a:graphicData uri="http://schemas.openxmlformats.org/presentationml/2006/ole">
            <mc:AlternateContent xmlns:mc="http://schemas.openxmlformats.org/markup-compatibility/2006">
              <mc:Choice xmlns:v="urn:schemas-microsoft-com:vml" Requires="v">
                <p:oleObj name="Equation" r:id="rId4" imgW="1066800" imgH="241300" progId="Equation.3">
                  <p:embed/>
                </p:oleObj>
              </mc:Choice>
              <mc:Fallback>
                <p:oleObj name="Equation" r:id="rId4" imgW="1066800" imgH="2413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4554" y="4087346"/>
                        <a:ext cx="3033713"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22" name="Straight Arrow Connector 21"/>
          <p:cNvCxnSpPr>
            <a:endCxn id="43013" idx="2"/>
          </p:cNvCxnSpPr>
          <p:nvPr/>
        </p:nvCxnSpPr>
        <p:spPr>
          <a:xfrm flipV="1">
            <a:off x="3623127" y="4773146"/>
            <a:ext cx="398282" cy="130147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flipV="1">
            <a:off x="4986196" y="4688876"/>
            <a:ext cx="40103" cy="64330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2567560" y="6074620"/>
            <a:ext cx="1846612"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Transmit power</a:t>
            </a:r>
          </a:p>
        </p:txBody>
      </p:sp>
      <p:sp>
        <p:nvSpPr>
          <p:cNvPr id="25" name="TextBox 24"/>
          <p:cNvSpPr txBox="1"/>
          <p:nvPr/>
        </p:nvSpPr>
        <p:spPr>
          <a:xfrm>
            <a:off x="4608125" y="5332182"/>
            <a:ext cx="131828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Path-loss</a:t>
            </a:r>
          </a:p>
        </p:txBody>
      </p:sp>
      <p:sp>
        <p:nvSpPr>
          <p:cNvPr id="26" name="TextBox 25"/>
          <p:cNvSpPr txBox="1"/>
          <p:nvPr/>
        </p:nvSpPr>
        <p:spPr>
          <a:xfrm>
            <a:off x="1560711" y="5061389"/>
            <a:ext cx="1276082"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Received Energy</a:t>
            </a:r>
          </a:p>
        </p:txBody>
      </p:sp>
      <p:cxnSp>
        <p:nvCxnSpPr>
          <p:cNvPr id="27" name="Straight Arrow Connector 26"/>
          <p:cNvCxnSpPr/>
          <p:nvPr/>
        </p:nvCxnSpPr>
        <p:spPr>
          <a:xfrm flipV="1">
            <a:off x="2193754" y="4731012"/>
            <a:ext cx="373806" cy="4231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3178818E-03EE-481F-89DE-9E8FF68EB592}"/>
              </a:ext>
            </a:extLst>
          </p:cNvPr>
          <p:cNvSpPr/>
          <p:nvPr/>
        </p:nvSpPr>
        <p:spPr>
          <a:xfrm>
            <a:off x="7572783" y="5978394"/>
            <a:ext cx="4287803" cy="707886"/>
          </a:xfrm>
          <a:prstGeom prst="rect">
            <a:avLst/>
          </a:prstGeom>
          <a:solidFill>
            <a:srgbClr val="FFCCCC"/>
          </a:solidFill>
        </p:spPr>
        <p:txBody>
          <a:bodyPr wrap="square">
            <a:spAutoFit/>
          </a:bodyPr>
          <a:lstStyle/>
          <a:p>
            <a:r>
              <a:rPr lang="en-US" sz="2000" dirty="0">
                <a:latin typeface="Times New Roman" panose="02020603050405020304" pitchFamily="18" charset="0"/>
                <a:cs typeface="Times New Roman" panose="02020603050405020304" pitchFamily="18" charset="0"/>
              </a:rPr>
              <a:t>Region of cluster-head Exploration </a:t>
            </a:r>
          </a:p>
          <a:p>
            <a:r>
              <a:rPr lang="en-US" sz="2000" dirty="0">
                <a:latin typeface="Times New Roman" panose="02020603050405020304" pitchFamily="18" charset="0"/>
                <a:cs typeface="Times New Roman" panose="02020603050405020304" pitchFamily="18" charset="0"/>
              </a:rPr>
              <a:t>(region between two concentric circles) </a:t>
            </a:r>
          </a:p>
        </p:txBody>
      </p:sp>
      <p:cxnSp>
        <p:nvCxnSpPr>
          <p:cNvPr id="29" name="Straight Arrow Connector 28">
            <a:extLst>
              <a:ext uri="{FF2B5EF4-FFF2-40B4-BE49-F238E27FC236}">
                <a16:creationId xmlns:a16="http://schemas.microsoft.com/office/drawing/2014/main" id="{13CCA683-558C-46BE-810B-09DA607C231C}"/>
              </a:ext>
            </a:extLst>
          </p:cNvPr>
          <p:cNvCxnSpPr>
            <a:cxnSpLocks/>
          </p:cNvCxnSpPr>
          <p:nvPr/>
        </p:nvCxnSpPr>
        <p:spPr>
          <a:xfrm flipH="1" flipV="1">
            <a:off x="10059716" y="4645190"/>
            <a:ext cx="4783" cy="1382886"/>
          </a:xfrm>
          <a:prstGeom prst="straightConnector1">
            <a:avLst/>
          </a:prstGeom>
          <a:ln w="1905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a:xfrm>
            <a:off x="6877822" y="2290126"/>
            <a:ext cx="4169228" cy="3688268"/>
            <a:chOff x="3339265" y="1133222"/>
            <a:chExt cx="4858351" cy="4530766"/>
          </a:xfrm>
        </p:grpSpPr>
        <p:sp>
          <p:nvSpPr>
            <p:cNvPr id="31" name="Oval 30"/>
            <p:cNvSpPr/>
            <p:nvPr/>
          </p:nvSpPr>
          <p:spPr>
            <a:xfrm>
              <a:off x="3339265" y="2053876"/>
              <a:ext cx="1639403" cy="1609669"/>
            </a:xfrm>
            <a:prstGeom prst="ellipse">
              <a:avLst/>
            </a:prstGeom>
            <a:solidFill>
              <a:srgbClr val="FFCCCC"/>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32" name="Oval 31"/>
            <p:cNvSpPr/>
            <p:nvPr/>
          </p:nvSpPr>
          <p:spPr>
            <a:xfrm>
              <a:off x="4487478" y="3206904"/>
              <a:ext cx="1639403" cy="1609669"/>
            </a:xfrm>
            <a:prstGeom prst="ellipse">
              <a:avLst/>
            </a:prstGeom>
            <a:solidFill>
              <a:srgbClr val="FFCCCC"/>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grpSp>
          <p:nvGrpSpPr>
            <p:cNvPr id="33" name="Group 32"/>
            <p:cNvGrpSpPr/>
            <p:nvPr/>
          </p:nvGrpSpPr>
          <p:grpSpPr>
            <a:xfrm>
              <a:off x="4692416" y="1133222"/>
              <a:ext cx="3505200" cy="3342154"/>
              <a:chOff x="4800600" y="3515846"/>
              <a:chExt cx="3505200" cy="3342154"/>
            </a:xfrm>
          </p:grpSpPr>
          <p:grpSp>
            <p:nvGrpSpPr>
              <p:cNvPr id="40" name="Group 39"/>
              <p:cNvGrpSpPr/>
              <p:nvPr/>
            </p:nvGrpSpPr>
            <p:grpSpPr>
              <a:xfrm>
                <a:off x="4800600" y="3515846"/>
                <a:ext cx="3505200" cy="3342154"/>
                <a:chOff x="4343400" y="2062517"/>
                <a:chExt cx="3505200" cy="3342154"/>
              </a:xfrm>
            </p:grpSpPr>
            <p:sp>
              <p:nvSpPr>
                <p:cNvPr id="43" name="Oval 42"/>
                <p:cNvSpPr/>
                <p:nvPr/>
              </p:nvSpPr>
              <p:spPr>
                <a:xfrm>
                  <a:off x="5297104" y="2951746"/>
                  <a:ext cx="1676400" cy="1672520"/>
                </a:xfrm>
                <a:prstGeom prst="ellipse">
                  <a:avLst/>
                </a:prstGeom>
                <a:solidFill>
                  <a:srgbClr val="FFCCCC"/>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44" name="Oval 43"/>
                <p:cNvSpPr/>
                <p:nvPr/>
              </p:nvSpPr>
              <p:spPr>
                <a:xfrm>
                  <a:off x="4495800" y="2220446"/>
                  <a:ext cx="3200400" cy="3037354"/>
                </a:xfrm>
                <a:prstGeom prst="ellipse">
                  <a:avLst/>
                </a:prstGeom>
                <a:noFill/>
                <a:ln w="285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45" name="Oval 44"/>
                <p:cNvSpPr/>
                <p:nvPr/>
              </p:nvSpPr>
              <p:spPr>
                <a:xfrm>
                  <a:off x="4343400" y="2062517"/>
                  <a:ext cx="3505200" cy="3342154"/>
                </a:xfrm>
                <a:prstGeom prst="ellipse">
                  <a:avLst/>
                </a:prstGeom>
                <a:noFill/>
                <a:ln w="285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46" name="Oval 45"/>
                <p:cNvSpPr/>
                <p:nvPr/>
              </p:nvSpPr>
              <p:spPr>
                <a:xfrm>
                  <a:off x="5999745" y="3591791"/>
                  <a:ext cx="207819" cy="207819"/>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cxnSp>
              <p:nvCxnSpPr>
                <p:cNvPr id="47" name="Straight Arrow Connector 46"/>
                <p:cNvCxnSpPr>
                  <a:stCxn id="46" idx="6"/>
                  <a:endCxn id="43" idx="6"/>
                </p:cNvCxnSpPr>
                <p:nvPr/>
              </p:nvCxnSpPr>
              <p:spPr>
                <a:xfrm>
                  <a:off x="6207563" y="3695701"/>
                  <a:ext cx="765940" cy="923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V="1">
                  <a:off x="6172200" y="2438400"/>
                  <a:ext cx="685800" cy="1143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V="1">
                  <a:off x="6120464" y="2091392"/>
                  <a:ext cx="444968" cy="14900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6356583" y="3308001"/>
                  <a:ext cx="762000" cy="415889"/>
                </a:xfrm>
                <a:prstGeom prst="rect">
                  <a:avLst/>
                </a:prstGeom>
                <a:noFill/>
              </p:spPr>
              <p:txBody>
                <a:bodyPr wrap="square" rtlCol="0">
                  <a:spAutoFit/>
                </a:bodyPr>
                <a:lstStyle/>
                <a:p>
                  <a:r>
                    <a:rPr lang="en-US" sz="1600" i="1" dirty="0" err="1">
                      <a:latin typeface="Times New Roman" panose="02020603050405020304" pitchFamily="18" charset="0"/>
                      <a:cs typeface="Times New Roman" panose="02020603050405020304" pitchFamily="18" charset="0"/>
                    </a:rPr>
                    <a:t>d</a:t>
                  </a:r>
                  <a:r>
                    <a:rPr lang="en-US" sz="1600" i="1" baseline="-25000" dirty="0" err="1">
                      <a:latin typeface="Times New Roman" panose="02020603050405020304" pitchFamily="18" charset="0"/>
                      <a:cs typeface="Times New Roman" panose="02020603050405020304" pitchFamily="18" charset="0"/>
                    </a:rPr>
                    <a:t>r</a:t>
                  </a:r>
                  <a:endParaRPr lang="en-US" sz="1600" i="1" baseline="-25000" dirty="0">
                    <a:latin typeface="Times New Roman" panose="02020603050405020304" pitchFamily="18" charset="0"/>
                    <a:cs typeface="Times New Roman" panose="02020603050405020304" pitchFamily="18" charset="0"/>
                  </a:endParaRPr>
                </a:p>
              </p:txBody>
            </p:sp>
            <p:sp>
              <p:nvSpPr>
                <p:cNvPr id="51" name="TextBox 50"/>
                <p:cNvSpPr txBox="1"/>
                <p:nvPr/>
              </p:nvSpPr>
              <p:spPr>
                <a:xfrm>
                  <a:off x="6589797" y="2604399"/>
                  <a:ext cx="762000" cy="415889"/>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d</a:t>
                  </a:r>
                  <a:r>
                    <a:rPr lang="en-US" sz="1600" i="1" baseline="-25000" dirty="0">
                      <a:latin typeface="Times New Roman" panose="02020603050405020304" pitchFamily="18" charset="0"/>
                      <a:cs typeface="Times New Roman" panose="02020603050405020304" pitchFamily="18" charset="0"/>
                    </a:rPr>
                    <a:t>r</a:t>
                  </a:r>
                  <a:r>
                    <a:rPr lang="en-US" sz="1600" baseline="-25000" dirty="0">
                      <a:latin typeface="Times New Roman" panose="02020603050405020304" pitchFamily="18" charset="0"/>
                      <a:cs typeface="Times New Roman" panose="02020603050405020304" pitchFamily="18" charset="0"/>
                    </a:rPr>
                    <a:t>1</a:t>
                  </a:r>
                </a:p>
              </p:txBody>
            </p:sp>
            <p:sp>
              <p:nvSpPr>
                <p:cNvPr id="52" name="TextBox 51"/>
                <p:cNvSpPr txBox="1"/>
                <p:nvPr/>
              </p:nvSpPr>
              <p:spPr>
                <a:xfrm>
                  <a:off x="5887203" y="2316417"/>
                  <a:ext cx="762000" cy="415889"/>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d</a:t>
                  </a:r>
                  <a:r>
                    <a:rPr lang="en-US" sz="1600" i="1" baseline="-25000" dirty="0">
                      <a:latin typeface="Times New Roman" panose="02020603050405020304" pitchFamily="18" charset="0"/>
                      <a:cs typeface="Times New Roman" panose="02020603050405020304" pitchFamily="18" charset="0"/>
                    </a:rPr>
                    <a:t>r</a:t>
                  </a:r>
                  <a:r>
                    <a:rPr lang="en-US" sz="1600" baseline="-25000" dirty="0">
                      <a:latin typeface="Times New Roman" panose="02020603050405020304" pitchFamily="18" charset="0"/>
                      <a:cs typeface="Times New Roman" panose="02020603050405020304" pitchFamily="18" charset="0"/>
                    </a:rPr>
                    <a:t>2</a:t>
                  </a:r>
                </a:p>
              </p:txBody>
            </p:sp>
            <p:sp>
              <p:nvSpPr>
                <p:cNvPr id="53" name="TextBox 52"/>
                <p:cNvSpPr txBox="1"/>
                <p:nvPr/>
              </p:nvSpPr>
              <p:spPr>
                <a:xfrm>
                  <a:off x="5791201" y="3715737"/>
                  <a:ext cx="762000" cy="415889"/>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CH</a:t>
                  </a:r>
                </a:p>
              </p:txBody>
            </p:sp>
          </p:grpSp>
          <p:sp>
            <p:nvSpPr>
              <p:cNvPr id="41" name="Oval 40"/>
              <p:cNvSpPr/>
              <p:nvPr/>
            </p:nvSpPr>
            <p:spPr>
              <a:xfrm>
                <a:off x="5514022" y="3769164"/>
                <a:ext cx="228600" cy="22860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42" name="Oval 41"/>
              <p:cNvSpPr/>
              <p:nvPr/>
            </p:nvSpPr>
            <p:spPr>
              <a:xfrm>
                <a:off x="5285422" y="6248113"/>
                <a:ext cx="228600" cy="22860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grpSp>
        <p:sp>
          <p:nvSpPr>
            <p:cNvPr id="34" name="Oval 33"/>
            <p:cNvSpPr/>
            <p:nvPr/>
          </p:nvSpPr>
          <p:spPr>
            <a:xfrm>
              <a:off x="3725730" y="2461112"/>
              <a:ext cx="3200400" cy="3037354"/>
            </a:xfrm>
            <a:prstGeom prst="ellipse">
              <a:avLst/>
            </a:prstGeom>
            <a:noFill/>
            <a:ln w="285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35" name="Oval 34"/>
            <p:cNvSpPr/>
            <p:nvPr/>
          </p:nvSpPr>
          <p:spPr>
            <a:xfrm>
              <a:off x="3583180" y="2321834"/>
              <a:ext cx="3505200" cy="3342154"/>
            </a:xfrm>
            <a:prstGeom prst="ellipse">
              <a:avLst/>
            </a:prstGeom>
            <a:noFill/>
            <a:ln w="285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Times New Roman" panose="02020603050405020304" pitchFamily="18" charset="0"/>
                <a:cs typeface="Times New Roman" panose="02020603050405020304" pitchFamily="18" charset="0"/>
              </a:endParaRPr>
            </a:p>
          </p:txBody>
        </p:sp>
        <p:sp>
          <p:nvSpPr>
            <p:cNvPr id="36" name="TextBox 35"/>
            <p:cNvSpPr txBox="1"/>
            <p:nvPr/>
          </p:nvSpPr>
          <p:spPr>
            <a:xfrm>
              <a:off x="4939363" y="4152670"/>
              <a:ext cx="762000" cy="415889"/>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CH</a:t>
              </a:r>
            </a:p>
          </p:txBody>
        </p:sp>
        <p:sp>
          <p:nvSpPr>
            <p:cNvPr id="37" name="Oval 36"/>
            <p:cNvSpPr/>
            <p:nvPr/>
          </p:nvSpPr>
          <p:spPr>
            <a:xfrm>
              <a:off x="4076801" y="2726072"/>
              <a:ext cx="228600" cy="22860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cxnSp>
          <p:nvCxnSpPr>
            <p:cNvPr id="38" name="Straight Arrow Connector 37"/>
            <p:cNvCxnSpPr>
              <a:stCxn id="42" idx="7"/>
            </p:cNvCxnSpPr>
            <p:nvPr/>
          </p:nvCxnSpPr>
          <p:spPr>
            <a:xfrm flipV="1">
              <a:off x="5372360" y="3352800"/>
              <a:ext cx="329004" cy="5461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45" idx="3"/>
            </p:cNvCxnSpPr>
            <p:nvPr/>
          </p:nvCxnSpPr>
          <p:spPr>
            <a:xfrm flipH="1" flipV="1">
              <a:off x="3589446" y="3678445"/>
              <a:ext cx="1616295" cy="3074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 name="Slide Number Placeholder 4">
            <a:extLst>
              <a:ext uri="{FF2B5EF4-FFF2-40B4-BE49-F238E27FC236}">
                <a16:creationId xmlns:a16="http://schemas.microsoft.com/office/drawing/2014/main" id="{858CD32F-B9DF-4CD6-B7AB-8144128FBE6A}"/>
              </a:ext>
            </a:extLst>
          </p:cNvPr>
          <p:cNvSpPr>
            <a:spLocks noGrp="1"/>
          </p:cNvSpPr>
          <p:nvPr>
            <p:ph type="sldNum" sz="quarter" idx="12"/>
          </p:nvPr>
        </p:nvSpPr>
        <p:spPr/>
        <p:txBody>
          <a:bodyPr/>
          <a:lstStyle/>
          <a:p>
            <a:fld id="{C3F1913A-7668-436E-8561-76A60B792217}" type="slidenum">
              <a:rPr lang="en-US" smtClean="0"/>
              <a:t>41</a:t>
            </a:fld>
            <a:endParaRPr lang="en-US"/>
          </a:p>
        </p:txBody>
      </p:sp>
    </p:spTree>
    <p:extLst>
      <p:ext uri="{BB962C8B-B14F-4D97-AF65-F5344CB8AC3E}">
        <p14:creationId xmlns:p14="http://schemas.microsoft.com/office/powerpoint/2010/main" val="10179263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1086" y="228859"/>
            <a:ext cx="6987533" cy="6001643"/>
          </a:xfrm>
          <a:prstGeom prst="rect">
            <a:avLst/>
          </a:prstGeom>
          <a:solidFill>
            <a:srgbClr val="CCECFF"/>
          </a:solidFill>
        </p:spPr>
        <p:txBody>
          <a:bodyPr wrap="square">
            <a:spAutoFit/>
          </a:bodyPr>
          <a:lstStyle/>
          <a:p>
            <a:pPr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After a </a:t>
            </a:r>
            <a:r>
              <a:rPr lang="en-US" sz="2400" dirty="0">
                <a:solidFill>
                  <a:srgbClr val="FF0000"/>
                </a:solidFill>
                <a:latin typeface="Times New Roman" panose="02020603050405020304" pitchFamily="18" charset="0"/>
                <a:cs typeface="Times New Roman" panose="02020603050405020304" pitchFamily="18" charset="0"/>
              </a:rPr>
              <a:t>new cluster-head candidate </a:t>
            </a:r>
            <a:r>
              <a:rPr lang="en-US" sz="2400" dirty="0">
                <a:latin typeface="Times New Roman" panose="02020603050405020304" pitchFamily="18" charset="0"/>
                <a:cs typeface="Times New Roman" panose="02020603050405020304" pitchFamily="18" charset="0"/>
              </a:rPr>
              <a:t>is assigned, it sends a declaration and exploration signal like before. </a:t>
            </a:r>
          </a:p>
          <a:p>
            <a:pPr algn="just"/>
            <a:endParaRPr lang="en-US" sz="2400"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If two cluster-head candidates can hear each other's declaration signal, (they are too close to each other to be considered cluster-head candidates) one of them is eliminated through a negotiation phase.</a:t>
            </a:r>
          </a:p>
          <a:p>
            <a:pPr algn="just" eaLnBrk="1" hangingPunct="1"/>
            <a:endParaRPr lang="en-US" sz="2400"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 </a:t>
            </a:r>
            <a:r>
              <a:rPr lang="en-US" sz="2400" dirty="0">
                <a:solidFill>
                  <a:srgbClr val="FF0000"/>
                </a:solidFill>
                <a:latin typeface="Times New Roman" panose="02020603050405020304" pitchFamily="18" charset="0"/>
                <a:cs typeface="Times New Roman" panose="02020603050405020304" pitchFamily="18" charset="0"/>
              </a:rPr>
              <a:t>member node </a:t>
            </a:r>
            <a:r>
              <a:rPr lang="en-US" sz="2400" dirty="0">
                <a:latin typeface="Times New Roman" panose="02020603050405020304" pitchFamily="18" charset="0"/>
                <a:cs typeface="Times New Roman" panose="02020603050405020304" pitchFamily="18" charset="0"/>
              </a:rPr>
              <a:t>that receives a declaration signal from more than one candidate chooses the candidate whose associated signal is received with a higher power.</a:t>
            </a:r>
          </a:p>
          <a:p>
            <a:pPr algn="just" eaLnBrk="1" hangingPunct="1"/>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Nodes that have already been chosen as </a:t>
            </a:r>
            <a:r>
              <a:rPr lang="en-US" sz="2400" dirty="0">
                <a:solidFill>
                  <a:srgbClr val="FF0000"/>
                </a:solidFill>
                <a:latin typeface="Times New Roman" panose="02020603050405020304" pitchFamily="18" charset="0"/>
                <a:cs typeface="Times New Roman" panose="02020603050405020304" pitchFamily="18" charset="0"/>
              </a:rPr>
              <a:t>cluster head </a:t>
            </a:r>
            <a:r>
              <a:rPr lang="en-US" sz="2400" dirty="0">
                <a:latin typeface="Times New Roman" panose="02020603050405020304" pitchFamily="18" charset="0"/>
                <a:cs typeface="Times New Roman" panose="02020603050405020304" pitchFamily="18" charset="0"/>
              </a:rPr>
              <a:t>or </a:t>
            </a:r>
            <a:r>
              <a:rPr lang="en-US" sz="2400" dirty="0">
                <a:solidFill>
                  <a:srgbClr val="FF0000"/>
                </a:solidFill>
                <a:latin typeface="Times New Roman" panose="02020603050405020304" pitchFamily="18" charset="0"/>
                <a:cs typeface="Times New Roman" panose="02020603050405020304" pitchFamily="18" charset="0"/>
              </a:rPr>
              <a:t>member</a:t>
            </a:r>
            <a:r>
              <a:rPr lang="en-US" sz="2400" dirty="0">
                <a:latin typeface="Times New Roman" panose="02020603050405020304" pitchFamily="18" charset="0"/>
                <a:cs typeface="Times New Roman" panose="02020603050405020304" pitchFamily="18" charset="0"/>
              </a:rPr>
              <a:t> ignore the cluster-head </a:t>
            </a:r>
            <a:r>
              <a:rPr lang="en-US" sz="2400" dirty="0">
                <a:solidFill>
                  <a:srgbClr val="FF0000"/>
                </a:solidFill>
                <a:latin typeface="Times New Roman" panose="02020603050405020304" pitchFamily="18" charset="0"/>
                <a:cs typeface="Times New Roman" panose="02020603050405020304" pitchFamily="18" charset="0"/>
              </a:rPr>
              <a:t>exploration</a:t>
            </a:r>
            <a:r>
              <a:rPr lang="en-US" sz="2400" dirty="0">
                <a:latin typeface="Times New Roman" panose="02020603050405020304" pitchFamily="18" charset="0"/>
                <a:cs typeface="Times New Roman" panose="02020603050405020304" pitchFamily="18" charset="0"/>
              </a:rPr>
              <a:t> or </a:t>
            </a:r>
            <a:r>
              <a:rPr lang="en-US" sz="2400" dirty="0">
                <a:solidFill>
                  <a:srgbClr val="FF0000"/>
                </a:solidFill>
                <a:latin typeface="Times New Roman" panose="02020603050405020304" pitchFamily="18" charset="0"/>
                <a:cs typeface="Times New Roman" panose="02020603050405020304" pitchFamily="18" charset="0"/>
              </a:rPr>
              <a:t>declaration</a:t>
            </a:r>
            <a:r>
              <a:rPr lang="en-US" sz="2400" dirty="0">
                <a:latin typeface="Times New Roman" panose="02020603050405020304" pitchFamily="18" charset="0"/>
                <a:cs typeface="Times New Roman" panose="02020603050405020304" pitchFamily="18" charset="0"/>
              </a:rPr>
              <a:t> signals.</a:t>
            </a:r>
          </a:p>
        </p:txBody>
      </p:sp>
      <p:grpSp>
        <p:nvGrpSpPr>
          <p:cNvPr id="5" name="Group 4"/>
          <p:cNvGrpSpPr/>
          <p:nvPr/>
        </p:nvGrpSpPr>
        <p:grpSpPr>
          <a:xfrm>
            <a:off x="7613781" y="1584866"/>
            <a:ext cx="4169228" cy="3688268"/>
            <a:chOff x="3339265" y="1133222"/>
            <a:chExt cx="4858351" cy="4530766"/>
          </a:xfrm>
        </p:grpSpPr>
        <p:sp>
          <p:nvSpPr>
            <p:cNvPr id="12" name="Oval 11"/>
            <p:cNvSpPr/>
            <p:nvPr/>
          </p:nvSpPr>
          <p:spPr>
            <a:xfrm>
              <a:off x="3339265" y="2053876"/>
              <a:ext cx="1639403" cy="1609669"/>
            </a:xfrm>
            <a:prstGeom prst="ellipse">
              <a:avLst/>
            </a:prstGeom>
            <a:solidFill>
              <a:srgbClr val="FFCCCC"/>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7" name="Oval 6"/>
            <p:cNvSpPr/>
            <p:nvPr/>
          </p:nvSpPr>
          <p:spPr>
            <a:xfrm>
              <a:off x="4487478" y="3206904"/>
              <a:ext cx="1639403" cy="1609669"/>
            </a:xfrm>
            <a:prstGeom prst="ellipse">
              <a:avLst/>
            </a:prstGeom>
            <a:solidFill>
              <a:srgbClr val="FFCCCC"/>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grpSp>
          <p:nvGrpSpPr>
            <p:cNvPr id="6" name="Group 5"/>
            <p:cNvGrpSpPr/>
            <p:nvPr/>
          </p:nvGrpSpPr>
          <p:grpSpPr>
            <a:xfrm>
              <a:off x="4692416" y="1133222"/>
              <a:ext cx="3505200" cy="3342154"/>
              <a:chOff x="4800600" y="3515846"/>
              <a:chExt cx="3505200" cy="3342154"/>
            </a:xfrm>
          </p:grpSpPr>
          <p:grpSp>
            <p:nvGrpSpPr>
              <p:cNvPr id="15" name="Group 14"/>
              <p:cNvGrpSpPr/>
              <p:nvPr/>
            </p:nvGrpSpPr>
            <p:grpSpPr>
              <a:xfrm>
                <a:off x="4800600" y="3515846"/>
                <a:ext cx="3505200" cy="3342154"/>
                <a:chOff x="4343400" y="2062517"/>
                <a:chExt cx="3505200" cy="3342154"/>
              </a:xfrm>
            </p:grpSpPr>
            <p:sp>
              <p:nvSpPr>
                <p:cNvPr id="18" name="Oval 17"/>
                <p:cNvSpPr/>
                <p:nvPr/>
              </p:nvSpPr>
              <p:spPr>
                <a:xfrm>
                  <a:off x="5297104" y="2951746"/>
                  <a:ext cx="1676400" cy="1672520"/>
                </a:xfrm>
                <a:prstGeom prst="ellipse">
                  <a:avLst/>
                </a:prstGeom>
                <a:solidFill>
                  <a:srgbClr val="FFCCCC"/>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19" name="Oval 18"/>
                <p:cNvSpPr/>
                <p:nvPr/>
              </p:nvSpPr>
              <p:spPr>
                <a:xfrm>
                  <a:off x="4495800" y="2220446"/>
                  <a:ext cx="3200400" cy="3037354"/>
                </a:xfrm>
                <a:prstGeom prst="ellipse">
                  <a:avLst/>
                </a:prstGeom>
                <a:noFill/>
                <a:ln w="285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20" name="Oval 19"/>
                <p:cNvSpPr/>
                <p:nvPr/>
              </p:nvSpPr>
              <p:spPr>
                <a:xfrm>
                  <a:off x="4343400" y="2062517"/>
                  <a:ext cx="3505200" cy="3342154"/>
                </a:xfrm>
                <a:prstGeom prst="ellipse">
                  <a:avLst/>
                </a:prstGeom>
                <a:noFill/>
                <a:ln w="285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21" name="Oval 20"/>
                <p:cNvSpPr/>
                <p:nvPr/>
              </p:nvSpPr>
              <p:spPr>
                <a:xfrm>
                  <a:off x="5999745" y="3591791"/>
                  <a:ext cx="207819" cy="207819"/>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cxnSp>
              <p:nvCxnSpPr>
                <p:cNvPr id="22" name="Straight Arrow Connector 21"/>
                <p:cNvCxnSpPr>
                  <a:stCxn id="21" idx="6"/>
                  <a:endCxn id="18" idx="6"/>
                </p:cNvCxnSpPr>
                <p:nvPr/>
              </p:nvCxnSpPr>
              <p:spPr>
                <a:xfrm>
                  <a:off x="6207563" y="3695701"/>
                  <a:ext cx="765940" cy="923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6172200" y="2438400"/>
                  <a:ext cx="685800" cy="1143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6120464" y="2091392"/>
                  <a:ext cx="444968" cy="14900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356583" y="3308001"/>
                  <a:ext cx="762000" cy="415889"/>
                </a:xfrm>
                <a:prstGeom prst="rect">
                  <a:avLst/>
                </a:prstGeom>
                <a:noFill/>
              </p:spPr>
              <p:txBody>
                <a:bodyPr wrap="square" rtlCol="0">
                  <a:spAutoFit/>
                </a:bodyPr>
                <a:lstStyle/>
                <a:p>
                  <a:r>
                    <a:rPr lang="en-US" sz="1600" i="1" dirty="0" err="1">
                      <a:latin typeface="Times New Roman" panose="02020603050405020304" pitchFamily="18" charset="0"/>
                      <a:cs typeface="Times New Roman" panose="02020603050405020304" pitchFamily="18" charset="0"/>
                    </a:rPr>
                    <a:t>d</a:t>
                  </a:r>
                  <a:r>
                    <a:rPr lang="en-US" sz="1600" i="1" baseline="-25000" dirty="0" err="1">
                      <a:latin typeface="Times New Roman" panose="02020603050405020304" pitchFamily="18" charset="0"/>
                      <a:cs typeface="Times New Roman" panose="02020603050405020304" pitchFamily="18" charset="0"/>
                    </a:rPr>
                    <a:t>r</a:t>
                  </a:r>
                  <a:endParaRPr lang="en-US" sz="1600" i="1" baseline="-25000" dirty="0">
                    <a:latin typeface="Times New Roman" panose="02020603050405020304" pitchFamily="18" charset="0"/>
                    <a:cs typeface="Times New Roman" panose="02020603050405020304" pitchFamily="18" charset="0"/>
                  </a:endParaRPr>
                </a:p>
              </p:txBody>
            </p:sp>
            <p:sp>
              <p:nvSpPr>
                <p:cNvPr id="26" name="TextBox 25"/>
                <p:cNvSpPr txBox="1"/>
                <p:nvPr/>
              </p:nvSpPr>
              <p:spPr>
                <a:xfrm>
                  <a:off x="6589797" y="2604399"/>
                  <a:ext cx="762000" cy="415889"/>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d</a:t>
                  </a:r>
                  <a:r>
                    <a:rPr lang="en-US" sz="1600" i="1" baseline="-25000" dirty="0">
                      <a:latin typeface="Times New Roman" panose="02020603050405020304" pitchFamily="18" charset="0"/>
                      <a:cs typeface="Times New Roman" panose="02020603050405020304" pitchFamily="18" charset="0"/>
                    </a:rPr>
                    <a:t>r</a:t>
                  </a:r>
                  <a:r>
                    <a:rPr lang="en-US" sz="1600" baseline="-25000" dirty="0">
                      <a:latin typeface="Times New Roman" panose="02020603050405020304" pitchFamily="18" charset="0"/>
                      <a:cs typeface="Times New Roman" panose="02020603050405020304" pitchFamily="18" charset="0"/>
                    </a:rPr>
                    <a:t>1</a:t>
                  </a:r>
                </a:p>
              </p:txBody>
            </p:sp>
            <p:sp>
              <p:nvSpPr>
                <p:cNvPr id="27" name="TextBox 26"/>
                <p:cNvSpPr txBox="1"/>
                <p:nvPr/>
              </p:nvSpPr>
              <p:spPr>
                <a:xfrm>
                  <a:off x="5887203" y="2316417"/>
                  <a:ext cx="762000" cy="415889"/>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d</a:t>
                  </a:r>
                  <a:r>
                    <a:rPr lang="en-US" sz="1600" i="1" baseline="-25000" dirty="0">
                      <a:latin typeface="Times New Roman" panose="02020603050405020304" pitchFamily="18" charset="0"/>
                      <a:cs typeface="Times New Roman" panose="02020603050405020304" pitchFamily="18" charset="0"/>
                    </a:rPr>
                    <a:t>r</a:t>
                  </a:r>
                  <a:r>
                    <a:rPr lang="en-US" sz="1600" baseline="-25000" dirty="0">
                      <a:latin typeface="Times New Roman" panose="02020603050405020304" pitchFamily="18" charset="0"/>
                      <a:cs typeface="Times New Roman" panose="02020603050405020304" pitchFamily="18" charset="0"/>
                    </a:rPr>
                    <a:t>2</a:t>
                  </a:r>
                </a:p>
              </p:txBody>
            </p:sp>
            <p:sp>
              <p:nvSpPr>
                <p:cNvPr id="28" name="TextBox 27"/>
                <p:cNvSpPr txBox="1"/>
                <p:nvPr/>
              </p:nvSpPr>
              <p:spPr>
                <a:xfrm>
                  <a:off x="5791201" y="3715737"/>
                  <a:ext cx="762000" cy="415889"/>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CH</a:t>
                  </a:r>
                </a:p>
              </p:txBody>
            </p:sp>
          </p:grpSp>
          <p:sp>
            <p:nvSpPr>
              <p:cNvPr id="16" name="Oval 15"/>
              <p:cNvSpPr/>
              <p:nvPr/>
            </p:nvSpPr>
            <p:spPr>
              <a:xfrm>
                <a:off x="5514022" y="3769164"/>
                <a:ext cx="228600" cy="22860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17" name="Oval 16"/>
              <p:cNvSpPr/>
              <p:nvPr/>
            </p:nvSpPr>
            <p:spPr>
              <a:xfrm>
                <a:off x="5285422" y="6248113"/>
                <a:ext cx="228600" cy="22860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grpSp>
        <p:sp>
          <p:nvSpPr>
            <p:cNvPr id="8" name="Oval 7"/>
            <p:cNvSpPr/>
            <p:nvPr/>
          </p:nvSpPr>
          <p:spPr>
            <a:xfrm>
              <a:off x="3725730" y="2461112"/>
              <a:ext cx="3200400" cy="3037354"/>
            </a:xfrm>
            <a:prstGeom prst="ellipse">
              <a:avLst/>
            </a:prstGeom>
            <a:noFill/>
            <a:ln w="285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9" name="Oval 8"/>
            <p:cNvSpPr/>
            <p:nvPr/>
          </p:nvSpPr>
          <p:spPr>
            <a:xfrm>
              <a:off x="3583180" y="2321834"/>
              <a:ext cx="3505200" cy="3342154"/>
            </a:xfrm>
            <a:prstGeom prst="ellipse">
              <a:avLst/>
            </a:prstGeom>
            <a:noFill/>
            <a:ln w="285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4939363" y="4152670"/>
              <a:ext cx="762000" cy="415889"/>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CH</a:t>
              </a:r>
            </a:p>
          </p:txBody>
        </p:sp>
        <p:sp>
          <p:nvSpPr>
            <p:cNvPr id="11" name="Oval 10"/>
            <p:cNvSpPr/>
            <p:nvPr/>
          </p:nvSpPr>
          <p:spPr>
            <a:xfrm>
              <a:off x="4076801" y="2726072"/>
              <a:ext cx="228600" cy="22860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cxnSp>
          <p:nvCxnSpPr>
            <p:cNvPr id="13" name="Straight Arrow Connector 12"/>
            <p:cNvCxnSpPr>
              <a:stCxn id="17" idx="7"/>
            </p:cNvCxnSpPr>
            <p:nvPr/>
          </p:nvCxnSpPr>
          <p:spPr>
            <a:xfrm flipV="1">
              <a:off x="5372360" y="3352800"/>
              <a:ext cx="329004" cy="5461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20" idx="3"/>
            </p:cNvCxnSpPr>
            <p:nvPr/>
          </p:nvCxnSpPr>
          <p:spPr>
            <a:xfrm flipH="1" flipV="1">
              <a:off x="3589446" y="3678445"/>
              <a:ext cx="1616295" cy="3074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Slide Number Placeholder 29">
            <a:extLst>
              <a:ext uri="{FF2B5EF4-FFF2-40B4-BE49-F238E27FC236}">
                <a16:creationId xmlns:a16="http://schemas.microsoft.com/office/drawing/2014/main" id="{F415C229-A87D-4838-BFFB-019954C919F5}"/>
              </a:ext>
            </a:extLst>
          </p:cNvPr>
          <p:cNvSpPr>
            <a:spLocks noGrp="1"/>
          </p:cNvSpPr>
          <p:nvPr>
            <p:ph type="sldNum" sz="quarter" idx="12"/>
          </p:nvPr>
        </p:nvSpPr>
        <p:spPr/>
        <p:txBody>
          <a:bodyPr/>
          <a:lstStyle/>
          <a:p>
            <a:pPr>
              <a:defRPr/>
            </a:pPr>
            <a:fld id="{13CC66DC-C496-4A87-A4D6-24BBFECA0FB1}" type="slidenum">
              <a:rPr lang="en-US" smtClean="0"/>
              <a:pPr>
                <a:defRPr/>
              </a:pPr>
              <a:t>42</a:t>
            </a:fld>
            <a:endParaRPr lang="en-US"/>
          </a:p>
        </p:txBody>
      </p:sp>
    </p:spTree>
    <p:extLst>
      <p:ext uri="{BB962C8B-B14F-4D97-AF65-F5344CB8AC3E}">
        <p14:creationId xmlns:p14="http://schemas.microsoft.com/office/powerpoint/2010/main" val="23104418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Box 2"/>
          <p:cNvSpPr txBox="1">
            <a:spLocks noChangeArrowheads="1"/>
          </p:cNvSpPr>
          <p:nvPr/>
        </p:nvSpPr>
        <p:spPr bwMode="auto">
          <a:xfrm>
            <a:off x="714103" y="1066800"/>
            <a:ext cx="10441577" cy="2677656"/>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 typeface="Wingdings" panose="05000000000000000000" pitchFamily="2" charset="2"/>
              <a:buChar char="ü"/>
            </a:pPr>
            <a:r>
              <a:rPr lang="en-US" sz="2400" dirty="0"/>
              <a:t>Finally, this advertisement (cluster-head exploration or declaration signals) process terminates automatically when all the nodes in the sensing field belong to a cluster. </a:t>
            </a:r>
          </a:p>
          <a:p>
            <a:pPr algn="just" eaLnBrk="1" hangingPunct="1">
              <a:spcBef>
                <a:spcPct val="0"/>
              </a:spcBef>
              <a:buFont typeface="Wingdings" panose="05000000000000000000" pitchFamily="2" charset="2"/>
              <a:buChar char="ü"/>
            </a:pPr>
            <a:endParaRPr lang="en-US" sz="2400" dirty="0"/>
          </a:p>
          <a:p>
            <a:pPr algn="just">
              <a:spcBef>
                <a:spcPct val="0"/>
              </a:spcBef>
              <a:buFont typeface="Wingdings" panose="05000000000000000000" pitchFamily="2" charset="2"/>
              <a:buChar char="ü"/>
            </a:pPr>
            <a:r>
              <a:rPr lang="en-US" sz="2400" dirty="0"/>
              <a:t>At this point, the algorithm might have produced </a:t>
            </a:r>
            <a:r>
              <a:rPr lang="en-US" sz="2400" dirty="0">
                <a:solidFill>
                  <a:srgbClr val="FF0000"/>
                </a:solidFill>
              </a:rPr>
              <a:t>some clusters </a:t>
            </a:r>
            <a:r>
              <a:rPr lang="en-US" sz="2400" dirty="0"/>
              <a:t>have members less that </a:t>
            </a:r>
            <a:r>
              <a:rPr lang="en-US" sz="2400" i="1" dirty="0" err="1"/>
              <a:t>m</a:t>
            </a:r>
            <a:r>
              <a:rPr lang="en-US" sz="2400" i="1" baseline="-25000" dirty="0" err="1"/>
              <a:t>n</a:t>
            </a:r>
            <a:r>
              <a:rPr lang="en-US" sz="2400" dirty="0"/>
              <a:t>. Those clusters are dissolved, and all its members, including its cluster head, initiate a </a:t>
            </a:r>
            <a:r>
              <a:rPr lang="en-US" sz="2400" dirty="0">
                <a:solidFill>
                  <a:srgbClr val="FF0000"/>
                </a:solidFill>
              </a:rPr>
              <a:t>membership-search</a:t>
            </a:r>
            <a:r>
              <a:rPr lang="en-US" sz="2400" dirty="0"/>
              <a:t> signal.</a:t>
            </a:r>
          </a:p>
        </p:txBody>
      </p:sp>
      <p:sp>
        <p:nvSpPr>
          <p:cNvPr id="5" name="Slide Number Placeholder 4">
            <a:extLst>
              <a:ext uri="{FF2B5EF4-FFF2-40B4-BE49-F238E27FC236}">
                <a16:creationId xmlns:a16="http://schemas.microsoft.com/office/drawing/2014/main" id="{BEA41E80-FEF7-479B-B766-FAFBD309DE89}"/>
              </a:ext>
            </a:extLst>
          </p:cNvPr>
          <p:cNvSpPr>
            <a:spLocks noGrp="1"/>
          </p:cNvSpPr>
          <p:nvPr>
            <p:ph type="sldNum" sz="quarter" idx="12"/>
          </p:nvPr>
        </p:nvSpPr>
        <p:spPr/>
        <p:txBody>
          <a:bodyPr/>
          <a:lstStyle/>
          <a:p>
            <a:pPr>
              <a:defRPr/>
            </a:pPr>
            <a:fld id="{13CC66DC-C496-4A87-A4D6-24BBFECA0FB1}" type="slidenum">
              <a:rPr lang="en-US" smtClean="0"/>
              <a:pPr>
                <a:defRPr/>
              </a:pPr>
              <a:t>43</a:t>
            </a:fld>
            <a:endParaRPr lang="en-US"/>
          </a:p>
        </p:txBody>
      </p:sp>
    </p:spTree>
    <p:extLst>
      <p:ext uri="{BB962C8B-B14F-4D97-AF65-F5344CB8AC3E}">
        <p14:creationId xmlns:p14="http://schemas.microsoft.com/office/powerpoint/2010/main" val="35109139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43204" y="354707"/>
            <a:ext cx="10996126" cy="6001643"/>
          </a:xfrm>
          <a:prstGeom prst="rect">
            <a:avLst/>
          </a:prstGeom>
          <a:solidFill>
            <a:srgbClr val="CCECFF"/>
          </a:solidFill>
        </p:spPr>
        <p:txBody>
          <a:bodyPr wrap="square">
            <a:spAutoFit/>
          </a:bodyPr>
          <a:lstStyle/>
          <a:p>
            <a:pPr algn="just" eaLnBrk="1" hangingPunct="1">
              <a:defRPr/>
            </a:pPr>
            <a:r>
              <a:rPr lang="en-US" sz="2400" b="1" dirty="0">
                <a:solidFill>
                  <a:schemeClr val="accent2"/>
                </a:solidFill>
                <a:highlight>
                  <a:srgbClr val="FFFF00"/>
                </a:highlight>
                <a:latin typeface="Times New Roman" panose="02020603050405020304" pitchFamily="18" charset="0"/>
                <a:cs typeface="Times New Roman" panose="02020603050405020304" pitchFamily="18" charset="0"/>
              </a:rPr>
              <a:t>Begin DEEP Clustering Algorithm </a:t>
            </a:r>
          </a:p>
          <a:p>
            <a:pPr marL="457200" indent="-457200" algn="just">
              <a:buFont typeface="+mj-lt"/>
              <a:buAutoNum type="arabicPeriod"/>
              <a:defRPr/>
            </a:pPr>
            <a:r>
              <a:rPr lang="en-US" sz="2400" dirty="0">
                <a:latin typeface="Times New Roman" panose="02020603050405020304" pitchFamily="18" charset="0"/>
                <a:cs typeface="Times New Roman" panose="02020603050405020304" pitchFamily="18" charset="0"/>
              </a:rPr>
              <a:t>Initial cluster head finds cluster members by sending ‘</a:t>
            </a:r>
            <a:r>
              <a:rPr lang="en-US" sz="2400" dirty="0">
                <a:solidFill>
                  <a:srgbClr val="FF0000"/>
                </a:solidFill>
                <a:latin typeface="Times New Roman" panose="02020603050405020304" pitchFamily="18" charset="0"/>
                <a:cs typeface="Times New Roman" panose="02020603050405020304" pitchFamily="18" charset="0"/>
              </a:rPr>
              <a:t>cluster-head declaration</a:t>
            </a:r>
            <a:r>
              <a:rPr lang="en-US" sz="2400" dirty="0">
                <a:latin typeface="Times New Roman" panose="02020603050405020304" pitchFamily="18" charset="0"/>
                <a:cs typeface="Times New Roman" panose="02020603050405020304" pitchFamily="18" charset="0"/>
              </a:rPr>
              <a:t>’.</a:t>
            </a:r>
          </a:p>
          <a:p>
            <a:pPr marL="457200" indent="-457200" algn="just">
              <a:buFont typeface="+mj-lt"/>
              <a:buAutoNum type="arabicPeriod"/>
              <a:defRPr/>
            </a:pPr>
            <a:r>
              <a:rPr lang="en-US" sz="2400" dirty="0">
                <a:latin typeface="Times New Roman" panose="02020603050405020304" pitchFamily="18" charset="0"/>
                <a:cs typeface="Times New Roman" panose="02020603050405020304" pitchFamily="18" charset="0"/>
              </a:rPr>
              <a:t>Initial cluster head finds new cluster-head candidates by sending ‘</a:t>
            </a:r>
            <a:r>
              <a:rPr lang="en-US" sz="2400" dirty="0">
                <a:solidFill>
                  <a:srgbClr val="FF0000"/>
                </a:solidFill>
                <a:latin typeface="Times New Roman" panose="02020603050405020304" pitchFamily="18" charset="0"/>
                <a:cs typeface="Times New Roman" panose="02020603050405020304" pitchFamily="18" charset="0"/>
              </a:rPr>
              <a:t>cluster-head exploration signal</a:t>
            </a:r>
            <a:r>
              <a:rPr lang="en-US" sz="2400" dirty="0">
                <a:latin typeface="Times New Roman" panose="02020603050405020304" pitchFamily="18" charset="0"/>
                <a:cs typeface="Times New Roman" panose="02020603050405020304" pitchFamily="18" charset="0"/>
              </a:rPr>
              <a:t>’.</a:t>
            </a:r>
          </a:p>
          <a:p>
            <a:pPr marL="457200" indent="-457200" algn="just">
              <a:buFont typeface="+mj-lt"/>
              <a:buAutoNum type="arabicPeriod"/>
              <a:defRPr/>
            </a:pPr>
            <a:r>
              <a:rPr lang="en-US" sz="2400" dirty="0">
                <a:latin typeface="Times New Roman" panose="02020603050405020304" pitchFamily="18" charset="0"/>
                <a:cs typeface="Times New Roman" panose="02020603050405020304" pitchFamily="18" charset="0"/>
              </a:rPr>
              <a:t>Repeat: Cluster-head candidates that are placed on the (</a:t>
            </a:r>
            <a:r>
              <a:rPr lang="en-US" sz="2400" i="1" dirty="0">
                <a:latin typeface="Times New Roman" panose="02020603050405020304" pitchFamily="18" charset="0"/>
                <a:cs typeface="Times New Roman" panose="02020603050405020304" pitchFamily="18" charset="0"/>
              </a:rPr>
              <a:t>d</a:t>
            </a:r>
            <a:r>
              <a:rPr lang="en-US" sz="2400" i="1" baseline="-25000" dirty="0">
                <a:latin typeface="Times New Roman" panose="02020603050405020304" pitchFamily="18" charset="0"/>
                <a:cs typeface="Times New Roman" panose="02020603050405020304" pitchFamily="18" charset="0"/>
              </a:rPr>
              <a:t>r</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d</a:t>
            </a:r>
            <a:r>
              <a:rPr lang="en-US" sz="2400" i="1" baseline="-25000" dirty="0">
                <a:latin typeface="Times New Roman" panose="02020603050405020304" pitchFamily="18" charset="0"/>
                <a:cs typeface="Times New Roman" panose="02020603050405020304" pitchFamily="18" charset="0"/>
              </a:rPr>
              <a:t>r</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ring find cluster members. </a:t>
            </a:r>
          </a:p>
          <a:p>
            <a:pPr marL="457200" indent="-457200" algn="just">
              <a:buFont typeface="+mj-lt"/>
              <a:buAutoNum type="arabicPeriod"/>
              <a:defRPr/>
            </a:pPr>
            <a:r>
              <a:rPr lang="en-US" sz="2400" dirty="0">
                <a:latin typeface="Times New Roman" panose="02020603050405020304" pitchFamily="18" charset="0"/>
                <a:cs typeface="Times New Roman" panose="02020603050405020304" pitchFamily="18" charset="0"/>
              </a:rPr>
              <a:t>Nodes that receive more than one cluster-head declaration choose the closest cluster head, based on the received signal energy.</a:t>
            </a:r>
          </a:p>
          <a:p>
            <a:pPr marL="457200" indent="-457200" algn="just">
              <a:buFont typeface="+mj-lt"/>
              <a:buAutoNum type="arabicPeriod"/>
              <a:defRPr/>
            </a:pPr>
            <a:r>
              <a:rPr lang="en-US" sz="2400" dirty="0">
                <a:latin typeface="Times New Roman" panose="02020603050405020304" pitchFamily="18" charset="0"/>
                <a:cs typeface="Times New Roman" panose="02020603050405020304" pitchFamily="18" charset="0"/>
              </a:rPr>
              <a:t>Cluster-head candidates that receive a cluster-head declaration signal negotiate with the sender, and one of them gets eliminated.</a:t>
            </a:r>
          </a:p>
          <a:p>
            <a:pPr marL="457200" indent="-457200" algn="just">
              <a:buFont typeface="+mj-lt"/>
              <a:buAutoNum type="arabicPeriod"/>
              <a:defRPr/>
            </a:pPr>
            <a:r>
              <a:rPr lang="en-US" sz="2400" dirty="0">
                <a:latin typeface="Times New Roman" panose="02020603050405020304" pitchFamily="18" charset="0"/>
                <a:cs typeface="Times New Roman" panose="02020603050405020304" pitchFamily="18" charset="0"/>
              </a:rPr>
              <a:t>Confirmed cluster heads send "cluster-head exploration" signals to find new cluster-head candidates(Go to step 4).</a:t>
            </a:r>
          </a:p>
          <a:p>
            <a:pPr marL="457200" indent="-457200" algn="just">
              <a:buFont typeface="+mj-lt"/>
              <a:buAutoNum type="arabicPeriod"/>
              <a:defRPr/>
            </a:pPr>
            <a:r>
              <a:rPr lang="en-US" sz="2400" dirty="0">
                <a:latin typeface="Times New Roman" panose="02020603050405020304" pitchFamily="18" charset="0"/>
                <a:cs typeface="Times New Roman" panose="02020603050405020304" pitchFamily="18" charset="0"/>
              </a:rPr>
              <a:t>Finalize: If the number of members in a cluster is less than </a:t>
            </a:r>
            <a:r>
              <a:rPr lang="en-US" sz="2400" i="1" dirty="0" err="1">
                <a:latin typeface="Times New Roman" panose="02020603050405020304" pitchFamily="18" charset="0"/>
                <a:cs typeface="Times New Roman" panose="02020603050405020304" pitchFamily="18" charset="0"/>
              </a:rPr>
              <a:t>m</a:t>
            </a:r>
            <a:r>
              <a:rPr lang="en-US" sz="2400" i="1" baseline="-25000" dirty="0" err="1">
                <a:latin typeface="Times New Roman" panose="02020603050405020304" pitchFamily="18" charset="0"/>
                <a:cs typeface="Times New Roman" panose="02020603050405020304" pitchFamily="18" charset="0"/>
              </a:rPr>
              <a:t>n</a:t>
            </a:r>
            <a:r>
              <a:rPr lang="en-US" sz="2400" dirty="0">
                <a:latin typeface="Times New Roman" panose="02020603050405020304" pitchFamily="18" charset="0"/>
                <a:cs typeface="Times New Roman" panose="02020603050405020304" pitchFamily="18" charset="0"/>
              </a:rPr>
              <a:t>, all the members find new clusters by sending the </a:t>
            </a:r>
            <a:r>
              <a:rPr lang="en-US" sz="2400" dirty="0">
                <a:solidFill>
                  <a:srgbClr val="FF0000"/>
                </a:solidFill>
                <a:latin typeface="Times New Roman" panose="02020603050405020304" pitchFamily="18" charset="0"/>
                <a:cs typeface="Times New Roman" panose="02020603050405020304" pitchFamily="18" charset="0"/>
              </a:rPr>
              <a:t>membership-search signal</a:t>
            </a:r>
            <a:r>
              <a:rPr lang="en-US" sz="2400" dirty="0">
                <a:latin typeface="Times New Roman" panose="02020603050405020304" pitchFamily="18" charset="0"/>
                <a:cs typeface="Times New Roman" panose="02020603050405020304" pitchFamily="18" charset="0"/>
              </a:rPr>
              <a:t>.</a:t>
            </a:r>
          </a:p>
          <a:p>
            <a:pPr marL="457200" indent="-457200" algn="just">
              <a:buFont typeface="+mj-lt"/>
              <a:buAutoNum type="arabicPeriod"/>
              <a:defRPr/>
            </a:pPr>
            <a:r>
              <a:rPr lang="en-US" sz="2400" dirty="0">
                <a:latin typeface="Times New Roman" panose="02020603050405020304" pitchFamily="18" charset="0"/>
                <a:cs typeface="Times New Roman" panose="02020603050405020304" pitchFamily="18" charset="0"/>
              </a:rPr>
              <a:t>At the end, a node that has not received any control signal sends the </a:t>
            </a:r>
            <a:r>
              <a:rPr lang="en-US" sz="2400" dirty="0">
                <a:solidFill>
                  <a:srgbClr val="FF0000"/>
                </a:solidFill>
                <a:latin typeface="Times New Roman" panose="02020603050405020304" pitchFamily="18" charset="0"/>
                <a:cs typeface="Times New Roman" panose="02020603050405020304" pitchFamily="18" charset="0"/>
              </a:rPr>
              <a:t>membership-search signal</a:t>
            </a:r>
            <a:r>
              <a:rPr lang="en-US" sz="2400" dirty="0">
                <a:latin typeface="Times New Roman" panose="02020603050405020304" pitchFamily="18" charset="0"/>
                <a:cs typeface="Times New Roman" panose="02020603050405020304" pitchFamily="18" charset="0"/>
              </a:rPr>
              <a:t>.</a:t>
            </a:r>
          </a:p>
        </p:txBody>
      </p:sp>
      <p:sp>
        <p:nvSpPr>
          <p:cNvPr id="5" name="Slide Number Placeholder 4">
            <a:extLst>
              <a:ext uri="{FF2B5EF4-FFF2-40B4-BE49-F238E27FC236}">
                <a16:creationId xmlns:a16="http://schemas.microsoft.com/office/drawing/2014/main" id="{5A227A8A-4074-4537-B091-030373297FD7}"/>
              </a:ext>
            </a:extLst>
          </p:cNvPr>
          <p:cNvSpPr>
            <a:spLocks noGrp="1"/>
          </p:cNvSpPr>
          <p:nvPr>
            <p:ph type="sldNum" sz="quarter" idx="12"/>
          </p:nvPr>
        </p:nvSpPr>
        <p:spPr/>
        <p:txBody>
          <a:bodyPr/>
          <a:lstStyle/>
          <a:p>
            <a:pPr>
              <a:defRPr/>
            </a:pPr>
            <a:fld id="{13CC66DC-C496-4A87-A4D6-24BBFECA0FB1}" type="slidenum">
              <a:rPr lang="en-US" smtClean="0"/>
              <a:pPr>
                <a:defRPr/>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4"/>
          <p:cNvSpPr txBox="1">
            <a:spLocks noChangeArrowheads="1"/>
          </p:cNvSpPr>
          <p:nvPr/>
        </p:nvSpPr>
        <p:spPr bwMode="auto">
          <a:xfrm>
            <a:off x="354562" y="337489"/>
            <a:ext cx="11299371" cy="2215991"/>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b="1" dirty="0">
                <a:solidFill>
                  <a:schemeClr val="accent2"/>
                </a:solidFill>
                <a:highlight>
                  <a:srgbClr val="FFFF00"/>
                </a:highlight>
              </a:rPr>
              <a:t>a. </a:t>
            </a:r>
            <a:r>
              <a:rPr lang="en-US" b="1" dirty="0" err="1">
                <a:solidFill>
                  <a:schemeClr val="accent2"/>
                </a:solidFill>
                <a:highlight>
                  <a:srgbClr val="FFFF00"/>
                </a:highlight>
              </a:rPr>
              <a:t>Intracluster</a:t>
            </a:r>
            <a:r>
              <a:rPr lang="en-US" b="1" dirty="0">
                <a:solidFill>
                  <a:schemeClr val="accent2"/>
                </a:solidFill>
                <a:highlight>
                  <a:srgbClr val="FFFF00"/>
                </a:highlight>
              </a:rPr>
              <a:t> Routing Protocols</a:t>
            </a:r>
          </a:p>
          <a:p>
            <a:pPr algn="just" eaLnBrk="1" hangingPunct="1">
              <a:spcBef>
                <a:spcPct val="0"/>
              </a:spcBef>
              <a:buFontTx/>
              <a:buNone/>
            </a:pPr>
            <a:r>
              <a:rPr lang="en-US" sz="2400" dirty="0"/>
              <a:t>A routing algorithm within a cluster can be either </a:t>
            </a:r>
            <a:r>
              <a:rPr lang="en-US" sz="2400" dirty="0">
                <a:solidFill>
                  <a:srgbClr val="FF0000"/>
                </a:solidFill>
              </a:rPr>
              <a:t>direct</a:t>
            </a:r>
            <a:r>
              <a:rPr lang="en-US" sz="2400" dirty="0"/>
              <a:t> or </a:t>
            </a:r>
            <a:r>
              <a:rPr lang="en-US" sz="2400" dirty="0">
                <a:solidFill>
                  <a:srgbClr val="FF0000"/>
                </a:solidFill>
              </a:rPr>
              <a:t>multi-hop</a:t>
            </a:r>
            <a:r>
              <a:rPr lang="en-US" sz="2400" dirty="0"/>
              <a:t>. </a:t>
            </a:r>
          </a:p>
          <a:p>
            <a:pPr algn="just" eaLnBrk="1" hangingPunct="1">
              <a:spcBef>
                <a:spcPct val="0"/>
              </a:spcBef>
              <a:buFontTx/>
              <a:buNone/>
            </a:pPr>
            <a:endParaRPr lang="en-US" sz="1000" dirty="0"/>
          </a:p>
          <a:p>
            <a:pPr marL="342900" indent="-342900" algn="just">
              <a:spcBef>
                <a:spcPct val="0"/>
              </a:spcBef>
              <a:buFont typeface="Wingdings" panose="05000000000000000000" pitchFamily="2" charset="2"/>
              <a:buChar char="ü"/>
            </a:pPr>
            <a:r>
              <a:rPr lang="en-US" sz="2400" dirty="0"/>
              <a:t>In a </a:t>
            </a:r>
            <a:r>
              <a:rPr lang="en-US" sz="2400" dirty="0">
                <a:solidFill>
                  <a:srgbClr val="FF0000"/>
                </a:solidFill>
              </a:rPr>
              <a:t>direct routing algorithm</a:t>
            </a:r>
            <a:r>
              <a:rPr lang="en-US" sz="2400" dirty="0"/>
              <a:t>, the cluster head as the destination for all cluster nodes is located in the center of the cluster, so all nodes can communicate with the cluster head directly, as shown in Figure below. </a:t>
            </a:r>
          </a:p>
        </p:txBody>
      </p:sp>
      <p:sp>
        <p:nvSpPr>
          <p:cNvPr id="2" name="Rectangle 1"/>
          <p:cNvSpPr/>
          <p:nvPr/>
        </p:nvSpPr>
        <p:spPr>
          <a:xfrm>
            <a:off x="5077339" y="5529018"/>
            <a:ext cx="1534074" cy="369332"/>
          </a:xfrm>
          <a:prstGeom prst="rect">
            <a:avLst/>
          </a:prstGeom>
          <a:solidFill>
            <a:srgbClr val="FFCCFF"/>
          </a:solidFill>
        </p:spPr>
        <p:txBody>
          <a:bodyPr wrap="none">
            <a:spAutoFit/>
          </a:bodyPr>
          <a:lstStyle/>
          <a:p>
            <a:r>
              <a:rPr lang="en-US" dirty="0"/>
              <a:t>Direct routing </a:t>
            </a:r>
          </a:p>
        </p:txBody>
      </p:sp>
      <p:grpSp>
        <p:nvGrpSpPr>
          <p:cNvPr id="30" name="Group 29">
            <a:extLst>
              <a:ext uri="{FF2B5EF4-FFF2-40B4-BE49-F238E27FC236}">
                <a16:creationId xmlns:a16="http://schemas.microsoft.com/office/drawing/2014/main" id="{44B0DE0A-BE97-42C9-81BF-17EA7F8D2AD6}"/>
              </a:ext>
            </a:extLst>
          </p:cNvPr>
          <p:cNvGrpSpPr/>
          <p:nvPr/>
        </p:nvGrpSpPr>
        <p:grpSpPr>
          <a:xfrm>
            <a:off x="3200400" y="2652526"/>
            <a:ext cx="5013690" cy="3824475"/>
            <a:chOff x="1777484" y="2569934"/>
            <a:chExt cx="5013690" cy="3824475"/>
          </a:xfrm>
        </p:grpSpPr>
        <p:sp>
          <p:nvSpPr>
            <p:cNvPr id="3" name="Oval 2">
              <a:extLst>
                <a:ext uri="{FF2B5EF4-FFF2-40B4-BE49-F238E27FC236}">
                  <a16:creationId xmlns:a16="http://schemas.microsoft.com/office/drawing/2014/main" id="{090951D2-D221-4AED-BFA9-F799B52647C7}"/>
                </a:ext>
              </a:extLst>
            </p:cNvPr>
            <p:cNvSpPr/>
            <p:nvPr/>
          </p:nvSpPr>
          <p:spPr>
            <a:xfrm>
              <a:off x="2942255" y="3851478"/>
              <a:ext cx="762000" cy="5334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7" name="Oval 6">
              <a:extLst>
                <a:ext uri="{FF2B5EF4-FFF2-40B4-BE49-F238E27FC236}">
                  <a16:creationId xmlns:a16="http://schemas.microsoft.com/office/drawing/2014/main" id="{2F8D4893-0CDA-4104-9101-FAB51DD71C62}"/>
                </a:ext>
              </a:extLst>
            </p:cNvPr>
            <p:cNvSpPr/>
            <p:nvPr/>
          </p:nvSpPr>
          <p:spPr>
            <a:xfrm flipH="1">
              <a:off x="2819400" y="3740588"/>
              <a:ext cx="990600" cy="766465"/>
            </a:xfrm>
            <a:prstGeom prst="ellipse">
              <a:avLst/>
            </a:prstGeom>
            <a:solidFill>
              <a:srgbClr val="FFCCFF">
                <a:alpha val="3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F8B05E84-7D24-4A4C-9899-618768E7C9A1}"/>
                </a:ext>
              </a:extLst>
            </p:cNvPr>
            <p:cNvSpPr/>
            <p:nvPr/>
          </p:nvSpPr>
          <p:spPr>
            <a:xfrm>
              <a:off x="3810000" y="2800767"/>
              <a:ext cx="580055" cy="461665"/>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13</a:t>
              </a:r>
            </a:p>
          </p:txBody>
        </p:sp>
        <p:sp>
          <p:nvSpPr>
            <p:cNvPr id="9" name="Oval 8">
              <a:extLst>
                <a:ext uri="{FF2B5EF4-FFF2-40B4-BE49-F238E27FC236}">
                  <a16:creationId xmlns:a16="http://schemas.microsoft.com/office/drawing/2014/main" id="{9163FE1E-800A-490C-AAB9-91B3BBCE6662}"/>
                </a:ext>
              </a:extLst>
            </p:cNvPr>
            <p:cNvSpPr/>
            <p:nvPr/>
          </p:nvSpPr>
          <p:spPr>
            <a:xfrm>
              <a:off x="1777484" y="2569934"/>
              <a:ext cx="580055" cy="461665"/>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15</a:t>
              </a:r>
            </a:p>
          </p:txBody>
        </p:sp>
        <p:sp>
          <p:nvSpPr>
            <p:cNvPr id="10" name="Oval 9">
              <a:extLst>
                <a:ext uri="{FF2B5EF4-FFF2-40B4-BE49-F238E27FC236}">
                  <a16:creationId xmlns:a16="http://schemas.microsoft.com/office/drawing/2014/main" id="{C56F60B0-333C-4B71-AB21-83193467EDC9}"/>
                </a:ext>
              </a:extLst>
            </p:cNvPr>
            <p:cNvSpPr/>
            <p:nvPr/>
          </p:nvSpPr>
          <p:spPr>
            <a:xfrm>
              <a:off x="1925219" y="4918278"/>
              <a:ext cx="580055" cy="461665"/>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14</a:t>
              </a:r>
            </a:p>
          </p:txBody>
        </p:sp>
        <p:cxnSp>
          <p:nvCxnSpPr>
            <p:cNvPr id="6" name="Straight Arrow Connector 5">
              <a:extLst>
                <a:ext uri="{FF2B5EF4-FFF2-40B4-BE49-F238E27FC236}">
                  <a16:creationId xmlns:a16="http://schemas.microsoft.com/office/drawing/2014/main" id="{1C003A1E-EEAC-4656-BF75-7663F96E0A29}"/>
                </a:ext>
              </a:extLst>
            </p:cNvPr>
            <p:cNvCxnSpPr>
              <a:stCxn id="9" idx="5"/>
            </p:cNvCxnSpPr>
            <p:nvPr/>
          </p:nvCxnSpPr>
          <p:spPr>
            <a:xfrm>
              <a:off x="2272592" y="2963990"/>
              <a:ext cx="745863" cy="776598"/>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2ADE4A1-DA25-4D9B-A2F7-5ECC4ACC3A6B}"/>
                </a:ext>
              </a:extLst>
            </p:cNvPr>
            <p:cNvCxnSpPr>
              <a:stCxn id="4" idx="4"/>
              <a:endCxn id="7" idx="1"/>
            </p:cNvCxnSpPr>
            <p:nvPr/>
          </p:nvCxnSpPr>
          <p:spPr>
            <a:xfrm flipH="1">
              <a:off x="3664930" y="3262432"/>
              <a:ext cx="435098" cy="590402"/>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794664A-BE3F-4CF3-A880-68A1A6EC67ED}"/>
                </a:ext>
              </a:extLst>
            </p:cNvPr>
            <p:cNvCxnSpPr>
              <a:stCxn id="10" idx="7"/>
              <a:endCxn id="7" idx="5"/>
            </p:cNvCxnSpPr>
            <p:nvPr/>
          </p:nvCxnSpPr>
          <p:spPr>
            <a:xfrm flipV="1">
              <a:off x="2420327" y="4394807"/>
              <a:ext cx="544143" cy="59108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74FEC443-F751-4EEC-8D5F-599B9E750C9B}"/>
                </a:ext>
              </a:extLst>
            </p:cNvPr>
            <p:cNvSpPr/>
            <p:nvPr/>
          </p:nvSpPr>
          <p:spPr>
            <a:xfrm>
              <a:off x="2978798" y="2704013"/>
              <a:ext cx="580055" cy="461665"/>
            </a:xfrm>
            <a:prstGeom prst="ellipse">
              <a:avLst/>
            </a:prstGeom>
            <a:solidFill>
              <a:srgbClr val="FFFF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3</a:t>
              </a:r>
            </a:p>
          </p:txBody>
        </p:sp>
        <p:sp>
          <p:nvSpPr>
            <p:cNvPr id="18" name="Oval 17">
              <a:extLst>
                <a:ext uri="{FF2B5EF4-FFF2-40B4-BE49-F238E27FC236}">
                  <a16:creationId xmlns:a16="http://schemas.microsoft.com/office/drawing/2014/main" id="{0E15A2B2-52E6-4233-B741-B52D84FF7F88}"/>
                </a:ext>
              </a:extLst>
            </p:cNvPr>
            <p:cNvSpPr/>
            <p:nvPr/>
          </p:nvSpPr>
          <p:spPr>
            <a:xfrm>
              <a:off x="4397831" y="3826868"/>
              <a:ext cx="580055" cy="461665"/>
            </a:xfrm>
            <a:prstGeom prst="ellipse">
              <a:avLst/>
            </a:prstGeom>
            <a:solidFill>
              <a:srgbClr val="FFFF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2</a:t>
              </a:r>
            </a:p>
          </p:txBody>
        </p:sp>
        <p:sp>
          <p:nvSpPr>
            <p:cNvPr id="19" name="Oval 18">
              <a:extLst>
                <a:ext uri="{FF2B5EF4-FFF2-40B4-BE49-F238E27FC236}">
                  <a16:creationId xmlns:a16="http://schemas.microsoft.com/office/drawing/2014/main" id="{347D0A59-EBE3-4244-B283-9D1FBB32F7D7}"/>
                </a:ext>
              </a:extLst>
            </p:cNvPr>
            <p:cNvSpPr/>
            <p:nvPr/>
          </p:nvSpPr>
          <p:spPr>
            <a:xfrm>
              <a:off x="1816580" y="3672979"/>
              <a:ext cx="580055" cy="461665"/>
            </a:xfrm>
            <a:prstGeom prst="ellipse">
              <a:avLst/>
            </a:prstGeom>
            <a:solidFill>
              <a:srgbClr val="FFFF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a:t>
              </a:r>
            </a:p>
          </p:txBody>
        </p:sp>
        <p:sp>
          <p:nvSpPr>
            <p:cNvPr id="20" name="Oval 19">
              <a:extLst>
                <a:ext uri="{FF2B5EF4-FFF2-40B4-BE49-F238E27FC236}">
                  <a16:creationId xmlns:a16="http://schemas.microsoft.com/office/drawing/2014/main" id="{23A824E8-E169-45D4-A0B0-17223B378010}"/>
                </a:ext>
              </a:extLst>
            </p:cNvPr>
            <p:cNvSpPr/>
            <p:nvPr/>
          </p:nvSpPr>
          <p:spPr>
            <a:xfrm>
              <a:off x="3743075" y="4851130"/>
              <a:ext cx="580055" cy="461665"/>
            </a:xfrm>
            <a:prstGeom prst="ellipse">
              <a:avLst/>
            </a:prstGeom>
            <a:solidFill>
              <a:srgbClr val="FFFF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3</a:t>
              </a:r>
            </a:p>
          </p:txBody>
        </p:sp>
        <p:cxnSp>
          <p:nvCxnSpPr>
            <p:cNvPr id="15" name="Straight Arrow Connector 14">
              <a:extLst>
                <a:ext uri="{FF2B5EF4-FFF2-40B4-BE49-F238E27FC236}">
                  <a16:creationId xmlns:a16="http://schemas.microsoft.com/office/drawing/2014/main" id="{068C3456-49A0-415A-B902-664414083E22}"/>
                </a:ext>
              </a:extLst>
            </p:cNvPr>
            <p:cNvCxnSpPr>
              <a:stCxn id="18" idx="2"/>
              <a:endCxn id="7" idx="2"/>
            </p:cNvCxnSpPr>
            <p:nvPr/>
          </p:nvCxnSpPr>
          <p:spPr>
            <a:xfrm flipH="1">
              <a:off x="3810000" y="4057701"/>
              <a:ext cx="587831" cy="6612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5F255FF-6869-4D34-AED3-6C50DE7D8EDF}"/>
                </a:ext>
              </a:extLst>
            </p:cNvPr>
            <p:cNvCxnSpPr>
              <a:stCxn id="20" idx="1"/>
            </p:cNvCxnSpPr>
            <p:nvPr/>
          </p:nvCxnSpPr>
          <p:spPr>
            <a:xfrm flipH="1" flipV="1">
              <a:off x="3558853" y="4465575"/>
              <a:ext cx="269169" cy="453164"/>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D360EE4-384C-496B-9E82-BC4F82AB770C}"/>
                </a:ext>
              </a:extLst>
            </p:cNvPr>
            <p:cNvCxnSpPr>
              <a:stCxn id="17" idx="4"/>
              <a:endCxn id="7" idx="0"/>
            </p:cNvCxnSpPr>
            <p:nvPr/>
          </p:nvCxnSpPr>
          <p:spPr>
            <a:xfrm>
              <a:off x="3268826" y="3165678"/>
              <a:ext cx="45874" cy="57491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7B52F74E-FFF3-4936-A220-B24528554D05}"/>
                </a:ext>
              </a:extLst>
            </p:cNvPr>
            <p:cNvSpPr/>
            <p:nvPr/>
          </p:nvSpPr>
          <p:spPr>
            <a:xfrm>
              <a:off x="5819833" y="2848369"/>
              <a:ext cx="580055" cy="461665"/>
            </a:xfrm>
            <a:prstGeom prst="ellipse">
              <a:avLst/>
            </a:prstGeom>
            <a:solidFill>
              <a:srgbClr val="FFFF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5</a:t>
              </a:r>
            </a:p>
          </p:txBody>
        </p:sp>
        <p:sp>
          <p:nvSpPr>
            <p:cNvPr id="24" name="TextBox 23">
              <a:extLst>
                <a:ext uri="{FF2B5EF4-FFF2-40B4-BE49-F238E27FC236}">
                  <a16:creationId xmlns:a16="http://schemas.microsoft.com/office/drawing/2014/main" id="{C9BB8451-7864-4192-AD43-19AE30E83290}"/>
                </a:ext>
              </a:extLst>
            </p:cNvPr>
            <p:cNvSpPr txBox="1"/>
            <p:nvPr/>
          </p:nvSpPr>
          <p:spPr>
            <a:xfrm>
              <a:off x="5397762" y="3453133"/>
              <a:ext cx="1393412" cy="584775"/>
            </a:xfrm>
            <a:prstGeom prst="rect">
              <a:avLst/>
            </a:prstGeom>
            <a:noFill/>
          </p:spPr>
          <p:txBody>
            <a:bodyPr wrap="square" rtlCol="0">
              <a:spAutoFit/>
            </a:bodyPr>
            <a:lstStyle/>
            <a:p>
              <a:r>
                <a:rPr lang="en-US" sz="1600" dirty="0"/>
                <a:t>Too far from cluster head</a:t>
              </a:r>
            </a:p>
          </p:txBody>
        </p:sp>
        <p:sp>
          <p:nvSpPr>
            <p:cNvPr id="29" name="TextBox 28">
              <a:extLst>
                <a:ext uri="{FF2B5EF4-FFF2-40B4-BE49-F238E27FC236}">
                  <a16:creationId xmlns:a16="http://schemas.microsoft.com/office/drawing/2014/main" id="{540776D0-0A01-40E4-9A09-F50E640F5B90}"/>
                </a:ext>
              </a:extLst>
            </p:cNvPr>
            <p:cNvSpPr txBox="1"/>
            <p:nvPr/>
          </p:nvSpPr>
          <p:spPr>
            <a:xfrm>
              <a:off x="4167519" y="4433812"/>
              <a:ext cx="1393412" cy="584775"/>
            </a:xfrm>
            <a:prstGeom prst="rect">
              <a:avLst/>
            </a:prstGeom>
            <a:noFill/>
          </p:spPr>
          <p:txBody>
            <a:bodyPr wrap="square" rtlCol="0">
              <a:spAutoFit/>
            </a:bodyPr>
            <a:lstStyle/>
            <a:p>
              <a:r>
                <a:rPr lang="en-US" sz="1600" dirty="0"/>
                <a:t>Low-Energy Node</a:t>
              </a:r>
            </a:p>
          </p:txBody>
        </p:sp>
        <p:cxnSp>
          <p:nvCxnSpPr>
            <p:cNvPr id="26" name="Straight Arrow Connector 25">
              <a:extLst>
                <a:ext uri="{FF2B5EF4-FFF2-40B4-BE49-F238E27FC236}">
                  <a16:creationId xmlns:a16="http://schemas.microsoft.com/office/drawing/2014/main" id="{1CDA637E-1549-45A2-A18C-544F79F4051D}"/>
                </a:ext>
              </a:extLst>
            </p:cNvPr>
            <p:cNvCxnSpPr>
              <a:cxnSpLocks/>
              <a:stCxn id="19" idx="6"/>
            </p:cNvCxnSpPr>
            <p:nvPr/>
          </p:nvCxnSpPr>
          <p:spPr>
            <a:xfrm>
              <a:off x="2396635" y="3903812"/>
              <a:ext cx="418281" cy="76192"/>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BC5E5158-10EE-4AE7-ABCB-114DFF2BE4D4}"/>
                </a:ext>
              </a:extLst>
            </p:cNvPr>
            <p:cNvSpPr/>
            <p:nvPr/>
          </p:nvSpPr>
          <p:spPr>
            <a:xfrm>
              <a:off x="2269812" y="5932744"/>
              <a:ext cx="580055" cy="461665"/>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17</a:t>
              </a:r>
            </a:p>
          </p:txBody>
        </p:sp>
      </p:grpSp>
      <p:sp>
        <p:nvSpPr>
          <p:cNvPr id="12" name="Slide Number Placeholder 11">
            <a:extLst>
              <a:ext uri="{FF2B5EF4-FFF2-40B4-BE49-F238E27FC236}">
                <a16:creationId xmlns:a16="http://schemas.microsoft.com/office/drawing/2014/main" id="{3F62450E-0BF9-42CA-8B58-28F455C55D1C}"/>
              </a:ext>
            </a:extLst>
          </p:cNvPr>
          <p:cNvSpPr>
            <a:spLocks noGrp="1"/>
          </p:cNvSpPr>
          <p:nvPr>
            <p:ph type="sldNum" sz="quarter" idx="12"/>
          </p:nvPr>
        </p:nvSpPr>
        <p:spPr/>
        <p:txBody>
          <a:bodyPr/>
          <a:lstStyle/>
          <a:p>
            <a:pPr>
              <a:defRPr/>
            </a:pPr>
            <a:fld id="{13CC66DC-C496-4A87-A4D6-24BBFECA0FB1}" type="slidenum">
              <a:rPr lang="en-US" smtClean="0"/>
              <a:pPr>
                <a:defRPr/>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09127" y="457200"/>
            <a:ext cx="10832840" cy="1938992"/>
          </a:xfrm>
          <a:prstGeom prst="rect">
            <a:avLst/>
          </a:prstGeom>
          <a:solidFill>
            <a:srgbClr val="CCFFFF"/>
          </a:solidFill>
        </p:spPr>
        <p:txBody>
          <a:bodyPr wrap="square">
            <a:spAutoFit/>
          </a:bodyPr>
          <a:lstStyle/>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 number associated with each node indicates a normalized value of the remaining energy in that node.</a:t>
            </a:r>
          </a:p>
          <a:p>
            <a:pPr algn="just" eaLnBrk="1" hangingPunct="1"/>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Note that in this figure, two nodes cannot reach the destination, as they are located far from it. </a:t>
            </a:r>
          </a:p>
        </p:txBody>
      </p:sp>
      <p:grpSp>
        <p:nvGrpSpPr>
          <p:cNvPr id="6" name="Group 5">
            <a:extLst>
              <a:ext uri="{FF2B5EF4-FFF2-40B4-BE49-F238E27FC236}">
                <a16:creationId xmlns:a16="http://schemas.microsoft.com/office/drawing/2014/main" id="{67EDDDE0-CEF7-47C8-A610-F029D4022305}"/>
              </a:ext>
            </a:extLst>
          </p:cNvPr>
          <p:cNvGrpSpPr/>
          <p:nvPr/>
        </p:nvGrpSpPr>
        <p:grpSpPr>
          <a:xfrm>
            <a:off x="3200400" y="2652526"/>
            <a:ext cx="5013690" cy="3824475"/>
            <a:chOff x="1777484" y="2569934"/>
            <a:chExt cx="5013690" cy="3824475"/>
          </a:xfrm>
        </p:grpSpPr>
        <p:sp>
          <p:nvSpPr>
            <p:cNvPr id="7" name="Oval 6">
              <a:extLst>
                <a:ext uri="{FF2B5EF4-FFF2-40B4-BE49-F238E27FC236}">
                  <a16:creationId xmlns:a16="http://schemas.microsoft.com/office/drawing/2014/main" id="{B84F7BEF-F914-435A-B119-6B468B279F7E}"/>
                </a:ext>
              </a:extLst>
            </p:cNvPr>
            <p:cNvSpPr/>
            <p:nvPr/>
          </p:nvSpPr>
          <p:spPr>
            <a:xfrm>
              <a:off x="2942255" y="3851478"/>
              <a:ext cx="762000" cy="5334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8" name="Oval 7">
              <a:extLst>
                <a:ext uri="{FF2B5EF4-FFF2-40B4-BE49-F238E27FC236}">
                  <a16:creationId xmlns:a16="http://schemas.microsoft.com/office/drawing/2014/main" id="{F2FC25D5-BF0D-423E-BC8A-6B89CF92E867}"/>
                </a:ext>
              </a:extLst>
            </p:cNvPr>
            <p:cNvSpPr/>
            <p:nvPr/>
          </p:nvSpPr>
          <p:spPr>
            <a:xfrm flipH="1">
              <a:off x="2819400" y="3740588"/>
              <a:ext cx="990600" cy="766465"/>
            </a:xfrm>
            <a:prstGeom prst="ellipse">
              <a:avLst/>
            </a:prstGeom>
            <a:solidFill>
              <a:srgbClr val="FFCCFF">
                <a:alpha val="3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BAC94BA-7C95-49DC-ACE9-53ECCB5746E4}"/>
                </a:ext>
              </a:extLst>
            </p:cNvPr>
            <p:cNvSpPr/>
            <p:nvPr/>
          </p:nvSpPr>
          <p:spPr>
            <a:xfrm>
              <a:off x="3810000" y="2800767"/>
              <a:ext cx="580055" cy="461665"/>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13</a:t>
              </a:r>
            </a:p>
          </p:txBody>
        </p:sp>
        <p:sp>
          <p:nvSpPr>
            <p:cNvPr id="10" name="Oval 9">
              <a:extLst>
                <a:ext uri="{FF2B5EF4-FFF2-40B4-BE49-F238E27FC236}">
                  <a16:creationId xmlns:a16="http://schemas.microsoft.com/office/drawing/2014/main" id="{57169214-F71E-442B-BBDC-2FAC6CE4C622}"/>
                </a:ext>
              </a:extLst>
            </p:cNvPr>
            <p:cNvSpPr/>
            <p:nvPr/>
          </p:nvSpPr>
          <p:spPr>
            <a:xfrm>
              <a:off x="1777484" y="2569934"/>
              <a:ext cx="580055" cy="461665"/>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15</a:t>
              </a:r>
            </a:p>
          </p:txBody>
        </p:sp>
        <p:sp>
          <p:nvSpPr>
            <p:cNvPr id="11" name="Oval 10">
              <a:extLst>
                <a:ext uri="{FF2B5EF4-FFF2-40B4-BE49-F238E27FC236}">
                  <a16:creationId xmlns:a16="http://schemas.microsoft.com/office/drawing/2014/main" id="{4C9C4850-8CD9-4ABC-A281-7A52A3B82A70}"/>
                </a:ext>
              </a:extLst>
            </p:cNvPr>
            <p:cNvSpPr/>
            <p:nvPr/>
          </p:nvSpPr>
          <p:spPr>
            <a:xfrm>
              <a:off x="1925219" y="4918278"/>
              <a:ext cx="580055" cy="461665"/>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14</a:t>
              </a:r>
            </a:p>
          </p:txBody>
        </p:sp>
        <p:cxnSp>
          <p:nvCxnSpPr>
            <p:cNvPr id="12" name="Straight Arrow Connector 11">
              <a:extLst>
                <a:ext uri="{FF2B5EF4-FFF2-40B4-BE49-F238E27FC236}">
                  <a16:creationId xmlns:a16="http://schemas.microsoft.com/office/drawing/2014/main" id="{B396DB4F-424E-4DB3-A276-BBBB6733B1C4}"/>
                </a:ext>
              </a:extLst>
            </p:cNvPr>
            <p:cNvCxnSpPr>
              <a:stCxn id="10" idx="5"/>
            </p:cNvCxnSpPr>
            <p:nvPr/>
          </p:nvCxnSpPr>
          <p:spPr>
            <a:xfrm>
              <a:off x="2272592" y="2963990"/>
              <a:ext cx="745863" cy="776598"/>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11A47C0-04D4-4474-8257-A5FF24E4309C}"/>
                </a:ext>
              </a:extLst>
            </p:cNvPr>
            <p:cNvCxnSpPr>
              <a:stCxn id="9" idx="4"/>
              <a:endCxn id="8" idx="1"/>
            </p:cNvCxnSpPr>
            <p:nvPr/>
          </p:nvCxnSpPr>
          <p:spPr>
            <a:xfrm flipH="1">
              <a:off x="3664930" y="3262432"/>
              <a:ext cx="435098" cy="590402"/>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F94F20B-C218-4C55-8691-26320E59330B}"/>
                </a:ext>
              </a:extLst>
            </p:cNvPr>
            <p:cNvCxnSpPr>
              <a:stCxn id="11" idx="7"/>
              <a:endCxn id="8" idx="5"/>
            </p:cNvCxnSpPr>
            <p:nvPr/>
          </p:nvCxnSpPr>
          <p:spPr>
            <a:xfrm flipV="1">
              <a:off x="2420327" y="4394807"/>
              <a:ext cx="544143" cy="59108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97EAE6A4-D54A-4AE8-928F-A7163FA2C82F}"/>
                </a:ext>
              </a:extLst>
            </p:cNvPr>
            <p:cNvSpPr/>
            <p:nvPr/>
          </p:nvSpPr>
          <p:spPr>
            <a:xfrm>
              <a:off x="2978798" y="2704013"/>
              <a:ext cx="580055" cy="461665"/>
            </a:xfrm>
            <a:prstGeom prst="ellipse">
              <a:avLst/>
            </a:prstGeom>
            <a:solidFill>
              <a:srgbClr val="FFFF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3</a:t>
              </a:r>
            </a:p>
          </p:txBody>
        </p:sp>
        <p:sp>
          <p:nvSpPr>
            <p:cNvPr id="16" name="Oval 15">
              <a:extLst>
                <a:ext uri="{FF2B5EF4-FFF2-40B4-BE49-F238E27FC236}">
                  <a16:creationId xmlns:a16="http://schemas.microsoft.com/office/drawing/2014/main" id="{E7555774-DD9E-4DA1-AF2D-AB2BB36370BB}"/>
                </a:ext>
              </a:extLst>
            </p:cNvPr>
            <p:cNvSpPr/>
            <p:nvPr/>
          </p:nvSpPr>
          <p:spPr>
            <a:xfrm>
              <a:off x="4397831" y="3826868"/>
              <a:ext cx="580055" cy="461665"/>
            </a:xfrm>
            <a:prstGeom prst="ellipse">
              <a:avLst/>
            </a:prstGeom>
            <a:solidFill>
              <a:srgbClr val="FFFF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2</a:t>
              </a:r>
            </a:p>
          </p:txBody>
        </p:sp>
        <p:sp>
          <p:nvSpPr>
            <p:cNvPr id="17" name="Oval 16">
              <a:extLst>
                <a:ext uri="{FF2B5EF4-FFF2-40B4-BE49-F238E27FC236}">
                  <a16:creationId xmlns:a16="http://schemas.microsoft.com/office/drawing/2014/main" id="{CA6495A3-D18A-4695-B0AD-ADDC0FDC7B42}"/>
                </a:ext>
              </a:extLst>
            </p:cNvPr>
            <p:cNvSpPr/>
            <p:nvPr/>
          </p:nvSpPr>
          <p:spPr>
            <a:xfrm>
              <a:off x="1816580" y="3672979"/>
              <a:ext cx="580055" cy="461665"/>
            </a:xfrm>
            <a:prstGeom prst="ellipse">
              <a:avLst/>
            </a:prstGeom>
            <a:solidFill>
              <a:srgbClr val="FFFF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a:t>
              </a:r>
            </a:p>
          </p:txBody>
        </p:sp>
        <p:sp>
          <p:nvSpPr>
            <p:cNvPr id="18" name="Oval 17">
              <a:extLst>
                <a:ext uri="{FF2B5EF4-FFF2-40B4-BE49-F238E27FC236}">
                  <a16:creationId xmlns:a16="http://schemas.microsoft.com/office/drawing/2014/main" id="{76480905-D143-4203-91E8-C16F183C07B7}"/>
                </a:ext>
              </a:extLst>
            </p:cNvPr>
            <p:cNvSpPr/>
            <p:nvPr/>
          </p:nvSpPr>
          <p:spPr>
            <a:xfrm>
              <a:off x="3743075" y="4851130"/>
              <a:ext cx="580055" cy="461665"/>
            </a:xfrm>
            <a:prstGeom prst="ellipse">
              <a:avLst/>
            </a:prstGeom>
            <a:solidFill>
              <a:srgbClr val="FFFF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3</a:t>
              </a:r>
            </a:p>
          </p:txBody>
        </p:sp>
        <p:cxnSp>
          <p:nvCxnSpPr>
            <p:cNvPr id="19" name="Straight Arrow Connector 18">
              <a:extLst>
                <a:ext uri="{FF2B5EF4-FFF2-40B4-BE49-F238E27FC236}">
                  <a16:creationId xmlns:a16="http://schemas.microsoft.com/office/drawing/2014/main" id="{658468CD-8343-45A1-BD53-066056C06A57}"/>
                </a:ext>
              </a:extLst>
            </p:cNvPr>
            <p:cNvCxnSpPr>
              <a:stCxn id="16" idx="2"/>
              <a:endCxn id="8" idx="2"/>
            </p:cNvCxnSpPr>
            <p:nvPr/>
          </p:nvCxnSpPr>
          <p:spPr>
            <a:xfrm flipH="1">
              <a:off x="3810000" y="4057701"/>
              <a:ext cx="587831" cy="6612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8E58917-DC58-4F2B-B03B-AAEF01344ACA}"/>
                </a:ext>
              </a:extLst>
            </p:cNvPr>
            <p:cNvCxnSpPr>
              <a:stCxn id="18" idx="1"/>
            </p:cNvCxnSpPr>
            <p:nvPr/>
          </p:nvCxnSpPr>
          <p:spPr>
            <a:xfrm flipH="1" flipV="1">
              <a:off x="3558853" y="4465575"/>
              <a:ext cx="269169" cy="453164"/>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9F11F6A-43A2-44AC-B05C-353DBE92AC74}"/>
                </a:ext>
              </a:extLst>
            </p:cNvPr>
            <p:cNvCxnSpPr>
              <a:stCxn id="15" idx="4"/>
              <a:endCxn id="8" idx="0"/>
            </p:cNvCxnSpPr>
            <p:nvPr/>
          </p:nvCxnSpPr>
          <p:spPr>
            <a:xfrm>
              <a:off x="3268826" y="3165678"/>
              <a:ext cx="45874" cy="57491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787C7672-CEDD-47DE-9B15-FE011BDB0CEA}"/>
                </a:ext>
              </a:extLst>
            </p:cNvPr>
            <p:cNvSpPr/>
            <p:nvPr/>
          </p:nvSpPr>
          <p:spPr>
            <a:xfrm>
              <a:off x="5819833" y="2848369"/>
              <a:ext cx="580055" cy="461665"/>
            </a:xfrm>
            <a:prstGeom prst="ellipse">
              <a:avLst/>
            </a:prstGeom>
            <a:solidFill>
              <a:srgbClr val="FFFF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5</a:t>
              </a:r>
            </a:p>
          </p:txBody>
        </p:sp>
        <p:sp>
          <p:nvSpPr>
            <p:cNvPr id="23" name="TextBox 22">
              <a:extLst>
                <a:ext uri="{FF2B5EF4-FFF2-40B4-BE49-F238E27FC236}">
                  <a16:creationId xmlns:a16="http://schemas.microsoft.com/office/drawing/2014/main" id="{EBCE71FC-BC74-481C-BC5B-40FEB16AA2FB}"/>
                </a:ext>
              </a:extLst>
            </p:cNvPr>
            <p:cNvSpPr txBox="1"/>
            <p:nvPr/>
          </p:nvSpPr>
          <p:spPr>
            <a:xfrm>
              <a:off x="5397762" y="3453133"/>
              <a:ext cx="1393412" cy="584775"/>
            </a:xfrm>
            <a:prstGeom prst="rect">
              <a:avLst/>
            </a:prstGeom>
            <a:noFill/>
          </p:spPr>
          <p:txBody>
            <a:bodyPr wrap="square" rtlCol="0">
              <a:spAutoFit/>
            </a:bodyPr>
            <a:lstStyle/>
            <a:p>
              <a:r>
                <a:rPr lang="en-US" sz="1600" dirty="0"/>
                <a:t>Too far from cluster head</a:t>
              </a:r>
            </a:p>
          </p:txBody>
        </p:sp>
        <p:sp>
          <p:nvSpPr>
            <p:cNvPr id="24" name="TextBox 23">
              <a:extLst>
                <a:ext uri="{FF2B5EF4-FFF2-40B4-BE49-F238E27FC236}">
                  <a16:creationId xmlns:a16="http://schemas.microsoft.com/office/drawing/2014/main" id="{1FD82473-1EDD-4C7F-96A8-E9DEE7FABC58}"/>
                </a:ext>
              </a:extLst>
            </p:cNvPr>
            <p:cNvSpPr txBox="1"/>
            <p:nvPr/>
          </p:nvSpPr>
          <p:spPr>
            <a:xfrm>
              <a:off x="4167519" y="4433812"/>
              <a:ext cx="1393412" cy="584775"/>
            </a:xfrm>
            <a:prstGeom prst="rect">
              <a:avLst/>
            </a:prstGeom>
            <a:noFill/>
          </p:spPr>
          <p:txBody>
            <a:bodyPr wrap="square" rtlCol="0">
              <a:spAutoFit/>
            </a:bodyPr>
            <a:lstStyle/>
            <a:p>
              <a:r>
                <a:rPr lang="en-US" sz="1600" dirty="0"/>
                <a:t>Low-Energy Node</a:t>
              </a:r>
            </a:p>
          </p:txBody>
        </p:sp>
        <p:cxnSp>
          <p:nvCxnSpPr>
            <p:cNvPr id="25" name="Straight Arrow Connector 24">
              <a:extLst>
                <a:ext uri="{FF2B5EF4-FFF2-40B4-BE49-F238E27FC236}">
                  <a16:creationId xmlns:a16="http://schemas.microsoft.com/office/drawing/2014/main" id="{6D18306D-A494-4771-9FE0-8356B512CBA9}"/>
                </a:ext>
              </a:extLst>
            </p:cNvPr>
            <p:cNvCxnSpPr>
              <a:cxnSpLocks/>
              <a:stCxn id="17" idx="6"/>
            </p:cNvCxnSpPr>
            <p:nvPr/>
          </p:nvCxnSpPr>
          <p:spPr>
            <a:xfrm>
              <a:off x="2396635" y="3903812"/>
              <a:ext cx="418281" cy="76192"/>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FF026ECF-15A3-497C-A515-E4E9FB921FC7}"/>
                </a:ext>
              </a:extLst>
            </p:cNvPr>
            <p:cNvSpPr/>
            <p:nvPr/>
          </p:nvSpPr>
          <p:spPr>
            <a:xfrm>
              <a:off x="2269812" y="5932744"/>
              <a:ext cx="580055" cy="461665"/>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17</a:t>
              </a:r>
            </a:p>
          </p:txBody>
        </p:sp>
      </p:grpSp>
      <p:sp>
        <p:nvSpPr>
          <p:cNvPr id="27" name="Slide Number Placeholder 26">
            <a:extLst>
              <a:ext uri="{FF2B5EF4-FFF2-40B4-BE49-F238E27FC236}">
                <a16:creationId xmlns:a16="http://schemas.microsoft.com/office/drawing/2014/main" id="{24CA74E5-5693-4115-80C2-84C504FCC5C5}"/>
              </a:ext>
            </a:extLst>
          </p:cNvPr>
          <p:cNvSpPr>
            <a:spLocks noGrp="1"/>
          </p:cNvSpPr>
          <p:nvPr>
            <p:ph type="sldNum" sz="quarter" idx="12"/>
          </p:nvPr>
        </p:nvSpPr>
        <p:spPr/>
        <p:txBody>
          <a:bodyPr/>
          <a:lstStyle/>
          <a:p>
            <a:pPr>
              <a:defRPr/>
            </a:pPr>
            <a:fld id="{13CC66DC-C496-4A87-A4D6-24BBFECA0FB1}" type="slidenum">
              <a:rPr lang="en-US" smtClean="0"/>
              <a:pPr>
                <a:defRPr/>
              </a:pPr>
              <a:t>46</a:t>
            </a:fld>
            <a:endParaRPr lang="en-US"/>
          </a:p>
        </p:txBody>
      </p:sp>
    </p:spTree>
    <p:extLst>
      <p:ext uri="{BB962C8B-B14F-4D97-AF65-F5344CB8AC3E}">
        <p14:creationId xmlns:p14="http://schemas.microsoft.com/office/powerpoint/2010/main" val="8581878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4"/>
          <p:cNvSpPr txBox="1">
            <a:spLocks noChangeArrowheads="1"/>
          </p:cNvSpPr>
          <p:nvPr/>
        </p:nvSpPr>
        <p:spPr bwMode="auto">
          <a:xfrm>
            <a:off x="479691" y="291216"/>
            <a:ext cx="11075437" cy="193899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 typeface="Wingdings" panose="05000000000000000000" pitchFamily="2" charset="2"/>
              <a:buChar char="ü"/>
            </a:pPr>
            <a:r>
              <a:rPr lang="en-US" sz="2400" dirty="0"/>
              <a:t>In a </a:t>
            </a:r>
            <a:r>
              <a:rPr lang="en-US" sz="2400" dirty="0">
                <a:solidFill>
                  <a:srgbClr val="FF0000"/>
                </a:solidFill>
              </a:rPr>
              <a:t>multi-hop routing algorithm</a:t>
            </a:r>
            <a:r>
              <a:rPr lang="en-US" sz="2400" dirty="0"/>
              <a:t>, a node can face multiple hops in order to reach the destination. Figure below shows two paths from a node (</a:t>
            </a:r>
            <a:r>
              <a:rPr lang="en-US" sz="2400" dirty="0">
                <a:solidFill>
                  <a:srgbClr val="FF0000"/>
                </a:solidFill>
              </a:rPr>
              <a:t>node 5 is the source node</a:t>
            </a:r>
            <a:r>
              <a:rPr lang="en-US" sz="2400" dirty="0"/>
              <a:t>) to a cluster-head node. One path involves the shortest distance in terms of hop counts; the other one uses the highest-energy route. The challenge here is to find the best path that suits the rapid and secure deployment of data. </a:t>
            </a:r>
          </a:p>
        </p:txBody>
      </p:sp>
      <p:grpSp>
        <p:nvGrpSpPr>
          <p:cNvPr id="49" name="Group 48">
            <a:extLst>
              <a:ext uri="{FF2B5EF4-FFF2-40B4-BE49-F238E27FC236}">
                <a16:creationId xmlns:a16="http://schemas.microsoft.com/office/drawing/2014/main" id="{78C1B2EF-BB0A-4876-A506-B28416202B23}"/>
              </a:ext>
            </a:extLst>
          </p:cNvPr>
          <p:cNvGrpSpPr/>
          <p:nvPr/>
        </p:nvGrpSpPr>
        <p:grpSpPr>
          <a:xfrm>
            <a:off x="2819401" y="2667000"/>
            <a:ext cx="5564463" cy="3746042"/>
            <a:chOff x="533400" y="2652525"/>
            <a:chExt cx="5564463" cy="3746042"/>
          </a:xfrm>
        </p:grpSpPr>
        <p:sp>
          <p:nvSpPr>
            <p:cNvPr id="6" name="Oval 5">
              <a:extLst>
                <a:ext uri="{FF2B5EF4-FFF2-40B4-BE49-F238E27FC236}">
                  <a16:creationId xmlns:a16="http://schemas.microsoft.com/office/drawing/2014/main" id="{0721E560-B006-41D2-AE81-BAE4A5EB60C1}"/>
                </a:ext>
              </a:extLst>
            </p:cNvPr>
            <p:cNvSpPr/>
            <p:nvPr/>
          </p:nvSpPr>
          <p:spPr>
            <a:xfrm>
              <a:off x="2030647" y="5742992"/>
              <a:ext cx="762000" cy="5334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7" name="Oval 6">
              <a:extLst>
                <a:ext uri="{FF2B5EF4-FFF2-40B4-BE49-F238E27FC236}">
                  <a16:creationId xmlns:a16="http://schemas.microsoft.com/office/drawing/2014/main" id="{8D8BBBA1-6886-4946-9D2A-5D614644A1BF}"/>
                </a:ext>
              </a:extLst>
            </p:cNvPr>
            <p:cNvSpPr/>
            <p:nvPr/>
          </p:nvSpPr>
          <p:spPr>
            <a:xfrm flipH="1">
              <a:off x="1907792" y="5632102"/>
              <a:ext cx="990600" cy="766465"/>
            </a:xfrm>
            <a:prstGeom prst="ellipse">
              <a:avLst/>
            </a:prstGeom>
            <a:solidFill>
              <a:srgbClr val="FFCCFF">
                <a:alpha val="3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584F5AC-A740-4AAC-9020-B5C30C129D89}"/>
                </a:ext>
              </a:extLst>
            </p:cNvPr>
            <p:cNvSpPr/>
            <p:nvPr/>
          </p:nvSpPr>
          <p:spPr>
            <a:xfrm>
              <a:off x="2565916" y="2883358"/>
              <a:ext cx="580055" cy="461665"/>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13</a:t>
              </a:r>
            </a:p>
          </p:txBody>
        </p:sp>
        <p:sp>
          <p:nvSpPr>
            <p:cNvPr id="9" name="Oval 8">
              <a:extLst>
                <a:ext uri="{FF2B5EF4-FFF2-40B4-BE49-F238E27FC236}">
                  <a16:creationId xmlns:a16="http://schemas.microsoft.com/office/drawing/2014/main" id="{55E00037-7DB4-4E59-8576-F06109B13779}"/>
                </a:ext>
              </a:extLst>
            </p:cNvPr>
            <p:cNvSpPr/>
            <p:nvPr/>
          </p:nvSpPr>
          <p:spPr>
            <a:xfrm>
              <a:off x="533400" y="2652525"/>
              <a:ext cx="580055" cy="461665"/>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15</a:t>
              </a:r>
            </a:p>
          </p:txBody>
        </p:sp>
        <p:sp>
          <p:nvSpPr>
            <p:cNvPr id="10" name="Oval 9">
              <a:extLst>
                <a:ext uri="{FF2B5EF4-FFF2-40B4-BE49-F238E27FC236}">
                  <a16:creationId xmlns:a16="http://schemas.microsoft.com/office/drawing/2014/main" id="{867E53D2-3082-477E-92E0-C986D35DBC60}"/>
                </a:ext>
              </a:extLst>
            </p:cNvPr>
            <p:cNvSpPr/>
            <p:nvPr/>
          </p:nvSpPr>
          <p:spPr>
            <a:xfrm>
              <a:off x="1013113" y="4729080"/>
              <a:ext cx="580055" cy="461665"/>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14</a:t>
              </a:r>
            </a:p>
          </p:txBody>
        </p:sp>
        <p:cxnSp>
          <p:nvCxnSpPr>
            <p:cNvPr id="11" name="Straight Arrow Connector 10">
              <a:extLst>
                <a:ext uri="{FF2B5EF4-FFF2-40B4-BE49-F238E27FC236}">
                  <a16:creationId xmlns:a16="http://schemas.microsoft.com/office/drawing/2014/main" id="{D197BAF5-C53E-4068-B2D0-5494C5C457B0}"/>
                </a:ext>
              </a:extLst>
            </p:cNvPr>
            <p:cNvCxnSpPr>
              <a:cxnSpLocks/>
              <a:endCxn id="7" idx="7"/>
            </p:cNvCxnSpPr>
            <p:nvPr/>
          </p:nvCxnSpPr>
          <p:spPr>
            <a:xfrm>
              <a:off x="1463253" y="5116562"/>
              <a:ext cx="589609" cy="627786"/>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E2C26A06-E23D-4C09-9AC2-F6D7BBFD28A2}"/>
                </a:ext>
              </a:extLst>
            </p:cNvPr>
            <p:cNvSpPr/>
            <p:nvPr/>
          </p:nvSpPr>
          <p:spPr>
            <a:xfrm>
              <a:off x="1946428" y="4710310"/>
              <a:ext cx="580055" cy="461665"/>
            </a:xfrm>
            <a:prstGeom prst="ellipse">
              <a:avLst/>
            </a:prstGeom>
            <a:solidFill>
              <a:srgbClr val="FFFF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3</a:t>
              </a:r>
            </a:p>
          </p:txBody>
        </p:sp>
        <p:sp>
          <p:nvSpPr>
            <p:cNvPr id="16" name="Oval 15">
              <a:extLst>
                <a:ext uri="{FF2B5EF4-FFF2-40B4-BE49-F238E27FC236}">
                  <a16:creationId xmlns:a16="http://schemas.microsoft.com/office/drawing/2014/main" id="{6F3F09A1-6291-4FAD-94B9-9896AADD7384}"/>
                </a:ext>
              </a:extLst>
            </p:cNvPr>
            <p:cNvSpPr/>
            <p:nvPr/>
          </p:nvSpPr>
          <p:spPr>
            <a:xfrm>
              <a:off x="4394137" y="5625445"/>
              <a:ext cx="580055" cy="461665"/>
            </a:xfrm>
            <a:prstGeom prst="ellipse">
              <a:avLst/>
            </a:prstGeom>
            <a:solidFill>
              <a:srgbClr val="FFFF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2</a:t>
              </a:r>
            </a:p>
          </p:txBody>
        </p:sp>
        <p:sp>
          <p:nvSpPr>
            <p:cNvPr id="17" name="Oval 16">
              <a:extLst>
                <a:ext uri="{FF2B5EF4-FFF2-40B4-BE49-F238E27FC236}">
                  <a16:creationId xmlns:a16="http://schemas.microsoft.com/office/drawing/2014/main" id="{82439ABE-33DD-4EE1-B181-E99CA3063875}"/>
                </a:ext>
              </a:extLst>
            </p:cNvPr>
            <p:cNvSpPr/>
            <p:nvPr/>
          </p:nvSpPr>
          <p:spPr>
            <a:xfrm>
              <a:off x="3508618" y="5199622"/>
              <a:ext cx="580055" cy="461665"/>
            </a:xfrm>
            <a:prstGeom prst="ellipse">
              <a:avLst/>
            </a:prstGeom>
            <a:solidFill>
              <a:srgbClr val="FFFF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3</a:t>
              </a:r>
            </a:p>
          </p:txBody>
        </p:sp>
        <p:sp>
          <p:nvSpPr>
            <p:cNvPr id="21" name="Oval 20">
              <a:extLst>
                <a:ext uri="{FF2B5EF4-FFF2-40B4-BE49-F238E27FC236}">
                  <a16:creationId xmlns:a16="http://schemas.microsoft.com/office/drawing/2014/main" id="{8522038B-F8EA-4B12-9171-4C865950B30B}"/>
                </a:ext>
              </a:extLst>
            </p:cNvPr>
            <p:cNvSpPr/>
            <p:nvPr/>
          </p:nvSpPr>
          <p:spPr>
            <a:xfrm>
              <a:off x="5048328" y="5036104"/>
              <a:ext cx="580055" cy="461665"/>
            </a:xfrm>
            <a:prstGeom prst="ellipse">
              <a:avLst/>
            </a:prstGeom>
            <a:solidFill>
              <a:srgbClr val="FFFF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2</a:t>
              </a:r>
            </a:p>
          </p:txBody>
        </p:sp>
        <p:sp>
          <p:nvSpPr>
            <p:cNvPr id="22" name="TextBox 21">
              <a:extLst>
                <a:ext uri="{FF2B5EF4-FFF2-40B4-BE49-F238E27FC236}">
                  <a16:creationId xmlns:a16="http://schemas.microsoft.com/office/drawing/2014/main" id="{B2238F19-3737-498A-AB1E-98747948BBAB}"/>
                </a:ext>
              </a:extLst>
            </p:cNvPr>
            <p:cNvSpPr txBox="1"/>
            <p:nvPr/>
          </p:nvSpPr>
          <p:spPr>
            <a:xfrm rot="532399">
              <a:off x="1041887" y="2673019"/>
              <a:ext cx="1731812" cy="338554"/>
            </a:xfrm>
            <a:prstGeom prst="rect">
              <a:avLst/>
            </a:prstGeom>
            <a:noFill/>
          </p:spPr>
          <p:txBody>
            <a:bodyPr wrap="square" rtlCol="0">
              <a:spAutoFit/>
            </a:bodyPr>
            <a:lstStyle/>
            <a:p>
              <a:r>
                <a:rPr lang="en-US" sz="1600" dirty="0"/>
                <a:t>Best energy path</a:t>
              </a:r>
            </a:p>
          </p:txBody>
        </p:sp>
        <p:sp>
          <p:nvSpPr>
            <p:cNvPr id="23" name="TextBox 22">
              <a:extLst>
                <a:ext uri="{FF2B5EF4-FFF2-40B4-BE49-F238E27FC236}">
                  <a16:creationId xmlns:a16="http://schemas.microsoft.com/office/drawing/2014/main" id="{56A8996C-C7AD-4126-96E1-40DF6E97DD0D}"/>
                </a:ext>
              </a:extLst>
            </p:cNvPr>
            <p:cNvSpPr txBox="1"/>
            <p:nvPr/>
          </p:nvSpPr>
          <p:spPr>
            <a:xfrm rot="18799482">
              <a:off x="3875294" y="4869026"/>
              <a:ext cx="1393412" cy="338554"/>
            </a:xfrm>
            <a:prstGeom prst="rect">
              <a:avLst/>
            </a:prstGeom>
            <a:noFill/>
          </p:spPr>
          <p:txBody>
            <a:bodyPr wrap="square" rtlCol="0">
              <a:spAutoFit/>
            </a:bodyPr>
            <a:lstStyle/>
            <a:p>
              <a:r>
                <a:rPr lang="en-US" sz="1600" dirty="0"/>
                <a:t>Shortest path</a:t>
              </a:r>
            </a:p>
          </p:txBody>
        </p:sp>
        <p:cxnSp>
          <p:nvCxnSpPr>
            <p:cNvPr id="35" name="Straight Arrow Connector 34">
              <a:extLst>
                <a:ext uri="{FF2B5EF4-FFF2-40B4-BE49-F238E27FC236}">
                  <a16:creationId xmlns:a16="http://schemas.microsoft.com/office/drawing/2014/main" id="{01ABF2B9-FD53-4F30-B946-D6E56831D152}"/>
                </a:ext>
              </a:extLst>
            </p:cNvPr>
            <p:cNvCxnSpPr>
              <a:cxnSpLocks/>
              <a:endCxn id="10" idx="1"/>
            </p:cNvCxnSpPr>
            <p:nvPr/>
          </p:nvCxnSpPr>
          <p:spPr>
            <a:xfrm>
              <a:off x="855911" y="3116025"/>
              <a:ext cx="242149" cy="1680664"/>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4E69362A-3023-4024-BC5E-456A32D0B536}"/>
                </a:ext>
              </a:extLst>
            </p:cNvPr>
            <p:cNvCxnSpPr>
              <a:cxnSpLocks/>
              <a:stCxn id="8" idx="2"/>
              <a:endCxn id="9" idx="6"/>
            </p:cNvCxnSpPr>
            <p:nvPr/>
          </p:nvCxnSpPr>
          <p:spPr>
            <a:xfrm flipH="1" flipV="1">
              <a:off x="1113455" y="2883358"/>
              <a:ext cx="1452461" cy="230833"/>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9649B1AF-DF98-4231-AC4E-98263711D17C}"/>
                </a:ext>
              </a:extLst>
            </p:cNvPr>
            <p:cNvSpPr/>
            <p:nvPr/>
          </p:nvSpPr>
          <p:spPr>
            <a:xfrm>
              <a:off x="4116469" y="3091443"/>
              <a:ext cx="580055" cy="461665"/>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5</a:t>
              </a:r>
            </a:p>
          </p:txBody>
        </p:sp>
        <p:cxnSp>
          <p:nvCxnSpPr>
            <p:cNvPr id="41" name="Straight Arrow Connector 40">
              <a:extLst>
                <a:ext uri="{FF2B5EF4-FFF2-40B4-BE49-F238E27FC236}">
                  <a16:creationId xmlns:a16="http://schemas.microsoft.com/office/drawing/2014/main" id="{1B58D5A4-CF8C-4409-A13C-E8B40B03B876}"/>
                </a:ext>
              </a:extLst>
            </p:cNvPr>
            <p:cNvCxnSpPr>
              <a:cxnSpLocks/>
              <a:stCxn id="40" idx="2"/>
            </p:cNvCxnSpPr>
            <p:nvPr/>
          </p:nvCxnSpPr>
          <p:spPr>
            <a:xfrm flipH="1" flipV="1">
              <a:off x="3120315" y="3173982"/>
              <a:ext cx="996154" cy="148294"/>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C6DDBD28-197E-46B6-9C67-27CFFB05C67E}"/>
                </a:ext>
              </a:extLst>
            </p:cNvPr>
            <p:cNvSpPr/>
            <p:nvPr/>
          </p:nvSpPr>
          <p:spPr>
            <a:xfrm>
              <a:off x="4019620" y="4335024"/>
              <a:ext cx="580055" cy="461665"/>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4</a:t>
              </a:r>
            </a:p>
          </p:txBody>
        </p:sp>
        <p:cxnSp>
          <p:nvCxnSpPr>
            <p:cNvPr id="44" name="Straight Arrow Connector 43">
              <a:extLst>
                <a:ext uri="{FF2B5EF4-FFF2-40B4-BE49-F238E27FC236}">
                  <a16:creationId xmlns:a16="http://schemas.microsoft.com/office/drawing/2014/main" id="{AFABC781-30B7-4AF9-B92F-A6384E86842D}"/>
                </a:ext>
              </a:extLst>
            </p:cNvPr>
            <p:cNvCxnSpPr>
              <a:cxnSpLocks/>
            </p:cNvCxnSpPr>
            <p:nvPr/>
          </p:nvCxnSpPr>
          <p:spPr>
            <a:xfrm flipH="1">
              <a:off x="4316847" y="3568473"/>
              <a:ext cx="37209" cy="787153"/>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BCF647D-F28C-4E24-BF2D-85E8C2CE5020}"/>
                </a:ext>
              </a:extLst>
            </p:cNvPr>
            <p:cNvCxnSpPr>
              <a:cxnSpLocks/>
            </p:cNvCxnSpPr>
            <p:nvPr/>
          </p:nvCxnSpPr>
          <p:spPr>
            <a:xfrm flipH="1">
              <a:off x="3962864" y="4819672"/>
              <a:ext cx="310189" cy="426785"/>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9C32903-DF79-43C1-BD84-3F37C3BBFE63}"/>
                </a:ext>
              </a:extLst>
            </p:cNvPr>
            <p:cNvCxnSpPr>
              <a:cxnSpLocks/>
              <a:endCxn id="7" idx="2"/>
            </p:cNvCxnSpPr>
            <p:nvPr/>
          </p:nvCxnSpPr>
          <p:spPr>
            <a:xfrm flipH="1">
              <a:off x="2898392" y="5642884"/>
              <a:ext cx="733938" cy="372451"/>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292BD655-BCCC-491C-9F2F-6810B23CBBC6}"/>
                </a:ext>
              </a:extLst>
            </p:cNvPr>
            <p:cNvSpPr/>
            <p:nvPr/>
          </p:nvSpPr>
          <p:spPr>
            <a:xfrm>
              <a:off x="2403092" y="3678626"/>
              <a:ext cx="580055" cy="461665"/>
            </a:xfrm>
            <a:prstGeom prst="ellipse">
              <a:avLst/>
            </a:prstGeom>
            <a:solidFill>
              <a:srgbClr val="FFFF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a:t>
              </a:r>
            </a:p>
          </p:txBody>
        </p:sp>
        <p:sp>
          <p:nvSpPr>
            <p:cNvPr id="53" name="Oval 52">
              <a:extLst>
                <a:ext uri="{FF2B5EF4-FFF2-40B4-BE49-F238E27FC236}">
                  <a16:creationId xmlns:a16="http://schemas.microsoft.com/office/drawing/2014/main" id="{B1E5C07B-5609-4FF9-A465-F291CEF335E0}"/>
                </a:ext>
              </a:extLst>
            </p:cNvPr>
            <p:cNvSpPr/>
            <p:nvPr/>
          </p:nvSpPr>
          <p:spPr>
            <a:xfrm>
              <a:off x="3151354" y="3909607"/>
              <a:ext cx="580055" cy="461665"/>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16</a:t>
              </a:r>
            </a:p>
          </p:txBody>
        </p:sp>
        <p:sp>
          <p:nvSpPr>
            <p:cNvPr id="47" name="TextBox 46">
              <a:extLst>
                <a:ext uri="{FF2B5EF4-FFF2-40B4-BE49-F238E27FC236}">
                  <a16:creationId xmlns:a16="http://schemas.microsoft.com/office/drawing/2014/main" id="{1FD3FE30-7914-42A0-AB08-89EF640EDCCA}"/>
                </a:ext>
              </a:extLst>
            </p:cNvPr>
            <p:cNvSpPr txBox="1"/>
            <p:nvPr/>
          </p:nvSpPr>
          <p:spPr>
            <a:xfrm rot="19313077">
              <a:off x="4348507" y="5792702"/>
              <a:ext cx="1749356" cy="338554"/>
            </a:xfrm>
            <a:prstGeom prst="rect">
              <a:avLst/>
            </a:prstGeom>
            <a:noFill/>
          </p:spPr>
          <p:txBody>
            <a:bodyPr wrap="square" rtlCol="0">
              <a:spAutoFit/>
            </a:bodyPr>
            <a:lstStyle/>
            <a:p>
              <a:r>
                <a:rPr lang="en-US" sz="1600" dirty="0"/>
                <a:t>Low energy node</a:t>
              </a:r>
            </a:p>
          </p:txBody>
        </p:sp>
      </p:grpSp>
      <p:sp>
        <p:nvSpPr>
          <p:cNvPr id="4" name="Slide Number Placeholder 3">
            <a:extLst>
              <a:ext uri="{FF2B5EF4-FFF2-40B4-BE49-F238E27FC236}">
                <a16:creationId xmlns:a16="http://schemas.microsoft.com/office/drawing/2014/main" id="{51E6621E-3368-45B0-A570-351154020C1D}"/>
              </a:ext>
            </a:extLst>
          </p:cNvPr>
          <p:cNvSpPr>
            <a:spLocks noGrp="1"/>
          </p:cNvSpPr>
          <p:nvPr>
            <p:ph type="sldNum" sz="quarter" idx="12"/>
          </p:nvPr>
        </p:nvSpPr>
        <p:spPr/>
        <p:txBody>
          <a:bodyPr/>
          <a:lstStyle/>
          <a:p>
            <a:pPr>
              <a:defRPr/>
            </a:pPr>
            <a:fld id="{13CC66DC-C496-4A87-A4D6-24BBFECA0FB1}" type="slidenum">
              <a:rPr lang="en-US" smtClean="0"/>
              <a:pPr>
                <a:defRPr/>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4"/>
          <p:cNvSpPr txBox="1">
            <a:spLocks noChangeArrowheads="1"/>
          </p:cNvSpPr>
          <p:nvPr/>
        </p:nvSpPr>
        <p:spPr bwMode="auto">
          <a:xfrm>
            <a:off x="345233" y="304801"/>
            <a:ext cx="11467322" cy="335476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b="1" dirty="0">
                <a:solidFill>
                  <a:schemeClr val="accent2"/>
                </a:solidFill>
                <a:highlight>
                  <a:srgbClr val="FFFF00"/>
                </a:highlight>
              </a:rPr>
              <a:t>b. </a:t>
            </a:r>
            <a:r>
              <a:rPr lang="en-US" b="1" dirty="0" err="1">
                <a:solidFill>
                  <a:schemeClr val="accent2"/>
                </a:solidFill>
                <a:highlight>
                  <a:srgbClr val="FFFF00"/>
                </a:highlight>
              </a:rPr>
              <a:t>Intercluster</a:t>
            </a:r>
            <a:r>
              <a:rPr lang="en-US" b="1" dirty="0">
                <a:solidFill>
                  <a:schemeClr val="accent2"/>
                </a:solidFill>
                <a:highlight>
                  <a:srgbClr val="FFFF00"/>
                </a:highlight>
              </a:rPr>
              <a:t> Routing Protocols</a:t>
            </a:r>
          </a:p>
          <a:p>
            <a:pPr algn="just" eaLnBrk="1" hangingPunct="1">
              <a:spcBef>
                <a:spcPct val="0"/>
              </a:spcBef>
              <a:buFontTx/>
              <a:buNone/>
            </a:pPr>
            <a:r>
              <a:rPr lang="en-US" sz="2000" dirty="0" err="1"/>
              <a:t>Intercluster</a:t>
            </a:r>
            <a:r>
              <a:rPr lang="en-US" sz="2000" dirty="0"/>
              <a:t> protocols are not typically different from the </a:t>
            </a:r>
            <a:r>
              <a:rPr lang="en-US" sz="2000" dirty="0" err="1"/>
              <a:t>multihop</a:t>
            </a:r>
            <a:r>
              <a:rPr lang="en-US" sz="2000" dirty="0"/>
              <a:t> ones for intradomain cases.  Interdomain protocols are available for</a:t>
            </a:r>
          </a:p>
          <a:p>
            <a:pPr algn="just" eaLnBrk="1" hangingPunct="1">
              <a:spcBef>
                <a:spcPct val="0"/>
              </a:spcBef>
              <a:buFont typeface="Wingdings" panose="05000000000000000000" pitchFamily="2" charset="2"/>
              <a:buChar char="ü"/>
            </a:pPr>
            <a:r>
              <a:rPr lang="en-US" sz="2000" dirty="0" err="1"/>
              <a:t>Intercluster</a:t>
            </a:r>
            <a:r>
              <a:rPr lang="en-US" sz="2000" dirty="0"/>
              <a:t> energy conscious routing (ICR)</a:t>
            </a:r>
          </a:p>
          <a:p>
            <a:pPr algn="just" eaLnBrk="1" hangingPunct="1">
              <a:spcBef>
                <a:spcPct val="0"/>
              </a:spcBef>
              <a:buFont typeface="Wingdings" panose="05000000000000000000" pitchFamily="2" charset="2"/>
              <a:buChar char="ü"/>
            </a:pPr>
            <a:r>
              <a:rPr lang="en-US" sz="2000" dirty="0"/>
              <a:t>Energy-aware routing (EAR)</a:t>
            </a:r>
          </a:p>
          <a:p>
            <a:pPr algn="just" eaLnBrk="1" hangingPunct="1">
              <a:spcBef>
                <a:spcPct val="0"/>
              </a:spcBef>
              <a:buFont typeface="Wingdings" panose="05000000000000000000" pitchFamily="2" charset="2"/>
              <a:buChar char="ü"/>
            </a:pPr>
            <a:r>
              <a:rPr lang="en-US" sz="2000" dirty="0"/>
              <a:t>Direct diffusion</a:t>
            </a:r>
          </a:p>
          <a:p>
            <a:pPr algn="just" eaLnBrk="1" hangingPunct="1">
              <a:spcBef>
                <a:spcPct val="0"/>
              </a:spcBef>
              <a:buFontTx/>
              <a:buNone/>
            </a:pPr>
            <a:r>
              <a:rPr lang="en-US" sz="2000" dirty="0"/>
              <a:t> </a:t>
            </a:r>
            <a:r>
              <a:rPr lang="en-US" sz="2000" b="1" dirty="0" err="1"/>
              <a:t>Intercluster</a:t>
            </a:r>
            <a:r>
              <a:rPr lang="en-US" sz="2000" b="1" dirty="0"/>
              <a:t> Energy-Conscious Routing (ICR)</a:t>
            </a:r>
          </a:p>
          <a:p>
            <a:pPr algn="just" eaLnBrk="1" hangingPunct="1">
              <a:spcBef>
                <a:spcPct val="0"/>
              </a:spcBef>
              <a:buFontTx/>
              <a:buNone/>
            </a:pPr>
            <a:r>
              <a:rPr lang="en-US" sz="2000" dirty="0"/>
              <a:t>ICR is a destination-initiated reactive routing protocol. This means that a  destination, local base station (LBS), initiates an explicit route-discovery phase, which includes the propagation of an interest signal that floods throughout the network and establishes energy-efficient routes. </a:t>
            </a:r>
          </a:p>
        </p:txBody>
      </p:sp>
      <p:sp>
        <p:nvSpPr>
          <p:cNvPr id="50179" name="Rectangle 12"/>
          <p:cNvSpPr>
            <a:spLocks noChangeArrowheads="1"/>
          </p:cNvSpPr>
          <p:nvPr/>
        </p:nvSpPr>
        <p:spPr bwMode="auto">
          <a:xfrm>
            <a:off x="5181600" y="4904792"/>
            <a:ext cx="42814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sz="2000" dirty="0"/>
              <a:t>Figure 7. LBS starts route discovery by </a:t>
            </a:r>
          </a:p>
          <a:p>
            <a:pPr>
              <a:spcBef>
                <a:spcPct val="0"/>
              </a:spcBef>
              <a:buFontTx/>
              <a:buNone/>
            </a:pPr>
            <a:r>
              <a:rPr lang="en-US" sz="2000" dirty="0"/>
              <a:t>generating interest signals </a:t>
            </a:r>
          </a:p>
        </p:txBody>
      </p:sp>
      <p:pic>
        <p:nvPicPr>
          <p:cNvPr id="5018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3759199"/>
            <a:ext cx="2895600"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199A2F5C-E06E-4C64-894A-C77B6272835C}"/>
              </a:ext>
            </a:extLst>
          </p:cNvPr>
          <p:cNvSpPr>
            <a:spLocks noGrp="1"/>
          </p:cNvSpPr>
          <p:nvPr>
            <p:ph type="sldNum" sz="quarter" idx="12"/>
          </p:nvPr>
        </p:nvSpPr>
        <p:spPr/>
        <p:txBody>
          <a:bodyPr/>
          <a:lstStyle/>
          <a:p>
            <a:fld id="{C3F1913A-7668-436E-8561-76A60B792217}" type="slidenum">
              <a:rPr lang="en-US"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594361"/>
            <a:ext cx="10515600" cy="2697479"/>
          </a:xfrm>
          <a:solidFill>
            <a:srgbClr val="CCECFF"/>
          </a:solidFill>
        </p:spPr>
        <p:txBody>
          <a:bodyPr>
            <a:normAutofit fontScale="85000" lnSpcReduction="10000"/>
          </a:bodyPr>
          <a:lstStyle/>
          <a:p>
            <a:pPr marL="0" indent="0">
              <a:buNone/>
            </a:pPr>
            <a:r>
              <a:rPr lang="en-US" sz="2400" b="1" dirty="0" err="1">
                <a:latin typeface="Times New Roman" panose="02020603050405020304" pitchFamily="18" charset="0"/>
                <a:cs typeface="Times New Roman" panose="02020603050405020304" pitchFamily="18" charset="0"/>
              </a:rPr>
              <a:t>Intercluster</a:t>
            </a:r>
            <a:r>
              <a:rPr lang="en-US" sz="2400" b="1" dirty="0">
                <a:latin typeface="Times New Roman" panose="02020603050405020304" pitchFamily="18" charset="0"/>
                <a:cs typeface="Times New Roman" panose="02020603050405020304" pitchFamily="18" charset="0"/>
              </a:rPr>
              <a:t> Energy-Conscious Routing (ICR)</a:t>
            </a:r>
          </a:p>
          <a:p>
            <a:r>
              <a:rPr lang="en-US" sz="2400" b="1" dirty="0">
                <a:latin typeface="Times New Roman" panose="02020603050405020304" pitchFamily="18" charset="0"/>
                <a:cs typeface="Times New Roman" panose="02020603050405020304" pitchFamily="18" charset="0"/>
              </a:rPr>
              <a:t>Nature</a:t>
            </a:r>
            <a:r>
              <a:rPr lang="en-US" sz="2400" dirty="0">
                <a:latin typeface="Times New Roman" panose="02020603050405020304" pitchFamily="18" charset="0"/>
                <a:cs typeface="Times New Roman" panose="02020603050405020304" pitchFamily="18" charset="0"/>
              </a:rPr>
              <a:t>: Destination-initiated, reactive routing protocol.</a:t>
            </a:r>
          </a:p>
          <a:p>
            <a:r>
              <a:rPr lang="en-US" sz="2400" b="1" dirty="0">
                <a:latin typeface="Times New Roman" panose="02020603050405020304" pitchFamily="18" charset="0"/>
                <a:cs typeface="Times New Roman" panose="02020603050405020304" pitchFamily="18" charset="0"/>
              </a:rPr>
              <a:t>How it works</a:t>
            </a:r>
            <a:r>
              <a:rPr lang="en-US" sz="2400" dirty="0">
                <a:latin typeface="Times New Roman" panose="02020603050405020304" pitchFamily="18" charset="0"/>
                <a:cs typeface="Times New Roman" panose="02020603050405020304" pitchFamily="18" charset="0"/>
              </a:rPr>
              <a:t>:</a:t>
            </a:r>
          </a:p>
          <a:p>
            <a:pPr marL="742950" lvl="1" indent="-285750"/>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destination</a:t>
            </a:r>
            <a:r>
              <a:rPr lang="en-US" dirty="0">
                <a:latin typeface="Times New Roman" panose="02020603050405020304" pitchFamily="18" charset="0"/>
                <a:cs typeface="Times New Roman" panose="02020603050405020304" pitchFamily="18" charset="0"/>
              </a:rPr>
              <a:t> (Local Base Station – LBS) initiates the route discovery.</a:t>
            </a:r>
          </a:p>
          <a:p>
            <a:pPr marL="742950" lvl="1" indent="-285750"/>
            <a:r>
              <a:rPr lang="en-US" dirty="0">
                <a:latin typeface="Times New Roman" panose="02020603050405020304" pitchFamily="18" charset="0"/>
                <a:cs typeface="Times New Roman" panose="02020603050405020304" pitchFamily="18" charset="0"/>
              </a:rPr>
              <a:t>The LBS sends an </a:t>
            </a:r>
            <a:r>
              <a:rPr lang="en-US" b="1" dirty="0">
                <a:latin typeface="Times New Roman" panose="02020603050405020304" pitchFamily="18" charset="0"/>
                <a:cs typeface="Times New Roman" panose="02020603050405020304" pitchFamily="18" charset="0"/>
              </a:rPr>
              <a:t>interest signal</a:t>
            </a:r>
            <a:r>
              <a:rPr lang="en-US" dirty="0">
                <a:latin typeface="Times New Roman" panose="02020603050405020304" pitchFamily="18" charset="0"/>
                <a:cs typeface="Times New Roman" panose="02020603050405020304" pitchFamily="18" charset="0"/>
              </a:rPr>
              <a:t>.</a:t>
            </a:r>
          </a:p>
          <a:p>
            <a:pPr marL="742950" lvl="1" indent="-285750"/>
            <a:r>
              <a:rPr lang="en-US" dirty="0">
                <a:latin typeface="Times New Roman" panose="02020603050405020304" pitchFamily="18" charset="0"/>
                <a:cs typeface="Times New Roman" panose="02020603050405020304" pitchFamily="18" charset="0"/>
              </a:rPr>
              <a:t>This signal </a:t>
            </a:r>
            <a:r>
              <a:rPr lang="en-US" b="1" dirty="0">
                <a:latin typeface="Times New Roman" panose="02020603050405020304" pitchFamily="18" charset="0"/>
                <a:cs typeface="Times New Roman" panose="02020603050405020304" pitchFamily="18" charset="0"/>
              </a:rPr>
              <a:t>floods through the network</a:t>
            </a:r>
            <a:r>
              <a:rPr lang="en-US" dirty="0">
                <a:latin typeface="Times New Roman" panose="02020603050405020304" pitchFamily="18" charset="0"/>
                <a:cs typeface="Times New Roman" panose="02020603050405020304" pitchFamily="18" charset="0"/>
              </a:rPr>
              <a:t>, helping nodes discover energy-efficient routes.</a:t>
            </a:r>
          </a:p>
          <a:p>
            <a:r>
              <a:rPr lang="en-US" sz="2400" b="1" dirty="0">
                <a:latin typeface="Times New Roman" panose="02020603050405020304" pitchFamily="18" charset="0"/>
                <a:cs typeface="Times New Roman" panose="02020603050405020304" pitchFamily="18" charset="0"/>
              </a:rPr>
              <a:t>Goal</a:t>
            </a:r>
            <a:r>
              <a:rPr lang="en-US" sz="2400" dirty="0">
                <a:latin typeface="Times New Roman" panose="02020603050405020304" pitchFamily="18" charset="0"/>
                <a:cs typeface="Times New Roman" panose="02020603050405020304" pitchFamily="18" charset="0"/>
              </a:rPr>
              <a:t>: Ensure that routes between clusters are </a:t>
            </a:r>
            <a:r>
              <a:rPr lang="en-US" sz="2400" b="1" dirty="0">
                <a:latin typeface="Times New Roman" panose="02020603050405020304" pitchFamily="18" charset="0"/>
                <a:cs typeface="Times New Roman" panose="02020603050405020304" pitchFamily="18" charset="0"/>
              </a:rPr>
              <a:t>energy-efficient</a:t>
            </a:r>
            <a:r>
              <a:rPr lang="en-US" sz="2400" dirty="0">
                <a:latin typeface="Times New Roman" panose="02020603050405020304" pitchFamily="18" charset="0"/>
                <a:cs typeface="Times New Roman" panose="02020603050405020304" pitchFamily="18" charset="0"/>
              </a:rPr>
              <a:t>, extending the network’s lifetime.</a:t>
            </a:r>
          </a:p>
          <a:p>
            <a:endParaRPr lang="en-US" dirty="0"/>
          </a:p>
        </p:txBody>
      </p:sp>
      <p:sp>
        <p:nvSpPr>
          <p:cNvPr id="6" name="Slide Number Placeholder 5"/>
          <p:cNvSpPr>
            <a:spLocks noGrp="1"/>
          </p:cNvSpPr>
          <p:nvPr>
            <p:ph type="sldNum" sz="quarter" idx="12"/>
          </p:nvPr>
        </p:nvSpPr>
        <p:spPr/>
        <p:txBody>
          <a:bodyPr/>
          <a:lstStyle/>
          <a:p>
            <a:fld id="{C3F1913A-7668-436E-8561-76A60B792217}" type="slidenum">
              <a:rPr lang="en-US" smtClean="0"/>
              <a:t>49</a:t>
            </a:fld>
            <a:endParaRPr lang="en-US"/>
          </a:p>
        </p:txBody>
      </p:sp>
      <p:sp>
        <p:nvSpPr>
          <p:cNvPr id="7" name="Rectangle 6"/>
          <p:cNvSpPr/>
          <p:nvPr/>
        </p:nvSpPr>
        <p:spPr>
          <a:xfrm>
            <a:off x="838200" y="3483186"/>
            <a:ext cx="10515600" cy="1938992"/>
          </a:xfrm>
          <a:prstGeom prst="rect">
            <a:avLst/>
          </a:prstGeom>
          <a:solidFill>
            <a:srgbClr val="CCFFFF"/>
          </a:solidFill>
        </p:spPr>
        <p:txBody>
          <a:bodyPr wrap="square">
            <a:spAutoFit/>
          </a:bodyPr>
          <a:lstStyle/>
          <a:p>
            <a:r>
              <a:rPr lang="en-US" sz="2000" b="1" dirty="0">
                <a:latin typeface="Times New Roman" panose="02020603050405020304" pitchFamily="18" charset="0"/>
                <a:cs typeface="Times New Roman" panose="02020603050405020304" pitchFamily="18" charset="0"/>
              </a:rPr>
              <a:t>Figure Explanation (Figure 7)</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LBS (Local Base Station)</a:t>
            </a:r>
            <a:r>
              <a:rPr lang="en-US" sz="2000" dirty="0">
                <a:latin typeface="Times New Roman" panose="02020603050405020304" pitchFamily="18" charset="0"/>
                <a:cs typeface="Times New Roman" panose="02020603050405020304" pitchFamily="18" charset="0"/>
              </a:rPr>
              <a:t>: The central destination node.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a:t>
            </a:r>
            <a:r>
              <a:rPr lang="en-US" sz="2000" b="1" dirty="0">
                <a:latin typeface="Times New Roman" panose="02020603050405020304" pitchFamily="18" charset="0"/>
                <a:cs typeface="Times New Roman" panose="02020603050405020304" pitchFamily="18" charset="0"/>
              </a:rPr>
              <a:t>generates interest signals</a:t>
            </a:r>
            <a:r>
              <a:rPr lang="en-US" sz="2000" dirty="0">
                <a:latin typeface="Times New Roman" panose="02020603050405020304" pitchFamily="18" charset="0"/>
                <a:cs typeface="Times New Roman" panose="02020603050405020304" pitchFamily="18" charset="0"/>
              </a:rPr>
              <a:t> that spread across the network.</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Other nodes receive the signal and participate in building efficient paths back to the LBS.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dotted circles likely represent </a:t>
            </a:r>
            <a:r>
              <a:rPr lang="en-US" sz="2000" b="1" dirty="0">
                <a:latin typeface="Times New Roman" panose="02020603050405020304" pitchFamily="18" charset="0"/>
                <a:cs typeface="Times New Roman" panose="02020603050405020304" pitchFamily="18" charset="0"/>
              </a:rPr>
              <a:t>clusters</a:t>
            </a:r>
            <a:r>
              <a:rPr lang="en-US" sz="20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arrows indicate </a:t>
            </a:r>
            <a:r>
              <a:rPr lang="en-US" sz="2000" b="1" dirty="0">
                <a:latin typeface="Times New Roman" panose="02020603050405020304" pitchFamily="18" charset="0"/>
                <a:cs typeface="Times New Roman" panose="02020603050405020304" pitchFamily="18" charset="0"/>
              </a:rPr>
              <a:t>route discovery</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signal flooding</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282180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37032" y="320040"/>
            <a:ext cx="11067288" cy="5870448"/>
          </a:xfrm>
          <a:solidFill>
            <a:srgbClr val="CCCCFF"/>
          </a:solidFill>
        </p:spPr>
        <p:txBody>
          <a:bodyPr>
            <a:normAutofit fontScale="85000" lnSpcReduction="10000"/>
          </a:bodyPr>
          <a:lstStyle/>
          <a:p>
            <a:pPr marL="0" indent="0">
              <a:buNone/>
            </a:pPr>
            <a:r>
              <a:rPr lang="en-US" b="1" dirty="0"/>
              <a:t> </a:t>
            </a:r>
            <a:r>
              <a:rPr lang="en-US" sz="2600" b="1" dirty="0" err="1">
                <a:latin typeface="Times New Roman" panose="02020603050405020304" pitchFamily="18" charset="0"/>
                <a:cs typeface="Times New Roman" panose="02020603050405020304" pitchFamily="18" charset="0"/>
              </a:rPr>
              <a:t>Intercluster</a:t>
            </a:r>
            <a:r>
              <a:rPr lang="en-US" sz="2600" b="1" dirty="0">
                <a:latin typeface="Times New Roman" panose="02020603050405020304" pitchFamily="18" charset="0"/>
                <a:cs typeface="Times New Roman" panose="02020603050405020304" pitchFamily="18" charset="0"/>
              </a:rPr>
              <a:t> Energy-Conscious Routing (ICR)</a:t>
            </a:r>
          </a:p>
          <a:p>
            <a:r>
              <a:rPr lang="en-US" sz="2600" b="1" dirty="0">
                <a:latin typeface="Times New Roman" panose="02020603050405020304" pitchFamily="18" charset="0"/>
                <a:cs typeface="Times New Roman" panose="02020603050405020304" pitchFamily="18" charset="0"/>
              </a:rPr>
              <a:t>Type</a:t>
            </a:r>
            <a:r>
              <a:rPr lang="en-US" sz="2600" dirty="0">
                <a:latin typeface="Times New Roman" panose="02020603050405020304" pitchFamily="18" charset="0"/>
                <a:cs typeface="Times New Roman" panose="02020603050405020304" pitchFamily="18" charset="0"/>
              </a:rPr>
              <a:t>: Destination-initiated </a:t>
            </a:r>
            <a:r>
              <a:rPr lang="en-US" sz="2600" b="1" dirty="0">
                <a:latin typeface="Times New Roman" panose="02020603050405020304" pitchFamily="18" charset="0"/>
                <a:cs typeface="Times New Roman" panose="02020603050405020304" pitchFamily="18" charset="0"/>
              </a:rPr>
              <a:t>reactive protocol</a:t>
            </a:r>
            <a:r>
              <a:rPr lang="en-US" sz="2600" dirty="0">
                <a:latin typeface="Times New Roman" panose="02020603050405020304" pitchFamily="18" charset="0"/>
                <a:cs typeface="Times New Roman" panose="02020603050405020304" pitchFamily="18" charset="0"/>
              </a:rPr>
              <a:t> (not proactive → no periodic route maintenance).</a:t>
            </a:r>
          </a:p>
          <a:p>
            <a:r>
              <a:rPr lang="en-US" sz="2600" b="1" dirty="0">
                <a:latin typeface="Times New Roman" panose="02020603050405020304" pitchFamily="18" charset="0"/>
                <a:cs typeface="Times New Roman" panose="02020603050405020304" pitchFamily="18" charset="0"/>
              </a:rPr>
              <a:t>Key Idea</a:t>
            </a:r>
            <a:r>
              <a:rPr lang="en-US" sz="2600" dirty="0">
                <a:latin typeface="Times New Roman" panose="02020603050405020304" pitchFamily="18" charset="0"/>
                <a:cs typeface="Times New Roman" panose="02020603050405020304" pitchFamily="18" charset="0"/>
              </a:rPr>
              <a:t>: The Local Base Station (LBS) starts route discovery, instead of source nodes.</a:t>
            </a:r>
          </a:p>
          <a:p>
            <a:pPr marL="0" indent="0">
              <a:buNone/>
            </a:pPr>
            <a:r>
              <a:rPr lang="en-US" sz="2600" dirty="0">
                <a:latin typeface="Times New Roman" panose="02020603050405020304" pitchFamily="18" charset="0"/>
                <a:cs typeface="Times New Roman" panose="02020603050405020304" pitchFamily="18" charset="0"/>
              </a:rPr>
              <a:t>  Process</a:t>
            </a:r>
          </a:p>
          <a:p>
            <a:pPr>
              <a:buFont typeface="+mj-lt"/>
              <a:buAutoNum type="arabicPeriod"/>
            </a:pPr>
            <a:r>
              <a:rPr lang="en-US" sz="2600" b="1" dirty="0">
                <a:latin typeface="Times New Roman" panose="02020603050405020304" pitchFamily="18" charset="0"/>
                <a:cs typeface="Times New Roman" panose="02020603050405020304" pitchFamily="18" charset="0"/>
              </a:rPr>
              <a:t>Route Discovery Initiation</a:t>
            </a:r>
            <a:endParaRPr lang="en-US" sz="26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2600" dirty="0">
                <a:latin typeface="Times New Roman" panose="02020603050405020304" pitchFamily="18" charset="0"/>
                <a:cs typeface="Times New Roman" panose="02020603050405020304" pitchFamily="18" charset="0"/>
              </a:rPr>
              <a:t>The LBS generates an interest signal (like a query or request for data).</a:t>
            </a:r>
          </a:p>
          <a:p>
            <a:pPr marL="742950" lvl="1" indent="-285750">
              <a:buFont typeface="+mj-lt"/>
              <a:buAutoNum type="arabicPeriod"/>
            </a:pPr>
            <a:r>
              <a:rPr lang="en-US" sz="2600" dirty="0">
                <a:latin typeface="Times New Roman" panose="02020603050405020304" pitchFamily="18" charset="0"/>
                <a:cs typeface="Times New Roman" panose="02020603050405020304" pitchFamily="18" charset="0"/>
              </a:rPr>
              <a:t>This signal is flooded across the network.</a:t>
            </a:r>
          </a:p>
          <a:p>
            <a:pPr>
              <a:buFont typeface="+mj-lt"/>
              <a:buAutoNum type="arabicPeriod"/>
            </a:pPr>
            <a:r>
              <a:rPr lang="en-US" sz="2600" b="1" dirty="0">
                <a:latin typeface="Times New Roman" panose="02020603050405020304" pitchFamily="18" charset="0"/>
                <a:cs typeface="Times New Roman" panose="02020603050405020304" pitchFamily="18" charset="0"/>
              </a:rPr>
              <a:t>Interest Signal Propagation</a:t>
            </a:r>
            <a:endParaRPr lang="en-US" sz="26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2600" dirty="0">
                <a:latin typeface="Times New Roman" panose="02020603050405020304" pitchFamily="18" charset="0"/>
                <a:cs typeface="Times New Roman" panose="02020603050405020304" pitchFamily="18" charset="0"/>
              </a:rPr>
              <a:t>Each node/CH that receives the signal forwards it to neighbors.</a:t>
            </a:r>
          </a:p>
          <a:p>
            <a:pPr marL="742950" lvl="1" indent="-285750">
              <a:buFont typeface="+mj-lt"/>
              <a:buAutoNum type="arabicPeriod"/>
            </a:pPr>
            <a:r>
              <a:rPr lang="en-US" sz="2600" dirty="0">
                <a:latin typeface="Times New Roman" panose="02020603050405020304" pitchFamily="18" charset="0"/>
                <a:cs typeface="Times New Roman" panose="02020603050405020304" pitchFamily="18" charset="0"/>
              </a:rPr>
              <a:t>While forwarding, nodes also record energy metrics (residual energy, link cost).</a:t>
            </a:r>
          </a:p>
          <a:p>
            <a:pPr>
              <a:buFont typeface="+mj-lt"/>
              <a:buAutoNum type="arabicPeriod"/>
            </a:pPr>
            <a:r>
              <a:rPr lang="en-US" sz="2600" b="1" dirty="0">
                <a:latin typeface="Times New Roman" panose="02020603050405020304" pitchFamily="18" charset="0"/>
                <a:cs typeface="Times New Roman" panose="02020603050405020304" pitchFamily="18" charset="0"/>
              </a:rPr>
              <a:t>Path Establishment</a:t>
            </a:r>
            <a:endParaRPr lang="en-US" sz="26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2600" dirty="0">
                <a:latin typeface="Times New Roman" panose="02020603050405020304" pitchFamily="18" charset="0"/>
                <a:cs typeface="Times New Roman" panose="02020603050405020304" pitchFamily="18" charset="0"/>
              </a:rPr>
              <a:t>Multiple possible paths from LBS to sensor nodes are discovered.</a:t>
            </a:r>
          </a:p>
          <a:p>
            <a:pPr marL="742950" lvl="1" indent="-285750">
              <a:buFont typeface="+mj-lt"/>
              <a:buAutoNum type="arabicPeriod"/>
            </a:pPr>
            <a:r>
              <a:rPr lang="en-US" sz="2600" dirty="0">
                <a:latin typeface="Times New Roman" panose="02020603050405020304" pitchFamily="18" charset="0"/>
                <a:cs typeface="Times New Roman" panose="02020603050405020304" pitchFamily="18" charset="0"/>
              </a:rPr>
              <a:t>Among them, energy-efficient routes (minimizing total energy consumption) are selected.</a:t>
            </a:r>
          </a:p>
          <a:p>
            <a:pPr marL="0" lvl="0" indent="0" eaLnBrk="0" fontAlgn="base" hangingPunct="0">
              <a:lnSpc>
                <a:spcPct val="100000"/>
              </a:lnSpc>
              <a:spcBef>
                <a:spcPct val="0"/>
              </a:spcBef>
              <a:spcAft>
                <a:spcPct val="0"/>
              </a:spcAft>
              <a:buFontTx/>
              <a:buAutoNum type="arabicPeriod"/>
            </a:pPr>
            <a:r>
              <a:rPr lang="en-US" sz="2400" b="1" dirty="0">
                <a:solidFill>
                  <a:prstClr val="black"/>
                </a:solidFill>
                <a:latin typeface="Times New Roman" panose="02020603050405020304" pitchFamily="18" charset="0"/>
                <a:cs typeface="Times New Roman" panose="02020603050405020304" pitchFamily="18" charset="0"/>
              </a:rPr>
              <a:t>Data Transmission</a:t>
            </a:r>
            <a:endParaRPr lang="en-US" sz="2400" dirty="0">
              <a:solidFill>
                <a:prstClr val="black"/>
              </a:solidFill>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FontTx/>
              <a:buChar char="•"/>
            </a:pPr>
            <a:r>
              <a:rPr lang="en-US" dirty="0">
                <a:solidFill>
                  <a:prstClr val="black"/>
                </a:solidFill>
                <a:latin typeface="Times New Roman" panose="02020603050405020304" pitchFamily="18" charset="0"/>
                <a:cs typeface="Times New Roman" panose="02020603050405020304" pitchFamily="18" charset="0"/>
              </a:rPr>
              <a:t>Sensor data follows the selected path back to the LBS.</a:t>
            </a:r>
          </a:p>
          <a:p>
            <a:pPr marL="457200" lvl="1" indent="0" eaLnBrk="0" fontAlgn="base" hangingPunct="0">
              <a:lnSpc>
                <a:spcPct val="100000"/>
              </a:lnSpc>
              <a:spcBef>
                <a:spcPct val="0"/>
              </a:spcBef>
              <a:spcAft>
                <a:spcPct val="0"/>
              </a:spcAft>
              <a:buFontTx/>
              <a:buChar char="•"/>
            </a:pPr>
            <a:r>
              <a:rPr lang="en-US" dirty="0">
                <a:solidFill>
                  <a:prstClr val="black"/>
                </a:solidFill>
                <a:latin typeface="Times New Roman" panose="02020603050405020304" pitchFamily="18" charset="0"/>
                <a:cs typeface="Times New Roman" panose="02020603050405020304" pitchFamily="18" charset="0"/>
              </a:rPr>
              <a:t>Since paths are chosen based on </a:t>
            </a:r>
            <a:r>
              <a:rPr lang="en-US" b="1" dirty="0">
                <a:solidFill>
                  <a:prstClr val="black"/>
                </a:solidFill>
                <a:latin typeface="Times New Roman" panose="02020603050405020304" pitchFamily="18" charset="0"/>
                <a:cs typeface="Times New Roman" panose="02020603050405020304" pitchFamily="18" charset="0"/>
              </a:rPr>
              <a:t>energy-awareness</a:t>
            </a:r>
            <a:r>
              <a:rPr lang="en-US" dirty="0">
                <a:solidFill>
                  <a:prstClr val="black"/>
                </a:solidFill>
                <a:latin typeface="Times New Roman" panose="02020603050405020304" pitchFamily="18" charset="0"/>
                <a:cs typeface="Times New Roman" panose="02020603050405020304" pitchFamily="18" charset="0"/>
              </a:rPr>
              <a:t>, nodes avoid quick depletion.</a:t>
            </a:r>
          </a:p>
          <a:p>
            <a:pPr marL="457200" lvl="1" indent="0">
              <a:buNone/>
            </a:pPr>
            <a:endParaRPr lang="en-US" sz="2600" dirty="0">
              <a:latin typeface="Times New Roman" panose="02020603050405020304" pitchFamily="18" charset="0"/>
              <a:cs typeface="Times New Roman" panose="02020603050405020304" pitchFamily="18" charset="0"/>
            </a:endParaRPr>
          </a:p>
          <a:p>
            <a:endParaRPr lang="en-US" dirty="0"/>
          </a:p>
        </p:txBody>
      </p:sp>
      <p:sp>
        <p:nvSpPr>
          <p:cNvPr id="6" name="Slide Number Placeholder 5"/>
          <p:cNvSpPr>
            <a:spLocks noGrp="1"/>
          </p:cNvSpPr>
          <p:nvPr>
            <p:ph type="sldNum" sz="quarter" idx="12"/>
          </p:nvPr>
        </p:nvSpPr>
        <p:spPr/>
        <p:txBody>
          <a:bodyPr/>
          <a:lstStyle/>
          <a:p>
            <a:fld id="{C3F1913A-7668-436E-8561-76A60B792217}" type="slidenum">
              <a:rPr lang="en-US" smtClean="0"/>
              <a:t>50</a:t>
            </a:fld>
            <a:endParaRPr lang="en-US"/>
          </a:p>
        </p:txBody>
      </p:sp>
    </p:spTree>
    <p:extLst>
      <p:ext uri="{BB962C8B-B14F-4D97-AF65-F5344CB8AC3E}">
        <p14:creationId xmlns:p14="http://schemas.microsoft.com/office/powerpoint/2010/main" val="35618343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C3F1913A-7668-436E-8561-76A60B792217}" type="slidenum">
              <a:rPr lang="en-US" smtClean="0"/>
              <a:t>51</a:t>
            </a:fld>
            <a:endParaRPr lang="en-US"/>
          </a:p>
        </p:txBody>
      </p:sp>
      <p:sp>
        <p:nvSpPr>
          <p:cNvPr id="7" name="Title 1"/>
          <p:cNvSpPr>
            <a:spLocks noGrp="1"/>
          </p:cNvSpPr>
          <p:nvPr>
            <p:ph sz="half" idx="1"/>
          </p:nvPr>
        </p:nvSpPr>
        <p:spPr>
          <a:xfrm>
            <a:off x="719328" y="695198"/>
            <a:ext cx="10908792" cy="2819589"/>
          </a:xfrm>
          <a:solidFill>
            <a:srgbClr val="CCFFFF"/>
          </a:solidFill>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Why </a:t>
            </a:r>
            <a:r>
              <a:rPr lang="en-US" sz="2000" b="1" dirty="0" err="1">
                <a:latin typeface="Times New Roman" panose="02020603050405020304" pitchFamily="18" charset="0"/>
                <a:cs typeface="Times New Roman" panose="02020603050405020304" pitchFamily="18" charset="0"/>
              </a:rPr>
              <a:t>Intercluster</a:t>
            </a:r>
            <a:r>
              <a:rPr lang="en-US" sz="2000" b="1" dirty="0">
                <a:latin typeface="Times New Roman" panose="02020603050405020304" pitchFamily="18" charset="0"/>
                <a:cs typeface="Times New Roman" panose="02020603050405020304" pitchFamily="18" charset="0"/>
              </a:rPr>
              <a:t> Protocols Are Needed</a:t>
            </a:r>
          </a:p>
          <a:p>
            <a:r>
              <a:rPr lang="en-US" sz="2000" dirty="0">
                <a:latin typeface="Times New Roman" panose="02020603050405020304" pitchFamily="18" charset="0"/>
                <a:cs typeface="Times New Roman" panose="02020603050405020304" pitchFamily="18" charset="0"/>
              </a:rPr>
              <a:t>Direct communication from each CH to the BS is costly (long distance → high energy).</a:t>
            </a:r>
          </a:p>
          <a:p>
            <a:r>
              <a:rPr lang="en-US" sz="2000" dirty="0">
                <a:latin typeface="Times New Roman" panose="02020603050405020304" pitchFamily="18" charset="0"/>
                <a:cs typeface="Times New Roman" panose="02020603050405020304" pitchFamily="18" charset="0"/>
              </a:rPr>
              <a:t>Instead, CHs cooperate and forward data </a:t>
            </a:r>
            <a:r>
              <a:rPr lang="en-US" sz="2000" b="1" dirty="0">
                <a:latin typeface="Times New Roman" panose="02020603050405020304" pitchFamily="18" charset="0"/>
                <a:cs typeface="Times New Roman" panose="02020603050405020304" pitchFamily="18" charset="0"/>
              </a:rPr>
              <a:t>hop-by-hop</a:t>
            </a:r>
            <a:r>
              <a:rPr lang="en-US" sz="2000" dirty="0">
                <a:latin typeface="Times New Roman" panose="02020603050405020304" pitchFamily="18" charset="0"/>
                <a:cs typeface="Times New Roman" panose="02020603050405020304" pitchFamily="18" charset="0"/>
              </a:rPr>
              <a:t> through other CHs to the BS.</a:t>
            </a:r>
          </a:p>
          <a:p>
            <a:r>
              <a:rPr lang="en-US" sz="2000" dirty="0">
                <a:latin typeface="Times New Roman" panose="02020603050405020304" pitchFamily="18" charset="0"/>
                <a:cs typeface="Times New Roman" panose="02020603050405020304" pitchFamily="18" charset="0"/>
              </a:rPr>
              <a:t>Efficient routing ensures:</a:t>
            </a:r>
          </a:p>
          <a:p>
            <a:pPr lvl="1"/>
            <a:r>
              <a:rPr lang="en-US" sz="2000" b="1" dirty="0">
                <a:latin typeface="Times New Roman" panose="02020603050405020304" pitchFamily="18" charset="0"/>
                <a:cs typeface="Times New Roman" panose="02020603050405020304" pitchFamily="18" charset="0"/>
              </a:rPr>
              <a:t>Reduced energy consumption</a:t>
            </a:r>
            <a:endParaRPr lang="en-US" sz="2000" dirty="0">
              <a:latin typeface="Times New Roman" panose="02020603050405020304" pitchFamily="18" charset="0"/>
              <a:cs typeface="Times New Roman" panose="02020603050405020304" pitchFamily="18" charset="0"/>
            </a:endParaRPr>
          </a:p>
          <a:p>
            <a:pPr lvl="1"/>
            <a:r>
              <a:rPr lang="en-US" sz="2000" b="1" dirty="0">
                <a:latin typeface="Times New Roman" panose="02020603050405020304" pitchFamily="18" charset="0"/>
                <a:cs typeface="Times New Roman" panose="02020603050405020304" pitchFamily="18" charset="0"/>
              </a:rPr>
              <a:t>Prolonged network lifetime</a:t>
            </a:r>
            <a:endParaRPr lang="en-US" sz="2000" dirty="0">
              <a:latin typeface="Times New Roman" panose="02020603050405020304" pitchFamily="18" charset="0"/>
              <a:cs typeface="Times New Roman" panose="02020603050405020304" pitchFamily="18" charset="0"/>
            </a:endParaRPr>
          </a:p>
          <a:p>
            <a:pPr lvl="1"/>
            <a:r>
              <a:rPr lang="en-US" sz="2000" b="1" dirty="0">
                <a:latin typeface="Times New Roman" panose="02020603050405020304" pitchFamily="18" charset="0"/>
                <a:cs typeface="Times New Roman" panose="02020603050405020304" pitchFamily="18" charset="0"/>
              </a:rPr>
              <a:t>Balanced energy usage across clusters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74412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70E88E3-A268-4424-9F21-F7FB6171F868}"/>
              </a:ext>
            </a:extLst>
          </p:cNvPr>
          <p:cNvSpPr txBox="1"/>
          <p:nvPr/>
        </p:nvSpPr>
        <p:spPr>
          <a:xfrm>
            <a:off x="373224" y="2761862"/>
            <a:ext cx="11364686" cy="1015663"/>
          </a:xfrm>
          <a:prstGeom prst="rect">
            <a:avLst/>
          </a:prstGeom>
          <a:solidFill>
            <a:srgbClr val="CCCCFF"/>
          </a:solidFill>
        </p:spPr>
        <p:txBody>
          <a:bodyPr wrap="square" rtlCol="0">
            <a:spAutoFit/>
          </a:bodyPr>
          <a:lstStyle/>
          <a:p>
            <a:r>
              <a:rPr lang="en-US" sz="6000" dirty="0">
                <a:latin typeface="Times New Roman" panose="02020603050405020304" pitchFamily="18" charset="0"/>
                <a:cs typeface="Times New Roman" panose="02020603050405020304" pitchFamily="18" charset="0"/>
              </a:rPr>
              <a:t>Computational Intelligence in WSN</a:t>
            </a:r>
          </a:p>
        </p:txBody>
      </p:sp>
      <p:sp>
        <p:nvSpPr>
          <p:cNvPr id="4" name="Slide Number Placeholder 3">
            <a:extLst>
              <a:ext uri="{FF2B5EF4-FFF2-40B4-BE49-F238E27FC236}">
                <a16:creationId xmlns:a16="http://schemas.microsoft.com/office/drawing/2014/main" id="{2E31623A-FC0B-4E29-A98F-A35F8969C5C1}"/>
              </a:ext>
            </a:extLst>
          </p:cNvPr>
          <p:cNvSpPr>
            <a:spLocks noGrp="1"/>
          </p:cNvSpPr>
          <p:nvPr>
            <p:ph type="sldNum" sz="quarter" idx="12"/>
          </p:nvPr>
        </p:nvSpPr>
        <p:spPr/>
        <p:txBody>
          <a:bodyPr/>
          <a:lstStyle/>
          <a:p>
            <a:fld id="{C3F1913A-7668-436E-8561-76A60B792217}" type="slidenum">
              <a:rPr lang="en-US" smtClean="0"/>
              <a:t>52</a:t>
            </a:fld>
            <a:endParaRPr lang="en-US"/>
          </a:p>
        </p:txBody>
      </p:sp>
    </p:spTree>
    <p:extLst>
      <p:ext uri="{BB962C8B-B14F-4D97-AF65-F5344CB8AC3E}">
        <p14:creationId xmlns:p14="http://schemas.microsoft.com/office/powerpoint/2010/main" val="3532623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667513"/>
            <a:ext cx="9979152" cy="3124558"/>
          </a:xfrm>
          <a:solidFill>
            <a:srgbClr val="CCCCFF"/>
          </a:solidFill>
        </p:spPr>
        <p:txBody>
          <a:bodyPr>
            <a:normAutofit lnSpcReduction="10000"/>
          </a:bodyPr>
          <a:lstStyle/>
          <a:p>
            <a:pPr marL="0" indent="0">
              <a:buNone/>
            </a:pPr>
            <a:r>
              <a:rPr lang="en-US" sz="2000" b="1" dirty="0">
                <a:latin typeface="Times New Roman" panose="02020603050405020304" pitchFamily="18" charset="0"/>
                <a:cs typeface="Times New Roman" panose="02020603050405020304" pitchFamily="18" charset="0"/>
              </a:rPr>
              <a:t>Computational Intelligence in WSN</a:t>
            </a:r>
          </a:p>
          <a:p>
            <a:r>
              <a:rPr lang="en-US" sz="2000" b="1" dirty="0">
                <a:latin typeface="Times New Roman" panose="02020603050405020304" pitchFamily="18" charset="0"/>
                <a:cs typeface="Times New Roman" panose="02020603050405020304" pitchFamily="18" charset="0"/>
              </a:rPr>
              <a:t>Computational Intelligence (CI)</a:t>
            </a:r>
            <a:r>
              <a:rPr lang="en-US" sz="2000" dirty="0">
                <a:latin typeface="Times New Roman" panose="02020603050405020304" pitchFamily="18" charset="0"/>
                <a:cs typeface="Times New Roman" panose="02020603050405020304" pitchFamily="18" charset="0"/>
              </a:rPr>
              <a:t> is a set of nature-inspired, adaptive, and heuristic approaches used to solve complex optimization and decision-making problems.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In Wireless Sensor Networks (WSN), CI is very useful because WSNs face challenges like:</a:t>
            </a:r>
          </a:p>
          <a:p>
            <a:r>
              <a:rPr lang="en-US" sz="2000" dirty="0">
                <a:latin typeface="Times New Roman" panose="02020603050405020304" pitchFamily="18" charset="0"/>
                <a:cs typeface="Times New Roman" panose="02020603050405020304" pitchFamily="18" charset="0"/>
              </a:rPr>
              <a:t>Limited energy (battery power).</a:t>
            </a:r>
          </a:p>
          <a:p>
            <a:r>
              <a:rPr lang="en-US" sz="2000" dirty="0">
                <a:latin typeface="Times New Roman" panose="02020603050405020304" pitchFamily="18" charset="0"/>
                <a:cs typeface="Times New Roman" panose="02020603050405020304" pitchFamily="18" charset="0"/>
              </a:rPr>
              <a:t>Limited bandwidth and processing power.</a:t>
            </a:r>
          </a:p>
          <a:p>
            <a:r>
              <a:rPr lang="en-US" sz="2000" dirty="0">
                <a:latin typeface="Times New Roman" panose="02020603050405020304" pitchFamily="18" charset="0"/>
                <a:cs typeface="Times New Roman" panose="02020603050405020304" pitchFamily="18" charset="0"/>
              </a:rPr>
              <a:t>Harsh and dynamic environments.</a:t>
            </a:r>
          </a:p>
          <a:p>
            <a:r>
              <a:rPr lang="en-US" sz="2000" dirty="0">
                <a:latin typeface="Times New Roman" panose="02020603050405020304" pitchFamily="18" charset="0"/>
                <a:cs typeface="Times New Roman" panose="02020603050405020304" pitchFamily="18" charset="0"/>
              </a:rPr>
              <a:t>Scalability (hundreds or thousands of nodes).</a:t>
            </a:r>
          </a:p>
          <a:p>
            <a:r>
              <a:rPr lang="en-US" sz="2000" dirty="0">
                <a:latin typeface="Times New Roman" panose="02020603050405020304" pitchFamily="18" charset="0"/>
                <a:cs typeface="Times New Roman" panose="02020603050405020304" pitchFamily="18" charset="0"/>
              </a:rPr>
              <a:t>Need for self-organization and autonomous operation.</a:t>
            </a:r>
          </a:p>
          <a:p>
            <a:endParaRPr lang="en-US" dirty="0"/>
          </a:p>
        </p:txBody>
      </p:sp>
      <p:sp>
        <p:nvSpPr>
          <p:cNvPr id="5" name="Slide Number Placeholder 4"/>
          <p:cNvSpPr>
            <a:spLocks noGrp="1"/>
          </p:cNvSpPr>
          <p:nvPr>
            <p:ph type="sldNum" sz="quarter" idx="12"/>
          </p:nvPr>
        </p:nvSpPr>
        <p:spPr/>
        <p:txBody>
          <a:bodyPr/>
          <a:lstStyle/>
          <a:p>
            <a:fld id="{C3F1913A-7668-436E-8561-76A60B792217}" type="slidenum">
              <a:rPr lang="en-US" smtClean="0"/>
              <a:t>53</a:t>
            </a:fld>
            <a:endParaRPr lang="en-US"/>
          </a:p>
        </p:txBody>
      </p:sp>
      <p:sp>
        <p:nvSpPr>
          <p:cNvPr id="2" name="Rectangle 1"/>
          <p:cNvSpPr/>
          <p:nvPr/>
        </p:nvSpPr>
        <p:spPr>
          <a:xfrm>
            <a:off x="838200" y="4126237"/>
            <a:ext cx="6096000" cy="2308324"/>
          </a:xfrm>
          <a:prstGeom prst="rect">
            <a:avLst/>
          </a:prstGeom>
          <a:solidFill>
            <a:srgbClr val="CCFFFF"/>
          </a:solidFill>
        </p:spPr>
        <p:txBody>
          <a:bodyPr>
            <a:spAutoFit/>
          </a:bodyPr>
          <a:lstStyle/>
          <a:p>
            <a:r>
              <a:rPr lang="en-US" b="1" dirty="0">
                <a:latin typeface="Times New Roman" panose="02020603050405020304" pitchFamily="18" charset="0"/>
                <a:cs typeface="Times New Roman" panose="02020603050405020304" pitchFamily="18" charset="0"/>
              </a:rPr>
              <a:t>Major CI Techniques in WSN</a:t>
            </a:r>
          </a:p>
          <a:p>
            <a:r>
              <a:rPr lang="en-US" dirty="0">
                <a:latin typeface="Times New Roman" panose="02020603050405020304" pitchFamily="18" charset="0"/>
                <a:cs typeface="Times New Roman" panose="02020603050405020304" pitchFamily="18" charset="0"/>
              </a:rPr>
              <a:t>1. Genetic Algorithms (GA)</a:t>
            </a:r>
          </a:p>
          <a:p>
            <a:r>
              <a:rPr lang="en-US" dirty="0">
                <a:latin typeface="Times New Roman" panose="02020603050405020304" pitchFamily="18" charset="0"/>
                <a:cs typeface="Times New Roman" panose="02020603050405020304" pitchFamily="18" charset="0"/>
              </a:rPr>
              <a:t>2. Swarm Intelligence (SI)</a:t>
            </a:r>
          </a:p>
          <a:p>
            <a:r>
              <a:rPr lang="en-US" dirty="0">
                <a:latin typeface="Times New Roman" panose="02020603050405020304" pitchFamily="18" charset="0"/>
                <a:cs typeface="Times New Roman" panose="02020603050405020304" pitchFamily="18" charset="0"/>
              </a:rPr>
              <a:t>3. Fuzzy Logic</a:t>
            </a:r>
          </a:p>
          <a:p>
            <a:r>
              <a:rPr lang="en-US" dirty="0">
                <a:latin typeface="Times New Roman" panose="02020603050405020304" pitchFamily="18" charset="0"/>
                <a:cs typeface="Times New Roman" panose="02020603050405020304" pitchFamily="18" charset="0"/>
              </a:rPr>
              <a:t>4. Neural Networks (NN)</a:t>
            </a:r>
          </a:p>
          <a:p>
            <a:r>
              <a:rPr lang="en-US" dirty="0">
                <a:latin typeface="Times New Roman" panose="02020603050405020304" pitchFamily="18" charset="0"/>
                <a:cs typeface="Times New Roman" panose="02020603050405020304" pitchFamily="18" charset="0"/>
              </a:rPr>
              <a:t>5. Evolutionary Algorithms (EA)</a:t>
            </a:r>
          </a:p>
          <a:p>
            <a:r>
              <a:rPr lang="en-US" dirty="0">
                <a:latin typeface="Times New Roman" panose="02020603050405020304" pitchFamily="18" charset="0"/>
                <a:cs typeface="Times New Roman" panose="02020603050405020304" pitchFamily="18" charset="0"/>
              </a:rPr>
              <a:t>6. Reinforcement Learning (RL)</a:t>
            </a:r>
          </a:p>
          <a:p>
            <a:endParaRPr lang="en-US" dirty="0"/>
          </a:p>
        </p:txBody>
      </p:sp>
    </p:spTree>
    <p:extLst>
      <p:ext uri="{BB962C8B-B14F-4D97-AF65-F5344CB8AC3E}">
        <p14:creationId xmlns:p14="http://schemas.microsoft.com/office/powerpoint/2010/main" val="9779561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1" y="640081"/>
            <a:ext cx="4800600" cy="4039496"/>
          </a:xfrm>
          <a:solidFill>
            <a:srgbClr val="CCCCFF"/>
          </a:solidFill>
        </p:spPr>
        <p:txBody>
          <a:bodyPr>
            <a:normAutofit/>
          </a:bodyPr>
          <a:lstStyle/>
          <a:p>
            <a:pPr marL="0" indent="0">
              <a:buNone/>
            </a:pPr>
            <a:r>
              <a:rPr lang="en-US" sz="2200" b="1" dirty="0">
                <a:latin typeface="Times New Roman" panose="02020603050405020304" pitchFamily="18" charset="0"/>
                <a:cs typeface="Times New Roman" panose="02020603050405020304" pitchFamily="18" charset="0"/>
              </a:rPr>
              <a:t>Applications of CI in WSN                                         </a:t>
            </a:r>
          </a:p>
          <a:p>
            <a:pPr marL="0" indent="0">
              <a:buNone/>
            </a:pPr>
            <a:r>
              <a:rPr lang="en-US" sz="2200" b="1" dirty="0">
                <a:latin typeface="Times New Roman" panose="02020603050405020304" pitchFamily="18" charset="0"/>
                <a:cs typeface="Times New Roman" panose="02020603050405020304" pitchFamily="18" charset="0"/>
              </a:rPr>
              <a:t>1. Cluster Head (CH) Selection</a:t>
            </a:r>
          </a:p>
          <a:p>
            <a:r>
              <a:rPr lang="en-US" sz="2200" dirty="0">
                <a:latin typeface="Times New Roman" panose="02020603050405020304" pitchFamily="18" charset="0"/>
                <a:cs typeface="Times New Roman" panose="02020603050405020304" pitchFamily="18" charset="0"/>
              </a:rPr>
              <a:t>Genetic Algorithm (GA):</a:t>
            </a:r>
          </a:p>
          <a:p>
            <a:r>
              <a:rPr lang="en-US" sz="2200" dirty="0">
                <a:latin typeface="Times New Roman" panose="02020603050405020304" pitchFamily="18" charset="0"/>
                <a:cs typeface="Times New Roman" panose="02020603050405020304" pitchFamily="18" charset="0"/>
              </a:rPr>
              <a:t>Particle Swarm Optimization (PSO):</a:t>
            </a:r>
          </a:p>
          <a:p>
            <a:r>
              <a:rPr lang="en-US" sz="2200" dirty="0">
                <a:latin typeface="Times New Roman" panose="02020603050405020304" pitchFamily="18" charset="0"/>
                <a:cs typeface="Times New Roman" panose="02020603050405020304" pitchFamily="18" charset="0"/>
              </a:rPr>
              <a:t>Fuzzy Logic</a:t>
            </a:r>
          </a:p>
          <a:p>
            <a:pPr marL="0" indent="0">
              <a:buNone/>
            </a:pPr>
            <a:r>
              <a:rPr lang="en-US" sz="2200" b="1" dirty="0">
                <a:latin typeface="Times New Roman" panose="02020603050405020304" pitchFamily="18" charset="0"/>
                <a:cs typeface="Times New Roman" panose="02020603050405020304" pitchFamily="18" charset="0"/>
              </a:rPr>
              <a:t>2. Routing Optimization</a:t>
            </a:r>
          </a:p>
          <a:p>
            <a:r>
              <a:rPr lang="en-US" sz="2200" dirty="0">
                <a:latin typeface="Times New Roman" panose="02020603050405020304" pitchFamily="18" charset="0"/>
                <a:cs typeface="Times New Roman" panose="02020603050405020304" pitchFamily="18" charset="0"/>
              </a:rPr>
              <a:t>Ant Colony Optimization (ACO)</a:t>
            </a:r>
          </a:p>
          <a:p>
            <a:r>
              <a:rPr lang="en-US" sz="2200" dirty="0">
                <a:latin typeface="Times New Roman" panose="02020603050405020304" pitchFamily="18" charset="0"/>
                <a:cs typeface="Times New Roman" panose="02020603050405020304" pitchFamily="18" charset="0"/>
              </a:rPr>
              <a:t>Neural Networks</a:t>
            </a:r>
          </a:p>
          <a:p>
            <a:r>
              <a:rPr lang="en-US" sz="2200" dirty="0">
                <a:latin typeface="Times New Roman" panose="02020603050405020304" pitchFamily="18" charset="0"/>
                <a:cs typeface="Times New Roman" panose="02020603050405020304" pitchFamily="18" charset="0"/>
              </a:rPr>
              <a:t>Reinforcement Learning (RL)</a:t>
            </a:r>
          </a:p>
          <a:p>
            <a:endParaRPr lang="en-US" dirty="0"/>
          </a:p>
        </p:txBody>
      </p:sp>
      <p:sp>
        <p:nvSpPr>
          <p:cNvPr id="5" name="Slide Number Placeholder 4"/>
          <p:cNvSpPr>
            <a:spLocks noGrp="1"/>
          </p:cNvSpPr>
          <p:nvPr>
            <p:ph type="sldNum" sz="quarter" idx="12"/>
          </p:nvPr>
        </p:nvSpPr>
        <p:spPr/>
        <p:txBody>
          <a:bodyPr/>
          <a:lstStyle/>
          <a:p>
            <a:fld id="{C3F1913A-7668-436E-8561-76A60B792217}" type="slidenum">
              <a:rPr lang="en-US" smtClean="0"/>
              <a:t>54</a:t>
            </a:fld>
            <a:endParaRPr lang="en-US"/>
          </a:p>
        </p:txBody>
      </p:sp>
      <p:sp>
        <p:nvSpPr>
          <p:cNvPr id="2" name="Rectangle 1"/>
          <p:cNvSpPr/>
          <p:nvPr/>
        </p:nvSpPr>
        <p:spPr>
          <a:xfrm>
            <a:off x="5719483" y="640081"/>
            <a:ext cx="5634317" cy="3477875"/>
          </a:xfrm>
          <a:prstGeom prst="rect">
            <a:avLst/>
          </a:prstGeom>
          <a:solidFill>
            <a:srgbClr val="CCCCFF"/>
          </a:solidFill>
        </p:spPr>
        <p:txBody>
          <a:bodyPr wrap="square">
            <a:spAutoFit/>
          </a:bodyPr>
          <a:lstStyle/>
          <a:p>
            <a:r>
              <a:rPr lang="en-US" sz="2200" b="1" dirty="0">
                <a:latin typeface="Times New Roman" panose="02020603050405020304" pitchFamily="18" charset="0"/>
                <a:cs typeface="Times New Roman" panose="02020603050405020304" pitchFamily="18" charset="0"/>
              </a:rPr>
              <a:t>3. Data Aggregation &amp; Fusion</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Fuzzy Logic</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Neural Networks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Swarm Intelligence</a:t>
            </a:r>
          </a:p>
          <a:p>
            <a:r>
              <a:rPr lang="en-US" sz="2200" b="1" dirty="0">
                <a:latin typeface="Times New Roman" panose="02020603050405020304" pitchFamily="18" charset="0"/>
                <a:cs typeface="Times New Roman" panose="02020603050405020304" pitchFamily="18" charset="0"/>
              </a:rPr>
              <a:t>4. Fault Tolerance &amp; Security</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Detect faulty nodes using machine learning models.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Secure routing with game theory + CI approaches.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Adaptive re-clustering when nodes fail.</a:t>
            </a:r>
          </a:p>
        </p:txBody>
      </p:sp>
      <p:sp>
        <p:nvSpPr>
          <p:cNvPr id="4" name="Rectangle 3"/>
          <p:cNvSpPr/>
          <p:nvPr/>
        </p:nvSpPr>
        <p:spPr>
          <a:xfrm>
            <a:off x="838201" y="4743254"/>
            <a:ext cx="6096000" cy="1477328"/>
          </a:xfrm>
          <a:prstGeom prst="rect">
            <a:avLst/>
          </a:prstGeom>
          <a:solidFill>
            <a:srgbClr val="CCFFFF"/>
          </a:solidFill>
        </p:spPr>
        <p:txBody>
          <a:bodyPr>
            <a:spAutoFit/>
          </a:bodyPr>
          <a:lstStyle/>
          <a:p>
            <a:r>
              <a:rPr lang="en-US" b="1" dirty="0">
                <a:latin typeface="Times New Roman" panose="02020603050405020304" pitchFamily="18" charset="0"/>
                <a:cs typeface="Times New Roman" panose="02020603050405020304" pitchFamily="18" charset="0"/>
              </a:rPr>
              <a:t>🔹 Benefits of CI in WSN</a:t>
            </a:r>
          </a:p>
          <a:p>
            <a:r>
              <a:rPr lang="en-US" dirty="0">
                <a:latin typeface="Times New Roman" panose="02020603050405020304" pitchFamily="18" charset="0"/>
                <a:cs typeface="Times New Roman" panose="02020603050405020304" pitchFamily="18" charset="0"/>
              </a:rPr>
              <a:t>✅ Better energy efficiency (longer network lifetime)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Improved scalability &amp; adaptability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Enhanced robustness under uncertainty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Smarter, autonomous decision-making</a:t>
            </a:r>
          </a:p>
        </p:txBody>
      </p:sp>
    </p:spTree>
    <p:extLst>
      <p:ext uri="{BB962C8B-B14F-4D97-AF65-F5344CB8AC3E}">
        <p14:creationId xmlns:p14="http://schemas.microsoft.com/office/powerpoint/2010/main" val="13121933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824753"/>
            <a:ext cx="10412506" cy="5352210"/>
          </a:xfrm>
          <a:solidFill>
            <a:srgbClr val="CCFFFF"/>
          </a:solidFill>
        </p:spPr>
        <p:txBody>
          <a:bodyPr>
            <a:normAutofit/>
          </a:bodyPr>
          <a:lstStyle/>
          <a:p>
            <a:pPr marL="0" indent="0">
              <a:buNone/>
            </a:pPr>
            <a:r>
              <a:rPr lang="en-US" sz="2000" b="1" dirty="0">
                <a:highlight>
                  <a:srgbClr val="FFFF00"/>
                </a:highlight>
                <a:latin typeface="Times New Roman" panose="02020603050405020304" pitchFamily="18" charset="0"/>
                <a:cs typeface="Times New Roman" panose="02020603050405020304" pitchFamily="18" charset="0"/>
              </a:rPr>
              <a:t>Genetic Algorithm (GA) Basics</a:t>
            </a:r>
          </a:p>
          <a:p>
            <a:r>
              <a:rPr lang="en-US" sz="2000" dirty="0">
                <a:latin typeface="Times New Roman" panose="02020603050405020304" pitchFamily="18" charset="0"/>
                <a:cs typeface="Times New Roman" panose="02020603050405020304" pitchFamily="18" charset="0"/>
              </a:rPr>
              <a:t>A Genetic Algorithm is an evolutionary optimization method inspired by natural selection.</a:t>
            </a:r>
          </a:p>
          <a:p>
            <a:r>
              <a:rPr lang="en-US" sz="2000" dirty="0">
                <a:latin typeface="Times New Roman" panose="02020603050405020304" pitchFamily="18" charset="0"/>
                <a:cs typeface="Times New Roman" panose="02020603050405020304" pitchFamily="18" charset="0"/>
              </a:rPr>
              <a:t>It works by evolving a population of possible solutions over generations until an optimal (or near-optimal) solution is found.</a:t>
            </a:r>
          </a:p>
          <a:p>
            <a:endParaRPr lang="en-US" sz="20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sz="1800" b="1" dirty="0">
                <a:latin typeface="Times New Roman" panose="02020603050405020304" pitchFamily="18" charset="0"/>
                <a:cs typeface="Times New Roman" panose="02020603050405020304" pitchFamily="18" charset="0"/>
              </a:rPr>
              <a:t>Step-by-Step GA for CH Selection</a:t>
            </a:r>
          </a:p>
          <a:p>
            <a:pPr marL="0" lvl="0" indent="0" eaLnBrk="0" fontAlgn="base" hangingPunct="0">
              <a:lnSpc>
                <a:spcPct val="100000"/>
              </a:lnSpc>
              <a:spcBef>
                <a:spcPct val="0"/>
              </a:spcBef>
              <a:spcAft>
                <a:spcPct val="0"/>
              </a:spcAft>
              <a:buNone/>
            </a:pPr>
            <a:r>
              <a:rPr lang="en-US" sz="1800" b="1" dirty="0">
                <a:latin typeface="Times New Roman" panose="02020603050405020304" pitchFamily="18" charset="0"/>
                <a:cs typeface="Times New Roman" panose="02020603050405020304" pitchFamily="18" charset="0"/>
              </a:rPr>
              <a:t>Step 1: Encoding (Chromosome Representation)</a:t>
            </a:r>
          </a:p>
          <a:p>
            <a:pPr marL="0" lvl="0" indent="0" eaLnBrk="0" fontAlgn="base" hangingPunct="0">
              <a:lnSpc>
                <a:spcPct val="10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Suppose we have 10 nodes (N1–N10).</a:t>
            </a:r>
          </a:p>
          <a:p>
            <a:pPr marL="0" lvl="0" indent="0" eaLnBrk="0" fontAlgn="base" hangingPunct="0">
              <a:lnSpc>
                <a:spcPct val="10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We want to choose some of them as cluster heads (CHs).</a:t>
            </a:r>
          </a:p>
          <a:p>
            <a:pPr marL="0" lvl="0" indent="0" eaLnBrk="0" fontAlgn="base" hangingPunct="0">
              <a:lnSpc>
                <a:spcPct val="10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Chromosome is a binary string of length 10:</a:t>
            </a:r>
          </a:p>
          <a:p>
            <a:pPr marL="457200" lvl="1" indent="0" eaLnBrk="0" fontAlgn="base" hangingPunct="0">
              <a:lnSpc>
                <a:spcPct val="10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1 = node is a CH</a:t>
            </a:r>
          </a:p>
          <a:p>
            <a:pPr marL="457200" lvl="1" indent="0" eaLnBrk="0" fontAlgn="base" hangingPunct="0">
              <a:lnSpc>
                <a:spcPct val="10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0 = node is a normal node</a:t>
            </a:r>
          </a:p>
          <a:p>
            <a:endParaRPr lang="en-US" dirty="0"/>
          </a:p>
        </p:txBody>
      </p:sp>
      <p:sp>
        <p:nvSpPr>
          <p:cNvPr id="5" name="Slide Number Placeholder 4"/>
          <p:cNvSpPr>
            <a:spLocks noGrp="1"/>
          </p:cNvSpPr>
          <p:nvPr>
            <p:ph type="sldNum" sz="quarter" idx="12"/>
          </p:nvPr>
        </p:nvSpPr>
        <p:spPr/>
        <p:txBody>
          <a:bodyPr/>
          <a:lstStyle/>
          <a:p>
            <a:fld id="{C3F1913A-7668-436E-8561-76A60B792217}" type="slidenum">
              <a:rPr lang="en-US" smtClean="0"/>
              <a:t>55</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342824670"/>
              </p:ext>
            </p:extLst>
          </p:nvPr>
        </p:nvGraphicFramePr>
        <p:xfrm>
          <a:off x="6387352" y="3827928"/>
          <a:ext cx="6127378" cy="1828800"/>
        </p:xfrm>
        <a:graphic>
          <a:graphicData uri="http://schemas.openxmlformats.org/drawingml/2006/table">
            <a:tbl>
              <a:tblPr/>
              <a:tblGrid>
                <a:gridCol w="3063689">
                  <a:extLst>
                    <a:ext uri="{9D8B030D-6E8A-4147-A177-3AD203B41FA5}">
                      <a16:colId xmlns:a16="http://schemas.microsoft.com/office/drawing/2014/main" val="20000"/>
                    </a:ext>
                  </a:extLst>
                </a:gridCol>
                <a:gridCol w="3063689">
                  <a:extLst>
                    <a:ext uri="{9D8B030D-6E8A-4147-A177-3AD203B41FA5}">
                      <a16:colId xmlns:a16="http://schemas.microsoft.com/office/drawing/2014/main" val="20001"/>
                    </a:ext>
                  </a:extLst>
                </a:gridCol>
              </a:tblGrid>
              <a:tr h="299421">
                <a:tc>
                  <a:txBody>
                    <a:bodyPr/>
                    <a:lstStyle/>
                    <a:p>
                      <a:r>
                        <a:rPr lang="en-US" dirty="0"/>
                        <a:t>Chromosome</a:t>
                      </a:r>
                    </a:p>
                  </a:txBody>
                  <a:tcPr anchor="ctr">
                    <a:lnL>
                      <a:noFill/>
                    </a:lnL>
                    <a:lnR>
                      <a:noFill/>
                    </a:lnR>
                    <a:lnT>
                      <a:noFill/>
                    </a:lnT>
                    <a:lnB>
                      <a:noFill/>
                    </a:lnB>
                  </a:tcPr>
                </a:tc>
                <a:tc>
                  <a:txBody>
                    <a:bodyPr/>
                    <a:lstStyle/>
                    <a:p>
                      <a:r>
                        <a:rPr lang="en-US"/>
                        <a:t>CHs (1 = selected)</a:t>
                      </a:r>
                    </a:p>
                  </a:txBody>
                  <a:tcPr anchor="ctr">
                    <a:lnL>
                      <a:noFill/>
                    </a:lnL>
                    <a:lnR>
                      <a:noFill/>
                    </a:lnR>
                    <a:lnT>
                      <a:noFill/>
                    </a:lnT>
                    <a:lnB>
                      <a:noFill/>
                    </a:lnB>
                  </a:tcPr>
                </a:tc>
                <a:extLst>
                  <a:ext uri="{0D108BD9-81ED-4DB2-BD59-A6C34878D82A}">
                    <a16:rowId xmlns:a16="http://schemas.microsoft.com/office/drawing/2014/main" val="10000"/>
                  </a:ext>
                </a:extLst>
              </a:tr>
              <a:tr h="299421">
                <a:tc>
                  <a:txBody>
                    <a:bodyPr/>
                    <a:lstStyle/>
                    <a:p>
                      <a:r>
                        <a:rPr lang="en-US" dirty="0"/>
                        <a:t>1010001000</a:t>
                      </a:r>
                    </a:p>
                  </a:txBody>
                  <a:tcPr anchor="ctr">
                    <a:lnL>
                      <a:noFill/>
                    </a:lnL>
                    <a:lnR>
                      <a:noFill/>
                    </a:lnR>
                    <a:lnT>
                      <a:noFill/>
                    </a:lnT>
                    <a:lnB>
                      <a:noFill/>
                    </a:lnB>
                  </a:tcPr>
                </a:tc>
                <a:tc>
                  <a:txBody>
                    <a:bodyPr/>
                    <a:lstStyle/>
                    <a:p>
                      <a:r>
                        <a:rPr lang="en-US"/>
                        <a:t>N1, N3, N7</a:t>
                      </a:r>
                    </a:p>
                  </a:txBody>
                  <a:tcPr anchor="ctr">
                    <a:lnL>
                      <a:noFill/>
                    </a:lnL>
                    <a:lnR>
                      <a:noFill/>
                    </a:lnR>
                    <a:lnT>
                      <a:noFill/>
                    </a:lnT>
                    <a:lnB>
                      <a:noFill/>
                    </a:lnB>
                  </a:tcPr>
                </a:tc>
                <a:extLst>
                  <a:ext uri="{0D108BD9-81ED-4DB2-BD59-A6C34878D82A}">
                    <a16:rowId xmlns:a16="http://schemas.microsoft.com/office/drawing/2014/main" val="10001"/>
                  </a:ext>
                </a:extLst>
              </a:tr>
              <a:tr h="299421">
                <a:tc>
                  <a:txBody>
                    <a:bodyPr/>
                    <a:lstStyle/>
                    <a:p>
                      <a:r>
                        <a:rPr lang="en-US" dirty="0"/>
                        <a:t>0101000100</a:t>
                      </a:r>
                    </a:p>
                  </a:txBody>
                  <a:tcPr anchor="ctr">
                    <a:lnL>
                      <a:noFill/>
                    </a:lnL>
                    <a:lnR>
                      <a:noFill/>
                    </a:lnR>
                    <a:lnT>
                      <a:noFill/>
                    </a:lnT>
                    <a:lnB>
                      <a:noFill/>
                    </a:lnB>
                  </a:tcPr>
                </a:tc>
                <a:tc>
                  <a:txBody>
                    <a:bodyPr/>
                    <a:lstStyle/>
                    <a:p>
                      <a:r>
                        <a:rPr lang="en-US"/>
                        <a:t>N2, N4, N8</a:t>
                      </a:r>
                    </a:p>
                  </a:txBody>
                  <a:tcPr anchor="ctr">
                    <a:lnL>
                      <a:noFill/>
                    </a:lnL>
                    <a:lnR>
                      <a:noFill/>
                    </a:lnR>
                    <a:lnT>
                      <a:noFill/>
                    </a:lnT>
                    <a:lnB>
                      <a:noFill/>
                    </a:lnB>
                  </a:tcPr>
                </a:tc>
                <a:extLst>
                  <a:ext uri="{0D108BD9-81ED-4DB2-BD59-A6C34878D82A}">
                    <a16:rowId xmlns:a16="http://schemas.microsoft.com/office/drawing/2014/main" val="10002"/>
                  </a:ext>
                </a:extLst>
              </a:tr>
              <a:tr h="299421">
                <a:tc>
                  <a:txBody>
                    <a:bodyPr/>
                    <a:lstStyle/>
                    <a:p>
                      <a:r>
                        <a:rPr lang="en-US"/>
                        <a:t>1000100010</a:t>
                      </a:r>
                    </a:p>
                  </a:txBody>
                  <a:tcPr anchor="ctr">
                    <a:lnL>
                      <a:noFill/>
                    </a:lnL>
                    <a:lnR>
                      <a:noFill/>
                    </a:lnR>
                    <a:lnT>
                      <a:noFill/>
                    </a:lnT>
                    <a:lnB>
                      <a:noFill/>
                    </a:lnB>
                  </a:tcPr>
                </a:tc>
                <a:tc>
                  <a:txBody>
                    <a:bodyPr/>
                    <a:lstStyle/>
                    <a:p>
                      <a:r>
                        <a:rPr lang="en-US"/>
                        <a:t>N1, N5, N9</a:t>
                      </a:r>
                    </a:p>
                  </a:txBody>
                  <a:tcPr anchor="ctr">
                    <a:lnL>
                      <a:noFill/>
                    </a:lnL>
                    <a:lnR>
                      <a:noFill/>
                    </a:lnR>
                    <a:lnT>
                      <a:noFill/>
                    </a:lnT>
                    <a:lnB>
                      <a:noFill/>
                    </a:lnB>
                  </a:tcPr>
                </a:tc>
                <a:extLst>
                  <a:ext uri="{0D108BD9-81ED-4DB2-BD59-A6C34878D82A}">
                    <a16:rowId xmlns:a16="http://schemas.microsoft.com/office/drawing/2014/main" val="10003"/>
                  </a:ext>
                </a:extLst>
              </a:tr>
              <a:tr h="299421">
                <a:tc>
                  <a:txBody>
                    <a:bodyPr/>
                    <a:lstStyle/>
                    <a:p>
                      <a:r>
                        <a:rPr lang="en-US"/>
                        <a:t>0010010101</a:t>
                      </a:r>
                    </a:p>
                  </a:txBody>
                  <a:tcPr anchor="ctr">
                    <a:lnL>
                      <a:noFill/>
                    </a:lnL>
                    <a:lnR>
                      <a:noFill/>
                    </a:lnR>
                    <a:lnT>
                      <a:noFill/>
                    </a:lnT>
                    <a:lnB>
                      <a:noFill/>
                    </a:lnB>
                  </a:tcPr>
                </a:tc>
                <a:tc>
                  <a:txBody>
                    <a:bodyPr/>
                    <a:lstStyle/>
                    <a:p>
                      <a:r>
                        <a:rPr lang="en-US" dirty="0"/>
                        <a:t>N3, N6, N8, N10</a:t>
                      </a:r>
                    </a:p>
                  </a:txBody>
                  <a:tcPr anchor="ctr">
                    <a:lnL>
                      <a:noFill/>
                    </a:lnL>
                    <a:lnR>
                      <a:noFill/>
                    </a:lnR>
                    <a:lnT>
                      <a:noFill/>
                    </a:lnT>
                    <a:lnB>
                      <a:noFill/>
                    </a:lnB>
                  </a:tcPr>
                </a:tc>
                <a:extLst>
                  <a:ext uri="{0D108BD9-81ED-4DB2-BD59-A6C34878D82A}">
                    <a16:rowId xmlns:a16="http://schemas.microsoft.com/office/drawing/2014/main" val="10004"/>
                  </a:ext>
                </a:extLst>
              </a:tr>
            </a:tbl>
          </a:graphicData>
        </a:graphic>
      </p:graphicFrame>
      <p:sp>
        <p:nvSpPr>
          <p:cNvPr id="10" name="Rectangle 3"/>
          <p:cNvSpPr>
            <a:spLocks noChangeArrowheads="1"/>
          </p:cNvSpPr>
          <p:nvPr/>
        </p:nvSpPr>
        <p:spPr bwMode="auto">
          <a:xfrm>
            <a:off x="6481483" y="2440968"/>
            <a:ext cx="487231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 2: Initial Population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 </a:t>
            </a: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chromosomes</a:t>
            </a: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(possible CH sets).</a:t>
            </a:r>
            <a:b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281021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63070" y="731929"/>
            <a:ext cx="10663518" cy="5498541"/>
          </a:xfrm>
          <a:solidFill>
            <a:srgbClr val="CCFFFF"/>
          </a:solidFill>
        </p:spPr>
        <p:txBody>
          <a:bodyPr>
            <a:normAutofit/>
          </a:bodyPr>
          <a:lstStyle/>
          <a:p>
            <a:pPr marL="0" indent="0">
              <a:buNone/>
            </a:pPr>
            <a:r>
              <a:rPr lang="en-US" sz="2200" b="1" dirty="0">
                <a:latin typeface="Times New Roman" panose="02020603050405020304" pitchFamily="18" charset="0"/>
                <a:cs typeface="Times New Roman" panose="02020603050405020304" pitchFamily="18" charset="0"/>
              </a:rPr>
              <a:t>Step 3: Fitness Function</a:t>
            </a:r>
          </a:p>
          <a:p>
            <a:r>
              <a:rPr lang="en-US" sz="2200" dirty="0">
                <a:latin typeface="Times New Roman" panose="02020603050405020304" pitchFamily="18" charset="0"/>
                <a:cs typeface="Times New Roman" panose="02020603050405020304" pitchFamily="18" charset="0"/>
              </a:rPr>
              <a:t>We need to evaluate how good each chromosome is.</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Typical fitness function in CH selection considers:</a:t>
            </a:r>
          </a:p>
          <a:p>
            <a:pPr>
              <a:buFont typeface="+mj-lt"/>
              <a:buAutoNum type="arabicPeriod"/>
            </a:pPr>
            <a:r>
              <a:rPr lang="en-US" sz="2200" b="1" dirty="0">
                <a:latin typeface="Times New Roman" panose="02020603050405020304" pitchFamily="18" charset="0"/>
                <a:cs typeface="Times New Roman" panose="02020603050405020304" pitchFamily="18" charset="0"/>
              </a:rPr>
              <a:t>Residual Energy</a:t>
            </a:r>
            <a:r>
              <a:rPr lang="en-US" sz="2200" dirty="0">
                <a:latin typeface="Times New Roman" panose="02020603050405020304" pitchFamily="18" charset="0"/>
                <a:cs typeface="Times New Roman" panose="02020603050405020304" pitchFamily="18" charset="0"/>
              </a:rPr>
              <a:t> (higher energy → better CH).</a:t>
            </a:r>
          </a:p>
          <a:p>
            <a:pPr>
              <a:buFont typeface="+mj-lt"/>
              <a:buAutoNum type="arabicPeriod"/>
            </a:pPr>
            <a:r>
              <a:rPr lang="en-US" sz="2200" b="1" dirty="0">
                <a:latin typeface="Times New Roman" panose="02020603050405020304" pitchFamily="18" charset="0"/>
                <a:cs typeface="Times New Roman" panose="02020603050405020304" pitchFamily="18" charset="0"/>
              </a:rPr>
              <a:t>Distance to Base Station (BS)</a:t>
            </a:r>
            <a:r>
              <a:rPr lang="en-US" sz="2200" dirty="0">
                <a:latin typeface="Times New Roman" panose="02020603050405020304" pitchFamily="18" charset="0"/>
                <a:cs typeface="Times New Roman" panose="02020603050405020304" pitchFamily="18" charset="0"/>
              </a:rPr>
              <a:t> (closer CHs → less energy cost).</a:t>
            </a:r>
          </a:p>
          <a:p>
            <a:pPr>
              <a:buFont typeface="+mj-lt"/>
              <a:buAutoNum type="arabicPeriod"/>
            </a:pPr>
            <a:r>
              <a:rPr lang="en-US" sz="2200" b="1" dirty="0">
                <a:latin typeface="Times New Roman" panose="02020603050405020304" pitchFamily="18" charset="0"/>
                <a:cs typeface="Times New Roman" panose="02020603050405020304" pitchFamily="18" charset="0"/>
              </a:rPr>
              <a:t>Average Intra-Cluster Distance</a:t>
            </a:r>
            <a:r>
              <a:rPr lang="en-US" sz="2200" dirty="0">
                <a:latin typeface="Times New Roman" panose="02020603050405020304" pitchFamily="18" charset="0"/>
                <a:cs typeface="Times New Roman" panose="02020603050405020304" pitchFamily="18" charset="0"/>
              </a:rPr>
              <a:t> (shorter → efficient communication).</a:t>
            </a:r>
          </a:p>
          <a:p>
            <a:r>
              <a:rPr lang="en-US" sz="2200" b="1" dirty="0">
                <a:latin typeface="Times New Roman" panose="02020603050405020304" pitchFamily="18" charset="0"/>
                <a:cs typeface="Times New Roman" panose="02020603050405020304" pitchFamily="18" charset="0"/>
              </a:rPr>
              <a:t>Example Fitness Formula:</a:t>
            </a:r>
            <a:endParaRPr lang="en-US" sz="2200" dirty="0">
              <a:latin typeface="Times New Roman" panose="02020603050405020304" pitchFamily="18" charset="0"/>
              <a:cs typeface="Times New Roman" panose="02020603050405020304" pitchFamily="18" charset="0"/>
            </a:endParaRPr>
          </a:p>
          <a:p>
            <a:endParaRPr lang="en-US" dirty="0"/>
          </a:p>
        </p:txBody>
      </p:sp>
      <p:sp>
        <p:nvSpPr>
          <p:cNvPr id="5" name="Slide Number Placeholder 4"/>
          <p:cNvSpPr>
            <a:spLocks noGrp="1"/>
          </p:cNvSpPr>
          <p:nvPr>
            <p:ph type="sldNum" sz="quarter" idx="12"/>
          </p:nvPr>
        </p:nvSpPr>
        <p:spPr/>
        <p:txBody>
          <a:bodyPr/>
          <a:lstStyle/>
          <a:p>
            <a:fld id="{C3F1913A-7668-436E-8561-76A60B792217}" type="slidenum">
              <a:rPr lang="en-US" smtClean="0"/>
              <a:t>56</a:t>
            </a:fld>
            <a:endParaRPr lang="en-US"/>
          </a:p>
        </p:txBody>
      </p:sp>
      <p:pic>
        <p:nvPicPr>
          <p:cNvPr id="6" name="Picture 5"/>
          <p:cNvPicPr>
            <a:picLocks noChangeAspect="1"/>
          </p:cNvPicPr>
          <p:nvPr/>
        </p:nvPicPr>
        <p:blipFill>
          <a:blip r:embed="rId2"/>
          <a:stretch>
            <a:fillRect/>
          </a:stretch>
        </p:blipFill>
        <p:spPr>
          <a:xfrm>
            <a:off x="4322874" y="3182211"/>
            <a:ext cx="3524742" cy="781159"/>
          </a:xfrm>
          <a:prstGeom prst="rect">
            <a:avLst/>
          </a:prstGeom>
        </p:spPr>
      </p:pic>
      <p:pic>
        <p:nvPicPr>
          <p:cNvPr id="7" name="Picture 6"/>
          <p:cNvPicPr>
            <a:picLocks noChangeAspect="1"/>
          </p:cNvPicPr>
          <p:nvPr/>
        </p:nvPicPr>
        <p:blipFill>
          <a:blip r:embed="rId3"/>
          <a:stretch>
            <a:fillRect/>
          </a:stretch>
        </p:blipFill>
        <p:spPr>
          <a:xfrm>
            <a:off x="669834" y="4079912"/>
            <a:ext cx="3962953" cy="1886213"/>
          </a:xfrm>
          <a:prstGeom prst="rect">
            <a:avLst/>
          </a:prstGeom>
        </p:spPr>
      </p:pic>
    </p:spTree>
    <p:extLst>
      <p:ext uri="{BB962C8B-B14F-4D97-AF65-F5344CB8AC3E}">
        <p14:creationId xmlns:p14="http://schemas.microsoft.com/office/powerpoint/2010/main" val="479393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744071"/>
            <a:ext cx="8287871" cy="5432892"/>
          </a:xfrm>
          <a:solidFill>
            <a:srgbClr val="CCFFFF"/>
          </a:solidFill>
        </p:spPr>
        <p:txBody>
          <a:bodyPr>
            <a:normAutofit lnSpcReduction="10000"/>
          </a:bodyPr>
          <a:lstStyle/>
          <a:p>
            <a:pPr marL="0" indent="0">
              <a:buNone/>
            </a:pPr>
            <a:r>
              <a:rPr lang="en-US" sz="2000" b="1" dirty="0">
                <a:latin typeface="Times New Roman" panose="02020603050405020304" pitchFamily="18" charset="0"/>
                <a:cs typeface="Times New Roman" panose="02020603050405020304" pitchFamily="18" charset="0"/>
              </a:rPr>
              <a:t>Step 4: Selection</a:t>
            </a:r>
          </a:p>
          <a:p>
            <a:r>
              <a:rPr lang="en-US" sz="2000" dirty="0">
                <a:latin typeface="Times New Roman" panose="02020603050405020304" pitchFamily="18" charset="0"/>
                <a:cs typeface="Times New Roman" panose="02020603050405020304" pitchFamily="18" charset="0"/>
              </a:rPr>
              <a:t>Use Roulette Wheel Selection or Tournament Selection.</a:t>
            </a:r>
          </a:p>
          <a:p>
            <a:r>
              <a:rPr lang="en-US" sz="2000" dirty="0">
                <a:latin typeface="Times New Roman" panose="02020603050405020304" pitchFamily="18" charset="0"/>
                <a:cs typeface="Times New Roman" panose="02020603050405020304" pitchFamily="18" charset="0"/>
              </a:rPr>
              <a:t>Chromosomes with higher fitness are more likely to reproduce.</a:t>
            </a:r>
          </a:p>
          <a:p>
            <a:endParaRPr lang="en-US" sz="20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sz="2000" b="1" dirty="0">
                <a:latin typeface="Times New Roman" panose="02020603050405020304" pitchFamily="18" charset="0"/>
                <a:cs typeface="Times New Roman" panose="02020603050405020304" pitchFamily="18" charset="0"/>
              </a:rPr>
              <a:t>Step 5: Crossover</a:t>
            </a:r>
          </a:p>
          <a:p>
            <a:pPr marL="0" lvl="0" indent="0" eaLnBrk="0" fontAlgn="base" hangingPunct="0">
              <a:lnSpc>
                <a:spcPct val="100000"/>
              </a:lnSpc>
              <a:spcBef>
                <a:spcPct val="0"/>
              </a:spcBef>
              <a:spcAft>
                <a:spcPct val="0"/>
              </a:spcAft>
              <a:buFontTx/>
              <a:buChar char="•"/>
            </a:pPr>
            <a:r>
              <a:rPr lang="en-US" sz="2000" dirty="0">
                <a:latin typeface="Times New Roman" panose="02020603050405020304" pitchFamily="18" charset="0"/>
                <a:cs typeface="Times New Roman" panose="02020603050405020304" pitchFamily="18" charset="0"/>
              </a:rPr>
              <a:t>Pick two parent chromosomes and </a:t>
            </a:r>
            <a:r>
              <a:rPr lang="en-US" sz="2000" b="1" dirty="0">
                <a:latin typeface="Times New Roman" panose="02020603050405020304" pitchFamily="18" charset="0"/>
                <a:cs typeface="Times New Roman" panose="02020603050405020304" pitchFamily="18" charset="0"/>
              </a:rPr>
              <a:t>swap parts</a:t>
            </a:r>
            <a:r>
              <a:rPr lang="en-US" sz="2000" dirty="0">
                <a:latin typeface="Times New Roman" panose="02020603050405020304" pitchFamily="18" charset="0"/>
                <a:cs typeface="Times New Roman" panose="02020603050405020304" pitchFamily="18" charset="0"/>
              </a:rPr>
              <a:t> to create offspring.</a:t>
            </a:r>
          </a:p>
          <a:p>
            <a:pPr marL="0" lvl="0" indent="0" eaLnBrk="0" fontAlgn="base" hangingPunct="0">
              <a:lnSpc>
                <a:spcPct val="100000"/>
              </a:lnSpc>
              <a:spcBef>
                <a:spcPct val="0"/>
              </a:spcBef>
              <a:spcAft>
                <a:spcPct val="0"/>
              </a:spcAft>
              <a:buFontTx/>
              <a:buChar char="•"/>
            </a:pPr>
            <a:r>
              <a:rPr lang="en-US" sz="2000" dirty="0">
                <a:latin typeface="Times New Roman" panose="02020603050405020304" pitchFamily="18" charset="0"/>
                <a:cs typeface="Times New Roman" panose="02020603050405020304" pitchFamily="18" charset="0"/>
              </a:rPr>
              <a:t>Example (single-point crossover at position 5):</a:t>
            </a:r>
          </a:p>
          <a:p>
            <a:pPr marL="0" lvl="0" indent="0" eaLnBrk="0" fontAlgn="base" hangingPunct="0">
              <a:lnSpc>
                <a:spcPct val="100000"/>
              </a:lnSpc>
              <a:spcBef>
                <a:spcPct val="0"/>
              </a:spcBef>
              <a:spcAft>
                <a:spcPct val="0"/>
              </a:spcAft>
              <a:buNone/>
            </a:pPr>
            <a:r>
              <a:rPr lang="en-US" sz="2000" dirty="0">
                <a:latin typeface="Times New Roman" panose="02020603050405020304" pitchFamily="18" charset="0"/>
                <a:cs typeface="Times New Roman" panose="02020603050405020304" pitchFamily="18" charset="0"/>
              </a:rPr>
              <a:t>Parent1: 10100 | 01000</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Parent2: 01010 | 00100</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Offspring1: 10100 | 00100</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Offspring2: 01010 | 01000</a:t>
            </a:r>
          </a:p>
          <a:p>
            <a:pPr marL="0" lvl="0" indent="0" eaLnBrk="0" fontAlgn="base" hangingPunct="0">
              <a:lnSpc>
                <a:spcPct val="100000"/>
              </a:lnSpc>
              <a:spcBef>
                <a:spcPct val="0"/>
              </a:spcBef>
              <a:spcAft>
                <a:spcPct val="0"/>
              </a:spcAft>
              <a:buNone/>
            </a:pPr>
            <a:endParaRPr lang="en-US" sz="20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sz="2000" b="1" dirty="0">
                <a:latin typeface="Times New Roman" panose="02020603050405020304" pitchFamily="18" charset="0"/>
                <a:cs typeface="Times New Roman" panose="02020603050405020304" pitchFamily="18" charset="0"/>
              </a:rPr>
              <a:t>Step 6: Mutation</a:t>
            </a:r>
          </a:p>
          <a:p>
            <a:pPr marL="0" lvl="0" indent="0" eaLnBrk="0" fontAlgn="base" hangingPunct="0">
              <a:lnSpc>
                <a:spcPct val="100000"/>
              </a:lnSpc>
              <a:spcBef>
                <a:spcPct val="0"/>
              </a:spcBef>
              <a:spcAft>
                <a:spcPct val="0"/>
              </a:spcAft>
              <a:buNone/>
            </a:pPr>
            <a:r>
              <a:rPr lang="en-US" sz="2000" dirty="0">
                <a:latin typeface="Times New Roman" panose="02020603050405020304" pitchFamily="18" charset="0"/>
                <a:cs typeface="Times New Roman" panose="02020603050405020304" pitchFamily="18" charset="0"/>
              </a:rPr>
              <a:t>Flip a few random bits to maintain diversity.</a:t>
            </a:r>
          </a:p>
          <a:p>
            <a:pPr marL="0" lvl="0" indent="0" eaLnBrk="0" fontAlgn="base" hangingPunct="0">
              <a:lnSpc>
                <a:spcPct val="100000"/>
              </a:lnSpc>
              <a:spcBef>
                <a:spcPct val="0"/>
              </a:spcBef>
              <a:spcAft>
                <a:spcPct val="0"/>
              </a:spcAft>
              <a:buFontTx/>
              <a:buChar char="•"/>
            </a:pPr>
            <a:r>
              <a:rPr lang="en-US" sz="2000" dirty="0">
                <a:latin typeface="Times New Roman" panose="02020603050405020304" pitchFamily="18" charset="0"/>
                <a:cs typeface="Times New Roman" panose="02020603050405020304" pitchFamily="18" charset="0"/>
              </a:rPr>
              <a:t>Example: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Original Offspring1: 1010000100</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After mutation (bit 7 flips): 1010001100</a:t>
            </a:r>
          </a:p>
          <a:p>
            <a:endParaRPr lang="en-US" dirty="0"/>
          </a:p>
        </p:txBody>
      </p:sp>
      <p:sp>
        <p:nvSpPr>
          <p:cNvPr id="5" name="Slide Number Placeholder 4"/>
          <p:cNvSpPr>
            <a:spLocks noGrp="1"/>
          </p:cNvSpPr>
          <p:nvPr>
            <p:ph type="sldNum" sz="quarter" idx="12"/>
          </p:nvPr>
        </p:nvSpPr>
        <p:spPr/>
        <p:txBody>
          <a:bodyPr/>
          <a:lstStyle/>
          <a:p>
            <a:fld id="{C3F1913A-7668-436E-8561-76A60B792217}" type="slidenum">
              <a:rPr lang="en-US" smtClean="0"/>
              <a:t>57</a:t>
            </a:fld>
            <a:endParaRPr lang="en-US"/>
          </a:p>
        </p:txBody>
      </p:sp>
    </p:spTree>
    <p:extLst>
      <p:ext uri="{BB962C8B-B14F-4D97-AF65-F5344CB8AC3E}">
        <p14:creationId xmlns:p14="http://schemas.microsoft.com/office/powerpoint/2010/main" val="22167276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744071"/>
            <a:ext cx="8287871" cy="5432892"/>
          </a:xfrm>
          <a:solidFill>
            <a:srgbClr val="CCFFFF"/>
          </a:solidFill>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Step 7: Replacement &amp; Evolution</a:t>
            </a:r>
          </a:p>
          <a:p>
            <a:r>
              <a:rPr lang="en-US" sz="2000" dirty="0">
                <a:latin typeface="Times New Roman" panose="02020603050405020304" pitchFamily="18" charset="0"/>
                <a:cs typeface="Times New Roman" panose="02020603050405020304" pitchFamily="18" charset="0"/>
              </a:rPr>
              <a:t>Replace weaker chromosomes with new offspring.</a:t>
            </a:r>
          </a:p>
          <a:p>
            <a:r>
              <a:rPr lang="en-US" sz="2000" dirty="0">
                <a:latin typeface="Times New Roman" panose="02020603050405020304" pitchFamily="18" charset="0"/>
                <a:cs typeface="Times New Roman" panose="02020603050405020304" pitchFamily="18" charset="0"/>
              </a:rPr>
              <a:t>Repeat </a:t>
            </a:r>
            <a:r>
              <a:rPr lang="en-US" sz="2000" b="1" dirty="0">
                <a:latin typeface="Times New Roman" panose="02020603050405020304" pitchFamily="18" charset="0"/>
                <a:cs typeface="Times New Roman" panose="02020603050405020304" pitchFamily="18" charset="0"/>
              </a:rPr>
              <a:t>fitness → selection → crossover → mutation</a:t>
            </a:r>
            <a:r>
              <a:rPr lang="en-US" sz="2000" dirty="0">
                <a:latin typeface="Times New Roman" panose="02020603050405020304" pitchFamily="18" charset="0"/>
                <a:cs typeface="Times New Roman" panose="02020603050405020304" pitchFamily="18" charset="0"/>
              </a:rPr>
              <a:t> for many generations (e.g., 50–100)</a:t>
            </a:r>
          </a:p>
          <a:p>
            <a:pPr marL="0" indent="0">
              <a:buNone/>
            </a:pPr>
            <a:r>
              <a:rPr lang="en-US" sz="2000" b="1" dirty="0">
                <a:latin typeface="Times New Roman" panose="02020603050405020304" pitchFamily="18" charset="0"/>
                <a:cs typeface="Times New Roman" panose="02020603050405020304" pitchFamily="18" charset="0"/>
              </a:rPr>
              <a:t>Step 8: Final Solution</a:t>
            </a:r>
          </a:p>
          <a:p>
            <a:r>
              <a:rPr lang="en-US" sz="2000" dirty="0">
                <a:latin typeface="Times New Roman" panose="02020603050405020304" pitchFamily="18" charset="0"/>
                <a:cs typeface="Times New Roman" panose="02020603050405020304" pitchFamily="18" charset="0"/>
              </a:rPr>
              <a:t>After evolution, the best chromosome is selected.</a:t>
            </a:r>
          </a:p>
          <a:p>
            <a:r>
              <a:rPr lang="en-US" sz="2000" dirty="0">
                <a:latin typeface="Times New Roman" panose="02020603050405020304" pitchFamily="18" charset="0"/>
                <a:cs typeface="Times New Roman" panose="02020603050405020304" pitchFamily="18" charset="0"/>
              </a:rPr>
              <a:t>Example best chromosome: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N2, N5, N7 are chosen as </a:t>
            </a:r>
            <a:r>
              <a:rPr lang="en-US" sz="2000" b="1" dirty="0">
                <a:latin typeface="Times New Roman" panose="02020603050405020304" pitchFamily="18" charset="0"/>
                <a:cs typeface="Times New Roman" panose="02020603050405020304" pitchFamily="18" charset="0"/>
              </a:rPr>
              <a:t>Cluster Heads</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These CHs minimize energy usage and maximize coverage.</a:t>
            </a:r>
          </a:p>
          <a:p>
            <a:endParaRPr lang="en-US" dirty="0"/>
          </a:p>
        </p:txBody>
      </p:sp>
      <p:sp>
        <p:nvSpPr>
          <p:cNvPr id="5" name="Slide Number Placeholder 4"/>
          <p:cNvSpPr>
            <a:spLocks noGrp="1"/>
          </p:cNvSpPr>
          <p:nvPr>
            <p:ph type="sldNum" sz="quarter" idx="12"/>
          </p:nvPr>
        </p:nvSpPr>
        <p:spPr/>
        <p:txBody>
          <a:bodyPr/>
          <a:lstStyle/>
          <a:p>
            <a:fld id="{C3F1913A-7668-436E-8561-76A60B792217}" type="slidenum">
              <a:rPr lang="en-US" smtClean="0"/>
              <a:t>58</a:t>
            </a:fld>
            <a:endParaRPr lang="en-US"/>
          </a:p>
        </p:txBody>
      </p:sp>
      <p:pic>
        <p:nvPicPr>
          <p:cNvPr id="7" name="Picture 6"/>
          <p:cNvPicPr>
            <a:picLocks noChangeAspect="1"/>
          </p:cNvPicPr>
          <p:nvPr/>
        </p:nvPicPr>
        <p:blipFill>
          <a:blip r:embed="rId2"/>
          <a:stretch>
            <a:fillRect/>
          </a:stretch>
        </p:blipFill>
        <p:spPr>
          <a:xfrm>
            <a:off x="2202112" y="3420176"/>
            <a:ext cx="1781424" cy="295316"/>
          </a:xfrm>
          <a:prstGeom prst="rect">
            <a:avLst/>
          </a:prstGeom>
        </p:spPr>
      </p:pic>
    </p:spTree>
    <p:extLst>
      <p:ext uri="{BB962C8B-B14F-4D97-AF65-F5344CB8AC3E}">
        <p14:creationId xmlns:p14="http://schemas.microsoft.com/office/powerpoint/2010/main" val="3842831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80DCF292-9092-4912-A53B-0CD559C3693F}"/>
              </a:ext>
            </a:extLst>
          </p:cNvPr>
          <p:cNvGraphicFramePr>
            <a:graphicFrameLocks noGrp="1"/>
          </p:cNvGraphicFramePr>
          <p:nvPr>
            <p:extLst>
              <p:ext uri="{D42A27DB-BD31-4B8C-83A1-F6EECF244321}">
                <p14:modId xmlns:p14="http://schemas.microsoft.com/office/powerpoint/2010/main" val="1738770797"/>
              </p:ext>
            </p:extLst>
          </p:nvPr>
        </p:nvGraphicFramePr>
        <p:xfrm>
          <a:off x="1734722" y="666856"/>
          <a:ext cx="8128000" cy="37084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74339476"/>
                    </a:ext>
                  </a:extLst>
                </a:gridCol>
                <a:gridCol w="812800">
                  <a:extLst>
                    <a:ext uri="{9D8B030D-6E8A-4147-A177-3AD203B41FA5}">
                      <a16:colId xmlns:a16="http://schemas.microsoft.com/office/drawing/2014/main" val="1447403331"/>
                    </a:ext>
                  </a:extLst>
                </a:gridCol>
                <a:gridCol w="812800">
                  <a:extLst>
                    <a:ext uri="{9D8B030D-6E8A-4147-A177-3AD203B41FA5}">
                      <a16:colId xmlns:a16="http://schemas.microsoft.com/office/drawing/2014/main" val="1318115964"/>
                    </a:ext>
                  </a:extLst>
                </a:gridCol>
                <a:gridCol w="812800">
                  <a:extLst>
                    <a:ext uri="{9D8B030D-6E8A-4147-A177-3AD203B41FA5}">
                      <a16:colId xmlns:a16="http://schemas.microsoft.com/office/drawing/2014/main" val="218272206"/>
                    </a:ext>
                  </a:extLst>
                </a:gridCol>
                <a:gridCol w="812800">
                  <a:extLst>
                    <a:ext uri="{9D8B030D-6E8A-4147-A177-3AD203B41FA5}">
                      <a16:colId xmlns:a16="http://schemas.microsoft.com/office/drawing/2014/main" val="1018212716"/>
                    </a:ext>
                  </a:extLst>
                </a:gridCol>
                <a:gridCol w="812800">
                  <a:extLst>
                    <a:ext uri="{9D8B030D-6E8A-4147-A177-3AD203B41FA5}">
                      <a16:colId xmlns:a16="http://schemas.microsoft.com/office/drawing/2014/main" val="2303194604"/>
                    </a:ext>
                  </a:extLst>
                </a:gridCol>
                <a:gridCol w="812800">
                  <a:extLst>
                    <a:ext uri="{9D8B030D-6E8A-4147-A177-3AD203B41FA5}">
                      <a16:colId xmlns:a16="http://schemas.microsoft.com/office/drawing/2014/main" val="3687523345"/>
                    </a:ext>
                  </a:extLst>
                </a:gridCol>
                <a:gridCol w="812800">
                  <a:extLst>
                    <a:ext uri="{9D8B030D-6E8A-4147-A177-3AD203B41FA5}">
                      <a16:colId xmlns:a16="http://schemas.microsoft.com/office/drawing/2014/main" val="22996691"/>
                    </a:ext>
                  </a:extLst>
                </a:gridCol>
                <a:gridCol w="812800">
                  <a:extLst>
                    <a:ext uri="{9D8B030D-6E8A-4147-A177-3AD203B41FA5}">
                      <a16:colId xmlns:a16="http://schemas.microsoft.com/office/drawing/2014/main" val="3266021703"/>
                    </a:ext>
                  </a:extLst>
                </a:gridCol>
                <a:gridCol w="812800">
                  <a:extLst>
                    <a:ext uri="{9D8B030D-6E8A-4147-A177-3AD203B41FA5}">
                      <a16:colId xmlns:a16="http://schemas.microsoft.com/office/drawing/2014/main" val="2762764907"/>
                    </a:ext>
                  </a:extLst>
                </a:gridCol>
              </a:tblGrid>
              <a:tr h="370840">
                <a:tc>
                  <a:txBody>
                    <a:bodyPr/>
                    <a:lstStyle/>
                    <a:p>
                      <a:pPr algn="ctr"/>
                      <a:r>
                        <a:rPr lang="en-US"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7422691"/>
                  </a:ext>
                </a:extLst>
              </a:tr>
            </a:tbl>
          </a:graphicData>
        </a:graphic>
      </p:graphicFrame>
      <p:grpSp>
        <p:nvGrpSpPr>
          <p:cNvPr id="35" name="Group 34">
            <a:extLst>
              <a:ext uri="{FF2B5EF4-FFF2-40B4-BE49-F238E27FC236}">
                <a16:creationId xmlns:a16="http://schemas.microsoft.com/office/drawing/2014/main" id="{66BBAAC2-760C-46C2-B5B7-FA1663CA4C46}"/>
              </a:ext>
            </a:extLst>
          </p:cNvPr>
          <p:cNvGrpSpPr/>
          <p:nvPr/>
        </p:nvGrpSpPr>
        <p:grpSpPr>
          <a:xfrm>
            <a:off x="91235" y="1815260"/>
            <a:ext cx="5171233" cy="4030521"/>
            <a:chOff x="1668106" y="2006683"/>
            <a:chExt cx="5171233" cy="4030521"/>
          </a:xfrm>
        </p:grpSpPr>
        <p:sp>
          <p:nvSpPr>
            <p:cNvPr id="7" name="Oval 6">
              <a:extLst>
                <a:ext uri="{FF2B5EF4-FFF2-40B4-BE49-F238E27FC236}">
                  <a16:creationId xmlns:a16="http://schemas.microsoft.com/office/drawing/2014/main" id="{E2749E03-E89C-48D9-8DDB-8AA8BFD1478F}"/>
                </a:ext>
              </a:extLst>
            </p:cNvPr>
            <p:cNvSpPr/>
            <p:nvPr/>
          </p:nvSpPr>
          <p:spPr>
            <a:xfrm>
              <a:off x="1912775" y="3618722"/>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92480C4-B3B8-4BF3-B531-563446E721A3}"/>
                </a:ext>
              </a:extLst>
            </p:cNvPr>
            <p:cNvSpPr/>
            <p:nvPr/>
          </p:nvSpPr>
          <p:spPr>
            <a:xfrm>
              <a:off x="2410408" y="3196511"/>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2E6D82A-2DD8-4564-A4D6-3E338BD78401}"/>
                </a:ext>
              </a:extLst>
            </p:cNvPr>
            <p:cNvSpPr/>
            <p:nvPr/>
          </p:nvSpPr>
          <p:spPr>
            <a:xfrm>
              <a:off x="2505269" y="3676260"/>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D48B203-5D1D-41AC-87B3-4E06D0B0BDD9}"/>
                </a:ext>
              </a:extLst>
            </p:cNvPr>
            <p:cNvSpPr/>
            <p:nvPr/>
          </p:nvSpPr>
          <p:spPr>
            <a:xfrm>
              <a:off x="2443065" y="4425438"/>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808EC5F-9038-4F2C-8430-601CB9CD6614}"/>
                </a:ext>
              </a:extLst>
            </p:cNvPr>
            <p:cNvSpPr/>
            <p:nvPr/>
          </p:nvSpPr>
          <p:spPr>
            <a:xfrm>
              <a:off x="3091543" y="3453102"/>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E210D11-2ADC-4BEB-AC41-432B366BAB80}"/>
                </a:ext>
              </a:extLst>
            </p:cNvPr>
            <p:cNvSpPr/>
            <p:nvPr/>
          </p:nvSpPr>
          <p:spPr>
            <a:xfrm>
              <a:off x="3264159" y="4170782"/>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0B1A790-0EE9-4AEA-95FF-8784C7C89F61}"/>
                </a:ext>
              </a:extLst>
            </p:cNvPr>
            <p:cNvSpPr/>
            <p:nvPr/>
          </p:nvSpPr>
          <p:spPr>
            <a:xfrm>
              <a:off x="4049486" y="3411115"/>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74E1A90-FD88-4F65-B38E-45F57CEBEA9D}"/>
                </a:ext>
              </a:extLst>
            </p:cNvPr>
            <p:cNvSpPr/>
            <p:nvPr/>
          </p:nvSpPr>
          <p:spPr>
            <a:xfrm>
              <a:off x="3707363" y="4285861"/>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FDC39AA-D28A-44F4-BFED-2AB6290B99AA}"/>
                </a:ext>
              </a:extLst>
            </p:cNvPr>
            <p:cNvSpPr/>
            <p:nvPr/>
          </p:nvSpPr>
          <p:spPr>
            <a:xfrm>
              <a:off x="5044751" y="3886199"/>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64BDB4E-A1D0-46F4-99A8-1C79836F4572}"/>
                </a:ext>
              </a:extLst>
            </p:cNvPr>
            <p:cNvSpPr/>
            <p:nvPr/>
          </p:nvSpPr>
          <p:spPr>
            <a:xfrm>
              <a:off x="3091543" y="4888462"/>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DFD6F1C-0FA0-45DB-8E2E-343B58EAEA2B}"/>
                </a:ext>
              </a:extLst>
            </p:cNvPr>
            <p:cNvSpPr/>
            <p:nvPr/>
          </p:nvSpPr>
          <p:spPr>
            <a:xfrm>
              <a:off x="4427375" y="4615506"/>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4E9EAFF-A45C-4481-8250-5AD0E2F787CC}"/>
                </a:ext>
              </a:extLst>
            </p:cNvPr>
            <p:cNvSpPr/>
            <p:nvPr/>
          </p:nvSpPr>
          <p:spPr>
            <a:xfrm>
              <a:off x="3698032" y="5261256"/>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7193904-9484-4FE7-837D-63C84ECC15F3}"/>
                </a:ext>
              </a:extLst>
            </p:cNvPr>
            <p:cNvSpPr/>
            <p:nvPr/>
          </p:nvSpPr>
          <p:spPr>
            <a:xfrm>
              <a:off x="4578221" y="5449004"/>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739D817-E0AA-4DFE-8B51-0776C1742410}"/>
                </a:ext>
              </a:extLst>
            </p:cNvPr>
            <p:cNvSpPr/>
            <p:nvPr/>
          </p:nvSpPr>
          <p:spPr>
            <a:xfrm>
              <a:off x="5584371" y="4495800"/>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EFD5681-E5A1-46B6-B48A-815D4E237397}"/>
                </a:ext>
              </a:extLst>
            </p:cNvPr>
            <p:cNvSpPr/>
            <p:nvPr/>
          </p:nvSpPr>
          <p:spPr>
            <a:xfrm>
              <a:off x="5561044" y="5366225"/>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B47A89F-754C-4647-86B2-CA8D933E2297}"/>
                </a:ext>
              </a:extLst>
            </p:cNvPr>
            <p:cNvSpPr/>
            <p:nvPr/>
          </p:nvSpPr>
          <p:spPr>
            <a:xfrm>
              <a:off x="4792825" y="3299511"/>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0A759AD9-864A-473C-9B53-C192F1E1A850}"/>
                </a:ext>
              </a:extLst>
            </p:cNvPr>
            <p:cNvSpPr/>
            <p:nvPr/>
          </p:nvSpPr>
          <p:spPr>
            <a:xfrm>
              <a:off x="5659016" y="2237394"/>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AB95265-951E-4DA6-8028-391CFB4174A5}"/>
                </a:ext>
              </a:extLst>
            </p:cNvPr>
            <p:cNvSpPr/>
            <p:nvPr/>
          </p:nvSpPr>
          <p:spPr>
            <a:xfrm>
              <a:off x="4292081" y="2834552"/>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F9FCB89-A1C9-4833-BE36-5346C392F9EA}"/>
                </a:ext>
              </a:extLst>
            </p:cNvPr>
            <p:cNvSpPr/>
            <p:nvPr/>
          </p:nvSpPr>
          <p:spPr>
            <a:xfrm>
              <a:off x="5691673" y="3466321"/>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5CAFCF1-93DC-4DFF-AD1D-85DDA5950F1E}"/>
                </a:ext>
              </a:extLst>
            </p:cNvPr>
            <p:cNvSpPr/>
            <p:nvPr/>
          </p:nvSpPr>
          <p:spPr>
            <a:xfrm>
              <a:off x="5769428" y="2791369"/>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31503C7-DD1B-4A6D-B7C5-455DE2805DBB}"/>
                </a:ext>
              </a:extLst>
            </p:cNvPr>
            <p:cNvSpPr/>
            <p:nvPr/>
          </p:nvSpPr>
          <p:spPr>
            <a:xfrm>
              <a:off x="6624735" y="2842914"/>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6C50B0D1-6DF8-4E95-831C-74C21FBC7BDE}"/>
                </a:ext>
              </a:extLst>
            </p:cNvPr>
            <p:cNvSpPr/>
            <p:nvPr/>
          </p:nvSpPr>
          <p:spPr>
            <a:xfrm>
              <a:off x="1668106" y="2964213"/>
              <a:ext cx="2381380" cy="229704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817AC40F-C2F0-4BC1-B382-9F1634946583}"/>
                </a:ext>
              </a:extLst>
            </p:cNvPr>
            <p:cNvSpPr/>
            <p:nvPr/>
          </p:nvSpPr>
          <p:spPr>
            <a:xfrm>
              <a:off x="3878943" y="2006683"/>
              <a:ext cx="2381380" cy="229704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6799BAC6-BDBE-415D-96C5-B11311E04DBC}"/>
                </a:ext>
              </a:extLst>
            </p:cNvPr>
            <p:cNvSpPr/>
            <p:nvPr/>
          </p:nvSpPr>
          <p:spPr>
            <a:xfrm>
              <a:off x="3602135" y="3740161"/>
              <a:ext cx="2381380" cy="229704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30E76EC0-7902-4520-9B9B-1FDE446C4152}"/>
                </a:ext>
              </a:extLst>
            </p:cNvPr>
            <p:cNvSpPr/>
            <p:nvPr/>
          </p:nvSpPr>
          <p:spPr>
            <a:xfrm>
              <a:off x="4666602" y="4719299"/>
              <a:ext cx="349898" cy="415971"/>
            </a:xfrm>
            <a:prstGeom prst="ellips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4694B84B-EDEA-4740-8F9A-F1128273B3D2}"/>
                </a:ext>
              </a:extLst>
            </p:cNvPr>
            <p:cNvSpPr/>
            <p:nvPr/>
          </p:nvSpPr>
          <p:spPr>
            <a:xfrm>
              <a:off x="4953519" y="2823986"/>
              <a:ext cx="349898" cy="415971"/>
            </a:xfrm>
            <a:prstGeom prst="ellips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8C99327-0D22-4985-9EA9-F87698FDB682}"/>
                </a:ext>
              </a:extLst>
            </p:cNvPr>
            <p:cNvSpPr/>
            <p:nvPr/>
          </p:nvSpPr>
          <p:spPr>
            <a:xfrm>
              <a:off x="2703026" y="3968598"/>
              <a:ext cx="349898" cy="415971"/>
            </a:xfrm>
            <a:prstGeom prst="ellips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8366E135-26C8-4FD8-8803-CC93B73CC051}"/>
                </a:ext>
              </a:extLst>
            </p:cNvPr>
            <p:cNvSpPr/>
            <p:nvPr/>
          </p:nvSpPr>
          <p:spPr>
            <a:xfrm>
              <a:off x="3250681" y="5366224"/>
              <a:ext cx="214604" cy="20993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7" name="Straight Arrow Connector 36">
            <a:extLst>
              <a:ext uri="{FF2B5EF4-FFF2-40B4-BE49-F238E27FC236}">
                <a16:creationId xmlns:a16="http://schemas.microsoft.com/office/drawing/2014/main" id="{FD9D6934-B2EC-44B4-BE96-B32F1BD71C29}"/>
              </a:ext>
            </a:extLst>
          </p:cNvPr>
          <p:cNvCxnSpPr>
            <a:cxnSpLocks/>
          </p:cNvCxnSpPr>
          <p:nvPr/>
        </p:nvCxnSpPr>
        <p:spPr>
          <a:xfrm flipH="1">
            <a:off x="7624412" y="943530"/>
            <a:ext cx="1259634" cy="560072"/>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7F371EC-4057-4B16-88EB-79EDEA1BA295}"/>
              </a:ext>
            </a:extLst>
          </p:cNvPr>
          <p:cNvCxnSpPr>
            <a:cxnSpLocks/>
          </p:cNvCxnSpPr>
          <p:nvPr/>
        </p:nvCxnSpPr>
        <p:spPr>
          <a:xfrm>
            <a:off x="3963703" y="943530"/>
            <a:ext cx="3063550" cy="659941"/>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C2D2B2AD-134B-4BDD-9F65-EEE9C0E09069}"/>
              </a:ext>
            </a:extLst>
          </p:cNvPr>
          <p:cNvCxnSpPr>
            <a:cxnSpLocks/>
          </p:cNvCxnSpPr>
          <p:nvPr/>
        </p:nvCxnSpPr>
        <p:spPr>
          <a:xfrm>
            <a:off x="5406836" y="939460"/>
            <a:ext cx="1976017" cy="622306"/>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CF4C3BA6-3DD8-4751-83A5-63C5110C36B9}"/>
              </a:ext>
            </a:extLst>
          </p:cNvPr>
          <p:cNvSpPr txBox="1"/>
          <p:nvPr/>
        </p:nvSpPr>
        <p:spPr>
          <a:xfrm>
            <a:off x="6607109" y="1563988"/>
            <a:ext cx="3875314"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Cluster</a:t>
            </a:r>
            <a:r>
              <a:rPr lang="en-US" dirty="0">
                <a:latin typeface="Times New Roman" panose="02020603050405020304" pitchFamily="18" charset="0"/>
                <a:cs typeface="Times New Roman" panose="02020603050405020304" pitchFamily="18" charset="0"/>
              </a:rPr>
              <a:t> Heads Blue color in the figure</a:t>
            </a:r>
          </a:p>
        </p:txBody>
      </p:sp>
      <p:cxnSp>
        <p:nvCxnSpPr>
          <p:cNvPr id="45" name="Straight Arrow Connector 44">
            <a:extLst>
              <a:ext uri="{FF2B5EF4-FFF2-40B4-BE49-F238E27FC236}">
                <a16:creationId xmlns:a16="http://schemas.microsoft.com/office/drawing/2014/main" id="{68710B8C-2B78-4428-B57F-498EE565C69C}"/>
              </a:ext>
            </a:extLst>
          </p:cNvPr>
          <p:cNvCxnSpPr>
            <a:cxnSpLocks/>
          </p:cNvCxnSpPr>
          <p:nvPr/>
        </p:nvCxnSpPr>
        <p:spPr>
          <a:xfrm flipH="1">
            <a:off x="2300256" y="939460"/>
            <a:ext cx="773926" cy="480357"/>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19B7A3CA-51DB-473E-9BE7-B3721FF51196}"/>
              </a:ext>
            </a:extLst>
          </p:cNvPr>
          <p:cNvSpPr txBox="1"/>
          <p:nvPr/>
        </p:nvSpPr>
        <p:spPr>
          <a:xfrm>
            <a:off x="823171" y="1457476"/>
            <a:ext cx="372809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Ordinary node (yellow in figure)</a:t>
            </a:r>
            <a:endParaRPr lang="en-US" dirty="0"/>
          </a:p>
        </p:txBody>
      </p:sp>
      <p:sp>
        <p:nvSpPr>
          <p:cNvPr id="47" name="TextBox 46">
            <a:extLst>
              <a:ext uri="{FF2B5EF4-FFF2-40B4-BE49-F238E27FC236}">
                <a16:creationId xmlns:a16="http://schemas.microsoft.com/office/drawing/2014/main" id="{35BAD9B9-8395-48C5-8815-0BEDEDEAD6F2}"/>
              </a:ext>
            </a:extLst>
          </p:cNvPr>
          <p:cNvSpPr txBox="1"/>
          <p:nvPr/>
        </p:nvSpPr>
        <p:spPr>
          <a:xfrm>
            <a:off x="5401909" y="2623013"/>
            <a:ext cx="6218849" cy="2308324"/>
          </a:xfrm>
          <a:prstGeom prst="rect">
            <a:avLst/>
          </a:prstGeom>
          <a:noFill/>
        </p:spPr>
        <p:txBody>
          <a:bodyPr wrap="square" rtlCol="0">
            <a:spAutoFit/>
          </a:bodyPr>
          <a:lstStyle/>
          <a:p>
            <a:r>
              <a:rPr lang="en-US" sz="2400" i="1" dirty="0">
                <a:latin typeface="Times New Roman" panose="02020603050405020304" pitchFamily="18" charset="0"/>
                <a:cs typeface="Times New Roman" panose="02020603050405020304" pitchFamily="18" charset="0"/>
              </a:rPr>
              <a:t>N</a:t>
            </a:r>
            <a:r>
              <a:rPr lang="en-US" sz="2400" i="1"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Number of nodes within radius </a:t>
            </a:r>
            <a:r>
              <a:rPr lang="en-US" sz="2400" i="1" dirty="0">
                <a:latin typeface="Times New Roman" panose="02020603050405020304" pitchFamily="18" charset="0"/>
                <a:cs typeface="Times New Roman" panose="02020603050405020304" pitchFamily="18" charset="0"/>
              </a:rPr>
              <a:t>r</a:t>
            </a:r>
            <a:r>
              <a:rPr lang="en-US" sz="2400" dirty="0">
                <a:latin typeface="Times New Roman" panose="02020603050405020304" pitchFamily="18" charset="0"/>
                <a:cs typeface="Times New Roman" panose="02020603050405020304" pitchFamily="18" charset="0"/>
              </a:rPr>
              <a:t> for CH </a:t>
            </a:r>
            <a:r>
              <a:rPr lang="en-US" sz="2400" i="1" dirty="0" err="1">
                <a:latin typeface="Times New Roman" panose="02020603050405020304" pitchFamily="18" charset="0"/>
                <a:cs typeface="Times New Roman" panose="02020603050405020304" pitchFamily="18" charset="0"/>
              </a:rPr>
              <a:t>i</a:t>
            </a:r>
            <a:endParaRPr lang="en-US" sz="2400" i="1" dirty="0">
              <a:latin typeface="Times New Roman" panose="02020603050405020304" pitchFamily="18" charset="0"/>
              <a:cs typeface="Times New Roman" panose="02020603050405020304" pitchFamily="18" charset="0"/>
            </a:endParaRPr>
          </a:p>
          <a:p>
            <a:r>
              <a:rPr lang="en-US" sz="2400" i="1" dirty="0" err="1">
                <a:latin typeface="Times New Roman" panose="02020603050405020304" pitchFamily="18" charset="0"/>
                <a:cs typeface="Times New Roman" panose="02020603050405020304" pitchFamily="18" charset="0"/>
              </a:rPr>
              <a:t>E</a:t>
            </a:r>
            <a:r>
              <a:rPr lang="en-US" sz="2400" i="1" baseline="-250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Remaining energy of CH </a:t>
            </a:r>
            <a:r>
              <a:rPr lang="en-US" sz="2400" i="1" dirty="0" err="1">
                <a:latin typeface="Times New Roman" panose="02020603050405020304" pitchFamily="18" charset="0"/>
                <a:cs typeface="Times New Roman" panose="02020603050405020304" pitchFamily="18" charset="0"/>
              </a:rPr>
              <a:t>i</a:t>
            </a:r>
            <a:endParaRPr lang="en-US" sz="2400" i="1" dirty="0">
              <a:latin typeface="Times New Roman" panose="02020603050405020304" pitchFamily="18" charset="0"/>
              <a:cs typeface="Times New Roman" panose="02020603050405020304" pitchFamily="18" charset="0"/>
            </a:endParaRPr>
          </a:p>
          <a:p>
            <a:r>
              <a:rPr lang="en-US" sz="2400" i="1" dirty="0" err="1">
                <a:latin typeface="Times New Roman" panose="02020603050405020304" pitchFamily="18" charset="0"/>
                <a:cs typeface="Times New Roman" panose="02020603050405020304" pitchFamily="18" charset="0"/>
              </a:rPr>
              <a:t>O</a:t>
            </a:r>
            <a:r>
              <a:rPr lang="en-US" sz="2400" i="1" baseline="-25000" dirty="0" err="1">
                <a:latin typeface="Times New Roman" panose="02020603050405020304" pitchFamily="18" charset="0"/>
                <a:cs typeface="Times New Roman" panose="02020603050405020304" pitchFamily="18" charset="0"/>
              </a:rPr>
              <a:t>j</a:t>
            </a:r>
            <a:r>
              <a:rPr lang="en-US" sz="2400" dirty="0">
                <a:latin typeface="Times New Roman" panose="02020603050405020304" pitchFamily="18" charset="0"/>
                <a:cs typeface="Times New Roman" panose="02020603050405020304" pitchFamily="18" charset="0"/>
              </a:rPr>
              <a:t> → Number of overlapped node under </a:t>
            </a:r>
            <a:r>
              <a:rPr lang="en-US" sz="2400" i="1" dirty="0" err="1">
                <a:latin typeface="Times New Roman" panose="02020603050405020304" pitchFamily="18" charset="0"/>
                <a:cs typeface="Times New Roman" panose="02020603050405020304" pitchFamily="18" charset="0"/>
              </a:rPr>
              <a:t>j</a:t>
            </a:r>
            <a:r>
              <a:rPr lang="en-US" sz="2400" dirty="0" err="1">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chromosome</a:t>
            </a:r>
            <a:endParaRPr lang="en-US" sz="2400" i="1" dirty="0">
              <a:latin typeface="Times New Roman" panose="02020603050405020304" pitchFamily="18" charset="0"/>
              <a:cs typeface="Times New Roman" panose="02020603050405020304" pitchFamily="18" charset="0"/>
            </a:endParaRPr>
          </a:p>
          <a:p>
            <a:r>
              <a:rPr lang="en-US" sz="2400" i="1" dirty="0" err="1">
                <a:latin typeface="Times New Roman" panose="02020603050405020304" pitchFamily="18" charset="0"/>
                <a:cs typeface="Times New Roman" panose="02020603050405020304" pitchFamily="18" charset="0"/>
              </a:rPr>
              <a:t>U</a:t>
            </a:r>
            <a:r>
              <a:rPr lang="en-US" sz="2400" i="1" baseline="-25000" dirty="0" err="1">
                <a:latin typeface="Times New Roman" panose="02020603050405020304" pitchFamily="18" charset="0"/>
                <a:cs typeface="Times New Roman" panose="02020603050405020304" pitchFamily="18" charset="0"/>
              </a:rPr>
              <a:t>j</a:t>
            </a:r>
            <a:r>
              <a:rPr lang="en-US" sz="2400" dirty="0">
                <a:latin typeface="Times New Roman" panose="02020603050405020304" pitchFamily="18" charset="0"/>
                <a:cs typeface="Times New Roman" panose="02020603050405020304" pitchFamily="18" charset="0"/>
              </a:rPr>
              <a:t> → Number of nodes outside the cover for the  </a:t>
            </a:r>
          </a:p>
          <a:p>
            <a:r>
              <a:rPr lang="en-US" sz="2400" dirty="0">
                <a:latin typeface="Times New Roman" panose="02020603050405020304" pitchFamily="18" charset="0"/>
                <a:cs typeface="Times New Roman" panose="02020603050405020304" pitchFamily="18" charset="0"/>
              </a:rPr>
              <a:t>	chromone (in the figure </a:t>
            </a:r>
            <a:r>
              <a:rPr lang="en-US" sz="2400" i="1" dirty="0" err="1">
                <a:latin typeface="Times New Roman" panose="02020603050405020304" pitchFamily="18" charset="0"/>
                <a:cs typeface="Times New Roman" panose="02020603050405020304" pitchFamily="18" charset="0"/>
              </a:rPr>
              <a:t>U</a:t>
            </a:r>
            <a:r>
              <a:rPr lang="en-US" sz="2400" i="1" baseline="-25000" dirty="0" err="1">
                <a:latin typeface="Times New Roman" panose="02020603050405020304" pitchFamily="18" charset="0"/>
                <a:cs typeface="Times New Roman" panose="02020603050405020304" pitchFamily="18" charset="0"/>
              </a:rPr>
              <a:t>j</a:t>
            </a:r>
            <a:r>
              <a:rPr lang="en-US" sz="2400" i="1" baseline="-250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2)</a:t>
            </a:r>
            <a:endParaRPr lang="en-US" sz="2400" i="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62E455E-FE0C-4407-9DF1-25834500433D}"/>
                  </a:ext>
                </a:extLst>
              </p:cNvPr>
              <p:cNvSpPr txBox="1"/>
              <p:nvPr/>
            </p:nvSpPr>
            <p:spPr>
              <a:xfrm>
                <a:off x="5382730" y="5315291"/>
                <a:ext cx="4849074" cy="70596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𝑓𝑖𝑡</m:t>
                          </m:r>
                        </m:e>
                        <m:sub>
                          <m:r>
                            <a:rPr lang="en-US" b="0" i="1" smtClean="0">
                              <a:latin typeface="Cambria Math" panose="02040503050406030204" pitchFamily="18" charset="0"/>
                            </a:rPr>
                            <m:t>𝑗</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𝐶h𝑟𝑜𝑚𝑜𝑠𝑜𝑚𝑒</m:t>
                              </m:r>
                            </m:sub>
                            <m:sup/>
                            <m:e>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𝑖</m:t>
                                  </m:r>
                                </m:sub>
                              </m:sSub>
                            </m:e>
                          </m:nary>
                          <m:r>
                            <a:rPr lang="en-US" b="0" i="1" smtClean="0">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𝐶h𝑟𝑜𝑚𝑜𝑠𝑜𝑚𝑒</m:t>
                              </m:r>
                            </m:sub>
                            <m:sup/>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𝑖</m:t>
                                  </m:r>
                                </m:sub>
                              </m:sSub>
                            </m:e>
                          </m:nary>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𝑂</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𝑈</m:t>
                              </m:r>
                            </m:e>
                            <m:sub>
                              <m:r>
                                <a:rPr lang="en-US" i="1">
                                  <a:latin typeface="Cambria Math" panose="02040503050406030204" pitchFamily="18" charset="0"/>
                                </a:rPr>
                                <m:t>𝑗</m:t>
                              </m:r>
                            </m:sub>
                          </m:sSub>
                        </m:den>
                      </m:f>
                    </m:oMath>
                  </m:oMathPara>
                </a14:m>
                <a:endParaRPr lang="en-US" dirty="0"/>
              </a:p>
            </p:txBody>
          </p:sp>
        </mc:Choice>
        <mc:Fallback xmlns="">
          <p:sp>
            <p:nvSpPr>
              <p:cNvPr id="48" name="TextBox 47">
                <a:extLst>
                  <a:ext uri="{FF2B5EF4-FFF2-40B4-BE49-F238E27FC236}">
                    <a16:creationId xmlns:a16="http://schemas.microsoft.com/office/drawing/2014/main" id="{862E455E-FE0C-4407-9DF1-25834500433D}"/>
                  </a:ext>
                </a:extLst>
              </p:cNvPr>
              <p:cNvSpPr txBox="1">
                <a:spLocks noRot="1" noChangeAspect="1" noMove="1" noResize="1" noEditPoints="1" noAdjustHandles="1" noChangeArrowheads="1" noChangeShapeType="1" noTextEdit="1"/>
              </p:cNvSpPr>
              <p:nvPr/>
            </p:nvSpPr>
            <p:spPr>
              <a:xfrm>
                <a:off x="5382730" y="5315291"/>
                <a:ext cx="4849074" cy="705962"/>
              </a:xfrm>
              <a:prstGeom prst="rect">
                <a:avLst/>
              </a:prstGeom>
              <a:blipFill>
                <a:blip r:embed="rId2"/>
                <a:stretch>
                  <a:fillRect/>
                </a:stretch>
              </a:blipFill>
            </p:spPr>
            <p:txBody>
              <a:bodyPr/>
              <a:lstStyle/>
              <a:p>
                <a:r>
                  <a:rPr lang="en-US">
                    <a:noFill/>
                  </a:rPr>
                  <a:t> </a:t>
                </a:r>
              </a:p>
            </p:txBody>
          </p:sp>
        </mc:Fallback>
      </mc:AlternateContent>
      <p:sp>
        <p:nvSpPr>
          <p:cNvPr id="49" name="TextBox 48">
            <a:extLst>
              <a:ext uri="{FF2B5EF4-FFF2-40B4-BE49-F238E27FC236}">
                <a16:creationId xmlns:a16="http://schemas.microsoft.com/office/drawing/2014/main" id="{5E00ADAE-EF5D-4A8A-9B58-47A5D32FC8F1}"/>
              </a:ext>
            </a:extLst>
          </p:cNvPr>
          <p:cNvSpPr txBox="1"/>
          <p:nvPr/>
        </p:nvSpPr>
        <p:spPr>
          <a:xfrm>
            <a:off x="5466696" y="4795916"/>
            <a:ext cx="5210632"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The fitness function of </a:t>
            </a:r>
            <a:r>
              <a:rPr lang="en-US" sz="2400" i="1" dirty="0" err="1">
                <a:latin typeface="Times New Roman" panose="02020603050405020304" pitchFamily="18" charset="0"/>
                <a:cs typeface="Times New Roman" panose="02020603050405020304" pitchFamily="18" charset="0"/>
              </a:rPr>
              <a:t>j</a:t>
            </a:r>
            <a:r>
              <a:rPr lang="en-US" sz="2400" dirty="0" err="1">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Chromosome, </a:t>
            </a:r>
          </a:p>
        </p:txBody>
      </p:sp>
      <p:sp>
        <p:nvSpPr>
          <p:cNvPr id="36" name="TextBox 35">
            <a:extLst>
              <a:ext uri="{FF2B5EF4-FFF2-40B4-BE49-F238E27FC236}">
                <a16:creationId xmlns:a16="http://schemas.microsoft.com/office/drawing/2014/main" id="{863BBCDF-360C-4941-9B30-52CC6DFAD3BF}"/>
              </a:ext>
            </a:extLst>
          </p:cNvPr>
          <p:cNvSpPr txBox="1"/>
          <p:nvPr/>
        </p:nvSpPr>
        <p:spPr>
          <a:xfrm>
            <a:off x="550508" y="6121122"/>
            <a:ext cx="11385419" cy="461665"/>
          </a:xfrm>
          <a:prstGeom prst="rect">
            <a:avLst/>
          </a:prstGeom>
          <a:solidFill>
            <a:srgbClr val="FFFF00"/>
          </a:solidFill>
        </p:spPr>
        <p:txBody>
          <a:bodyPr wrap="square" rtlCol="0">
            <a:spAutoFit/>
          </a:bodyPr>
          <a:lstStyle/>
          <a:p>
            <a:r>
              <a:rPr lang="en-US" sz="2400" dirty="0">
                <a:latin typeface="Times New Roman" panose="02020603050405020304" pitchFamily="18" charset="0"/>
                <a:cs typeface="Times New Roman" panose="02020603050405020304" pitchFamily="18" charset="0"/>
              </a:rPr>
              <a:t>Crossover and mutation will change the number and location of CHs hence fitness function. </a:t>
            </a:r>
          </a:p>
        </p:txBody>
      </p:sp>
      <p:sp>
        <p:nvSpPr>
          <p:cNvPr id="40" name="TextBox 39">
            <a:extLst>
              <a:ext uri="{FF2B5EF4-FFF2-40B4-BE49-F238E27FC236}">
                <a16:creationId xmlns:a16="http://schemas.microsoft.com/office/drawing/2014/main" id="{D02D636D-8F38-4D41-886B-9386ECB33BD2}"/>
              </a:ext>
            </a:extLst>
          </p:cNvPr>
          <p:cNvSpPr txBox="1"/>
          <p:nvPr/>
        </p:nvSpPr>
        <p:spPr>
          <a:xfrm>
            <a:off x="0" y="-13505"/>
            <a:ext cx="6276400" cy="584775"/>
          </a:xfrm>
          <a:prstGeom prst="rect">
            <a:avLst/>
          </a:prstGeom>
          <a:solidFill>
            <a:srgbClr val="00B0F0"/>
          </a:solidFill>
        </p:spPr>
        <p:txBody>
          <a:bodyPr wrap="square" rtlCol="0">
            <a:spAutoFit/>
          </a:bodyPr>
          <a:lstStyle/>
          <a:p>
            <a:r>
              <a:rPr lang="en-US" sz="3200" dirty="0">
                <a:latin typeface="Times New Roman" panose="02020603050405020304" pitchFamily="18" charset="0"/>
                <a:cs typeface="Times New Roman" panose="02020603050405020304" pitchFamily="18" charset="0"/>
              </a:rPr>
              <a:t>GA in WSN to select a node as CH</a:t>
            </a:r>
          </a:p>
        </p:txBody>
      </p:sp>
      <p:sp>
        <p:nvSpPr>
          <p:cNvPr id="2" name="TextBox 1">
            <a:extLst>
              <a:ext uri="{FF2B5EF4-FFF2-40B4-BE49-F238E27FC236}">
                <a16:creationId xmlns:a16="http://schemas.microsoft.com/office/drawing/2014/main" id="{C30B09E5-4174-40D2-936C-44FC19A54FF9}"/>
              </a:ext>
            </a:extLst>
          </p:cNvPr>
          <p:cNvSpPr txBox="1"/>
          <p:nvPr/>
        </p:nvSpPr>
        <p:spPr>
          <a:xfrm>
            <a:off x="5535251" y="2158880"/>
            <a:ext cx="5073521" cy="400110"/>
          </a:xfrm>
          <a:prstGeom prst="rect">
            <a:avLst/>
          </a:prstGeom>
          <a:solidFill>
            <a:srgbClr val="FFCCFF"/>
          </a:solidFill>
        </p:spPr>
        <p:txBody>
          <a:bodyPr wrap="square" rtlCol="0">
            <a:spAutoFit/>
          </a:bodyPr>
          <a:lstStyle/>
          <a:p>
            <a:r>
              <a:rPr lang="en-US" sz="2000" dirty="0">
                <a:latin typeface="Times New Roman" panose="02020603050405020304" pitchFamily="18" charset="0"/>
                <a:cs typeface="Times New Roman" panose="02020603050405020304" pitchFamily="18" charset="0"/>
              </a:rPr>
              <a:t>Each gene of the chromosome is a sensor node.</a:t>
            </a:r>
          </a:p>
        </p:txBody>
      </p:sp>
      <p:sp>
        <p:nvSpPr>
          <p:cNvPr id="38" name="Slide Number Placeholder 37">
            <a:extLst>
              <a:ext uri="{FF2B5EF4-FFF2-40B4-BE49-F238E27FC236}">
                <a16:creationId xmlns:a16="http://schemas.microsoft.com/office/drawing/2014/main" id="{DD7ADD2D-E687-4873-912A-34C03F096BC7}"/>
              </a:ext>
            </a:extLst>
          </p:cNvPr>
          <p:cNvSpPr>
            <a:spLocks noGrp="1"/>
          </p:cNvSpPr>
          <p:nvPr>
            <p:ph type="sldNum" sz="quarter" idx="12"/>
          </p:nvPr>
        </p:nvSpPr>
        <p:spPr/>
        <p:txBody>
          <a:bodyPr/>
          <a:lstStyle/>
          <a:p>
            <a:fld id="{C3F1913A-7668-436E-8561-76A60B792217}" type="slidenum">
              <a:rPr lang="en-US" smtClean="0"/>
              <a:t>59</a:t>
            </a:fld>
            <a:endParaRPr lang="en-US"/>
          </a:p>
        </p:txBody>
      </p:sp>
    </p:spTree>
    <p:extLst>
      <p:ext uri="{BB962C8B-B14F-4D97-AF65-F5344CB8AC3E}">
        <p14:creationId xmlns:p14="http://schemas.microsoft.com/office/powerpoint/2010/main" val="1656777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C67026D-0270-4AFF-9DDA-724390D616BB}"/>
              </a:ext>
            </a:extLst>
          </p:cNvPr>
          <p:cNvSpPr txBox="1"/>
          <p:nvPr/>
        </p:nvSpPr>
        <p:spPr>
          <a:xfrm>
            <a:off x="447871" y="27992"/>
            <a:ext cx="5019868" cy="707886"/>
          </a:xfrm>
          <a:prstGeom prst="rect">
            <a:avLst/>
          </a:prstGeom>
          <a:solidFill>
            <a:srgbClr val="92D050"/>
          </a:solidFill>
        </p:spPr>
        <p:txBody>
          <a:bodyPr wrap="square" rtlCol="0">
            <a:spAutoFit/>
          </a:bodyPr>
          <a:lstStyle/>
          <a:p>
            <a:r>
              <a:rPr lang="en-US" sz="4000" dirty="0">
                <a:latin typeface="Times New Roman" panose="02020603050405020304" pitchFamily="18" charset="0"/>
                <a:cs typeface="Times New Roman" panose="02020603050405020304" pitchFamily="18" charset="0"/>
              </a:rPr>
              <a:t>FIS in selection of CHs</a:t>
            </a:r>
          </a:p>
        </p:txBody>
      </p:sp>
      <p:sp>
        <p:nvSpPr>
          <p:cNvPr id="6" name="TextBox 5">
            <a:extLst>
              <a:ext uri="{FF2B5EF4-FFF2-40B4-BE49-F238E27FC236}">
                <a16:creationId xmlns:a16="http://schemas.microsoft.com/office/drawing/2014/main" id="{5A5A0D88-4D1B-4027-80F3-773114A14C32}"/>
              </a:ext>
            </a:extLst>
          </p:cNvPr>
          <p:cNvSpPr txBox="1"/>
          <p:nvPr/>
        </p:nvSpPr>
        <p:spPr>
          <a:xfrm>
            <a:off x="319573" y="688291"/>
            <a:ext cx="11552853" cy="2431435"/>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Each node of the WSN is associated with FIS or Fuzzy Logic Controller (FLC). FIS uses four linguistic variables:</a:t>
            </a:r>
          </a:p>
          <a:p>
            <a:pPr algn="just"/>
            <a:endParaRPr lang="en-US" sz="24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Energy = {very low, low, medium, high, very high}</a:t>
            </a:r>
            <a:r>
              <a:rPr lang="en-US" sz="2000" dirty="0">
                <a:solidFill>
                  <a:srgbClr val="0000FF"/>
                </a:solidFill>
                <a:latin typeface="Times New Roman" panose="02020603050405020304" pitchFamily="18" charset="0"/>
                <a:cs typeface="Times New Roman" panose="02020603050405020304" pitchFamily="18" charset="0"/>
              </a:rPr>
              <a:t>→ remaining battery energy of a node</a:t>
            </a:r>
          </a:p>
          <a:p>
            <a:pPr algn="just"/>
            <a:r>
              <a:rPr lang="en-US" sz="2000" dirty="0">
                <a:latin typeface="Times New Roman" panose="02020603050405020304" pitchFamily="18" charset="0"/>
                <a:cs typeface="Times New Roman" panose="02020603050405020304" pitchFamily="18" charset="0"/>
              </a:rPr>
              <a:t>Density = {low, medium, high} </a:t>
            </a:r>
            <a:r>
              <a:rPr lang="en-US" sz="2000" dirty="0">
                <a:solidFill>
                  <a:srgbClr val="0000FF"/>
                </a:solidFill>
                <a:latin typeface="Times New Roman" panose="02020603050405020304" pitchFamily="18" charset="0"/>
                <a:cs typeface="Times New Roman" panose="02020603050405020304" pitchFamily="18" charset="0"/>
              </a:rPr>
              <a:t>→ Number of adjacent nodes i.e. within radius </a:t>
            </a:r>
            <a:r>
              <a:rPr lang="en-US" sz="2000" i="1" dirty="0">
                <a:solidFill>
                  <a:srgbClr val="0000FF"/>
                </a:solidFill>
                <a:latin typeface="Times New Roman" panose="02020603050405020304" pitchFamily="18" charset="0"/>
                <a:cs typeface="Times New Roman" panose="02020603050405020304" pitchFamily="18" charset="0"/>
              </a:rPr>
              <a:t>r</a:t>
            </a:r>
            <a:r>
              <a:rPr lang="en-US" sz="2000" dirty="0">
                <a:solidFill>
                  <a:srgbClr val="0000FF"/>
                </a:solidFill>
                <a:latin typeface="Times New Roman" panose="02020603050405020304" pitchFamily="18" charset="0"/>
                <a:cs typeface="Times New Roman" panose="02020603050405020304" pitchFamily="18" charset="0"/>
              </a:rPr>
              <a:t> or density of adjacent nodes.</a:t>
            </a:r>
          </a:p>
          <a:p>
            <a:pPr algn="just"/>
            <a:r>
              <a:rPr lang="en-US" sz="2000" dirty="0">
                <a:latin typeface="Times New Roman" panose="02020603050405020304" pitchFamily="18" charset="0"/>
                <a:cs typeface="Times New Roman" panose="02020603050405020304" pitchFamily="18" charset="0"/>
              </a:rPr>
              <a:t>Distance = {very small, small, medium, long, very long}  </a:t>
            </a:r>
            <a:r>
              <a:rPr lang="en-US" sz="2000" dirty="0">
                <a:solidFill>
                  <a:srgbClr val="0000FF"/>
                </a:solidFill>
                <a:latin typeface="Times New Roman" panose="02020603050405020304" pitchFamily="18" charset="0"/>
                <a:cs typeface="Times New Roman" panose="02020603050405020304" pitchFamily="18" charset="0"/>
              </a:rPr>
              <a:t>→ distance between the node and base station</a:t>
            </a:r>
          </a:p>
          <a:p>
            <a:pPr algn="just"/>
            <a:r>
              <a:rPr lang="en-US" sz="2000" dirty="0">
                <a:latin typeface="Times New Roman" panose="02020603050405020304" pitchFamily="18" charset="0"/>
                <a:cs typeface="Times New Roman" panose="02020603050405020304" pitchFamily="18" charset="0"/>
              </a:rPr>
              <a:t>Output ={very small, small, medium, long, very long} </a:t>
            </a:r>
            <a:r>
              <a:rPr lang="en-US" sz="2000" dirty="0">
                <a:solidFill>
                  <a:srgbClr val="0000FF"/>
                </a:solidFill>
                <a:latin typeface="Times New Roman" panose="02020603050405020304" pitchFamily="18" charset="0"/>
                <a:cs typeface="Times New Roman" panose="02020603050405020304" pitchFamily="18" charset="0"/>
              </a:rPr>
              <a:t>→ grade of MF is related to become a node CH</a:t>
            </a:r>
          </a:p>
        </p:txBody>
      </p:sp>
      <p:grpSp>
        <p:nvGrpSpPr>
          <p:cNvPr id="7" name="Group 6">
            <a:extLst>
              <a:ext uri="{FF2B5EF4-FFF2-40B4-BE49-F238E27FC236}">
                <a16:creationId xmlns:a16="http://schemas.microsoft.com/office/drawing/2014/main" id="{B1B38872-4F32-42B3-9D6C-83E8C0FD8454}"/>
              </a:ext>
            </a:extLst>
          </p:cNvPr>
          <p:cNvGrpSpPr/>
          <p:nvPr/>
        </p:nvGrpSpPr>
        <p:grpSpPr>
          <a:xfrm>
            <a:off x="806261" y="3780025"/>
            <a:ext cx="9987292" cy="2393284"/>
            <a:chOff x="0" y="-21564"/>
            <a:chExt cx="5406887" cy="2393703"/>
          </a:xfrm>
        </p:grpSpPr>
        <p:grpSp>
          <p:nvGrpSpPr>
            <p:cNvPr id="8" name="Group 7">
              <a:extLst>
                <a:ext uri="{FF2B5EF4-FFF2-40B4-BE49-F238E27FC236}">
                  <a16:creationId xmlns:a16="http://schemas.microsoft.com/office/drawing/2014/main" id="{DB050577-917B-4680-B665-AB868EEB7BC7}"/>
                </a:ext>
              </a:extLst>
            </p:cNvPr>
            <p:cNvGrpSpPr/>
            <p:nvPr/>
          </p:nvGrpSpPr>
          <p:grpSpPr>
            <a:xfrm>
              <a:off x="0" y="-21564"/>
              <a:ext cx="5406887" cy="2393703"/>
              <a:chOff x="0" y="-21564"/>
              <a:chExt cx="5406887" cy="2393703"/>
            </a:xfrm>
          </p:grpSpPr>
          <p:sp>
            <p:nvSpPr>
              <p:cNvPr id="10" name="Text Box 122">
                <a:extLst>
                  <a:ext uri="{FF2B5EF4-FFF2-40B4-BE49-F238E27FC236}">
                    <a16:creationId xmlns:a16="http://schemas.microsoft.com/office/drawing/2014/main" id="{0BC6B1F4-6212-4E96-A9F3-D8F5AFE4D401}"/>
                  </a:ext>
                </a:extLst>
              </p:cNvPr>
              <p:cNvSpPr txBox="1"/>
              <p:nvPr/>
            </p:nvSpPr>
            <p:spPr>
              <a:xfrm>
                <a:off x="636104" y="26504"/>
                <a:ext cx="907473" cy="19812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2000">
                    <a:effectLst/>
                    <a:ea typeface="Calibri" panose="020F0502020204030204" pitchFamily="34" charset="0"/>
                    <a:cs typeface="Times New Roman" panose="02020603050405020304" pitchFamily="18" charset="0"/>
                  </a:rPr>
                  <a:t> </a:t>
                </a:r>
              </a:p>
              <a:p>
                <a:pPr marL="0" marR="0">
                  <a:lnSpc>
                    <a:spcPct val="107000"/>
                  </a:lnSpc>
                  <a:spcBef>
                    <a:spcPts val="0"/>
                  </a:spcBef>
                  <a:spcAft>
                    <a:spcPts val="800"/>
                  </a:spcAft>
                </a:pPr>
                <a:r>
                  <a:rPr lang="en-US" sz="2000">
                    <a:effectLst/>
                    <a:ea typeface="Calibri" panose="020F0502020204030204" pitchFamily="34" charset="0"/>
                    <a:cs typeface="Times New Roman" panose="02020603050405020304" pitchFamily="18" charset="0"/>
                  </a:rPr>
                  <a:t> </a:t>
                </a:r>
              </a:p>
              <a:p>
                <a:pPr marL="0" marR="0" algn="ctr">
                  <a:lnSpc>
                    <a:spcPct val="107000"/>
                  </a:lnSpc>
                  <a:spcBef>
                    <a:spcPts val="0"/>
                  </a:spcBef>
                  <a:spcAft>
                    <a:spcPts val="80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   …   …</a:t>
                </a:r>
                <a:endParaRPr lang="en-US" sz="2000">
                  <a:effectLst/>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   …   …</a:t>
                </a:r>
                <a:endParaRPr lang="en-US" sz="2000">
                  <a:effectLst/>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a:effectLst/>
                  <a:ea typeface="Calibri" panose="020F0502020204030204" pitchFamily="34" charset="0"/>
                  <a:cs typeface="Times New Roman" panose="02020603050405020304" pitchFamily="18" charset="0"/>
                </a:endParaRPr>
              </a:p>
            </p:txBody>
          </p:sp>
          <p:grpSp>
            <p:nvGrpSpPr>
              <p:cNvPr id="11" name="Group 10">
                <a:extLst>
                  <a:ext uri="{FF2B5EF4-FFF2-40B4-BE49-F238E27FC236}">
                    <a16:creationId xmlns:a16="http://schemas.microsoft.com/office/drawing/2014/main" id="{C1776A38-0592-4772-A563-6FAF558D657D}"/>
                  </a:ext>
                </a:extLst>
              </p:cNvPr>
              <p:cNvGrpSpPr/>
              <p:nvPr/>
            </p:nvGrpSpPr>
            <p:grpSpPr>
              <a:xfrm>
                <a:off x="636104" y="245165"/>
                <a:ext cx="920808" cy="325582"/>
                <a:chOff x="0" y="0"/>
                <a:chExt cx="920808" cy="325582"/>
              </a:xfrm>
            </p:grpSpPr>
            <p:cxnSp>
              <p:nvCxnSpPr>
                <p:cNvPr id="46" name="Straight Connector 45">
                  <a:extLst>
                    <a:ext uri="{FF2B5EF4-FFF2-40B4-BE49-F238E27FC236}">
                      <a16:creationId xmlns:a16="http://schemas.microsoft.com/office/drawing/2014/main" id="{213081FE-0BEB-4BA7-B2C4-21D3B13B1469}"/>
                    </a:ext>
                  </a:extLst>
                </p:cNvPr>
                <p:cNvCxnSpPr/>
                <p:nvPr/>
              </p:nvCxnSpPr>
              <p:spPr>
                <a:xfrm flipV="1">
                  <a:off x="76200" y="311727"/>
                  <a:ext cx="727364" cy="692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336BE54-3949-46BD-A079-93EF369ACFEF}"/>
                    </a:ext>
                  </a:extLst>
                </p:cNvPr>
                <p:cNvCxnSpPr/>
                <p:nvPr/>
              </p:nvCxnSpPr>
              <p:spPr>
                <a:xfrm>
                  <a:off x="284018" y="0"/>
                  <a:ext cx="243032" cy="3255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A41C632-D24A-4B41-8DEC-D97A4336F6CD}"/>
                    </a:ext>
                  </a:extLst>
                </p:cNvPr>
                <p:cNvCxnSpPr/>
                <p:nvPr/>
              </p:nvCxnSpPr>
              <p:spPr>
                <a:xfrm flipV="1">
                  <a:off x="270164" y="6927"/>
                  <a:ext cx="256886" cy="3048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4C0B64C-572F-4A41-97F8-42ED41CAB13F}"/>
                    </a:ext>
                  </a:extLst>
                </p:cNvPr>
                <p:cNvCxnSpPr/>
                <p:nvPr/>
              </p:nvCxnSpPr>
              <p:spPr>
                <a:xfrm>
                  <a:off x="526473" y="13854"/>
                  <a:ext cx="207645" cy="290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01B4E6D-7BA0-4D05-8978-50035F8B6A23}"/>
                    </a:ext>
                  </a:extLst>
                </p:cNvPr>
                <p:cNvCxnSpPr/>
                <p:nvPr/>
              </p:nvCxnSpPr>
              <p:spPr>
                <a:xfrm flipV="1">
                  <a:off x="526473" y="41563"/>
                  <a:ext cx="227965" cy="2698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BF8A575-7B04-44E6-945E-5B86B0D5EAFD}"/>
                    </a:ext>
                  </a:extLst>
                </p:cNvPr>
                <p:cNvCxnSpPr/>
                <p:nvPr/>
              </p:nvCxnSpPr>
              <p:spPr>
                <a:xfrm>
                  <a:off x="755073" y="34636"/>
                  <a:ext cx="165735" cy="63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A6D70E7-7321-437E-BDF0-7F2427E1C59C}"/>
                    </a:ext>
                  </a:extLst>
                </p:cNvPr>
                <p:cNvCxnSpPr/>
                <p:nvPr/>
              </p:nvCxnSpPr>
              <p:spPr>
                <a:xfrm flipV="1">
                  <a:off x="0" y="0"/>
                  <a:ext cx="297988" cy="73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3614278A-F705-44FD-A960-D0C9364ED233}"/>
                  </a:ext>
                </a:extLst>
              </p:cNvPr>
              <p:cNvGrpSpPr/>
              <p:nvPr/>
            </p:nvGrpSpPr>
            <p:grpSpPr>
              <a:xfrm>
                <a:off x="642730" y="1444487"/>
                <a:ext cx="920808" cy="325582"/>
                <a:chOff x="0" y="0"/>
                <a:chExt cx="920808" cy="325582"/>
              </a:xfrm>
            </p:grpSpPr>
            <p:cxnSp>
              <p:nvCxnSpPr>
                <p:cNvPr id="39" name="Straight Connector 38">
                  <a:extLst>
                    <a:ext uri="{FF2B5EF4-FFF2-40B4-BE49-F238E27FC236}">
                      <a16:creationId xmlns:a16="http://schemas.microsoft.com/office/drawing/2014/main" id="{7D210F8A-E878-44A2-8ED9-8F97BE0485BC}"/>
                    </a:ext>
                  </a:extLst>
                </p:cNvPr>
                <p:cNvCxnSpPr/>
                <p:nvPr/>
              </p:nvCxnSpPr>
              <p:spPr>
                <a:xfrm flipV="1">
                  <a:off x="76200" y="311727"/>
                  <a:ext cx="727364" cy="692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28C024A-E6B1-4EDA-9B00-51E1473A27A4}"/>
                    </a:ext>
                  </a:extLst>
                </p:cNvPr>
                <p:cNvCxnSpPr/>
                <p:nvPr/>
              </p:nvCxnSpPr>
              <p:spPr>
                <a:xfrm>
                  <a:off x="284018" y="0"/>
                  <a:ext cx="243032" cy="3255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271FE73-DB32-4A5C-8ECF-866A747D520F}"/>
                    </a:ext>
                  </a:extLst>
                </p:cNvPr>
                <p:cNvCxnSpPr/>
                <p:nvPr/>
              </p:nvCxnSpPr>
              <p:spPr>
                <a:xfrm flipV="1">
                  <a:off x="270164" y="6927"/>
                  <a:ext cx="256886" cy="3048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5C7A5E9-4383-448E-AAB6-E899AAC1E2A4}"/>
                    </a:ext>
                  </a:extLst>
                </p:cNvPr>
                <p:cNvCxnSpPr/>
                <p:nvPr/>
              </p:nvCxnSpPr>
              <p:spPr>
                <a:xfrm>
                  <a:off x="526473" y="13854"/>
                  <a:ext cx="207645" cy="290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FE363A5-4C07-40CB-9402-03E2C5A36F4B}"/>
                    </a:ext>
                  </a:extLst>
                </p:cNvPr>
                <p:cNvCxnSpPr/>
                <p:nvPr/>
              </p:nvCxnSpPr>
              <p:spPr>
                <a:xfrm flipV="1">
                  <a:off x="526473" y="41563"/>
                  <a:ext cx="227965" cy="2698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62B325C-BD70-4247-8AF1-B89300C4C3AA}"/>
                    </a:ext>
                  </a:extLst>
                </p:cNvPr>
                <p:cNvCxnSpPr/>
                <p:nvPr/>
              </p:nvCxnSpPr>
              <p:spPr>
                <a:xfrm>
                  <a:off x="755073" y="34636"/>
                  <a:ext cx="165735" cy="63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E486B2-3192-4644-AE24-363DF082BD91}"/>
                    </a:ext>
                  </a:extLst>
                </p:cNvPr>
                <p:cNvCxnSpPr/>
                <p:nvPr/>
              </p:nvCxnSpPr>
              <p:spPr>
                <a:xfrm flipV="1">
                  <a:off x="0" y="0"/>
                  <a:ext cx="297988" cy="73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Text Box 325">
                <a:extLst>
                  <a:ext uri="{FF2B5EF4-FFF2-40B4-BE49-F238E27FC236}">
                    <a16:creationId xmlns:a16="http://schemas.microsoft.com/office/drawing/2014/main" id="{1401C219-D3D2-4C0F-91D4-8B5BC1494303}"/>
                  </a:ext>
                </a:extLst>
              </p:cNvPr>
              <p:cNvSpPr txBox="1"/>
              <p:nvPr/>
            </p:nvSpPr>
            <p:spPr>
              <a:xfrm>
                <a:off x="2226362" y="-21564"/>
                <a:ext cx="907473" cy="1981200"/>
              </a:xfrm>
              <a:prstGeom prst="rect">
                <a:avLst/>
              </a:prstGeom>
              <a:solidFill>
                <a:srgbClr val="00B0F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spcBef>
                    <a:spcPts val="0"/>
                  </a:spcBef>
                  <a:spcAft>
                    <a:spcPts val="80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Rule-1</a:t>
                </a:r>
                <a:endParaRPr lang="en-US" sz="1400" dirty="0">
                  <a:effectLst/>
                  <a:ea typeface="Calibri" panose="020F0502020204030204" pitchFamily="34" charset="0"/>
                  <a:cs typeface="Times New Roman" panose="02020603050405020304" pitchFamily="18" charset="0"/>
                </a:endParaRPr>
              </a:p>
              <a:p>
                <a:pPr marL="0" marR="0" algn="ctr">
                  <a:spcBef>
                    <a:spcPts val="0"/>
                  </a:spcBef>
                  <a:spcAft>
                    <a:spcPts val="80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Rule-2</a:t>
                </a:r>
                <a:endParaRPr lang="en-US" sz="1400" dirty="0">
                  <a:effectLst/>
                  <a:ea typeface="Calibri" panose="020F0502020204030204" pitchFamily="34" charset="0"/>
                  <a:cs typeface="Times New Roman" panose="02020603050405020304" pitchFamily="18" charset="0"/>
                </a:endParaRPr>
              </a:p>
              <a:p>
                <a:pPr marL="0" marR="0" algn="ctr">
                  <a:spcBef>
                    <a:spcPts val="0"/>
                  </a:spcBef>
                  <a:spcAft>
                    <a:spcPts val="80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Rule-3</a:t>
                </a:r>
                <a:endParaRPr lang="en-US" sz="1400" dirty="0">
                  <a:effectLst/>
                  <a:ea typeface="Calibri" panose="020F0502020204030204" pitchFamily="34" charset="0"/>
                  <a:cs typeface="Times New Roman" panose="02020603050405020304" pitchFamily="18" charset="0"/>
                </a:endParaRPr>
              </a:p>
              <a:p>
                <a:pPr marL="0" marR="0" algn="ctr">
                  <a:spcBef>
                    <a:spcPts val="0"/>
                  </a:spcBef>
                  <a:spcAft>
                    <a:spcPts val="80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   …</a:t>
                </a:r>
                <a:endParaRPr lang="en-US" sz="1400" dirty="0">
                  <a:effectLst/>
                  <a:ea typeface="Calibri" panose="020F0502020204030204" pitchFamily="34" charset="0"/>
                  <a:cs typeface="Times New Roman" panose="02020603050405020304" pitchFamily="18" charset="0"/>
                </a:endParaRPr>
              </a:p>
              <a:p>
                <a:pPr marL="0" marR="0" algn="ctr">
                  <a:spcBef>
                    <a:spcPts val="0"/>
                  </a:spcBef>
                  <a:spcAft>
                    <a:spcPts val="80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   …</a:t>
                </a:r>
                <a:endParaRPr lang="en-US" sz="1400" dirty="0">
                  <a:effectLst/>
                  <a:ea typeface="Calibri" panose="020F0502020204030204" pitchFamily="34" charset="0"/>
                  <a:cs typeface="Times New Roman" panose="02020603050405020304" pitchFamily="18" charset="0"/>
                </a:endParaRPr>
              </a:p>
              <a:p>
                <a:pPr marL="0" marR="0" algn="ctr">
                  <a:spcBef>
                    <a:spcPts val="0"/>
                  </a:spcBef>
                  <a:spcAft>
                    <a:spcPts val="80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Rule-</a:t>
                </a:r>
                <a:r>
                  <a:rPr lang="en-US" sz="1400" i="1" dirty="0">
                    <a:effectLst/>
                    <a:latin typeface="Times New Roman" panose="02020603050405020304" pitchFamily="18" charset="0"/>
                    <a:ea typeface="Calibri" panose="020F0502020204030204" pitchFamily="34" charset="0"/>
                    <a:cs typeface="Times New Roman" panose="02020603050405020304" pitchFamily="18" charset="0"/>
                  </a:rPr>
                  <a:t>n</a:t>
                </a:r>
                <a:endParaRPr lang="en-US" sz="1400" dirty="0">
                  <a:effectLst/>
                  <a:ea typeface="Calibri" panose="020F0502020204030204" pitchFamily="34" charset="0"/>
                  <a:cs typeface="Times New Roman" panose="02020603050405020304" pitchFamily="18" charset="0"/>
                </a:endParaRPr>
              </a:p>
            </p:txBody>
          </p:sp>
          <p:sp>
            <p:nvSpPr>
              <p:cNvPr id="14" name="Text Box 330">
                <a:extLst>
                  <a:ext uri="{FF2B5EF4-FFF2-40B4-BE49-F238E27FC236}">
                    <a16:creationId xmlns:a16="http://schemas.microsoft.com/office/drawing/2014/main" id="{E2283889-7838-4611-A1D5-335CD2F17235}"/>
                  </a:ext>
                </a:extLst>
              </p:cNvPr>
              <p:cNvSpPr txBox="1"/>
              <p:nvPr/>
            </p:nvSpPr>
            <p:spPr>
              <a:xfrm>
                <a:off x="3756991" y="0"/>
                <a:ext cx="934278" cy="19812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2000">
                    <a:effectLst/>
                    <a:ea typeface="Calibri" panose="020F0502020204030204" pitchFamily="34" charset="0"/>
                    <a:cs typeface="Times New Roman" panose="02020603050405020304" pitchFamily="18" charset="0"/>
                  </a:rPr>
                  <a:t> </a:t>
                </a:r>
              </a:p>
              <a:p>
                <a:pPr marL="0" marR="0">
                  <a:lnSpc>
                    <a:spcPct val="107000"/>
                  </a:lnSpc>
                  <a:spcBef>
                    <a:spcPts val="0"/>
                  </a:spcBef>
                  <a:spcAft>
                    <a:spcPts val="800"/>
                  </a:spcAft>
                </a:pPr>
                <a:r>
                  <a:rPr lang="en-US" sz="2000">
                    <a:effectLst/>
                    <a:ea typeface="Calibri" panose="020F0502020204030204" pitchFamily="34" charset="0"/>
                    <a:cs typeface="Times New Roman" panose="02020603050405020304" pitchFamily="18" charset="0"/>
                  </a:rPr>
                  <a:t> </a:t>
                </a:r>
              </a:p>
              <a:p>
                <a:pPr marL="0" marR="0" algn="ctr">
                  <a:lnSpc>
                    <a:spcPct val="107000"/>
                  </a:lnSpc>
                  <a:spcBef>
                    <a:spcPts val="0"/>
                  </a:spcBef>
                  <a:spcAft>
                    <a:spcPts val="80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a:effectLst/>
                  <a:ea typeface="Calibri" panose="020F0502020204030204" pitchFamily="34" charset="0"/>
                  <a:cs typeface="Times New Roman" panose="02020603050405020304" pitchFamily="18" charset="0"/>
                </a:endParaRPr>
              </a:p>
            </p:txBody>
          </p:sp>
          <p:grpSp>
            <p:nvGrpSpPr>
              <p:cNvPr id="15" name="Group 14">
                <a:extLst>
                  <a:ext uri="{FF2B5EF4-FFF2-40B4-BE49-F238E27FC236}">
                    <a16:creationId xmlns:a16="http://schemas.microsoft.com/office/drawing/2014/main" id="{E2FFE5E2-C5A8-4A9B-AE09-B7092552F130}"/>
                  </a:ext>
                </a:extLst>
              </p:cNvPr>
              <p:cNvGrpSpPr/>
              <p:nvPr/>
            </p:nvGrpSpPr>
            <p:grpSpPr>
              <a:xfrm>
                <a:off x="3737113" y="689113"/>
                <a:ext cx="920808" cy="328257"/>
                <a:chOff x="0" y="0"/>
                <a:chExt cx="920808" cy="328257"/>
              </a:xfrm>
            </p:grpSpPr>
            <p:grpSp>
              <p:nvGrpSpPr>
                <p:cNvPr id="25" name="Group 24">
                  <a:extLst>
                    <a:ext uri="{FF2B5EF4-FFF2-40B4-BE49-F238E27FC236}">
                      <a16:creationId xmlns:a16="http://schemas.microsoft.com/office/drawing/2014/main" id="{A2DAEAF6-A644-4A3C-BA46-281BE7FE098D}"/>
                    </a:ext>
                  </a:extLst>
                </p:cNvPr>
                <p:cNvGrpSpPr/>
                <p:nvPr/>
              </p:nvGrpSpPr>
              <p:grpSpPr>
                <a:xfrm>
                  <a:off x="0" y="0"/>
                  <a:ext cx="920808" cy="325582"/>
                  <a:chOff x="0" y="0"/>
                  <a:chExt cx="920808" cy="325582"/>
                </a:xfrm>
              </p:grpSpPr>
              <p:cxnSp>
                <p:nvCxnSpPr>
                  <p:cNvPr id="32" name="Straight Connector 31">
                    <a:extLst>
                      <a:ext uri="{FF2B5EF4-FFF2-40B4-BE49-F238E27FC236}">
                        <a16:creationId xmlns:a16="http://schemas.microsoft.com/office/drawing/2014/main" id="{38BEA963-80D2-4D1A-87BB-34835BC77BAF}"/>
                      </a:ext>
                    </a:extLst>
                  </p:cNvPr>
                  <p:cNvCxnSpPr/>
                  <p:nvPr/>
                </p:nvCxnSpPr>
                <p:spPr>
                  <a:xfrm flipV="1">
                    <a:off x="76200" y="311727"/>
                    <a:ext cx="727364" cy="692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AF736FE-12DB-44F4-9ED3-853B1B641136}"/>
                      </a:ext>
                    </a:extLst>
                  </p:cNvPr>
                  <p:cNvCxnSpPr/>
                  <p:nvPr/>
                </p:nvCxnSpPr>
                <p:spPr>
                  <a:xfrm>
                    <a:off x="284018" y="0"/>
                    <a:ext cx="243032" cy="3255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7D75B3F-2F45-4E3E-9336-11BE067840E8}"/>
                      </a:ext>
                    </a:extLst>
                  </p:cNvPr>
                  <p:cNvCxnSpPr/>
                  <p:nvPr/>
                </p:nvCxnSpPr>
                <p:spPr>
                  <a:xfrm flipV="1">
                    <a:off x="270164" y="6927"/>
                    <a:ext cx="256886" cy="3048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BD7F3DD-3A81-4B45-8613-8098208437A6}"/>
                      </a:ext>
                    </a:extLst>
                  </p:cNvPr>
                  <p:cNvCxnSpPr/>
                  <p:nvPr/>
                </p:nvCxnSpPr>
                <p:spPr>
                  <a:xfrm>
                    <a:off x="526473" y="13854"/>
                    <a:ext cx="207645" cy="290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92890E5-22B0-4F11-BBCB-7D3896842BC9}"/>
                      </a:ext>
                    </a:extLst>
                  </p:cNvPr>
                  <p:cNvCxnSpPr/>
                  <p:nvPr/>
                </p:nvCxnSpPr>
                <p:spPr>
                  <a:xfrm flipV="1">
                    <a:off x="526473" y="41563"/>
                    <a:ext cx="227965" cy="2698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02E1AF6-42D1-4740-B0BA-B9543286A0E7}"/>
                      </a:ext>
                    </a:extLst>
                  </p:cNvPr>
                  <p:cNvCxnSpPr/>
                  <p:nvPr/>
                </p:nvCxnSpPr>
                <p:spPr>
                  <a:xfrm>
                    <a:off x="755073" y="34636"/>
                    <a:ext cx="165735" cy="63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FB936B9-AE3B-49D7-9C37-48A78798783E}"/>
                      </a:ext>
                    </a:extLst>
                  </p:cNvPr>
                  <p:cNvCxnSpPr/>
                  <p:nvPr/>
                </p:nvCxnSpPr>
                <p:spPr>
                  <a:xfrm flipV="1">
                    <a:off x="0" y="0"/>
                    <a:ext cx="297988" cy="73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E552A216-E147-4002-8CDB-1E30C904AD9B}"/>
                    </a:ext>
                  </a:extLst>
                </p:cNvPr>
                <p:cNvCxnSpPr/>
                <p:nvPr/>
              </p:nvCxnSpPr>
              <p:spPr>
                <a:xfrm flipH="1">
                  <a:off x="310958" y="209358"/>
                  <a:ext cx="96096" cy="10413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01A117C-F846-4D23-AEC4-7218CCCC5E09}"/>
                    </a:ext>
                  </a:extLst>
                </p:cNvPr>
                <p:cNvCxnSpPr/>
                <p:nvPr/>
              </p:nvCxnSpPr>
              <p:spPr>
                <a:xfrm flipH="1">
                  <a:off x="372533" y="215515"/>
                  <a:ext cx="95885" cy="1035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ED349D7-D6AE-4784-9ABF-25485A582F0E}"/>
                    </a:ext>
                  </a:extLst>
                </p:cNvPr>
                <p:cNvCxnSpPr/>
                <p:nvPr/>
              </p:nvCxnSpPr>
              <p:spPr>
                <a:xfrm flipH="1">
                  <a:off x="440267" y="209358"/>
                  <a:ext cx="95885" cy="1035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332DAE1-36E1-40B4-8F95-18ED4BEB10D8}"/>
                    </a:ext>
                  </a:extLst>
                </p:cNvPr>
                <p:cNvCxnSpPr/>
                <p:nvPr/>
              </p:nvCxnSpPr>
              <p:spPr>
                <a:xfrm flipH="1">
                  <a:off x="523394" y="209358"/>
                  <a:ext cx="95885" cy="10350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7DF5078-B926-41F4-BF3A-42E8BD2C4DAD}"/>
                    </a:ext>
                  </a:extLst>
                </p:cNvPr>
                <p:cNvCxnSpPr/>
                <p:nvPr/>
              </p:nvCxnSpPr>
              <p:spPr>
                <a:xfrm flipH="1">
                  <a:off x="566497" y="224752"/>
                  <a:ext cx="95885" cy="10350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B7C709A-1570-4959-A057-8990B91657AD}"/>
                    </a:ext>
                  </a:extLst>
                </p:cNvPr>
                <p:cNvCxnSpPr/>
                <p:nvPr/>
              </p:nvCxnSpPr>
              <p:spPr>
                <a:xfrm flipH="1">
                  <a:off x="643467" y="255540"/>
                  <a:ext cx="55245" cy="6604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6" name="Text Box 395">
                <a:extLst>
                  <a:ext uri="{FF2B5EF4-FFF2-40B4-BE49-F238E27FC236}">
                    <a16:creationId xmlns:a16="http://schemas.microsoft.com/office/drawing/2014/main" id="{BD2F7D6B-0996-486B-BB82-65C164C35605}"/>
                  </a:ext>
                </a:extLst>
              </p:cNvPr>
              <p:cNvSpPr txBox="1"/>
              <p:nvPr/>
            </p:nvSpPr>
            <p:spPr>
              <a:xfrm>
                <a:off x="563217" y="2060713"/>
                <a:ext cx="1007165" cy="311426"/>
              </a:xfrm>
              <a:prstGeom prst="rect">
                <a:avLst/>
              </a:prstGeom>
              <a:solidFill>
                <a:schemeClr val="lt1"/>
              </a:solidFill>
              <a:ln w="6350">
                <a:solidFill>
                  <a:schemeClr val="bg1">
                    <a:alpha val="0"/>
                  </a:schemeClr>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Fuzzification</a:t>
                </a:r>
                <a:endParaRPr lang="en-US" sz="2000">
                  <a:effectLst/>
                  <a:ea typeface="Calibri" panose="020F0502020204030204" pitchFamily="34" charset="0"/>
                  <a:cs typeface="Times New Roman" panose="02020603050405020304" pitchFamily="18" charset="0"/>
                </a:endParaRPr>
              </a:p>
            </p:txBody>
          </p:sp>
          <p:sp>
            <p:nvSpPr>
              <p:cNvPr id="17" name="Text Box 396">
                <a:extLst>
                  <a:ext uri="{FF2B5EF4-FFF2-40B4-BE49-F238E27FC236}">
                    <a16:creationId xmlns:a16="http://schemas.microsoft.com/office/drawing/2014/main" id="{95C2E107-7F9D-47CB-99F6-38822EB49066}"/>
                  </a:ext>
                </a:extLst>
              </p:cNvPr>
              <p:cNvSpPr txBox="1"/>
              <p:nvPr/>
            </p:nvSpPr>
            <p:spPr>
              <a:xfrm>
                <a:off x="2273464" y="2028446"/>
                <a:ext cx="1007165" cy="311426"/>
              </a:xfrm>
              <a:prstGeom prst="rect">
                <a:avLst/>
              </a:prstGeom>
              <a:solidFill>
                <a:schemeClr val="lt1"/>
              </a:solidFill>
              <a:ln w="6350">
                <a:solidFill>
                  <a:schemeClr val="bg1">
                    <a:alpha val="0"/>
                  </a:schemeClr>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Inference</a:t>
                </a:r>
                <a:endParaRPr lang="en-US" sz="2000" dirty="0">
                  <a:effectLst/>
                  <a:ea typeface="Calibri" panose="020F0502020204030204" pitchFamily="34" charset="0"/>
                  <a:cs typeface="Times New Roman" panose="02020603050405020304" pitchFamily="18" charset="0"/>
                </a:endParaRPr>
              </a:p>
            </p:txBody>
          </p:sp>
          <p:sp>
            <p:nvSpPr>
              <p:cNvPr id="18" name="Text Box 397">
                <a:extLst>
                  <a:ext uri="{FF2B5EF4-FFF2-40B4-BE49-F238E27FC236}">
                    <a16:creationId xmlns:a16="http://schemas.microsoft.com/office/drawing/2014/main" id="{41DA0B38-2E2B-4392-A04C-0716979C8417}"/>
                  </a:ext>
                </a:extLst>
              </p:cNvPr>
              <p:cNvSpPr txBox="1"/>
              <p:nvPr/>
            </p:nvSpPr>
            <p:spPr>
              <a:xfrm>
                <a:off x="3737113" y="2060713"/>
                <a:ext cx="1298713" cy="311426"/>
              </a:xfrm>
              <a:prstGeom prst="rect">
                <a:avLst/>
              </a:prstGeom>
              <a:solidFill>
                <a:schemeClr val="lt1"/>
              </a:solidFill>
              <a:ln w="6350">
                <a:solidFill>
                  <a:schemeClr val="bg1">
                    <a:alpha val="0"/>
                  </a:schemeClr>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Defuzzification</a:t>
                </a:r>
                <a:endParaRPr lang="en-US" sz="2000">
                  <a:effectLst/>
                  <a:ea typeface="Calibri" panose="020F0502020204030204" pitchFamily="34" charset="0"/>
                  <a:cs typeface="Times New Roman" panose="02020603050405020304" pitchFamily="18" charset="0"/>
                </a:endParaRPr>
              </a:p>
            </p:txBody>
          </p:sp>
          <p:sp>
            <p:nvSpPr>
              <p:cNvPr id="19" name="Notched Right Arrow 398">
                <a:extLst>
                  <a:ext uri="{FF2B5EF4-FFF2-40B4-BE49-F238E27FC236}">
                    <a16:creationId xmlns:a16="http://schemas.microsoft.com/office/drawing/2014/main" id="{C4888AF1-AECF-41FC-B7A8-74EE3FADE3B6}"/>
                  </a:ext>
                </a:extLst>
              </p:cNvPr>
              <p:cNvSpPr/>
              <p:nvPr/>
            </p:nvSpPr>
            <p:spPr>
              <a:xfrm>
                <a:off x="46382" y="894522"/>
                <a:ext cx="569540" cy="205409"/>
              </a:xfrm>
              <a:prstGeom prst="notched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2000"/>
              </a:p>
            </p:txBody>
          </p:sp>
          <p:sp>
            <p:nvSpPr>
              <p:cNvPr id="20" name="Text Box 399">
                <a:extLst>
                  <a:ext uri="{FF2B5EF4-FFF2-40B4-BE49-F238E27FC236}">
                    <a16:creationId xmlns:a16="http://schemas.microsoft.com/office/drawing/2014/main" id="{4FCAA076-28BD-46D0-A240-918EC790FA91}"/>
                  </a:ext>
                </a:extLst>
              </p:cNvPr>
              <p:cNvSpPr txBox="1"/>
              <p:nvPr/>
            </p:nvSpPr>
            <p:spPr>
              <a:xfrm>
                <a:off x="0" y="1172817"/>
                <a:ext cx="543339" cy="311426"/>
              </a:xfrm>
              <a:prstGeom prst="rect">
                <a:avLst/>
              </a:prstGeom>
              <a:solidFill>
                <a:schemeClr val="lt1"/>
              </a:solidFill>
              <a:ln w="6350">
                <a:solidFill>
                  <a:schemeClr val="bg1">
                    <a:alpha val="0"/>
                  </a:schemeClr>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Input</a:t>
                </a:r>
                <a:endParaRPr lang="en-US" sz="2000">
                  <a:effectLst/>
                  <a:ea typeface="Calibri" panose="020F0502020204030204" pitchFamily="34" charset="0"/>
                  <a:cs typeface="Times New Roman" panose="02020603050405020304" pitchFamily="18" charset="0"/>
                </a:endParaRPr>
              </a:p>
            </p:txBody>
          </p:sp>
          <p:sp>
            <p:nvSpPr>
              <p:cNvPr id="21" name="Notched Right Arrow 400">
                <a:extLst>
                  <a:ext uri="{FF2B5EF4-FFF2-40B4-BE49-F238E27FC236}">
                    <a16:creationId xmlns:a16="http://schemas.microsoft.com/office/drawing/2014/main" id="{CE2F27F6-43E2-4C3E-9AE1-0BB79B4FD37C}"/>
                  </a:ext>
                </a:extLst>
              </p:cNvPr>
              <p:cNvSpPr/>
              <p:nvPr/>
            </p:nvSpPr>
            <p:spPr>
              <a:xfrm>
                <a:off x="1590261" y="894522"/>
                <a:ext cx="569540" cy="205409"/>
              </a:xfrm>
              <a:prstGeom prst="notched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2000"/>
              </a:p>
            </p:txBody>
          </p:sp>
          <p:sp>
            <p:nvSpPr>
              <p:cNvPr id="22" name="Notched Right Arrow 401">
                <a:extLst>
                  <a:ext uri="{FF2B5EF4-FFF2-40B4-BE49-F238E27FC236}">
                    <a16:creationId xmlns:a16="http://schemas.microsoft.com/office/drawing/2014/main" id="{66ABD4E3-3B02-4EF1-AA06-8404AB3A1C02}"/>
                  </a:ext>
                </a:extLst>
              </p:cNvPr>
              <p:cNvSpPr/>
              <p:nvPr/>
            </p:nvSpPr>
            <p:spPr>
              <a:xfrm>
                <a:off x="3160643" y="907774"/>
                <a:ext cx="569540" cy="205409"/>
              </a:xfrm>
              <a:prstGeom prst="notched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2000"/>
              </a:p>
            </p:txBody>
          </p:sp>
          <p:sp>
            <p:nvSpPr>
              <p:cNvPr id="23" name="Notched Right Arrow 402">
                <a:extLst>
                  <a:ext uri="{FF2B5EF4-FFF2-40B4-BE49-F238E27FC236}">
                    <a16:creationId xmlns:a16="http://schemas.microsoft.com/office/drawing/2014/main" id="{3EDD12E0-40A6-4B95-9D77-74DB9A91AF0C}"/>
                  </a:ext>
                </a:extLst>
              </p:cNvPr>
              <p:cNvSpPr/>
              <p:nvPr/>
            </p:nvSpPr>
            <p:spPr>
              <a:xfrm>
                <a:off x="4750904" y="901148"/>
                <a:ext cx="569540" cy="205409"/>
              </a:xfrm>
              <a:prstGeom prst="notched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2000"/>
              </a:p>
            </p:txBody>
          </p:sp>
          <p:sp>
            <p:nvSpPr>
              <p:cNvPr id="24" name="Text Box 403">
                <a:extLst>
                  <a:ext uri="{FF2B5EF4-FFF2-40B4-BE49-F238E27FC236}">
                    <a16:creationId xmlns:a16="http://schemas.microsoft.com/office/drawing/2014/main" id="{28823C0A-32C6-4721-B067-60055210D473}"/>
                  </a:ext>
                </a:extLst>
              </p:cNvPr>
              <p:cNvSpPr txBox="1"/>
              <p:nvPr/>
            </p:nvSpPr>
            <p:spPr>
              <a:xfrm>
                <a:off x="4790661" y="1172817"/>
                <a:ext cx="616226" cy="311426"/>
              </a:xfrm>
              <a:prstGeom prst="rect">
                <a:avLst/>
              </a:prstGeom>
              <a:solidFill>
                <a:schemeClr val="lt1"/>
              </a:solidFill>
              <a:ln w="6350">
                <a:solidFill>
                  <a:schemeClr val="bg1">
                    <a:alpha val="0"/>
                  </a:schemeClr>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Output</a:t>
                </a:r>
                <a:endParaRPr lang="en-US" sz="2000">
                  <a:effectLst/>
                  <a:ea typeface="Calibri" panose="020F0502020204030204" pitchFamily="34" charset="0"/>
                  <a:cs typeface="Times New Roman" panose="02020603050405020304" pitchFamily="18" charset="0"/>
                </a:endParaRPr>
              </a:p>
            </p:txBody>
          </p:sp>
        </p:grpSp>
        <p:cxnSp>
          <p:nvCxnSpPr>
            <p:cNvPr id="9" name="Straight Connector 8">
              <a:extLst>
                <a:ext uri="{FF2B5EF4-FFF2-40B4-BE49-F238E27FC236}">
                  <a16:creationId xmlns:a16="http://schemas.microsoft.com/office/drawing/2014/main" id="{CC6F6FFB-7364-4E3C-B6CC-5834F89CE8F2}"/>
                </a:ext>
              </a:extLst>
            </p:cNvPr>
            <p:cNvCxnSpPr/>
            <p:nvPr/>
          </p:nvCxnSpPr>
          <p:spPr>
            <a:xfrm flipV="1">
              <a:off x="3827207" y="877529"/>
              <a:ext cx="748981" cy="1509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grpSp>
      <p:sp>
        <p:nvSpPr>
          <p:cNvPr id="53" name="Slide Number Placeholder 52">
            <a:extLst>
              <a:ext uri="{FF2B5EF4-FFF2-40B4-BE49-F238E27FC236}">
                <a16:creationId xmlns:a16="http://schemas.microsoft.com/office/drawing/2014/main" id="{B9B1AAF1-5B6D-4A5C-AA12-D6D08880F778}"/>
              </a:ext>
            </a:extLst>
          </p:cNvPr>
          <p:cNvSpPr>
            <a:spLocks noGrp="1"/>
          </p:cNvSpPr>
          <p:nvPr>
            <p:ph type="sldNum" sz="quarter" idx="12"/>
          </p:nvPr>
        </p:nvSpPr>
        <p:spPr/>
        <p:txBody>
          <a:bodyPr/>
          <a:lstStyle/>
          <a:p>
            <a:fld id="{C3F1913A-7668-436E-8561-76A60B792217}" type="slidenum">
              <a:rPr lang="en-US" smtClean="0"/>
              <a:t>60</a:t>
            </a:fld>
            <a:endParaRPr lang="en-US"/>
          </a:p>
        </p:txBody>
      </p:sp>
    </p:spTree>
    <p:extLst>
      <p:ext uri="{BB962C8B-B14F-4D97-AF65-F5344CB8AC3E}">
        <p14:creationId xmlns:p14="http://schemas.microsoft.com/office/powerpoint/2010/main" val="17390773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B05C44BF-95F3-4FCD-9BB2-5CCCEF295F13}"/>
              </a:ext>
            </a:extLst>
          </p:cNvPr>
          <p:cNvGrpSpPr/>
          <p:nvPr/>
        </p:nvGrpSpPr>
        <p:grpSpPr>
          <a:xfrm>
            <a:off x="727797" y="51497"/>
            <a:ext cx="8238921" cy="3097763"/>
            <a:chOff x="702620" y="597159"/>
            <a:chExt cx="8640691" cy="3526972"/>
          </a:xfrm>
        </p:grpSpPr>
        <p:cxnSp>
          <p:nvCxnSpPr>
            <p:cNvPr id="6" name="Straight Arrow Connector 5">
              <a:extLst>
                <a:ext uri="{FF2B5EF4-FFF2-40B4-BE49-F238E27FC236}">
                  <a16:creationId xmlns:a16="http://schemas.microsoft.com/office/drawing/2014/main" id="{B27DC1E4-6397-4FF2-8E67-EB57ACC6CE2F}"/>
                </a:ext>
              </a:extLst>
            </p:cNvPr>
            <p:cNvCxnSpPr>
              <a:cxnSpLocks/>
            </p:cNvCxnSpPr>
            <p:nvPr/>
          </p:nvCxnSpPr>
          <p:spPr>
            <a:xfrm flipV="1">
              <a:off x="2258008" y="3172410"/>
              <a:ext cx="5756988" cy="93304"/>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49D953A6-0AB3-48FB-87AA-8B458A5B1EB2}"/>
                </a:ext>
              </a:extLst>
            </p:cNvPr>
            <p:cNvCxnSpPr/>
            <p:nvPr/>
          </p:nvCxnSpPr>
          <p:spPr>
            <a:xfrm flipV="1">
              <a:off x="2575249" y="597159"/>
              <a:ext cx="0" cy="3526972"/>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8" name="Freeform: Shape 7">
              <a:extLst>
                <a:ext uri="{FF2B5EF4-FFF2-40B4-BE49-F238E27FC236}">
                  <a16:creationId xmlns:a16="http://schemas.microsoft.com/office/drawing/2014/main" id="{BCA24919-9075-4582-95EC-B7A5A8C3B620}"/>
                </a:ext>
              </a:extLst>
            </p:cNvPr>
            <p:cNvSpPr/>
            <p:nvPr/>
          </p:nvSpPr>
          <p:spPr>
            <a:xfrm>
              <a:off x="2575249" y="1184973"/>
              <a:ext cx="1735487" cy="2080741"/>
            </a:xfrm>
            <a:custGeom>
              <a:avLst/>
              <a:gdLst>
                <a:gd name="connsiteX0" fmla="*/ 0 w 1735494"/>
                <a:gd name="connsiteY0" fmla="*/ 2071411 h 2071411"/>
                <a:gd name="connsiteX1" fmla="*/ 886408 w 1735494"/>
                <a:gd name="connsiteY1" fmla="*/ 15 h 2071411"/>
                <a:gd name="connsiteX2" fmla="*/ 1735494 w 1735494"/>
                <a:gd name="connsiteY2" fmla="*/ 2043419 h 2071411"/>
              </a:gdLst>
              <a:ahLst/>
              <a:cxnLst>
                <a:cxn ang="0">
                  <a:pos x="connsiteX0" y="connsiteY0"/>
                </a:cxn>
                <a:cxn ang="0">
                  <a:pos x="connsiteX1" y="connsiteY1"/>
                </a:cxn>
                <a:cxn ang="0">
                  <a:pos x="connsiteX2" y="connsiteY2"/>
                </a:cxn>
              </a:cxnLst>
              <a:rect l="l" t="t" r="r" b="b"/>
              <a:pathLst>
                <a:path w="1735494" h="2071411">
                  <a:moveTo>
                    <a:pt x="0" y="2071411"/>
                  </a:moveTo>
                  <a:cubicBezTo>
                    <a:pt x="298579" y="1038045"/>
                    <a:pt x="597159" y="4680"/>
                    <a:pt x="886408" y="15"/>
                  </a:cubicBezTo>
                  <a:cubicBezTo>
                    <a:pt x="1175657" y="-4650"/>
                    <a:pt x="1455575" y="1019384"/>
                    <a:pt x="1735494" y="204341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2818F997-0326-4915-BE71-79DA5F103D9D}"/>
                </a:ext>
              </a:extLst>
            </p:cNvPr>
            <p:cNvSpPr/>
            <p:nvPr/>
          </p:nvSpPr>
          <p:spPr>
            <a:xfrm>
              <a:off x="3530081" y="1175643"/>
              <a:ext cx="1735494" cy="2071411"/>
            </a:xfrm>
            <a:custGeom>
              <a:avLst/>
              <a:gdLst>
                <a:gd name="connsiteX0" fmla="*/ 0 w 1735494"/>
                <a:gd name="connsiteY0" fmla="*/ 2071411 h 2071411"/>
                <a:gd name="connsiteX1" fmla="*/ 886408 w 1735494"/>
                <a:gd name="connsiteY1" fmla="*/ 15 h 2071411"/>
                <a:gd name="connsiteX2" fmla="*/ 1735494 w 1735494"/>
                <a:gd name="connsiteY2" fmla="*/ 2043419 h 2071411"/>
              </a:gdLst>
              <a:ahLst/>
              <a:cxnLst>
                <a:cxn ang="0">
                  <a:pos x="connsiteX0" y="connsiteY0"/>
                </a:cxn>
                <a:cxn ang="0">
                  <a:pos x="connsiteX1" y="connsiteY1"/>
                </a:cxn>
                <a:cxn ang="0">
                  <a:pos x="connsiteX2" y="connsiteY2"/>
                </a:cxn>
              </a:cxnLst>
              <a:rect l="l" t="t" r="r" b="b"/>
              <a:pathLst>
                <a:path w="1735494" h="2071411">
                  <a:moveTo>
                    <a:pt x="0" y="2071411"/>
                  </a:moveTo>
                  <a:cubicBezTo>
                    <a:pt x="298579" y="1038045"/>
                    <a:pt x="597159" y="4680"/>
                    <a:pt x="886408" y="15"/>
                  </a:cubicBezTo>
                  <a:cubicBezTo>
                    <a:pt x="1175657" y="-4650"/>
                    <a:pt x="1455575" y="1019384"/>
                    <a:pt x="1735494" y="204341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1F962C3B-9CB8-4BB9-AE2E-7BB773014AD2}"/>
                </a:ext>
              </a:extLst>
            </p:cNvPr>
            <p:cNvSpPr/>
            <p:nvPr/>
          </p:nvSpPr>
          <p:spPr>
            <a:xfrm>
              <a:off x="4484912" y="1156983"/>
              <a:ext cx="1735494" cy="2071411"/>
            </a:xfrm>
            <a:custGeom>
              <a:avLst/>
              <a:gdLst>
                <a:gd name="connsiteX0" fmla="*/ 0 w 1735494"/>
                <a:gd name="connsiteY0" fmla="*/ 2071411 h 2071411"/>
                <a:gd name="connsiteX1" fmla="*/ 886408 w 1735494"/>
                <a:gd name="connsiteY1" fmla="*/ 15 h 2071411"/>
                <a:gd name="connsiteX2" fmla="*/ 1735494 w 1735494"/>
                <a:gd name="connsiteY2" fmla="*/ 2043419 h 2071411"/>
              </a:gdLst>
              <a:ahLst/>
              <a:cxnLst>
                <a:cxn ang="0">
                  <a:pos x="connsiteX0" y="connsiteY0"/>
                </a:cxn>
                <a:cxn ang="0">
                  <a:pos x="connsiteX1" y="connsiteY1"/>
                </a:cxn>
                <a:cxn ang="0">
                  <a:pos x="connsiteX2" y="connsiteY2"/>
                </a:cxn>
              </a:cxnLst>
              <a:rect l="l" t="t" r="r" b="b"/>
              <a:pathLst>
                <a:path w="1735494" h="2071411">
                  <a:moveTo>
                    <a:pt x="0" y="2071411"/>
                  </a:moveTo>
                  <a:cubicBezTo>
                    <a:pt x="298579" y="1038045"/>
                    <a:pt x="597159" y="4680"/>
                    <a:pt x="886408" y="15"/>
                  </a:cubicBezTo>
                  <a:cubicBezTo>
                    <a:pt x="1175657" y="-4650"/>
                    <a:pt x="1455575" y="1019384"/>
                    <a:pt x="1735494" y="204341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BB313FB-39B0-4B99-94AD-FB9B42BF58C2}"/>
                </a:ext>
              </a:extLst>
            </p:cNvPr>
            <p:cNvSpPr/>
            <p:nvPr/>
          </p:nvSpPr>
          <p:spPr>
            <a:xfrm>
              <a:off x="2584580" y="1250302"/>
              <a:ext cx="771316" cy="2015412"/>
            </a:xfrm>
            <a:custGeom>
              <a:avLst/>
              <a:gdLst>
                <a:gd name="connsiteX0" fmla="*/ 0 w 914400"/>
                <a:gd name="connsiteY0" fmla="*/ 0 h 2015412"/>
                <a:gd name="connsiteX1" fmla="*/ 606489 w 914400"/>
                <a:gd name="connsiteY1" fmla="*/ 951722 h 2015412"/>
                <a:gd name="connsiteX2" fmla="*/ 914400 w 914400"/>
                <a:gd name="connsiteY2" fmla="*/ 2015412 h 2015412"/>
              </a:gdLst>
              <a:ahLst/>
              <a:cxnLst>
                <a:cxn ang="0">
                  <a:pos x="connsiteX0" y="connsiteY0"/>
                </a:cxn>
                <a:cxn ang="0">
                  <a:pos x="connsiteX1" y="connsiteY1"/>
                </a:cxn>
                <a:cxn ang="0">
                  <a:pos x="connsiteX2" y="connsiteY2"/>
                </a:cxn>
              </a:cxnLst>
              <a:rect l="l" t="t" r="r" b="b"/>
              <a:pathLst>
                <a:path w="914400" h="2015412">
                  <a:moveTo>
                    <a:pt x="0" y="0"/>
                  </a:moveTo>
                  <a:cubicBezTo>
                    <a:pt x="227044" y="307910"/>
                    <a:pt x="454089" y="615820"/>
                    <a:pt x="606489" y="951722"/>
                  </a:cubicBezTo>
                  <a:cubicBezTo>
                    <a:pt x="758889" y="1287624"/>
                    <a:pt x="836644" y="1651518"/>
                    <a:pt x="914400" y="2015412"/>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8C2A9AB-A2DE-419D-8ED1-2B2FAD08138B}"/>
                </a:ext>
              </a:extLst>
            </p:cNvPr>
            <p:cNvSpPr/>
            <p:nvPr/>
          </p:nvSpPr>
          <p:spPr>
            <a:xfrm>
              <a:off x="2037630" y="880970"/>
              <a:ext cx="1135196"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Very low </a:t>
              </a:r>
              <a:endParaRPr lang="en-US" dirty="0"/>
            </a:p>
          </p:txBody>
        </p:sp>
        <p:sp>
          <p:nvSpPr>
            <p:cNvPr id="13" name="Rectangle 12">
              <a:extLst>
                <a:ext uri="{FF2B5EF4-FFF2-40B4-BE49-F238E27FC236}">
                  <a16:creationId xmlns:a16="http://schemas.microsoft.com/office/drawing/2014/main" id="{661C6452-1BC7-411A-BEA1-C2B7A831F7EB}"/>
                </a:ext>
              </a:extLst>
            </p:cNvPr>
            <p:cNvSpPr/>
            <p:nvPr/>
          </p:nvSpPr>
          <p:spPr>
            <a:xfrm>
              <a:off x="3059966" y="1369639"/>
              <a:ext cx="556805"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low</a:t>
              </a:r>
              <a:endParaRPr lang="en-US" dirty="0"/>
            </a:p>
          </p:txBody>
        </p:sp>
        <p:sp>
          <p:nvSpPr>
            <p:cNvPr id="14" name="Rectangle 13">
              <a:extLst>
                <a:ext uri="{FF2B5EF4-FFF2-40B4-BE49-F238E27FC236}">
                  <a16:creationId xmlns:a16="http://schemas.microsoft.com/office/drawing/2014/main" id="{5E1E9E7A-D611-4131-B001-9FBB4A16E9D3}"/>
                </a:ext>
              </a:extLst>
            </p:cNvPr>
            <p:cNvSpPr/>
            <p:nvPr/>
          </p:nvSpPr>
          <p:spPr>
            <a:xfrm>
              <a:off x="3863066" y="810976"/>
              <a:ext cx="987185"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medium</a:t>
              </a:r>
              <a:endParaRPr lang="en-US" dirty="0"/>
            </a:p>
          </p:txBody>
        </p:sp>
        <p:sp>
          <p:nvSpPr>
            <p:cNvPr id="15" name="Rectangle 14">
              <a:extLst>
                <a:ext uri="{FF2B5EF4-FFF2-40B4-BE49-F238E27FC236}">
                  <a16:creationId xmlns:a16="http://schemas.microsoft.com/office/drawing/2014/main" id="{53F1474E-20D6-4EA9-9965-898CD2902927}"/>
                </a:ext>
              </a:extLst>
            </p:cNvPr>
            <p:cNvSpPr/>
            <p:nvPr/>
          </p:nvSpPr>
          <p:spPr>
            <a:xfrm>
              <a:off x="5000255" y="1369639"/>
              <a:ext cx="624052"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high</a:t>
              </a:r>
              <a:endParaRPr lang="en-US" dirty="0"/>
            </a:p>
          </p:txBody>
        </p:sp>
        <p:sp>
          <p:nvSpPr>
            <p:cNvPr id="16" name="Freeform: Shape 15">
              <a:extLst>
                <a:ext uri="{FF2B5EF4-FFF2-40B4-BE49-F238E27FC236}">
                  <a16:creationId xmlns:a16="http://schemas.microsoft.com/office/drawing/2014/main" id="{DC98C2D1-9465-428F-8C89-2575B6D38E2F}"/>
                </a:ext>
              </a:extLst>
            </p:cNvPr>
            <p:cNvSpPr/>
            <p:nvPr/>
          </p:nvSpPr>
          <p:spPr>
            <a:xfrm>
              <a:off x="5526835" y="1110329"/>
              <a:ext cx="1735494" cy="2071411"/>
            </a:xfrm>
            <a:custGeom>
              <a:avLst/>
              <a:gdLst>
                <a:gd name="connsiteX0" fmla="*/ 0 w 1735494"/>
                <a:gd name="connsiteY0" fmla="*/ 2071411 h 2071411"/>
                <a:gd name="connsiteX1" fmla="*/ 886408 w 1735494"/>
                <a:gd name="connsiteY1" fmla="*/ 15 h 2071411"/>
                <a:gd name="connsiteX2" fmla="*/ 1735494 w 1735494"/>
                <a:gd name="connsiteY2" fmla="*/ 2043419 h 2071411"/>
              </a:gdLst>
              <a:ahLst/>
              <a:cxnLst>
                <a:cxn ang="0">
                  <a:pos x="connsiteX0" y="connsiteY0"/>
                </a:cxn>
                <a:cxn ang="0">
                  <a:pos x="connsiteX1" y="connsiteY1"/>
                </a:cxn>
                <a:cxn ang="0">
                  <a:pos x="connsiteX2" y="connsiteY2"/>
                </a:cxn>
              </a:cxnLst>
              <a:rect l="l" t="t" r="r" b="b"/>
              <a:pathLst>
                <a:path w="1735494" h="2071411">
                  <a:moveTo>
                    <a:pt x="0" y="2071411"/>
                  </a:moveTo>
                  <a:cubicBezTo>
                    <a:pt x="298579" y="1038045"/>
                    <a:pt x="597159" y="4680"/>
                    <a:pt x="886408" y="15"/>
                  </a:cubicBezTo>
                  <a:cubicBezTo>
                    <a:pt x="1175657" y="-4650"/>
                    <a:pt x="1455575" y="1019384"/>
                    <a:pt x="1735494" y="204341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7ADABB6-F85B-42F7-AC64-02F90F7C038A}"/>
                </a:ext>
              </a:extLst>
            </p:cNvPr>
            <p:cNvSpPr/>
            <p:nvPr/>
          </p:nvSpPr>
          <p:spPr>
            <a:xfrm>
              <a:off x="5797367" y="722337"/>
              <a:ext cx="1141920"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Very high</a:t>
              </a:r>
              <a:endParaRPr lang="en-US" dirty="0"/>
            </a:p>
          </p:txBody>
        </p:sp>
        <p:sp>
          <p:nvSpPr>
            <p:cNvPr id="18" name="TextBox 17">
              <a:extLst>
                <a:ext uri="{FF2B5EF4-FFF2-40B4-BE49-F238E27FC236}">
                  <a16:creationId xmlns:a16="http://schemas.microsoft.com/office/drawing/2014/main" id="{14E42DC1-879D-4778-A524-62F8FF79C115}"/>
                </a:ext>
              </a:extLst>
            </p:cNvPr>
            <p:cNvSpPr txBox="1"/>
            <p:nvPr/>
          </p:nvSpPr>
          <p:spPr>
            <a:xfrm>
              <a:off x="8130080" y="2941577"/>
              <a:ext cx="1213231" cy="525631"/>
            </a:xfrm>
            <a:prstGeom prst="rect">
              <a:avLst/>
            </a:prstGeom>
            <a:noFill/>
          </p:spPr>
          <p:txBody>
            <a:bodyPr wrap="square" rtlCol="0">
              <a:spAutoFit/>
            </a:bodyPr>
            <a:lstStyle/>
            <a:p>
              <a:r>
                <a:rPr lang="en-US" sz="2400" i="1" dirty="0">
                  <a:latin typeface="Times New Roman" panose="02020603050405020304" pitchFamily="18" charset="0"/>
                  <a:cs typeface="Times New Roman" panose="02020603050405020304" pitchFamily="18" charset="0"/>
                </a:rPr>
                <a:t>Energy</a:t>
              </a:r>
            </a:p>
          </p:txBody>
        </p:sp>
        <p:sp>
          <p:nvSpPr>
            <p:cNvPr id="19" name="TextBox 18">
              <a:extLst>
                <a:ext uri="{FF2B5EF4-FFF2-40B4-BE49-F238E27FC236}">
                  <a16:creationId xmlns:a16="http://schemas.microsoft.com/office/drawing/2014/main" id="{E252B3E9-27ED-44BB-8B27-57A7F09CC4BC}"/>
                </a:ext>
              </a:extLst>
            </p:cNvPr>
            <p:cNvSpPr txBox="1"/>
            <p:nvPr/>
          </p:nvSpPr>
          <p:spPr>
            <a:xfrm>
              <a:off x="702620" y="1679703"/>
              <a:ext cx="1679803" cy="525631"/>
            </a:xfrm>
            <a:prstGeom prst="rect">
              <a:avLst/>
            </a:prstGeom>
            <a:noFill/>
          </p:spPr>
          <p:txBody>
            <a:bodyPr wrap="square" rtlCol="0">
              <a:spAutoFit/>
            </a:bodyPr>
            <a:lstStyle/>
            <a:p>
              <a:r>
                <a:rPr lang="el-GR" sz="2400" i="1" dirty="0">
                  <a:latin typeface="Times New Roman" panose="02020603050405020304" pitchFamily="18" charset="0"/>
                  <a:cs typeface="Times New Roman" panose="02020603050405020304" pitchFamily="18" charset="0"/>
                </a:rPr>
                <a:t>μ</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Energy</a:t>
              </a:r>
              <a:r>
                <a:rPr lang="en-US" sz="2400" dirty="0">
                  <a:latin typeface="Times New Roman" panose="02020603050405020304" pitchFamily="18" charset="0"/>
                  <a:cs typeface="Times New Roman" panose="02020603050405020304" pitchFamily="18" charset="0"/>
                </a:rPr>
                <a:t>)</a:t>
              </a:r>
            </a:p>
          </p:txBody>
        </p:sp>
      </p:grpSp>
      <p:sp>
        <p:nvSpPr>
          <p:cNvPr id="20" name="Rectangle 19">
            <a:extLst>
              <a:ext uri="{FF2B5EF4-FFF2-40B4-BE49-F238E27FC236}">
                <a16:creationId xmlns:a16="http://schemas.microsoft.com/office/drawing/2014/main" id="{4A36A3E5-72F0-44E9-85A8-3BC9999FC630}"/>
              </a:ext>
            </a:extLst>
          </p:cNvPr>
          <p:cNvSpPr/>
          <p:nvPr/>
        </p:nvSpPr>
        <p:spPr>
          <a:xfrm>
            <a:off x="2770451" y="2650202"/>
            <a:ext cx="4951484"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Energy = {very low, low, medium, high, very high}</a:t>
            </a:r>
            <a:endParaRPr lang="en-US" dirty="0"/>
          </a:p>
        </p:txBody>
      </p:sp>
      <p:sp>
        <p:nvSpPr>
          <p:cNvPr id="21" name="Rectangle 20">
            <a:extLst>
              <a:ext uri="{FF2B5EF4-FFF2-40B4-BE49-F238E27FC236}">
                <a16:creationId xmlns:a16="http://schemas.microsoft.com/office/drawing/2014/main" id="{D73B1031-0E3A-4FDE-A85D-DE0790D7828A}"/>
              </a:ext>
            </a:extLst>
          </p:cNvPr>
          <p:cNvSpPr/>
          <p:nvPr/>
        </p:nvSpPr>
        <p:spPr>
          <a:xfrm>
            <a:off x="3545400" y="6313884"/>
            <a:ext cx="3156057"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Density = {low, medium, high} </a:t>
            </a:r>
            <a:endParaRPr lang="en-US" dirty="0"/>
          </a:p>
        </p:txBody>
      </p:sp>
      <p:grpSp>
        <p:nvGrpSpPr>
          <p:cNvPr id="22" name="Group 21">
            <a:extLst>
              <a:ext uri="{FF2B5EF4-FFF2-40B4-BE49-F238E27FC236}">
                <a16:creationId xmlns:a16="http://schemas.microsoft.com/office/drawing/2014/main" id="{26158217-A44F-4A74-9287-05941A0428C9}"/>
              </a:ext>
            </a:extLst>
          </p:cNvPr>
          <p:cNvGrpSpPr/>
          <p:nvPr/>
        </p:nvGrpSpPr>
        <p:grpSpPr>
          <a:xfrm>
            <a:off x="817074" y="3274429"/>
            <a:ext cx="7803150" cy="3097763"/>
            <a:chOff x="1493023" y="597159"/>
            <a:chExt cx="5023725" cy="3526972"/>
          </a:xfrm>
        </p:grpSpPr>
        <p:cxnSp>
          <p:nvCxnSpPr>
            <p:cNvPr id="23" name="Straight Arrow Connector 22">
              <a:extLst>
                <a:ext uri="{FF2B5EF4-FFF2-40B4-BE49-F238E27FC236}">
                  <a16:creationId xmlns:a16="http://schemas.microsoft.com/office/drawing/2014/main" id="{6633ED7E-5BCC-4D8F-A794-D888CF79962A}"/>
                </a:ext>
              </a:extLst>
            </p:cNvPr>
            <p:cNvCxnSpPr>
              <a:cxnSpLocks/>
            </p:cNvCxnSpPr>
            <p:nvPr/>
          </p:nvCxnSpPr>
          <p:spPr>
            <a:xfrm flipV="1">
              <a:off x="2258008" y="3204392"/>
              <a:ext cx="3867711" cy="61323"/>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D9A08AE-D33B-41BC-B285-438093C6BF24}"/>
                </a:ext>
              </a:extLst>
            </p:cNvPr>
            <p:cNvCxnSpPr/>
            <p:nvPr/>
          </p:nvCxnSpPr>
          <p:spPr>
            <a:xfrm flipV="1">
              <a:off x="2575249" y="597159"/>
              <a:ext cx="0" cy="3526972"/>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5" name="Freeform: Shape 24">
              <a:extLst>
                <a:ext uri="{FF2B5EF4-FFF2-40B4-BE49-F238E27FC236}">
                  <a16:creationId xmlns:a16="http://schemas.microsoft.com/office/drawing/2014/main" id="{174DE04A-82DE-4739-A1C0-13545077CE4E}"/>
                </a:ext>
              </a:extLst>
            </p:cNvPr>
            <p:cNvSpPr/>
            <p:nvPr/>
          </p:nvSpPr>
          <p:spPr>
            <a:xfrm>
              <a:off x="2575249" y="1184973"/>
              <a:ext cx="1735487" cy="2080741"/>
            </a:xfrm>
            <a:custGeom>
              <a:avLst/>
              <a:gdLst>
                <a:gd name="connsiteX0" fmla="*/ 0 w 1735494"/>
                <a:gd name="connsiteY0" fmla="*/ 2071411 h 2071411"/>
                <a:gd name="connsiteX1" fmla="*/ 886408 w 1735494"/>
                <a:gd name="connsiteY1" fmla="*/ 15 h 2071411"/>
                <a:gd name="connsiteX2" fmla="*/ 1735494 w 1735494"/>
                <a:gd name="connsiteY2" fmla="*/ 2043419 h 2071411"/>
              </a:gdLst>
              <a:ahLst/>
              <a:cxnLst>
                <a:cxn ang="0">
                  <a:pos x="connsiteX0" y="connsiteY0"/>
                </a:cxn>
                <a:cxn ang="0">
                  <a:pos x="connsiteX1" y="connsiteY1"/>
                </a:cxn>
                <a:cxn ang="0">
                  <a:pos x="connsiteX2" y="connsiteY2"/>
                </a:cxn>
              </a:cxnLst>
              <a:rect l="l" t="t" r="r" b="b"/>
              <a:pathLst>
                <a:path w="1735494" h="2071411">
                  <a:moveTo>
                    <a:pt x="0" y="2071411"/>
                  </a:moveTo>
                  <a:cubicBezTo>
                    <a:pt x="298579" y="1038045"/>
                    <a:pt x="597159" y="4680"/>
                    <a:pt x="886408" y="15"/>
                  </a:cubicBezTo>
                  <a:cubicBezTo>
                    <a:pt x="1175657" y="-4650"/>
                    <a:pt x="1455575" y="1019384"/>
                    <a:pt x="1735494" y="204341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32B26125-BA11-4B3B-AD50-D4FCA7271E0A}"/>
                </a:ext>
              </a:extLst>
            </p:cNvPr>
            <p:cNvSpPr/>
            <p:nvPr/>
          </p:nvSpPr>
          <p:spPr>
            <a:xfrm>
              <a:off x="3530081" y="1175643"/>
              <a:ext cx="1735494" cy="2071411"/>
            </a:xfrm>
            <a:custGeom>
              <a:avLst/>
              <a:gdLst>
                <a:gd name="connsiteX0" fmla="*/ 0 w 1735494"/>
                <a:gd name="connsiteY0" fmla="*/ 2071411 h 2071411"/>
                <a:gd name="connsiteX1" fmla="*/ 886408 w 1735494"/>
                <a:gd name="connsiteY1" fmla="*/ 15 h 2071411"/>
                <a:gd name="connsiteX2" fmla="*/ 1735494 w 1735494"/>
                <a:gd name="connsiteY2" fmla="*/ 2043419 h 2071411"/>
              </a:gdLst>
              <a:ahLst/>
              <a:cxnLst>
                <a:cxn ang="0">
                  <a:pos x="connsiteX0" y="connsiteY0"/>
                </a:cxn>
                <a:cxn ang="0">
                  <a:pos x="connsiteX1" y="connsiteY1"/>
                </a:cxn>
                <a:cxn ang="0">
                  <a:pos x="connsiteX2" y="connsiteY2"/>
                </a:cxn>
              </a:cxnLst>
              <a:rect l="l" t="t" r="r" b="b"/>
              <a:pathLst>
                <a:path w="1735494" h="2071411">
                  <a:moveTo>
                    <a:pt x="0" y="2071411"/>
                  </a:moveTo>
                  <a:cubicBezTo>
                    <a:pt x="298579" y="1038045"/>
                    <a:pt x="597159" y="4680"/>
                    <a:pt x="886408" y="15"/>
                  </a:cubicBezTo>
                  <a:cubicBezTo>
                    <a:pt x="1175657" y="-4650"/>
                    <a:pt x="1455575" y="1019384"/>
                    <a:pt x="1735494" y="204341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27">
              <a:extLst>
                <a:ext uri="{FF2B5EF4-FFF2-40B4-BE49-F238E27FC236}">
                  <a16:creationId xmlns:a16="http://schemas.microsoft.com/office/drawing/2014/main" id="{2676BC24-2D26-4EE8-9B7C-89CACF56D395}"/>
                </a:ext>
              </a:extLst>
            </p:cNvPr>
            <p:cNvSpPr/>
            <p:nvPr/>
          </p:nvSpPr>
          <p:spPr>
            <a:xfrm>
              <a:off x="2584580" y="1250302"/>
              <a:ext cx="771316" cy="2015412"/>
            </a:xfrm>
            <a:custGeom>
              <a:avLst/>
              <a:gdLst>
                <a:gd name="connsiteX0" fmla="*/ 0 w 914400"/>
                <a:gd name="connsiteY0" fmla="*/ 0 h 2015412"/>
                <a:gd name="connsiteX1" fmla="*/ 606489 w 914400"/>
                <a:gd name="connsiteY1" fmla="*/ 951722 h 2015412"/>
                <a:gd name="connsiteX2" fmla="*/ 914400 w 914400"/>
                <a:gd name="connsiteY2" fmla="*/ 2015412 h 2015412"/>
              </a:gdLst>
              <a:ahLst/>
              <a:cxnLst>
                <a:cxn ang="0">
                  <a:pos x="connsiteX0" y="connsiteY0"/>
                </a:cxn>
                <a:cxn ang="0">
                  <a:pos x="connsiteX1" y="connsiteY1"/>
                </a:cxn>
                <a:cxn ang="0">
                  <a:pos x="connsiteX2" y="connsiteY2"/>
                </a:cxn>
              </a:cxnLst>
              <a:rect l="l" t="t" r="r" b="b"/>
              <a:pathLst>
                <a:path w="914400" h="2015412">
                  <a:moveTo>
                    <a:pt x="0" y="0"/>
                  </a:moveTo>
                  <a:cubicBezTo>
                    <a:pt x="227044" y="307910"/>
                    <a:pt x="454089" y="615820"/>
                    <a:pt x="606489" y="951722"/>
                  </a:cubicBezTo>
                  <a:cubicBezTo>
                    <a:pt x="758889" y="1287624"/>
                    <a:pt x="836644" y="1651518"/>
                    <a:pt x="914400" y="2015412"/>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B514DE7-5282-4176-A95F-A7BE17BE92B1}"/>
                </a:ext>
              </a:extLst>
            </p:cNvPr>
            <p:cNvSpPr/>
            <p:nvPr/>
          </p:nvSpPr>
          <p:spPr>
            <a:xfrm>
              <a:off x="2218503" y="909504"/>
              <a:ext cx="1135196"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Very low </a:t>
              </a:r>
              <a:endParaRPr lang="en-US" dirty="0"/>
            </a:p>
          </p:txBody>
        </p:sp>
        <p:sp>
          <p:nvSpPr>
            <p:cNvPr id="30" name="Rectangle 29">
              <a:extLst>
                <a:ext uri="{FF2B5EF4-FFF2-40B4-BE49-F238E27FC236}">
                  <a16:creationId xmlns:a16="http://schemas.microsoft.com/office/drawing/2014/main" id="{36565F78-03F9-41F0-9444-7C285DFEC934}"/>
                </a:ext>
              </a:extLst>
            </p:cNvPr>
            <p:cNvSpPr/>
            <p:nvPr/>
          </p:nvSpPr>
          <p:spPr>
            <a:xfrm>
              <a:off x="3059966" y="1369639"/>
              <a:ext cx="987185"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medium</a:t>
              </a:r>
              <a:endParaRPr lang="en-US" dirty="0"/>
            </a:p>
          </p:txBody>
        </p:sp>
        <p:sp>
          <p:nvSpPr>
            <p:cNvPr id="31" name="Rectangle 30">
              <a:extLst>
                <a:ext uri="{FF2B5EF4-FFF2-40B4-BE49-F238E27FC236}">
                  <a16:creationId xmlns:a16="http://schemas.microsoft.com/office/drawing/2014/main" id="{6BAAAE66-7BDE-4480-A2C0-E5B5A9EEDA74}"/>
                </a:ext>
              </a:extLst>
            </p:cNvPr>
            <p:cNvSpPr/>
            <p:nvPr/>
          </p:nvSpPr>
          <p:spPr>
            <a:xfrm>
              <a:off x="3863066" y="810976"/>
              <a:ext cx="624052"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high</a:t>
              </a:r>
              <a:endParaRPr lang="en-US" dirty="0"/>
            </a:p>
          </p:txBody>
        </p:sp>
        <p:sp>
          <p:nvSpPr>
            <p:cNvPr id="35" name="TextBox 34">
              <a:extLst>
                <a:ext uri="{FF2B5EF4-FFF2-40B4-BE49-F238E27FC236}">
                  <a16:creationId xmlns:a16="http://schemas.microsoft.com/office/drawing/2014/main" id="{77477EFD-FEA8-4605-9C64-677FC0ABCD45}"/>
                </a:ext>
              </a:extLst>
            </p:cNvPr>
            <p:cNvSpPr txBox="1"/>
            <p:nvPr/>
          </p:nvSpPr>
          <p:spPr>
            <a:xfrm>
              <a:off x="5303517" y="3265714"/>
              <a:ext cx="1213231" cy="525631"/>
            </a:xfrm>
            <a:prstGeom prst="rect">
              <a:avLst/>
            </a:prstGeom>
            <a:noFill/>
          </p:spPr>
          <p:txBody>
            <a:bodyPr wrap="square" rtlCol="0">
              <a:spAutoFit/>
            </a:bodyPr>
            <a:lstStyle/>
            <a:p>
              <a:r>
                <a:rPr lang="en-US" sz="2400" i="1" dirty="0">
                  <a:latin typeface="Times New Roman" panose="02020603050405020304" pitchFamily="18" charset="0"/>
                  <a:cs typeface="Times New Roman" panose="02020603050405020304" pitchFamily="18" charset="0"/>
                </a:rPr>
                <a:t>Density</a:t>
              </a:r>
            </a:p>
          </p:txBody>
        </p:sp>
        <p:sp>
          <p:nvSpPr>
            <p:cNvPr id="36" name="TextBox 35">
              <a:extLst>
                <a:ext uri="{FF2B5EF4-FFF2-40B4-BE49-F238E27FC236}">
                  <a16:creationId xmlns:a16="http://schemas.microsoft.com/office/drawing/2014/main" id="{0E0009D7-9F39-4357-885E-FD1B01AFB6F1}"/>
                </a:ext>
              </a:extLst>
            </p:cNvPr>
            <p:cNvSpPr txBox="1"/>
            <p:nvPr/>
          </p:nvSpPr>
          <p:spPr>
            <a:xfrm>
              <a:off x="1493023" y="1711993"/>
              <a:ext cx="1679803" cy="525631"/>
            </a:xfrm>
            <a:prstGeom prst="rect">
              <a:avLst/>
            </a:prstGeom>
            <a:noFill/>
          </p:spPr>
          <p:txBody>
            <a:bodyPr wrap="square" rtlCol="0">
              <a:spAutoFit/>
            </a:bodyPr>
            <a:lstStyle/>
            <a:p>
              <a:r>
                <a:rPr lang="el-GR" sz="2400" i="1" dirty="0">
                  <a:latin typeface="Times New Roman" panose="02020603050405020304" pitchFamily="18" charset="0"/>
                  <a:cs typeface="Times New Roman" panose="02020603050405020304" pitchFamily="18" charset="0"/>
                </a:rPr>
                <a:t>μ</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density</a:t>
              </a:r>
              <a:r>
                <a:rPr lang="en-US" sz="2400" dirty="0">
                  <a:latin typeface="Times New Roman" panose="02020603050405020304" pitchFamily="18" charset="0"/>
                  <a:cs typeface="Times New Roman" panose="02020603050405020304" pitchFamily="18" charset="0"/>
                </a:rPr>
                <a:t>)</a:t>
              </a:r>
            </a:p>
          </p:txBody>
        </p:sp>
      </p:grpSp>
      <p:sp>
        <p:nvSpPr>
          <p:cNvPr id="27" name="Slide Number Placeholder 26">
            <a:extLst>
              <a:ext uri="{FF2B5EF4-FFF2-40B4-BE49-F238E27FC236}">
                <a16:creationId xmlns:a16="http://schemas.microsoft.com/office/drawing/2014/main" id="{4264C78F-A081-4A74-935A-FA635ADD09EC}"/>
              </a:ext>
            </a:extLst>
          </p:cNvPr>
          <p:cNvSpPr>
            <a:spLocks noGrp="1"/>
          </p:cNvSpPr>
          <p:nvPr>
            <p:ph type="sldNum" sz="quarter" idx="12"/>
          </p:nvPr>
        </p:nvSpPr>
        <p:spPr/>
        <p:txBody>
          <a:bodyPr/>
          <a:lstStyle/>
          <a:p>
            <a:fld id="{C3F1913A-7668-436E-8561-76A60B792217}" type="slidenum">
              <a:rPr lang="en-US" smtClean="0"/>
              <a:t>61</a:t>
            </a:fld>
            <a:endParaRPr lang="en-US"/>
          </a:p>
        </p:txBody>
      </p:sp>
    </p:spTree>
    <p:extLst>
      <p:ext uri="{BB962C8B-B14F-4D97-AF65-F5344CB8AC3E}">
        <p14:creationId xmlns:p14="http://schemas.microsoft.com/office/powerpoint/2010/main" val="41024454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B05C44BF-95F3-4FCD-9BB2-5CCCEF295F13}"/>
              </a:ext>
            </a:extLst>
          </p:cNvPr>
          <p:cNvGrpSpPr/>
          <p:nvPr/>
        </p:nvGrpSpPr>
        <p:grpSpPr>
          <a:xfrm>
            <a:off x="566239" y="51497"/>
            <a:ext cx="8855308" cy="3097763"/>
            <a:chOff x="533184" y="597159"/>
            <a:chExt cx="9287136" cy="3526972"/>
          </a:xfrm>
        </p:grpSpPr>
        <p:cxnSp>
          <p:nvCxnSpPr>
            <p:cNvPr id="6" name="Straight Arrow Connector 5">
              <a:extLst>
                <a:ext uri="{FF2B5EF4-FFF2-40B4-BE49-F238E27FC236}">
                  <a16:creationId xmlns:a16="http://schemas.microsoft.com/office/drawing/2014/main" id="{B27DC1E4-6397-4FF2-8E67-EB57ACC6CE2F}"/>
                </a:ext>
              </a:extLst>
            </p:cNvPr>
            <p:cNvCxnSpPr>
              <a:cxnSpLocks/>
            </p:cNvCxnSpPr>
            <p:nvPr/>
          </p:nvCxnSpPr>
          <p:spPr>
            <a:xfrm flipV="1">
              <a:off x="2258008" y="3172410"/>
              <a:ext cx="5756988" cy="93304"/>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49D953A6-0AB3-48FB-87AA-8B458A5B1EB2}"/>
                </a:ext>
              </a:extLst>
            </p:cNvPr>
            <p:cNvCxnSpPr/>
            <p:nvPr/>
          </p:nvCxnSpPr>
          <p:spPr>
            <a:xfrm flipV="1">
              <a:off x="2575249" y="597159"/>
              <a:ext cx="0" cy="3526972"/>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8" name="Freeform: Shape 7">
              <a:extLst>
                <a:ext uri="{FF2B5EF4-FFF2-40B4-BE49-F238E27FC236}">
                  <a16:creationId xmlns:a16="http://schemas.microsoft.com/office/drawing/2014/main" id="{BCA24919-9075-4582-95EC-B7A5A8C3B620}"/>
                </a:ext>
              </a:extLst>
            </p:cNvPr>
            <p:cNvSpPr/>
            <p:nvPr/>
          </p:nvSpPr>
          <p:spPr>
            <a:xfrm>
              <a:off x="2575249" y="1184973"/>
              <a:ext cx="1735487" cy="2080741"/>
            </a:xfrm>
            <a:custGeom>
              <a:avLst/>
              <a:gdLst>
                <a:gd name="connsiteX0" fmla="*/ 0 w 1735494"/>
                <a:gd name="connsiteY0" fmla="*/ 2071411 h 2071411"/>
                <a:gd name="connsiteX1" fmla="*/ 886408 w 1735494"/>
                <a:gd name="connsiteY1" fmla="*/ 15 h 2071411"/>
                <a:gd name="connsiteX2" fmla="*/ 1735494 w 1735494"/>
                <a:gd name="connsiteY2" fmla="*/ 2043419 h 2071411"/>
              </a:gdLst>
              <a:ahLst/>
              <a:cxnLst>
                <a:cxn ang="0">
                  <a:pos x="connsiteX0" y="connsiteY0"/>
                </a:cxn>
                <a:cxn ang="0">
                  <a:pos x="connsiteX1" y="connsiteY1"/>
                </a:cxn>
                <a:cxn ang="0">
                  <a:pos x="connsiteX2" y="connsiteY2"/>
                </a:cxn>
              </a:cxnLst>
              <a:rect l="l" t="t" r="r" b="b"/>
              <a:pathLst>
                <a:path w="1735494" h="2071411">
                  <a:moveTo>
                    <a:pt x="0" y="2071411"/>
                  </a:moveTo>
                  <a:cubicBezTo>
                    <a:pt x="298579" y="1038045"/>
                    <a:pt x="597159" y="4680"/>
                    <a:pt x="886408" y="15"/>
                  </a:cubicBezTo>
                  <a:cubicBezTo>
                    <a:pt x="1175657" y="-4650"/>
                    <a:pt x="1455575" y="1019384"/>
                    <a:pt x="1735494" y="204341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2818F997-0326-4915-BE71-79DA5F103D9D}"/>
                </a:ext>
              </a:extLst>
            </p:cNvPr>
            <p:cNvSpPr/>
            <p:nvPr/>
          </p:nvSpPr>
          <p:spPr>
            <a:xfrm>
              <a:off x="3530081" y="1175643"/>
              <a:ext cx="1735494" cy="2071411"/>
            </a:xfrm>
            <a:custGeom>
              <a:avLst/>
              <a:gdLst>
                <a:gd name="connsiteX0" fmla="*/ 0 w 1735494"/>
                <a:gd name="connsiteY0" fmla="*/ 2071411 h 2071411"/>
                <a:gd name="connsiteX1" fmla="*/ 886408 w 1735494"/>
                <a:gd name="connsiteY1" fmla="*/ 15 h 2071411"/>
                <a:gd name="connsiteX2" fmla="*/ 1735494 w 1735494"/>
                <a:gd name="connsiteY2" fmla="*/ 2043419 h 2071411"/>
              </a:gdLst>
              <a:ahLst/>
              <a:cxnLst>
                <a:cxn ang="0">
                  <a:pos x="connsiteX0" y="connsiteY0"/>
                </a:cxn>
                <a:cxn ang="0">
                  <a:pos x="connsiteX1" y="connsiteY1"/>
                </a:cxn>
                <a:cxn ang="0">
                  <a:pos x="connsiteX2" y="connsiteY2"/>
                </a:cxn>
              </a:cxnLst>
              <a:rect l="l" t="t" r="r" b="b"/>
              <a:pathLst>
                <a:path w="1735494" h="2071411">
                  <a:moveTo>
                    <a:pt x="0" y="2071411"/>
                  </a:moveTo>
                  <a:cubicBezTo>
                    <a:pt x="298579" y="1038045"/>
                    <a:pt x="597159" y="4680"/>
                    <a:pt x="886408" y="15"/>
                  </a:cubicBezTo>
                  <a:cubicBezTo>
                    <a:pt x="1175657" y="-4650"/>
                    <a:pt x="1455575" y="1019384"/>
                    <a:pt x="1735494" y="204341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1F962C3B-9CB8-4BB9-AE2E-7BB773014AD2}"/>
                </a:ext>
              </a:extLst>
            </p:cNvPr>
            <p:cNvSpPr/>
            <p:nvPr/>
          </p:nvSpPr>
          <p:spPr>
            <a:xfrm>
              <a:off x="4484912" y="1156983"/>
              <a:ext cx="1735494" cy="2071411"/>
            </a:xfrm>
            <a:custGeom>
              <a:avLst/>
              <a:gdLst>
                <a:gd name="connsiteX0" fmla="*/ 0 w 1735494"/>
                <a:gd name="connsiteY0" fmla="*/ 2071411 h 2071411"/>
                <a:gd name="connsiteX1" fmla="*/ 886408 w 1735494"/>
                <a:gd name="connsiteY1" fmla="*/ 15 h 2071411"/>
                <a:gd name="connsiteX2" fmla="*/ 1735494 w 1735494"/>
                <a:gd name="connsiteY2" fmla="*/ 2043419 h 2071411"/>
              </a:gdLst>
              <a:ahLst/>
              <a:cxnLst>
                <a:cxn ang="0">
                  <a:pos x="connsiteX0" y="connsiteY0"/>
                </a:cxn>
                <a:cxn ang="0">
                  <a:pos x="connsiteX1" y="connsiteY1"/>
                </a:cxn>
                <a:cxn ang="0">
                  <a:pos x="connsiteX2" y="connsiteY2"/>
                </a:cxn>
              </a:cxnLst>
              <a:rect l="l" t="t" r="r" b="b"/>
              <a:pathLst>
                <a:path w="1735494" h="2071411">
                  <a:moveTo>
                    <a:pt x="0" y="2071411"/>
                  </a:moveTo>
                  <a:cubicBezTo>
                    <a:pt x="298579" y="1038045"/>
                    <a:pt x="597159" y="4680"/>
                    <a:pt x="886408" y="15"/>
                  </a:cubicBezTo>
                  <a:cubicBezTo>
                    <a:pt x="1175657" y="-4650"/>
                    <a:pt x="1455575" y="1019384"/>
                    <a:pt x="1735494" y="204341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BB313FB-39B0-4B99-94AD-FB9B42BF58C2}"/>
                </a:ext>
              </a:extLst>
            </p:cNvPr>
            <p:cNvSpPr/>
            <p:nvPr/>
          </p:nvSpPr>
          <p:spPr>
            <a:xfrm>
              <a:off x="2584580" y="1250302"/>
              <a:ext cx="771316" cy="2015412"/>
            </a:xfrm>
            <a:custGeom>
              <a:avLst/>
              <a:gdLst>
                <a:gd name="connsiteX0" fmla="*/ 0 w 914400"/>
                <a:gd name="connsiteY0" fmla="*/ 0 h 2015412"/>
                <a:gd name="connsiteX1" fmla="*/ 606489 w 914400"/>
                <a:gd name="connsiteY1" fmla="*/ 951722 h 2015412"/>
                <a:gd name="connsiteX2" fmla="*/ 914400 w 914400"/>
                <a:gd name="connsiteY2" fmla="*/ 2015412 h 2015412"/>
              </a:gdLst>
              <a:ahLst/>
              <a:cxnLst>
                <a:cxn ang="0">
                  <a:pos x="connsiteX0" y="connsiteY0"/>
                </a:cxn>
                <a:cxn ang="0">
                  <a:pos x="connsiteX1" y="connsiteY1"/>
                </a:cxn>
                <a:cxn ang="0">
                  <a:pos x="connsiteX2" y="connsiteY2"/>
                </a:cxn>
              </a:cxnLst>
              <a:rect l="l" t="t" r="r" b="b"/>
              <a:pathLst>
                <a:path w="914400" h="2015412">
                  <a:moveTo>
                    <a:pt x="0" y="0"/>
                  </a:moveTo>
                  <a:cubicBezTo>
                    <a:pt x="227044" y="307910"/>
                    <a:pt x="454089" y="615820"/>
                    <a:pt x="606489" y="951722"/>
                  </a:cubicBezTo>
                  <a:cubicBezTo>
                    <a:pt x="758889" y="1287624"/>
                    <a:pt x="836644" y="1651518"/>
                    <a:pt x="914400" y="2015412"/>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8C2A9AB-A2DE-419D-8ED1-2B2FAD08138B}"/>
                </a:ext>
              </a:extLst>
            </p:cNvPr>
            <p:cNvSpPr/>
            <p:nvPr/>
          </p:nvSpPr>
          <p:spPr>
            <a:xfrm>
              <a:off x="2037630" y="880970"/>
              <a:ext cx="1296588"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Very small </a:t>
              </a:r>
              <a:endParaRPr lang="en-US" dirty="0"/>
            </a:p>
          </p:txBody>
        </p:sp>
        <p:sp>
          <p:nvSpPr>
            <p:cNvPr id="13" name="Rectangle 12">
              <a:extLst>
                <a:ext uri="{FF2B5EF4-FFF2-40B4-BE49-F238E27FC236}">
                  <a16:creationId xmlns:a16="http://schemas.microsoft.com/office/drawing/2014/main" id="{661C6452-1BC7-411A-BEA1-C2B7A831F7EB}"/>
                </a:ext>
              </a:extLst>
            </p:cNvPr>
            <p:cNvSpPr/>
            <p:nvPr/>
          </p:nvSpPr>
          <p:spPr>
            <a:xfrm>
              <a:off x="3059966" y="1369639"/>
              <a:ext cx="718197"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small</a:t>
              </a:r>
              <a:endParaRPr lang="en-US" dirty="0"/>
            </a:p>
          </p:txBody>
        </p:sp>
        <p:sp>
          <p:nvSpPr>
            <p:cNvPr id="14" name="Rectangle 13">
              <a:extLst>
                <a:ext uri="{FF2B5EF4-FFF2-40B4-BE49-F238E27FC236}">
                  <a16:creationId xmlns:a16="http://schemas.microsoft.com/office/drawing/2014/main" id="{5E1E9E7A-D611-4131-B001-9FBB4A16E9D3}"/>
                </a:ext>
              </a:extLst>
            </p:cNvPr>
            <p:cNvSpPr/>
            <p:nvPr/>
          </p:nvSpPr>
          <p:spPr>
            <a:xfrm>
              <a:off x="3863066" y="810976"/>
              <a:ext cx="987185"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medium</a:t>
              </a:r>
              <a:endParaRPr lang="en-US" dirty="0"/>
            </a:p>
          </p:txBody>
        </p:sp>
        <p:sp>
          <p:nvSpPr>
            <p:cNvPr id="15" name="Rectangle 14">
              <a:extLst>
                <a:ext uri="{FF2B5EF4-FFF2-40B4-BE49-F238E27FC236}">
                  <a16:creationId xmlns:a16="http://schemas.microsoft.com/office/drawing/2014/main" id="{53F1474E-20D6-4EA9-9965-898CD2902927}"/>
                </a:ext>
              </a:extLst>
            </p:cNvPr>
            <p:cNvSpPr/>
            <p:nvPr/>
          </p:nvSpPr>
          <p:spPr>
            <a:xfrm>
              <a:off x="5000255" y="1369639"/>
              <a:ext cx="624052"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long</a:t>
              </a:r>
              <a:endParaRPr lang="en-US" dirty="0"/>
            </a:p>
          </p:txBody>
        </p:sp>
        <p:sp>
          <p:nvSpPr>
            <p:cNvPr id="16" name="Freeform: Shape 15">
              <a:extLst>
                <a:ext uri="{FF2B5EF4-FFF2-40B4-BE49-F238E27FC236}">
                  <a16:creationId xmlns:a16="http://schemas.microsoft.com/office/drawing/2014/main" id="{DC98C2D1-9465-428F-8C89-2575B6D38E2F}"/>
                </a:ext>
              </a:extLst>
            </p:cNvPr>
            <p:cNvSpPr/>
            <p:nvPr/>
          </p:nvSpPr>
          <p:spPr>
            <a:xfrm>
              <a:off x="5526835" y="1110329"/>
              <a:ext cx="1735494" cy="2071411"/>
            </a:xfrm>
            <a:custGeom>
              <a:avLst/>
              <a:gdLst>
                <a:gd name="connsiteX0" fmla="*/ 0 w 1735494"/>
                <a:gd name="connsiteY0" fmla="*/ 2071411 h 2071411"/>
                <a:gd name="connsiteX1" fmla="*/ 886408 w 1735494"/>
                <a:gd name="connsiteY1" fmla="*/ 15 h 2071411"/>
                <a:gd name="connsiteX2" fmla="*/ 1735494 w 1735494"/>
                <a:gd name="connsiteY2" fmla="*/ 2043419 h 2071411"/>
              </a:gdLst>
              <a:ahLst/>
              <a:cxnLst>
                <a:cxn ang="0">
                  <a:pos x="connsiteX0" y="connsiteY0"/>
                </a:cxn>
                <a:cxn ang="0">
                  <a:pos x="connsiteX1" y="connsiteY1"/>
                </a:cxn>
                <a:cxn ang="0">
                  <a:pos x="connsiteX2" y="connsiteY2"/>
                </a:cxn>
              </a:cxnLst>
              <a:rect l="l" t="t" r="r" b="b"/>
              <a:pathLst>
                <a:path w="1735494" h="2071411">
                  <a:moveTo>
                    <a:pt x="0" y="2071411"/>
                  </a:moveTo>
                  <a:cubicBezTo>
                    <a:pt x="298579" y="1038045"/>
                    <a:pt x="597159" y="4680"/>
                    <a:pt x="886408" y="15"/>
                  </a:cubicBezTo>
                  <a:cubicBezTo>
                    <a:pt x="1175657" y="-4650"/>
                    <a:pt x="1455575" y="1019384"/>
                    <a:pt x="1735494" y="204341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7ADABB6-F85B-42F7-AC64-02F90F7C038A}"/>
                </a:ext>
              </a:extLst>
            </p:cNvPr>
            <p:cNvSpPr/>
            <p:nvPr/>
          </p:nvSpPr>
          <p:spPr>
            <a:xfrm>
              <a:off x="5797367" y="722337"/>
              <a:ext cx="1141920"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Very long</a:t>
              </a:r>
              <a:endParaRPr lang="en-US" dirty="0"/>
            </a:p>
          </p:txBody>
        </p:sp>
        <p:sp>
          <p:nvSpPr>
            <p:cNvPr id="18" name="TextBox 17">
              <a:extLst>
                <a:ext uri="{FF2B5EF4-FFF2-40B4-BE49-F238E27FC236}">
                  <a16:creationId xmlns:a16="http://schemas.microsoft.com/office/drawing/2014/main" id="{14E42DC1-879D-4778-A524-62F8FF79C115}"/>
                </a:ext>
              </a:extLst>
            </p:cNvPr>
            <p:cNvSpPr txBox="1"/>
            <p:nvPr/>
          </p:nvSpPr>
          <p:spPr>
            <a:xfrm>
              <a:off x="8130080" y="2941577"/>
              <a:ext cx="1690240" cy="525631"/>
            </a:xfrm>
            <a:prstGeom prst="rect">
              <a:avLst/>
            </a:prstGeom>
            <a:noFill/>
          </p:spPr>
          <p:txBody>
            <a:bodyPr wrap="square" rtlCol="0">
              <a:spAutoFit/>
            </a:bodyPr>
            <a:lstStyle/>
            <a:p>
              <a:r>
                <a:rPr lang="en-US" sz="2400" i="1" dirty="0">
                  <a:latin typeface="Times New Roman" panose="02020603050405020304" pitchFamily="18" charset="0"/>
                  <a:cs typeface="Times New Roman" panose="02020603050405020304" pitchFamily="18" charset="0"/>
                </a:rPr>
                <a:t>Distance</a:t>
              </a:r>
            </a:p>
          </p:txBody>
        </p:sp>
        <p:sp>
          <p:nvSpPr>
            <p:cNvPr id="19" name="TextBox 18">
              <a:extLst>
                <a:ext uri="{FF2B5EF4-FFF2-40B4-BE49-F238E27FC236}">
                  <a16:creationId xmlns:a16="http://schemas.microsoft.com/office/drawing/2014/main" id="{E252B3E9-27ED-44BB-8B27-57A7F09CC4BC}"/>
                </a:ext>
              </a:extLst>
            </p:cNvPr>
            <p:cNvSpPr txBox="1"/>
            <p:nvPr/>
          </p:nvSpPr>
          <p:spPr>
            <a:xfrm>
              <a:off x="533184" y="1679703"/>
              <a:ext cx="1849239" cy="525631"/>
            </a:xfrm>
            <a:prstGeom prst="rect">
              <a:avLst/>
            </a:prstGeom>
            <a:noFill/>
          </p:spPr>
          <p:txBody>
            <a:bodyPr wrap="square" rtlCol="0">
              <a:spAutoFit/>
            </a:bodyPr>
            <a:lstStyle/>
            <a:p>
              <a:r>
                <a:rPr lang="el-GR" sz="2400" i="1" dirty="0">
                  <a:latin typeface="Times New Roman" panose="02020603050405020304" pitchFamily="18" charset="0"/>
                  <a:cs typeface="Times New Roman" panose="02020603050405020304" pitchFamily="18" charset="0"/>
                </a:rPr>
                <a:t>μ</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Distance</a:t>
              </a:r>
              <a:r>
                <a:rPr lang="en-US" sz="2400" dirty="0">
                  <a:latin typeface="Times New Roman" panose="02020603050405020304" pitchFamily="18" charset="0"/>
                  <a:cs typeface="Times New Roman" panose="02020603050405020304" pitchFamily="18" charset="0"/>
                </a:rPr>
                <a:t>)</a:t>
              </a:r>
            </a:p>
          </p:txBody>
        </p:sp>
      </p:grpSp>
      <p:sp>
        <p:nvSpPr>
          <p:cNvPr id="20" name="Rectangle 19">
            <a:extLst>
              <a:ext uri="{FF2B5EF4-FFF2-40B4-BE49-F238E27FC236}">
                <a16:creationId xmlns:a16="http://schemas.microsoft.com/office/drawing/2014/main" id="{4A36A3E5-72F0-44E9-85A8-3BC9999FC630}"/>
              </a:ext>
            </a:extLst>
          </p:cNvPr>
          <p:cNvSpPr/>
          <p:nvPr/>
        </p:nvSpPr>
        <p:spPr>
          <a:xfrm>
            <a:off x="2770451" y="2650202"/>
            <a:ext cx="5434501"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Distance = {very small, small, medium, long, very long}</a:t>
            </a:r>
            <a:endParaRPr lang="en-US" dirty="0"/>
          </a:p>
        </p:txBody>
      </p:sp>
      <p:sp>
        <p:nvSpPr>
          <p:cNvPr id="21" name="Rectangle 20">
            <a:extLst>
              <a:ext uri="{FF2B5EF4-FFF2-40B4-BE49-F238E27FC236}">
                <a16:creationId xmlns:a16="http://schemas.microsoft.com/office/drawing/2014/main" id="{D73B1031-0E3A-4FDE-A85D-DE0790D7828A}"/>
              </a:ext>
            </a:extLst>
          </p:cNvPr>
          <p:cNvSpPr/>
          <p:nvPr/>
        </p:nvSpPr>
        <p:spPr>
          <a:xfrm>
            <a:off x="2554565" y="6327226"/>
            <a:ext cx="5267789" cy="369332"/>
          </a:xfrm>
          <a:prstGeom prst="rect">
            <a:avLst/>
          </a:prstGeom>
        </p:spPr>
        <p:txBody>
          <a:bodyPr wrap="none">
            <a:spAutoFit/>
          </a:bodyPr>
          <a:lstStyle/>
          <a:p>
            <a:pPr algn="just"/>
            <a:r>
              <a:rPr lang="en-US" dirty="0">
                <a:latin typeface="Times New Roman" panose="02020603050405020304" pitchFamily="18" charset="0"/>
                <a:cs typeface="Times New Roman" panose="02020603050405020304" pitchFamily="18" charset="0"/>
              </a:rPr>
              <a:t>Output ={very small, small, medium, high, very high} </a:t>
            </a:r>
          </a:p>
        </p:txBody>
      </p:sp>
      <p:grpSp>
        <p:nvGrpSpPr>
          <p:cNvPr id="32" name="Group 31">
            <a:extLst>
              <a:ext uri="{FF2B5EF4-FFF2-40B4-BE49-F238E27FC236}">
                <a16:creationId xmlns:a16="http://schemas.microsoft.com/office/drawing/2014/main" id="{B87427FA-94CB-4C98-B278-889ED02E8662}"/>
              </a:ext>
            </a:extLst>
          </p:cNvPr>
          <p:cNvGrpSpPr/>
          <p:nvPr/>
        </p:nvGrpSpPr>
        <p:grpSpPr>
          <a:xfrm>
            <a:off x="527860" y="3281277"/>
            <a:ext cx="8855308" cy="3097763"/>
            <a:chOff x="533184" y="597159"/>
            <a:chExt cx="9287136" cy="3526972"/>
          </a:xfrm>
        </p:grpSpPr>
        <p:cxnSp>
          <p:nvCxnSpPr>
            <p:cNvPr id="33" name="Straight Arrow Connector 32">
              <a:extLst>
                <a:ext uri="{FF2B5EF4-FFF2-40B4-BE49-F238E27FC236}">
                  <a16:creationId xmlns:a16="http://schemas.microsoft.com/office/drawing/2014/main" id="{F89FD42A-95D4-4404-AE05-F5EB2C6E5ABD}"/>
                </a:ext>
              </a:extLst>
            </p:cNvPr>
            <p:cNvCxnSpPr>
              <a:cxnSpLocks/>
            </p:cNvCxnSpPr>
            <p:nvPr/>
          </p:nvCxnSpPr>
          <p:spPr>
            <a:xfrm flipV="1">
              <a:off x="2258008" y="3172410"/>
              <a:ext cx="5756988" cy="93304"/>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BA1371A-1DB5-4E7E-96DB-088CCDCDF868}"/>
                </a:ext>
              </a:extLst>
            </p:cNvPr>
            <p:cNvCxnSpPr/>
            <p:nvPr/>
          </p:nvCxnSpPr>
          <p:spPr>
            <a:xfrm flipV="1">
              <a:off x="2575249" y="597159"/>
              <a:ext cx="0" cy="3526972"/>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7" name="Freeform: Shape 36">
              <a:extLst>
                <a:ext uri="{FF2B5EF4-FFF2-40B4-BE49-F238E27FC236}">
                  <a16:creationId xmlns:a16="http://schemas.microsoft.com/office/drawing/2014/main" id="{AF910753-225F-426B-B49C-D73E474F0E2D}"/>
                </a:ext>
              </a:extLst>
            </p:cNvPr>
            <p:cNvSpPr/>
            <p:nvPr/>
          </p:nvSpPr>
          <p:spPr>
            <a:xfrm>
              <a:off x="2575249" y="1184973"/>
              <a:ext cx="1735487" cy="2080741"/>
            </a:xfrm>
            <a:custGeom>
              <a:avLst/>
              <a:gdLst>
                <a:gd name="connsiteX0" fmla="*/ 0 w 1735494"/>
                <a:gd name="connsiteY0" fmla="*/ 2071411 h 2071411"/>
                <a:gd name="connsiteX1" fmla="*/ 886408 w 1735494"/>
                <a:gd name="connsiteY1" fmla="*/ 15 h 2071411"/>
                <a:gd name="connsiteX2" fmla="*/ 1735494 w 1735494"/>
                <a:gd name="connsiteY2" fmla="*/ 2043419 h 2071411"/>
              </a:gdLst>
              <a:ahLst/>
              <a:cxnLst>
                <a:cxn ang="0">
                  <a:pos x="connsiteX0" y="connsiteY0"/>
                </a:cxn>
                <a:cxn ang="0">
                  <a:pos x="connsiteX1" y="connsiteY1"/>
                </a:cxn>
                <a:cxn ang="0">
                  <a:pos x="connsiteX2" y="connsiteY2"/>
                </a:cxn>
              </a:cxnLst>
              <a:rect l="l" t="t" r="r" b="b"/>
              <a:pathLst>
                <a:path w="1735494" h="2071411">
                  <a:moveTo>
                    <a:pt x="0" y="2071411"/>
                  </a:moveTo>
                  <a:cubicBezTo>
                    <a:pt x="298579" y="1038045"/>
                    <a:pt x="597159" y="4680"/>
                    <a:pt x="886408" y="15"/>
                  </a:cubicBezTo>
                  <a:cubicBezTo>
                    <a:pt x="1175657" y="-4650"/>
                    <a:pt x="1455575" y="1019384"/>
                    <a:pt x="1735494" y="204341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00EBDD2D-0A16-4F2C-8450-D7CA790566BB}"/>
                </a:ext>
              </a:extLst>
            </p:cNvPr>
            <p:cNvSpPr/>
            <p:nvPr/>
          </p:nvSpPr>
          <p:spPr>
            <a:xfrm>
              <a:off x="3530081" y="1175643"/>
              <a:ext cx="1735494" cy="2071411"/>
            </a:xfrm>
            <a:custGeom>
              <a:avLst/>
              <a:gdLst>
                <a:gd name="connsiteX0" fmla="*/ 0 w 1735494"/>
                <a:gd name="connsiteY0" fmla="*/ 2071411 h 2071411"/>
                <a:gd name="connsiteX1" fmla="*/ 886408 w 1735494"/>
                <a:gd name="connsiteY1" fmla="*/ 15 h 2071411"/>
                <a:gd name="connsiteX2" fmla="*/ 1735494 w 1735494"/>
                <a:gd name="connsiteY2" fmla="*/ 2043419 h 2071411"/>
              </a:gdLst>
              <a:ahLst/>
              <a:cxnLst>
                <a:cxn ang="0">
                  <a:pos x="connsiteX0" y="connsiteY0"/>
                </a:cxn>
                <a:cxn ang="0">
                  <a:pos x="connsiteX1" y="connsiteY1"/>
                </a:cxn>
                <a:cxn ang="0">
                  <a:pos x="connsiteX2" y="connsiteY2"/>
                </a:cxn>
              </a:cxnLst>
              <a:rect l="l" t="t" r="r" b="b"/>
              <a:pathLst>
                <a:path w="1735494" h="2071411">
                  <a:moveTo>
                    <a:pt x="0" y="2071411"/>
                  </a:moveTo>
                  <a:cubicBezTo>
                    <a:pt x="298579" y="1038045"/>
                    <a:pt x="597159" y="4680"/>
                    <a:pt x="886408" y="15"/>
                  </a:cubicBezTo>
                  <a:cubicBezTo>
                    <a:pt x="1175657" y="-4650"/>
                    <a:pt x="1455575" y="1019384"/>
                    <a:pt x="1735494" y="204341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Freeform: Shape 38">
              <a:extLst>
                <a:ext uri="{FF2B5EF4-FFF2-40B4-BE49-F238E27FC236}">
                  <a16:creationId xmlns:a16="http://schemas.microsoft.com/office/drawing/2014/main" id="{03345FA1-4FAC-44E1-BB6A-316166F78CC4}"/>
                </a:ext>
              </a:extLst>
            </p:cNvPr>
            <p:cNvSpPr/>
            <p:nvPr/>
          </p:nvSpPr>
          <p:spPr>
            <a:xfrm>
              <a:off x="4484912" y="1156983"/>
              <a:ext cx="1735494" cy="2071411"/>
            </a:xfrm>
            <a:custGeom>
              <a:avLst/>
              <a:gdLst>
                <a:gd name="connsiteX0" fmla="*/ 0 w 1735494"/>
                <a:gd name="connsiteY0" fmla="*/ 2071411 h 2071411"/>
                <a:gd name="connsiteX1" fmla="*/ 886408 w 1735494"/>
                <a:gd name="connsiteY1" fmla="*/ 15 h 2071411"/>
                <a:gd name="connsiteX2" fmla="*/ 1735494 w 1735494"/>
                <a:gd name="connsiteY2" fmla="*/ 2043419 h 2071411"/>
              </a:gdLst>
              <a:ahLst/>
              <a:cxnLst>
                <a:cxn ang="0">
                  <a:pos x="connsiteX0" y="connsiteY0"/>
                </a:cxn>
                <a:cxn ang="0">
                  <a:pos x="connsiteX1" y="connsiteY1"/>
                </a:cxn>
                <a:cxn ang="0">
                  <a:pos x="connsiteX2" y="connsiteY2"/>
                </a:cxn>
              </a:cxnLst>
              <a:rect l="l" t="t" r="r" b="b"/>
              <a:pathLst>
                <a:path w="1735494" h="2071411">
                  <a:moveTo>
                    <a:pt x="0" y="2071411"/>
                  </a:moveTo>
                  <a:cubicBezTo>
                    <a:pt x="298579" y="1038045"/>
                    <a:pt x="597159" y="4680"/>
                    <a:pt x="886408" y="15"/>
                  </a:cubicBezTo>
                  <a:cubicBezTo>
                    <a:pt x="1175657" y="-4650"/>
                    <a:pt x="1455575" y="1019384"/>
                    <a:pt x="1735494" y="204341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F3176FC1-24EE-409E-9099-EFA0519B4C15}"/>
                </a:ext>
              </a:extLst>
            </p:cNvPr>
            <p:cNvSpPr/>
            <p:nvPr/>
          </p:nvSpPr>
          <p:spPr>
            <a:xfrm>
              <a:off x="2584580" y="1250302"/>
              <a:ext cx="771316" cy="2015412"/>
            </a:xfrm>
            <a:custGeom>
              <a:avLst/>
              <a:gdLst>
                <a:gd name="connsiteX0" fmla="*/ 0 w 914400"/>
                <a:gd name="connsiteY0" fmla="*/ 0 h 2015412"/>
                <a:gd name="connsiteX1" fmla="*/ 606489 w 914400"/>
                <a:gd name="connsiteY1" fmla="*/ 951722 h 2015412"/>
                <a:gd name="connsiteX2" fmla="*/ 914400 w 914400"/>
                <a:gd name="connsiteY2" fmla="*/ 2015412 h 2015412"/>
              </a:gdLst>
              <a:ahLst/>
              <a:cxnLst>
                <a:cxn ang="0">
                  <a:pos x="connsiteX0" y="connsiteY0"/>
                </a:cxn>
                <a:cxn ang="0">
                  <a:pos x="connsiteX1" y="connsiteY1"/>
                </a:cxn>
                <a:cxn ang="0">
                  <a:pos x="connsiteX2" y="connsiteY2"/>
                </a:cxn>
              </a:cxnLst>
              <a:rect l="l" t="t" r="r" b="b"/>
              <a:pathLst>
                <a:path w="914400" h="2015412">
                  <a:moveTo>
                    <a:pt x="0" y="0"/>
                  </a:moveTo>
                  <a:cubicBezTo>
                    <a:pt x="227044" y="307910"/>
                    <a:pt x="454089" y="615820"/>
                    <a:pt x="606489" y="951722"/>
                  </a:cubicBezTo>
                  <a:cubicBezTo>
                    <a:pt x="758889" y="1287624"/>
                    <a:pt x="836644" y="1651518"/>
                    <a:pt x="914400" y="2015412"/>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6E6AEF73-7D51-445A-B372-FEF86D763246}"/>
                </a:ext>
              </a:extLst>
            </p:cNvPr>
            <p:cNvSpPr/>
            <p:nvPr/>
          </p:nvSpPr>
          <p:spPr>
            <a:xfrm>
              <a:off x="2037630" y="880970"/>
              <a:ext cx="1296588"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Very small </a:t>
              </a:r>
              <a:endParaRPr lang="en-US" dirty="0"/>
            </a:p>
          </p:txBody>
        </p:sp>
        <p:sp>
          <p:nvSpPr>
            <p:cNvPr id="42" name="Rectangle 41">
              <a:extLst>
                <a:ext uri="{FF2B5EF4-FFF2-40B4-BE49-F238E27FC236}">
                  <a16:creationId xmlns:a16="http://schemas.microsoft.com/office/drawing/2014/main" id="{1DEADAA8-F9B7-4966-A207-F14D0CA7B41D}"/>
                </a:ext>
              </a:extLst>
            </p:cNvPr>
            <p:cNvSpPr/>
            <p:nvPr/>
          </p:nvSpPr>
          <p:spPr>
            <a:xfrm>
              <a:off x="3059966" y="1369639"/>
              <a:ext cx="718197"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small</a:t>
              </a:r>
              <a:endParaRPr lang="en-US" dirty="0"/>
            </a:p>
          </p:txBody>
        </p:sp>
        <p:sp>
          <p:nvSpPr>
            <p:cNvPr id="43" name="Rectangle 42">
              <a:extLst>
                <a:ext uri="{FF2B5EF4-FFF2-40B4-BE49-F238E27FC236}">
                  <a16:creationId xmlns:a16="http://schemas.microsoft.com/office/drawing/2014/main" id="{F6523200-C6E5-4C21-A0EE-5BDCA9BF1DEB}"/>
                </a:ext>
              </a:extLst>
            </p:cNvPr>
            <p:cNvSpPr/>
            <p:nvPr/>
          </p:nvSpPr>
          <p:spPr>
            <a:xfrm>
              <a:off x="3863066" y="810976"/>
              <a:ext cx="987185"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medium</a:t>
              </a:r>
              <a:endParaRPr lang="en-US" dirty="0"/>
            </a:p>
          </p:txBody>
        </p:sp>
        <p:sp>
          <p:nvSpPr>
            <p:cNvPr id="44" name="Rectangle 43">
              <a:extLst>
                <a:ext uri="{FF2B5EF4-FFF2-40B4-BE49-F238E27FC236}">
                  <a16:creationId xmlns:a16="http://schemas.microsoft.com/office/drawing/2014/main" id="{B7E09E58-7385-4296-8CC5-107E1EFF22CB}"/>
                </a:ext>
              </a:extLst>
            </p:cNvPr>
            <p:cNvSpPr/>
            <p:nvPr/>
          </p:nvSpPr>
          <p:spPr>
            <a:xfrm>
              <a:off x="5000255" y="1369639"/>
              <a:ext cx="624052"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high</a:t>
              </a:r>
              <a:endParaRPr lang="en-US" dirty="0"/>
            </a:p>
          </p:txBody>
        </p:sp>
        <p:sp>
          <p:nvSpPr>
            <p:cNvPr id="45" name="Freeform: Shape 44">
              <a:extLst>
                <a:ext uri="{FF2B5EF4-FFF2-40B4-BE49-F238E27FC236}">
                  <a16:creationId xmlns:a16="http://schemas.microsoft.com/office/drawing/2014/main" id="{0C187284-BFC2-45C0-9E59-EFA6BCEA6F1D}"/>
                </a:ext>
              </a:extLst>
            </p:cNvPr>
            <p:cNvSpPr/>
            <p:nvPr/>
          </p:nvSpPr>
          <p:spPr>
            <a:xfrm>
              <a:off x="5526835" y="1110329"/>
              <a:ext cx="1735494" cy="2071411"/>
            </a:xfrm>
            <a:custGeom>
              <a:avLst/>
              <a:gdLst>
                <a:gd name="connsiteX0" fmla="*/ 0 w 1735494"/>
                <a:gd name="connsiteY0" fmla="*/ 2071411 h 2071411"/>
                <a:gd name="connsiteX1" fmla="*/ 886408 w 1735494"/>
                <a:gd name="connsiteY1" fmla="*/ 15 h 2071411"/>
                <a:gd name="connsiteX2" fmla="*/ 1735494 w 1735494"/>
                <a:gd name="connsiteY2" fmla="*/ 2043419 h 2071411"/>
              </a:gdLst>
              <a:ahLst/>
              <a:cxnLst>
                <a:cxn ang="0">
                  <a:pos x="connsiteX0" y="connsiteY0"/>
                </a:cxn>
                <a:cxn ang="0">
                  <a:pos x="connsiteX1" y="connsiteY1"/>
                </a:cxn>
                <a:cxn ang="0">
                  <a:pos x="connsiteX2" y="connsiteY2"/>
                </a:cxn>
              </a:cxnLst>
              <a:rect l="l" t="t" r="r" b="b"/>
              <a:pathLst>
                <a:path w="1735494" h="2071411">
                  <a:moveTo>
                    <a:pt x="0" y="2071411"/>
                  </a:moveTo>
                  <a:cubicBezTo>
                    <a:pt x="298579" y="1038045"/>
                    <a:pt x="597159" y="4680"/>
                    <a:pt x="886408" y="15"/>
                  </a:cubicBezTo>
                  <a:cubicBezTo>
                    <a:pt x="1175657" y="-4650"/>
                    <a:pt x="1455575" y="1019384"/>
                    <a:pt x="1735494" y="204341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7E8D3FC7-3899-466C-95DF-614C87416C6F}"/>
                </a:ext>
              </a:extLst>
            </p:cNvPr>
            <p:cNvSpPr/>
            <p:nvPr/>
          </p:nvSpPr>
          <p:spPr>
            <a:xfrm>
              <a:off x="5797367" y="722337"/>
              <a:ext cx="1141920"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Very high</a:t>
              </a:r>
              <a:endParaRPr lang="en-US" dirty="0"/>
            </a:p>
          </p:txBody>
        </p:sp>
        <p:sp>
          <p:nvSpPr>
            <p:cNvPr id="47" name="TextBox 46">
              <a:extLst>
                <a:ext uri="{FF2B5EF4-FFF2-40B4-BE49-F238E27FC236}">
                  <a16:creationId xmlns:a16="http://schemas.microsoft.com/office/drawing/2014/main" id="{650C8CD4-2CB8-4EA8-83DD-D81FB17C61C8}"/>
                </a:ext>
              </a:extLst>
            </p:cNvPr>
            <p:cNvSpPr txBox="1"/>
            <p:nvPr/>
          </p:nvSpPr>
          <p:spPr>
            <a:xfrm>
              <a:off x="8130080" y="2941577"/>
              <a:ext cx="1690240" cy="525631"/>
            </a:xfrm>
            <a:prstGeom prst="rect">
              <a:avLst/>
            </a:prstGeom>
            <a:noFill/>
          </p:spPr>
          <p:txBody>
            <a:bodyPr wrap="square" rtlCol="0">
              <a:spAutoFit/>
            </a:bodyPr>
            <a:lstStyle/>
            <a:p>
              <a:r>
                <a:rPr lang="en-US" sz="2400" i="1" dirty="0">
                  <a:latin typeface="Times New Roman" panose="02020603050405020304" pitchFamily="18" charset="0"/>
                  <a:cs typeface="Times New Roman" panose="02020603050405020304" pitchFamily="18" charset="0"/>
                </a:rPr>
                <a:t>output</a:t>
              </a:r>
            </a:p>
          </p:txBody>
        </p:sp>
        <p:sp>
          <p:nvSpPr>
            <p:cNvPr id="48" name="TextBox 47">
              <a:extLst>
                <a:ext uri="{FF2B5EF4-FFF2-40B4-BE49-F238E27FC236}">
                  <a16:creationId xmlns:a16="http://schemas.microsoft.com/office/drawing/2014/main" id="{0C4FE18E-5114-4645-8D70-A82055C13C48}"/>
                </a:ext>
              </a:extLst>
            </p:cNvPr>
            <p:cNvSpPr txBox="1"/>
            <p:nvPr/>
          </p:nvSpPr>
          <p:spPr>
            <a:xfrm>
              <a:off x="533184" y="1679703"/>
              <a:ext cx="1849239" cy="525631"/>
            </a:xfrm>
            <a:prstGeom prst="rect">
              <a:avLst/>
            </a:prstGeom>
            <a:noFill/>
          </p:spPr>
          <p:txBody>
            <a:bodyPr wrap="square" rtlCol="0">
              <a:spAutoFit/>
            </a:bodyPr>
            <a:lstStyle/>
            <a:p>
              <a:r>
                <a:rPr lang="el-GR" sz="2400" i="1" dirty="0">
                  <a:latin typeface="Times New Roman" panose="02020603050405020304" pitchFamily="18" charset="0"/>
                  <a:cs typeface="Times New Roman" panose="02020603050405020304" pitchFamily="18" charset="0"/>
                </a:rPr>
                <a:t>μ</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output</a:t>
              </a:r>
              <a:r>
                <a:rPr lang="en-US" sz="2400" dirty="0">
                  <a:latin typeface="Times New Roman" panose="02020603050405020304" pitchFamily="18" charset="0"/>
                  <a:cs typeface="Times New Roman" panose="02020603050405020304" pitchFamily="18" charset="0"/>
                </a:rPr>
                <a:t>)</a:t>
              </a:r>
            </a:p>
          </p:txBody>
        </p:sp>
      </p:grpSp>
      <p:sp>
        <p:nvSpPr>
          <p:cNvPr id="22" name="Slide Number Placeholder 21">
            <a:extLst>
              <a:ext uri="{FF2B5EF4-FFF2-40B4-BE49-F238E27FC236}">
                <a16:creationId xmlns:a16="http://schemas.microsoft.com/office/drawing/2014/main" id="{ADBC9F57-A6D8-4FCA-9F37-D5D2F76D15D1}"/>
              </a:ext>
            </a:extLst>
          </p:cNvPr>
          <p:cNvSpPr>
            <a:spLocks noGrp="1"/>
          </p:cNvSpPr>
          <p:nvPr>
            <p:ph type="sldNum" sz="quarter" idx="12"/>
          </p:nvPr>
        </p:nvSpPr>
        <p:spPr/>
        <p:txBody>
          <a:bodyPr/>
          <a:lstStyle/>
          <a:p>
            <a:fld id="{C3F1913A-7668-436E-8561-76A60B792217}" type="slidenum">
              <a:rPr lang="en-US" smtClean="0"/>
              <a:t>62</a:t>
            </a:fld>
            <a:endParaRPr lang="en-US"/>
          </a:p>
        </p:txBody>
      </p:sp>
    </p:spTree>
    <p:extLst>
      <p:ext uri="{BB962C8B-B14F-4D97-AF65-F5344CB8AC3E}">
        <p14:creationId xmlns:p14="http://schemas.microsoft.com/office/powerpoint/2010/main" val="24363480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FDAC38-9BC8-427E-AAC7-4995FB748AB2}"/>
              </a:ext>
            </a:extLst>
          </p:cNvPr>
          <p:cNvSpPr txBox="1"/>
          <p:nvPr/>
        </p:nvSpPr>
        <p:spPr>
          <a:xfrm>
            <a:off x="905380" y="175788"/>
            <a:ext cx="10291666" cy="3293209"/>
          </a:xfrm>
          <a:prstGeom prst="rect">
            <a:avLst/>
          </a:prstGeom>
          <a:solidFill>
            <a:srgbClr val="FFCCCC"/>
          </a:solidFill>
        </p:spPr>
        <p:txBody>
          <a:bodyPr wrap="square" rtlCol="0">
            <a:spAutoFit/>
          </a:bodyPr>
          <a:lstStyle/>
          <a:p>
            <a:r>
              <a:rPr lang="en-US" sz="2800" dirty="0">
                <a:latin typeface="Times New Roman" panose="02020603050405020304" pitchFamily="18" charset="0"/>
                <a:cs typeface="Times New Roman" panose="02020603050405020304" pitchFamily="18" charset="0"/>
              </a:rPr>
              <a:t>Fuzzy rules:</a:t>
            </a:r>
          </a:p>
          <a:p>
            <a:pPr marL="342900" indent="-342900">
              <a:buAutoNum type="arabicPeriod"/>
            </a:pPr>
            <a:r>
              <a:rPr lang="en-US" sz="2000" dirty="0">
                <a:latin typeface="Times New Roman" panose="02020603050405020304" pitchFamily="18" charset="0"/>
                <a:cs typeface="Times New Roman" panose="02020603050405020304" pitchFamily="18" charset="0"/>
              </a:rPr>
              <a:t>If (distance is near) and (density is low) and (energy is very low) then (output is vey high)</a:t>
            </a:r>
          </a:p>
          <a:p>
            <a:pPr marL="342900" indent="-342900">
              <a:buFontTx/>
              <a:buAutoNum type="arabicPeriod"/>
            </a:pPr>
            <a:r>
              <a:rPr lang="en-US" sz="2000" dirty="0">
                <a:latin typeface="Times New Roman" panose="02020603050405020304" pitchFamily="18" charset="0"/>
                <a:cs typeface="Times New Roman" panose="02020603050405020304" pitchFamily="18" charset="0"/>
              </a:rPr>
              <a:t>If (distance is near) and (density is low) and (energy is low) then (output is vey high)</a:t>
            </a:r>
          </a:p>
          <a:p>
            <a:pPr marL="342900" indent="-342900">
              <a:buFontTx/>
              <a:buAutoNum type="arabicPeriod"/>
            </a:pPr>
            <a:r>
              <a:rPr lang="en-US" sz="2000" dirty="0">
                <a:latin typeface="Times New Roman" panose="02020603050405020304" pitchFamily="18" charset="0"/>
                <a:cs typeface="Times New Roman" panose="02020603050405020304" pitchFamily="18" charset="0"/>
              </a:rPr>
              <a:t>If (distance is near) and (density is low) and (energy is medium) then (output is medium)</a:t>
            </a:r>
          </a:p>
          <a:p>
            <a:pPr marL="342900" indent="-342900">
              <a:buFontTx/>
              <a:buAutoNum type="arabicPeriod"/>
            </a:pPr>
            <a:r>
              <a:rPr lang="en-US" sz="2000" dirty="0">
                <a:latin typeface="Times New Roman" panose="02020603050405020304" pitchFamily="18" charset="0"/>
                <a:cs typeface="Times New Roman" panose="02020603050405020304" pitchFamily="18" charset="0"/>
              </a:rPr>
              <a:t>If (distance is near) and (density is high) and (energy is high) then (output is small)</a:t>
            </a:r>
          </a:p>
          <a:p>
            <a:pPr marL="342900" indent="-342900">
              <a:buFontTx/>
              <a:buAutoNum type="arabicPeriod"/>
            </a:pPr>
            <a:r>
              <a:rPr lang="en-US" sz="2000" dirty="0">
                <a:latin typeface="Times New Roman" panose="02020603050405020304" pitchFamily="18" charset="0"/>
                <a:cs typeface="Times New Roman" panose="02020603050405020304" pitchFamily="18" charset="0"/>
              </a:rPr>
              <a:t>If (distance is near) and (density is high) and (energy is very high) then (output is very small)</a:t>
            </a:r>
          </a:p>
          <a:p>
            <a:r>
              <a:rPr lang="en-US" sz="2000" dirty="0">
                <a:latin typeface="Times New Roman" panose="02020603050405020304" pitchFamily="18" charset="0"/>
                <a:cs typeface="Times New Roman" panose="02020603050405020304" pitchFamily="18" charset="0"/>
              </a:rPr>
              <a:t>	…   …   …</a:t>
            </a:r>
          </a:p>
          <a:p>
            <a:r>
              <a:rPr lang="en-US" sz="2000" dirty="0">
                <a:latin typeface="Times New Roman" panose="02020603050405020304" pitchFamily="18" charset="0"/>
                <a:cs typeface="Times New Roman" panose="02020603050405020304" pitchFamily="18" charset="0"/>
              </a:rPr>
              <a:t>	…   …   …</a:t>
            </a:r>
          </a:p>
          <a:p>
            <a:r>
              <a:rPr lang="en-US" sz="2000" dirty="0">
                <a:latin typeface="Times New Roman" panose="02020603050405020304" pitchFamily="18" charset="0"/>
                <a:cs typeface="Times New Roman" panose="02020603050405020304" pitchFamily="18" charset="0"/>
              </a:rPr>
              <a:t>	…   …   …</a:t>
            </a:r>
          </a:p>
          <a:p>
            <a:r>
              <a:rPr lang="en-US" sz="2000" dirty="0">
                <a:latin typeface="Times New Roman" panose="02020603050405020304" pitchFamily="18" charset="0"/>
                <a:cs typeface="Times New Roman" panose="02020603050405020304" pitchFamily="18" charset="0"/>
              </a:rPr>
              <a:t>etc.</a:t>
            </a:r>
          </a:p>
        </p:txBody>
      </p:sp>
      <p:sp>
        <p:nvSpPr>
          <p:cNvPr id="6" name="TextBox 5">
            <a:extLst>
              <a:ext uri="{FF2B5EF4-FFF2-40B4-BE49-F238E27FC236}">
                <a16:creationId xmlns:a16="http://schemas.microsoft.com/office/drawing/2014/main" id="{098AA917-FA60-4248-B743-21DFC3B119A7}"/>
              </a:ext>
            </a:extLst>
          </p:cNvPr>
          <p:cNvSpPr txBox="1"/>
          <p:nvPr/>
        </p:nvSpPr>
        <p:spPr>
          <a:xfrm>
            <a:off x="180392" y="3429000"/>
            <a:ext cx="11741642" cy="3416320"/>
          </a:xfrm>
          <a:prstGeom prst="rect">
            <a:avLst/>
          </a:prstGeom>
          <a:solidFill>
            <a:srgbClr val="CCECFF"/>
          </a:solidFill>
        </p:spPr>
        <p:txBody>
          <a:bodyPr wrap="square" rtlCol="0">
            <a:spAutoFit/>
          </a:bodyPr>
          <a:lstStyle/>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Based on FIS output, a timer is activated on each node and starts countdown. When timer reaches zero the node sends its message to the BS as the candidate of CH. Better node send its message quicker and avoid collision with other nodes. The BS selects the better candidate (based on receiving instant of message) nodes as the CH.</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Next, the genetic algorithm of previous model can be applied to select the appropriate CHs (CHs of appropriate location) in real network so that minimum energy (uniform cluster with shorted mean length between members and CH of a cluster) with be used for communication.  </a:t>
            </a:r>
          </a:p>
        </p:txBody>
      </p:sp>
      <p:sp>
        <p:nvSpPr>
          <p:cNvPr id="7" name="Slide Number Placeholder 6">
            <a:extLst>
              <a:ext uri="{FF2B5EF4-FFF2-40B4-BE49-F238E27FC236}">
                <a16:creationId xmlns:a16="http://schemas.microsoft.com/office/drawing/2014/main" id="{DF970B9D-9838-4C55-B457-5901DB439E1F}"/>
              </a:ext>
            </a:extLst>
          </p:cNvPr>
          <p:cNvSpPr>
            <a:spLocks noGrp="1"/>
          </p:cNvSpPr>
          <p:nvPr>
            <p:ph type="sldNum" sz="quarter" idx="12"/>
          </p:nvPr>
        </p:nvSpPr>
        <p:spPr/>
        <p:txBody>
          <a:bodyPr/>
          <a:lstStyle/>
          <a:p>
            <a:fld id="{C3F1913A-7668-436E-8561-76A60B792217}" type="slidenum">
              <a:rPr lang="en-US" smtClean="0"/>
              <a:t>63</a:t>
            </a:fld>
            <a:endParaRPr lang="en-US"/>
          </a:p>
        </p:txBody>
      </p:sp>
    </p:spTree>
    <p:extLst>
      <p:ext uri="{BB962C8B-B14F-4D97-AF65-F5344CB8AC3E}">
        <p14:creationId xmlns:p14="http://schemas.microsoft.com/office/powerpoint/2010/main" val="4022999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62D6E76-F83B-47B4-870F-8E7C7BCC3D13}"/>
              </a:ext>
            </a:extLst>
          </p:cNvPr>
          <p:cNvSpPr txBox="1"/>
          <p:nvPr/>
        </p:nvSpPr>
        <p:spPr>
          <a:xfrm>
            <a:off x="301689" y="901840"/>
            <a:ext cx="11588622" cy="3785652"/>
          </a:xfrm>
          <a:prstGeom prst="rect">
            <a:avLst/>
          </a:prstGeom>
          <a:noFill/>
        </p:spPr>
        <p:txBody>
          <a:bodyPr wrap="square" rtlCol="0">
            <a:spAutoFit/>
          </a:bodyPr>
          <a:lstStyle/>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Three types of nodes are deployed in WSN: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Anchor nodes are equipped with GPS device or location is known during deployment time (ii) normal node are randomly deployed in sensing field and their location is determined with help of anchor nodes (iii) base station, located far way form sensing filed and collect information from sensing nodes.</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The maximum communication range is </a:t>
            </a:r>
            <a:r>
              <a:rPr lang="en-US" sz="2000" i="1" dirty="0" err="1">
                <a:latin typeface="Times New Roman" panose="02020603050405020304" pitchFamily="18" charset="0"/>
                <a:cs typeface="Times New Roman" panose="02020603050405020304" pitchFamily="18" charset="0"/>
              </a:rPr>
              <a:t>r</a:t>
            </a:r>
            <a:r>
              <a:rPr lang="en-US" sz="2000" i="1" baseline="-25000" dirty="0" err="1">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 and sensing range is </a:t>
            </a:r>
            <a:r>
              <a:rPr lang="en-US" sz="2000" i="1" dirty="0" err="1">
                <a:latin typeface="Times New Roman" panose="02020603050405020304" pitchFamily="18" charset="0"/>
                <a:cs typeface="Times New Roman" panose="02020603050405020304" pitchFamily="18" charset="0"/>
              </a:rPr>
              <a:t>r</a:t>
            </a:r>
            <a:r>
              <a:rPr lang="en-US" sz="2000" i="1" baseline="-25000" dirty="0" err="1">
                <a:latin typeface="Times New Roman" panose="02020603050405020304" pitchFamily="18" charset="0"/>
                <a:cs typeface="Times New Roman" panose="02020603050405020304" pitchFamily="18" charset="0"/>
              </a:rPr>
              <a:t>s</a:t>
            </a:r>
            <a:r>
              <a:rPr lang="en-US" sz="2000" dirty="0">
                <a:latin typeface="Times New Roman" panose="02020603050405020304" pitchFamily="18" charset="0"/>
                <a:cs typeface="Times New Roman" panose="02020603050405020304" pitchFamily="18" charset="0"/>
              </a:rPr>
              <a:t>, where </a:t>
            </a:r>
            <a:r>
              <a:rPr lang="en-US" sz="2000" i="1" dirty="0" err="1">
                <a:latin typeface="Times New Roman" panose="02020603050405020304" pitchFamily="18" charset="0"/>
                <a:cs typeface="Times New Roman" panose="02020603050405020304" pitchFamily="18" charset="0"/>
              </a:rPr>
              <a:t>r</a:t>
            </a:r>
            <a:r>
              <a:rPr lang="en-US" sz="2000" i="1" baseline="-25000" dirty="0" err="1">
                <a:latin typeface="Times New Roman" panose="02020603050405020304" pitchFamily="18" charset="0"/>
                <a:cs typeface="Times New Roman" panose="02020603050405020304" pitchFamily="18" charset="0"/>
              </a:rPr>
              <a:t>c</a:t>
            </a:r>
            <a:r>
              <a:rPr lang="en-US" sz="2000" i="1" baseline="-25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&lt; </a:t>
            </a:r>
            <a:r>
              <a:rPr lang="en-US" sz="2000" i="1" dirty="0" err="1">
                <a:latin typeface="Times New Roman" panose="02020603050405020304" pitchFamily="18" charset="0"/>
                <a:cs typeface="Times New Roman" panose="02020603050405020304" pitchFamily="18" charset="0"/>
              </a:rPr>
              <a:t>r</a:t>
            </a:r>
            <a:r>
              <a:rPr lang="en-US" sz="2000" i="1" baseline="-25000" dirty="0" err="1">
                <a:latin typeface="Times New Roman" panose="02020603050405020304" pitchFamily="18" charset="0"/>
                <a:cs typeface="Times New Roman" panose="02020603050405020304" pitchFamily="18" charset="0"/>
              </a:rPr>
              <a:t>s</a:t>
            </a:r>
            <a:r>
              <a:rPr lang="en-US" sz="2000" dirty="0">
                <a:latin typeface="Times New Roman" panose="02020603050405020304" pitchFamily="18" charset="0"/>
                <a:cs typeface="Times New Roman" panose="02020603050405020304" pitchFamily="18" charset="0"/>
              </a:rPr>
              <a:t>. </a:t>
            </a:r>
          </a:p>
          <a:p>
            <a:pPr marL="342900" indent="-342900" algn="just">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Fuzzy rules:</a:t>
            </a:r>
          </a:p>
          <a:p>
            <a:pPr algn="just"/>
            <a:r>
              <a:rPr lang="en-US" sz="2000" dirty="0">
                <a:latin typeface="Times New Roman" panose="02020603050405020304" pitchFamily="18" charset="0"/>
                <a:cs typeface="Times New Roman" panose="02020603050405020304" pitchFamily="18" charset="0"/>
              </a:rPr>
              <a:t>	Rule-1: If RSS is </a:t>
            </a:r>
            <a:r>
              <a:rPr lang="en-US" sz="2000" dirty="0">
                <a:solidFill>
                  <a:srgbClr val="FF0000"/>
                </a:solidFill>
                <a:latin typeface="Times New Roman" panose="02020603050405020304" pitchFamily="18" charset="0"/>
                <a:cs typeface="Times New Roman" panose="02020603050405020304" pitchFamily="18" charset="0"/>
              </a:rPr>
              <a:t>Very strong </a:t>
            </a:r>
            <a:r>
              <a:rPr lang="en-US" sz="2000" dirty="0">
                <a:latin typeface="Times New Roman" panose="02020603050405020304" pitchFamily="18" charset="0"/>
                <a:cs typeface="Times New Roman" panose="02020603050405020304" pitchFamily="18" charset="0"/>
              </a:rPr>
              <a:t>then distance is </a:t>
            </a:r>
            <a:r>
              <a:rPr lang="en-US" sz="2000" dirty="0">
                <a:solidFill>
                  <a:srgbClr val="FF0000"/>
                </a:solidFill>
                <a:latin typeface="Times New Roman" panose="02020603050405020304" pitchFamily="18" charset="0"/>
                <a:cs typeface="Times New Roman" panose="02020603050405020304" pitchFamily="18" charset="0"/>
              </a:rPr>
              <a:t>Very near </a:t>
            </a:r>
          </a:p>
          <a:p>
            <a:pPr algn="just"/>
            <a:r>
              <a:rPr lang="en-US" sz="2000" dirty="0">
                <a:solidFill>
                  <a:srgbClr val="FF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Rule-2: If RSS is </a:t>
            </a:r>
            <a:r>
              <a:rPr lang="en-US" sz="2000" dirty="0">
                <a:solidFill>
                  <a:srgbClr val="FF0000"/>
                </a:solidFill>
                <a:latin typeface="Times New Roman" panose="02020603050405020304" pitchFamily="18" charset="0"/>
                <a:cs typeface="Times New Roman" panose="02020603050405020304" pitchFamily="18" charset="0"/>
              </a:rPr>
              <a:t>Strong </a:t>
            </a:r>
            <a:r>
              <a:rPr lang="en-US" sz="2000" dirty="0">
                <a:latin typeface="Times New Roman" panose="02020603050405020304" pitchFamily="18" charset="0"/>
                <a:cs typeface="Times New Roman" panose="02020603050405020304" pitchFamily="18" charset="0"/>
              </a:rPr>
              <a:t>then distance is </a:t>
            </a:r>
            <a:r>
              <a:rPr lang="en-US" sz="2000" dirty="0">
                <a:solidFill>
                  <a:srgbClr val="FF0000"/>
                </a:solidFill>
                <a:latin typeface="Times New Roman" panose="02020603050405020304" pitchFamily="18" charset="0"/>
                <a:cs typeface="Times New Roman" panose="02020603050405020304" pitchFamily="18" charset="0"/>
              </a:rPr>
              <a:t>Near </a:t>
            </a:r>
          </a:p>
          <a:p>
            <a:pPr algn="just"/>
            <a:r>
              <a:rPr lang="en-US" sz="2000" dirty="0">
                <a:solidFill>
                  <a:srgbClr val="FF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Rule-3: If RSS is </a:t>
            </a:r>
            <a:r>
              <a:rPr lang="en-US" sz="2000" dirty="0">
                <a:solidFill>
                  <a:srgbClr val="FF0000"/>
                </a:solidFill>
                <a:latin typeface="Times New Roman" panose="02020603050405020304" pitchFamily="18" charset="0"/>
                <a:cs typeface="Times New Roman" panose="02020603050405020304" pitchFamily="18" charset="0"/>
              </a:rPr>
              <a:t>Moderate </a:t>
            </a:r>
            <a:r>
              <a:rPr lang="en-US" sz="2000" dirty="0">
                <a:latin typeface="Times New Roman" panose="02020603050405020304" pitchFamily="18" charset="0"/>
                <a:cs typeface="Times New Roman" panose="02020603050405020304" pitchFamily="18" charset="0"/>
              </a:rPr>
              <a:t>then distance is </a:t>
            </a:r>
            <a:r>
              <a:rPr lang="en-US" sz="2000" dirty="0">
                <a:solidFill>
                  <a:srgbClr val="FF0000"/>
                </a:solidFill>
                <a:latin typeface="Times New Roman" panose="02020603050405020304" pitchFamily="18" charset="0"/>
                <a:cs typeface="Times New Roman" panose="02020603050405020304" pitchFamily="18" charset="0"/>
              </a:rPr>
              <a:t>Moderate</a:t>
            </a:r>
          </a:p>
          <a:p>
            <a:pPr algn="just"/>
            <a:r>
              <a:rPr lang="en-US" sz="2000" dirty="0">
                <a:latin typeface="Times New Roman" panose="02020603050405020304" pitchFamily="18" charset="0"/>
                <a:cs typeface="Times New Roman" panose="02020603050405020304" pitchFamily="18" charset="0"/>
              </a:rPr>
              <a:t>	Rule-4: If RSS is </a:t>
            </a:r>
            <a:r>
              <a:rPr lang="en-US" sz="2000" dirty="0">
                <a:solidFill>
                  <a:srgbClr val="FF0000"/>
                </a:solidFill>
                <a:latin typeface="Times New Roman" panose="02020603050405020304" pitchFamily="18" charset="0"/>
                <a:cs typeface="Times New Roman" panose="02020603050405020304" pitchFamily="18" charset="0"/>
              </a:rPr>
              <a:t>Weak </a:t>
            </a:r>
            <a:r>
              <a:rPr lang="en-US" sz="2000" dirty="0">
                <a:latin typeface="Times New Roman" panose="02020603050405020304" pitchFamily="18" charset="0"/>
                <a:cs typeface="Times New Roman" panose="02020603050405020304" pitchFamily="18" charset="0"/>
              </a:rPr>
              <a:t>then distance is </a:t>
            </a:r>
            <a:r>
              <a:rPr lang="en-US" sz="2000" dirty="0">
                <a:solidFill>
                  <a:srgbClr val="FF0000"/>
                </a:solidFill>
                <a:latin typeface="Times New Roman" panose="02020603050405020304" pitchFamily="18" charset="0"/>
                <a:cs typeface="Times New Roman" panose="02020603050405020304" pitchFamily="18" charset="0"/>
              </a:rPr>
              <a:t>Far</a:t>
            </a:r>
          </a:p>
          <a:p>
            <a:pPr algn="just"/>
            <a:r>
              <a:rPr lang="en-US" sz="2000" dirty="0">
                <a:solidFill>
                  <a:srgbClr val="FF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Rule-5: If RSS is </a:t>
            </a:r>
            <a:r>
              <a:rPr lang="en-US" sz="2000" dirty="0">
                <a:solidFill>
                  <a:srgbClr val="FF0000"/>
                </a:solidFill>
                <a:latin typeface="Times New Roman" panose="02020603050405020304" pitchFamily="18" charset="0"/>
                <a:cs typeface="Times New Roman" panose="02020603050405020304" pitchFamily="18" charset="0"/>
              </a:rPr>
              <a:t>Very Weak </a:t>
            </a:r>
            <a:r>
              <a:rPr lang="en-US" sz="2000" dirty="0">
                <a:latin typeface="Times New Roman" panose="02020603050405020304" pitchFamily="18" charset="0"/>
                <a:cs typeface="Times New Roman" panose="02020603050405020304" pitchFamily="18" charset="0"/>
              </a:rPr>
              <a:t>then distance is </a:t>
            </a:r>
            <a:r>
              <a:rPr lang="en-US" sz="2000" dirty="0">
                <a:solidFill>
                  <a:srgbClr val="FF0000"/>
                </a:solidFill>
                <a:latin typeface="Times New Roman" panose="02020603050405020304" pitchFamily="18" charset="0"/>
                <a:cs typeface="Times New Roman" panose="02020603050405020304" pitchFamily="18" charset="0"/>
              </a:rPr>
              <a:t>Very Far</a:t>
            </a:r>
          </a:p>
        </p:txBody>
      </p:sp>
      <p:sp>
        <p:nvSpPr>
          <p:cNvPr id="6" name="TextBox 5">
            <a:extLst>
              <a:ext uri="{FF2B5EF4-FFF2-40B4-BE49-F238E27FC236}">
                <a16:creationId xmlns:a16="http://schemas.microsoft.com/office/drawing/2014/main" id="{4BA90548-405A-487B-9A23-2BD86791679C}"/>
              </a:ext>
            </a:extLst>
          </p:cNvPr>
          <p:cNvSpPr txBox="1"/>
          <p:nvPr/>
        </p:nvSpPr>
        <p:spPr>
          <a:xfrm>
            <a:off x="376335" y="5341074"/>
            <a:ext cx="4935894" cy="523220"/>
          </a:xfrm>
          <a:prstGeom prst="rect">
            <a:avLst/>
          </a:prstGeom>
          <a:solidFill>
            <a:srgbClr val="FFC000"/>
          </a:solidFill>
        </p:spPr>
        <p:txBody>
          <a:bodyPr wrap="square" rtlCol="0">
            <a:spAutoFit/>
          </a:bodyPr>
          <a:lstStyle/>
          <a:p>
            <a:r>
              <a:rPr lang="en-US" sz="2800" dirty="0">
                <a:latin typeface="Times New Roman" panose="02020603050405020304" pitchFamily="18" charset="0"/>
                <a:cs typeface="Times New Roman" panose="02020603050405020304" pitchFamily="18" charset="0"/>
              </a:rPr>
              <a:t>RSS → Received signal strength</a:t>
            </a:r>
          </a:p>
        </p:txBody>
      </p:sp>
      <p:grpSp>
        <p:nvGrpSpPr>
          <p:cNvPr id="23" name="Group 22">
            <a:extLst>
              <a:ext uri="{FF2B5EF4-FFF2-40B4-BE49-F238E27FC236}">
                <a16:creationId xmlns:a16="http://schemas.microsoft.com/office/drawing/2014/main" id="{F6D8EF70-BDE7-42D7-90C2-77928637A55E}"/>
              </a:ext>
            </a:extLst>
          </p:cNvPr>
          <p:cNvGrpSpPr/>
          <p:nvPr/>
        </p:nvGrpSpPr>
        <p:grpSpPr>
          <a:xfrm>
            <a:off x="8509520" y="2963247"/>
            <a:ext cx="3245496" cy="3575665"/>
            <a:chOff x="8509520" y="2963247"/>
            <a:chExt cx="3245496" cy="3575665"/>
          </a:xfrm>
        </p:grpSpPr>
        <p:sp>
          <p:nvSpPr>
            <p:cNvPr id="7" name="Oval 6">
              <a:extLst>
                <a:ext uri="{FF2B5EF4-FFF2-40B4-BE49-F238E27FC236}">
                  <a16:creationId xmlns:a16="http://schemas.microsoft.com/office/drawing/2014/main" id="{A2847403-4F92-4323-AB70-2FF0BCCDCFA9}"/>
                </a:ext>
              </a:extLst>
            </p:cNvPr>
            <p:cNvSpPr/>
            <p:nvPr/>
          </p:nvSpPr>
          <p:spPr>
            <a:xfrm>
              <a:off x="8714792" y="3429000"/>
              <a:ext cx="251926" cy="247261"/>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998385E-0AF0-4C11-9B2B-B8F40C907308}"/>
                </a:ext>
              </a:extLst>
            </p:cNvPr>
            <p:cNvSpPr/>
            <p:nvPr/>
          </p:nvSpPr>
          <p:spPr>
            <a:xfrm>
              <a:off x="9881119" y="3210508"/>
              <a:ext cx="251926" cy="247261"/>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FFFD7F45-BDC8-4CB0-9A99-A90F02A094FE}"/>
                </a:ext>
              </a:extLst>
            </p:cNvPr>
            <p:cNvSpPr/>
            <p:nvPr/>
          </p:nvSpPr>
          <p:spPr>
            <a:xfrm>
              <a:off x="8714792" y="4553339"/>
              <a:ext cx="251926" cy="247261"/>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FD1213D-BF17-4BBB-B8F5-91DD7C5AC4E7}"/>
                </a:ext>
              </a:extLst>
            </p:cNvPr>
            <p:cNvSpPr/>
            <p:nvPr/>
          </p:nvSpPr>
          <p:spPr>
            <a:xfrm>
              <a:off x="10795520" y="3339580"/>
              <a:ext cx="251926" cy="247261"/>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125227B-02A7-4918-BDA1-B6DAE58C4FDA}"/>
                </a:ext>
              </a:extLst>
            </p:cNvPr>
            <p:cNvSpPr/>
            <p:nvPr/>
          </p:nvSpPr>
          <p:spPr>
            <a:xfrm>
              <a:off x="9503229" y="2963247"/>
              <a:ext cx="251926" cy="247261"/>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93EDB6D-DC60-49C7-BD3E-3E2E2875B8B6}"/>
                </a:ext>
              </a:extLst>
            </p:cNvPr>
            <p:cNvSpPr/>
            <p:nvPr/>
          </p:nvSpPr>
          <p:spPr>
            <a:xfrm>
              <a:off x="9251303" y="3810388"/>
              <a:ext cx="251926" cy="247261"/>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F2482D4-28EA-466F-A99A-7C6D0D08508E}"/>
                </a:ext>
              </a:extLst>
            </p:cNvPr>
            <p:cNvSpPr/>
            <p:nvPr/>
          </p:nvSpPr>
          <p:spPr>
            <a:xfrm>
              <a:off x="10490718" y="4126167"/>
              <a:ext cx="251926" cy="247261"/>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FBABB25-81C9-40F9-AB0D-90DC6DFD2984}"/>
                </a:ext>
              </a:extLst>
            </p:cNvPr>
            <p:cNvSpPr/>
            <p:nvPr/>
          </p:nvSpPr>
          <p:spPr>
            <a:xfrm>
              <a:off x="8509520" y="5601318"/>
              <a:ext cx="251926" cy="247261"/>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F01A62AF-27D1-4BD5-B09F-A208F7C545AD}"/>
                </a:ext>
              </a:extLst>
            </p:cNvPr>
            <p:cNvSpPr/>
            <p:nvPr/>
          </p:nvSpPr>
          <p:spPr>
            <a:xfrm>
              <a:off x="9503229" y="5679160"/>
              <a:ext cx="251926" cy="247261"/>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8E43A03-EAAC-4A55-9B4C-866245A4238B}"/>
                </a:ext>
              </a:extLst>
            </p:cNvPr>
            <p:cNvSpPr/>
            <p:nvPr/>
          </p:nvSpPr>
          <p:spPr>
            <a:xfrm>
              <a:off x="9963539" y="4429708"/>
              <a:ext cx="251926" cy="247261"/>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E80A9C2-5D84-4142-A097-643A8857727E}"/>
                </a:ext>
              </a:extLst>
            </p:cNvPr>
            <p:cNvSpPr/>
            <p:nvPr/>
          </p:nvSpPr>
          <p:spPr>
            <a:xfrm>
              <a:off x="11036560" y="4897607"/>
              <a:ext cx="251926" cy="247261"/>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6FBB2AB0-BA8C-4175-90FA-42AA7BB24C02}"/>
                </a:ext>
              </a:extLst>
            </p:cNvPr>
            <p:cNvSpPr/>
            <p:nvPr/>
          </p:nvSpPr>
          <p:spPr>
            <a:xfrm>
              <a:off x="10089502" y="3676261"/>
              <a:ext cx="401216" cy="327939"/>
            </a:xfrm>
            <a:prstGeom prst="triangl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43BFCD42-3AFF-4647-89FF-E81BAD0D085B}"/>
                </a:ext>
              </a:extLst>
            </p:cNvPr>
            <p:cNvSpPr/>
            <p:nvPr/>
          </p:nvSpPr>
          <p:spPr>
            <a:xfrm>
              <a:off x="9266853" y="4816929"/>
              <a:ext cx="401216" cy="327939"/>
            </a:xfrm>
            <a:prstGeom prst="triangl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555E4148-AC9B-44D1-AF13-DDE6CE5B123A}"/>
                </a:ext>
              </a:extLst>
            </p:cNvPr>
            <p:cNvSpPr/>
            <p:nvPr/>
          </p:nvSpPr>
          <p:spPr>
            <a:xfrm>
              <a:off x="10213909" y="5035421"/>
              <a:ext cx="401216" cy="327939"/>
            </a:xfrm>
            <a:prstGeom prst="triangl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105742A8-F48F-4201-8450-28A8CE305851}"/>
                </a:ext>
              </a:extLst>
            </p:cNvPr>
            <p:cNvSpPr/>
            <p:nvPr/>
          </p:nvSpPr>
          <p:spPr>
            <a:xfrm>
              <a:off x="11353800" y="4265738"/>
              <a:ext cx="401216" cy="327939"/>
            </a:xfrm>
            <a:prstGeom prst="triangl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rapezoid 21">
              <a:extLst>
                <a:ext uri="{FF2B5EF4-FFF2-40B4-BE49-F238E27FC236}">
                  <a16:creationId xmlns:a16="http://schemas.microsoft.com/office/drawing/2014/main" id="{C0915964-C5EC-4B8E-B746-845401300D8C}"/>
                </a:ext>
              </a:extLst>
            </p:cNvPr>
            <p:cNvSpPr/>
            <p:nvPr/>
          </p:nvSpPr>
          <p:spPr>
            <a:xfrm>
              <a:off x="8867189" y="6070752"/>
              <a:ext cx="530291" cy="468160"/>
            </a:xfrm>
            <a:prstGeom prst="trapezoid">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2" name="Group 31">
            <a:extLst>
              <a:ext uri="{FF2B5EF4-FFF2-40B4-BE49-F238E27FC236}">
                <a16:creationId xmlns:a16="http://schemas.microsoft.com/office/drawing/2014/main" id="{E96B2FD0-1142-498A-85A2-BA7FD4FAEAEE}"/>
              </a:ext>
            </a:extLst>
          </p:cNvPr>
          <p:cNvGrpSpPr/>
          <p:nvPr/>
        </p:nvGrpSpPr>
        <p:grpSpPr>
          <a:xfrm>
            <a:off x="376335" y="5926421"/>
            <a:ext cx="5275029" cy="916828"/>
            <a:chOff x="136726" y="5758376"/>
            <a:chExt cx="5275029" cy="916828"/>
          </a:xfrm>
        </p:grpSpPr>
        <p:sp>
          <p:nvSpPr>
            <p:cNvPr id="24" name="Isosceles Triangle 23">
              <a:extLst>
                <a:ext uri="{FF2B5EF4-FFF2-40B4-BE49-F238E27FC236}">
                  <a16:creationId xmlns:a16="http://schemas.microsoft.com/office/drawing/2014/main" id="{C06B0E68-EFDE-494A-8D8F-BE5B2F104768}"/>
                </a:ext>
              </a:extLst>
            </p:cNvPr>
            <p:cNvSpPr/>
            <p:nvPr/>
          </p:nvSpPr>
          <p:spPr>
            <a:xfrm>
              <a:off x="2257231" y="5806739"/>
              <a:ext cx="401216" cy="327939"/>
            </a:xfrm>
            <a:prstGeom prst="triangl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F1FF74CF-3DAE-445A-8FE5-D27845E0F264}"/>
                </a:ext>
              </a:extLst>
            </p:cNvPr>
            <p:cNvSpPr/>
            <p:nvPr/>
          </p:nvSpPr>
          <p:spPr>
            <a:xfrm>
              <a:off x="491420" y="5887417"/>
              <a:ext cx="251926" cy="247261"/>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rapezoid 27">
              <a:extLst>
                <a:ext uri="{FF2B5EF4-FFF2-40B4-BE49-F238E27FC236}">
                  <a16:creationId xmlns:a16="http://schemas.microsoft.com/office/drawing/2014/main" id="{3EE11D25-4CE8-42BB-9CF5-78964ABA5A53}"/>
                </a:ext>
              </a:extLst>
            </p:cNvPr>
            <p:cNvSpPr/>
            <p:nvPr/>
          </p:nvSpPr>
          <p:spPr>
            <a:xfrm>
              <a:off x="4414159" y="5758376"/>
              <a:ext cx="530291" cy="468160"/>
            </a:xfrm>
            <a:prstGeom prst="trapezoid">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47F6CF0-2DCC-4036-91A6-0B8831786CC5}"/>
                </a:ext>
              </a:extLst>
            </p:cNvPr>
            <p:cNvSpPr/>
            <p:nvPr/>
          </p:nvSpPr>
          <p:spPr>
            <a:xfrm>
              <a:off x="136726" y="6226536"/>
              <a:ext cx="1454244"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Normal node </a:t>
              </a:r>
              <a:endParaRPr lang="en-US" dirty="0"/>
            </a:p>
          </p:txBody>
        </p:sp>
        <p:sp>
          <p:nvSpPr>
            <p:cNvPr id="30" name="Rectangle 29">
              <a:extLst>
                <a:ext uri="{FF2B5EF4-FFF2-40B4-BE49-F238E27FC236}">
                  <a16:creationId xmlns:a16="http://schemas.microsoft.com/office/drawing/2014/main" id="{26008259-34A1-404A-96A3-E0ED9D2F909C}"/>
                </a:ext>
              </a:extLst>
            </p:cNvPr>
            <p:cNvSpPr/>
            <p:nvPr/>
          </p:nvSpPr>
          <p:spPr>
            <a:xfrm>
              <a:off x="1692245" y="6305872"/>
              <a:ext cx="1531188"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Anchor nodes </a:t>
              </a:r>
              <a:endParaRPr lang="en-US" dirty="0"/>
            </a:p>
          </p:txBody>
        </p:sp>
        <p:sp>
          <p:nvSpPr>
            <p:cNvPr id="31" name="TextBox 30">
              <a:extLst>
                <a:ext uri="{FF2B5EF4-FFF2-40B4-BE49-F238E27FC236}">
                  <a16:creationId xmlns:a16="http://schemas.microsoft.com/office/drawing/2014/main" id="{29AA5D70-E634-4192-A2E2-BF5A199F39DA}"/>
                </a:ext>
              </a:extLst>
            </p:cNvPr>
            <p:cNvSpPr txBox="1"/>
            <p:nvPr/>
          </p:nvSpPr>
          <p:spPr>
            <a:xfrm>
              <a:off x="4041065" y="6293654"/>
              <a:ext cx="137069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Base station</a:t>
              </a:r>
            </a:p>
          </p:txBody>
        </p:sp>
      </p:grpSp>
      <p:sp>
        <p:nvSpPr>
          <p:cNvPr id="33" name="TextBox 32">
            <a:extLst>
              <a:ext uri="{FF2B5EF4-FFF2-40B4-BE49-F238E27FC236}">
                <a16:creationId xmlns:a16="http://schemas.microsoft.com/office/drawing/2014/main" id="{FB1DBF14-E009-49BE-89F4-B96E697700EB}"/>
              </a:ext>
            </a:extLst>
          </p:cNvPr>
          <p:cNvSpPr txBox="1"/>
          <p:nvPr/>
        </p:nvSpPr>
        <p:spPr>
          <a:xfrm>
            <a:off x="553910" y="119946"/>
            <a:ext cx="5747657" cy="584775"/>
          </a:xfrm>
          <a:prstGeom prst="rect">
            <a:avLst/>
          </a:prstGeom>
          <a:solidFill>
            <a:srgbClr val="00B0F0"/>
          </a:solidFill>
        </p:spPr>
        <p:txBody>
          <a:bodyPr wrap="square" rtlCol="0">
            <a:spAutoFit/>
          </a:bodyPr>
          <a:lstStyle/>
          <a:p>
            <a:r>
              <a:rPr lang="en-US" sz="3200" dirty="0">
                <a:highlight>
                  <a:srgbClr val="FFFF00"/>
                </a:highlight>
                <a:latin typeface="Times New Roman" panose="02020603050405020304" pitchFamily="18" charset="0"/>
                <a:cs typeface="Times New Roman" panose="02020603050405020304" pitchFamily="18" charset="0"/>
              </a:rPr>
              <a:t>Fuzzy Node Localization in WSN</a:t>
            </a:r>
          </a:p>
        </p:txBody>
      </p:sp>
      <p:sp>
        <p:nvSpPr>
          <p:cNvPr id="26" name="Slide Number Placeholder 25">
            <a:extLst>
              <a:ext uri="{FF2B5EF4-FFF2-40B4-BE49-F238E27FC236}">
                <a16:creationId xmlns:a16="http://schemas.microsoft.com/office/drawing/2014/main" id="{17F34291-69E0-4A6F-9B7D-B2294DD43F64}"/>
              </a:ext>
            </a:extLst>
          </p:cNvPr>
          <p:cNvSpPr>
            <a:spLocks noGrp="1"/>
          </p:cNvSpPr>
          <p:nvPr>
            <p:ph type="sldNum" sz="quarter" idx="12"/>
          </p:nvPr>
        </p:nvSpPr>
        <p:spPr/>
        <p:txBody>
          <a:bodyPr/>
          <a:lstStyle/>
          <a:p>
            <a:fld id="{C3F1913A-7668-436E-8561-76A60B792217}" type="slidenum">
              <a:rPr lang="en-US" smtClean="0"/>
              <a:t>64</a:t>
            </a:fld>
            <a:endParaRPr lang="en-US"/>
          </a:p>
        </p:txBody>
      </p:sp>
    </p:spTree>
    <p:extLst>
      <p:ext uri="{BB962C8B-B14F-4D97-AF65-F5344CB8AC3E}">
        <p14:creationId xmlns:p14="http://schemas.microsoft.com/office/powerpoint/2010/main" val="9392712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0D6BB9A8-3E5D-4689-8FD1-DE530CB7242A}"/>
              </a:ext>
            </a:extLst>
          </p:cNvPr>
          <p:cNvGrpSpPr/>
          <p:nvPr/>
        </p:nvGrpSpPr>
        <p:grpSpPr>
          <a:xfrm>
            <a:off x="404340" y="153404"/>
            <a:ext cx="7366505" cy="3097763"/>
            <a:chOff x="1244095" y="597159"/>
            <a:chExt cx="7725732" cy="3526972"/>
          </a:xfrm>
        </p:grpSpPr>
        <p:cxnSp>
          <p:nvCxnSpPr>
            <p:cNvPr id="6" name="Straight Arrow Connector 5">
              <a:extLst>
                <a:ext uri="{FF2B5EF4-FFF2-40B4-BE49-F238E27FC236}">
                  <a16:creationId xmlns:a16="http://schemas.microsoft.com/office/drawing/2014/main" id="{A5305DC7-816A-4703-AD9A-E22E00DB5430}"/>
                </a:ext>
              </a:extLst>
            </p:cNvPr>
            <p:cNvCxnSpPr>
              <a:cxnSpLocks/>
            </p:cNvCxnSpPr>
            <p:nvPr/>
          </p:nvCxnSpPr>
          <p:spPr>
            <a:xfrm flipV="1">
              <a:off x="2258008" y="3172410"/>
              <a:ext cx="5756988" cy="93304"/>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6AC0FC4-321E-4D0E-A9C5-A88E4816ACE5}"/>
                </a:ext>
              </a:extLst>
            </p:cNvPr>
            <p:cNvCxnSpPr/>
            <p:nvPr/>
          </p:nvCxnSpPr>
          <p:spPr>
            <a:xfrm flipV="1">
              <a:off x="2575249" y="597159"/>
              <a:ext cx="0" cy="3526972"/>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2" name="Freeform: Shape 11">
              <a:extLst>
                <a:ext uri="{FF2B5EF4-FFF2-40B4-BE49-F238E27FC236}">
                  <a16:creationId xmlns:a16="http://schemas.microsoft.com/office/drawing/2014/main" id="{5BC1EA63-97A1-4C54-9482-F0F8127FCD22}"/>
                </a:ext>
              </a:extLst>
            </p:cNvPr>
            <p:cNvSpPr/>
            <p:nvPr/>
          </p:nvSpPr>
          <p:spPr>
            <a:xfrm>
              <a:off x="2575249" y="1184973"/>
              <a:ext cx="1735487" cy="2080741"/>
            </a:xfrm>
            <a:custGeom>
              <a:avLst/>
              <a:gdLst>
                <a:gd name="connsiteX0" fmla="*/ 0 w 1735494"/>
                <a:gd name="connsiteY0" fmla="*/ 2071411 h 2071411"/>
                <a:gd name="connsiteX1" fmla="*/ 886408 w 1735494"/>
                <a:gd name="connsiteY1" fmla="*/ 15 h 2071411"/>
                <a:gd name="connsiteX2" fmla="*/ 1735494 w 1735494"/>
                <a:gd name="connsiteY2" fmla="*/ 2043419 h 2071411"/>
              </a:gdLst>
              <a:ahLst/>
              <a:cxnLst>
                <a:cxn ang="0">
                  <a:pos x="connsiteX0" y="connsiteY0"/>
                </a:cxn>
                <a:cxn ang="0">
                  <a:pos x="connsiteX1" y="connsiteY1"/>
                </a:cxn>
                <a:cxn ang="0">
                  <a:pos x="connsiteX2" y="connsiteY2"/>
                </a:cxn>
              </a:cxnLst>
              <a:rect l="l" t="t" r="r" b="b"/>
              <a:pathLst>
                <a:path w="1735494" h="2071411">
                  <a:moveTo>
                    <a:pt x="0" y="2071411"/>
                  </a:moveTo>
                  <a:cubicBezTo>
                    <a:pt x="298579" y="1038045"/>
                    <a:pt x="597159" y="4680"/>
                    <a:pt x="886408" y="15"/>
                  </a:cubicBezTo>
                  <a:cubicBezTo>
                    <a:pt x="1175657" y="-4650"/>
                    <a:pt x="1455575" y="1019384"/>
                    <a:pt x="1735494" y="204341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446C1477-1025-4ECD-8966-4EBCC57E6C89}"/>
                </a:ext>
              </a:extLst>
            </p:cNvPr>
            <p:cNvSpPr/>
            <p:nvPr/>
          </p:nvSpPr>
          <p:spPr>
            <a:xfrm>
              <a:off x="3530081" y="1175643"/>
              <a:ext cx="1735494" cy="2071411"/>
            </a:xfrm>
            <a:custGeom>
              <a:avLst/>
              <a:gdLst>
                <a:gd name="connsiteX0" fmla="*/ 0 w 1735494"/>
                <a:gd name="connsiteY0" fmla="*/ 2071411 h 2071411"/>
                <a:gd name="connsiteX1" fmla="*/ 886408 w 1735494"/>
                <a:gd name="connsiteY1" fmla="*/ 15 h 2071411"/>
                <a:gd name="connsiteX2" fmla="*/ 1735494 w 1735494"/>
                <a:gd name="connsiteY2" fmla="*/ 2043419 h 2071411"/>
              </a:gdLst>
              <a:ahLst/>
              <a:cxnLst>
                <a:cxn ang="0">
                  <a:pos x="connsiteX0" y="connsiteY0"/>
                </a:cxn>
                <a:cxn ang="0">
                  <a:pos x="connsiteX1" y="connsiteY1"/>
                </a:cxn>
                <a:cxn ang="0">
                  <a:pos x="connsiteX2" y="connsiteY2"/>
                </a:cxn>
              </a:cxnLst>
              <a:rect l="l" t="t" r="r" b="b"/>
              <a:pathLst>
                <a:path w="1735494" h="2071411">
                  <a:moveTo>
                    <a:pt x="0" y="2071411"/>
                  </a:moveTo>
                  <a:cubicBezTo>
                    <a:pt x="298579" y="1038045"/>
                    <a:pt x="597159" y="4680"/>
                    <a:pt x="886408" y="15"/>
                  </a:cubicBezTo>
                  <a:cubicBezTo>
                    <a:pt x="1175657" y="-4650"/>
                    <a:pt x="1455575" y="1019384"/>
                    <a:pt x="1735494" y="204341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875B8757-3FF2-43B4-BEE5-027DC16228E8}"/>
                </a:ext>
              </a:extLst>
            </p:cNvPr>
            <p:cNvSpPr/>
            <p:nvPr/>
          </p:nvSpPr>
          <p:spPr>
            <a:xfrm>
              <a:off x="4484912" y="1156983"/>
              <a:ext cx="1735494" cy="2071411"/>
            </a:xfrm>
            <a:custGeom>
              <a:avLst/>
              <a:gdLst>
                <a:gd name="connsiteX0" fmla="*/ 0 w 1735494"/>
                <a:gd name="connsiteY0" fmla="*/ 2071411 h 2071411"/>
                <a:gd name="connsiteX1" fmla="*/ 886408 w 1735494"/>
                <a:gd name="connsiteY1" fmla="*/ 15 h 2071411"/>
                <a:gd name="connsiteX2" fmla="*/ 1735494 w 1735494"/>
                <a:gd name="connsiteY2" fmla="*/ 2043419 h 2071411"/>
              </a:gdLst>
              <a:ahLst/>
              <a:cxnLst>
                <a:cxn ang="0">
                  <a:pos x="connsiteX0" y="connsiteY0"/>
                </a:cxn>
                <a:cxn ang="0">
                  <a:pos x="connsiteX1" y="connsiteY1"/>
                </a:cxn>
                <a:cxn ang="0">
                  <a:pos x="connsiteX2" y="connsiteY2"/>
                </a:cxn>
              </a:cxnLst>
              <a:rect l="l" t="t" r="r" b="b"/>
              <a:pathLst>
                <a:path w="1735494" h="2071411">
                  <a:moveTo>
                    <a:pt x="0" y="2071411"/>
                  </a:moveTo>
                  <a:cubicBezTo>
                    <a:pt x="298579" y="1038045"/>
                    <a:pt x="597159" y="4680"/>
                    <a:pt x="886408" y="15"/>
                  </a:cubicBezTo>
                  <a:cubicBezTo>
                    <a:pt x="1175657" y="-4650"/>
                    <a:pt x="1455575" y="1019384"/>
                    <a:pt x="1735494" y="204341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3FAA863-34CC-4156-AFA2-EDEC8969D49D}"/>
                </a:ext>
              </a:extLst>
            </p:cNvPr>
            <p:cNvSpPr/>
            <p:nvPr/>
          </p:nvSpPr>
          <p:spPr>
            <a:xfrm>
              <a:off x="2584580" y="1250302"/>
              <a:ext cx="771316" cy="2015412"/>
            </a:xfrm>
            <a:custGeom>
              <a:avLst/>
              <a:gdLst>
                <a:gd name="connsiteX0" fmla="*/ 0 w 914400"/>
                <a:gd name="connsiteY0" fmla="*/ 0 h 2015412"/>
                <a:gd name="connsiteX1" fmla="*/ 606489 w 914400"/>
                <a:gd name="connsiteY1" fmla="*/ 951722 h 2015412"/>
                <a:gd name="connsiteX2" fmla="*/ 914400 w 914400"/>
                <a:gd name="connsiteY2" fmla="*/ 2015412 h 2015412"/>
              </a:gdLst>
              <a:ahLst/>
              <a:cxnLst>
                <a:cxn ang="0">
                  <a:pos x="connsiteX0" y="connsiteY0"/>
                </a:cxn>
                <a:cxn ang="0">
                  <a:pos x="connsiteX1" y="connsiteY1"/>
                </a:cxn>
                <a:cxn ang="0">
                  <a:pos x="connsiteX2" y="connsiteY2"/>
                </a:cxn>
              </a:cxnLst>
              <a:rect l="l" t="t" r="r" b="b"/>
              <a:pathLst>
                <a:path w="914400" h="2015412">
                  <a:moveTo>
                    <a:pt x="0" y="0"/>
                  </a:moveTo>
                  <a:cubicBezTo>
                    <a:pt x="227044" y="307910"/>
                    <a:pt x="454089" y="615820"/>
                    <a:pt x="606489" y="951722"/>
                  </a:cubicBezTo>
                  <a:cubicBezTo>
                    <a:pt x="758889" y="1287624"/>
                    <a:pt x="836644" y="1651518"/>
                    <a:pt x="914400" y="2015412"/>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250C9EA-6822-467C-B933-8708B989C052}"/>
                </a:ext>
              </a:extLst>
            </p:cNvPr>
            <p:cNvSpPr/>
            <p:nvPr/>
          </p:nvSpPr>
          <p:spPr>
            <a:xfrm>
              <a:off x="2037629" y="880970"/>
              <a:ext cx="1313245"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Very strong </a:t>
              </a:r>
              <a:endParaRPr lang="en-US" dirty="0"/>
            </a:p>
          </p:txBody>
        </p:sp>
        <p:sp>
          <p:nvSpPr>
            <p:cNvPr id="17" name="Rectangle 16">
              <a:extLst>
                <a:ext uri="{FF2B5EF4-FFF2-40B4-BE49-F238E27FC236}">
                  <a16:creationId xmlns:a16="http://schemas.microsoft.com/office/drawing/2014/main" id="{80DBEFE5-211C-4B7B-8EB0-F73135413ACF}"/>
                </a:ext>
              </a:extLst>
            </p:cNvPr>
            <p:cNvSpPr/>
            <p:nvPr/>
          </p:nvSpPr>
          <p:spPr>
            <a:xfrm>
              <a:off x="3059966" y="1369639"/>
              <a:ext cx="857927"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Strong </a:t>
              </a:r>
              <a:endParaRPr lang="en-US" dirty="0"/>
            </a:p>
          </p:txBody>
        </p:sp>
        <p:sp>
          <p:nvSpPr>
            <p:cNvPr id="18" name="Rectangle 17">
              <a:extLst>
                <a:ext uri="{FF2B5EF4-FFF2-40B4-BE49-F238E27FC236}">
                  <a16:creationId xmlns:a16="http://schemas.microsoft.com/office/drawing/2014/main" id="{DA3BC00F-D5FF-4DFD-B473-8DE5ACD0A477}"/>
                </a:ext>
              </a:extLst>
            </p:cNvPr>
            <p:cNvSpPr/>
            <p:nvPr/>
          </p:nvSpPr>
          <p:spPr>
            <a:xfrm>
              <a:off x="3863066" y="810976"/>
              <a:ext cx="1069524"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Moderate</a:t>
              </a:r>
              <a:endParaRPr lang="en-US" dirty="0"/>
            </a:p>
          </p:txBody>
        </p:sp>
        <p:sp>
          <p:nvSpPr>
            <p:cNvPr id="19" name="Rectangle 18">
              <a:extLst>
                <a:ext uri="{FF2B5EF4-FFF2-40B4-BE49-F238E27FC236}">
                  <a16:creationId xmlns:a16="http://schemas.microsoft.com/office/drawing/2014/main" id="{9FBB20DE-24F2-4029-AAC4-E156EFC9305D}"/>
                </a:ext>
              </a:extLst>
            </p:cNvPr>
            <p:cNvSpPr/>
            <p:nvPr/>
          </p:nvSpPr>
          <p:spPr>
            <a:xfrm>
              <a:off x="5000255" y="1369639"/>
              <a:ext cx="704808"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Weak</a:t>
              </a:r>
              <a:endParaRPr lang="en-US" dirty="0"/>
            </a:p>
          </p:txBody>
        </p:sp>
        <p:sp>
          <p:nvSpPr>
            <p:cNvPr id="20" name="Freeform: Shape 19">
              <a:extLst>
                <a:ext uri="{FF2B5EF4-FFF2-40B4-BE49-F238E27FC236}">
                  <a16:creationId xmlns:a16="http://schemas.microsoft.com/office/drawing/2014/main" id="{EC6F4212-F3B3-43F7-8672-504BB9D54114}"/>
                </a:ext>
              </a:extLst>
            </p:cNvPr>
            <p:cNvSpPr/>
            <p:nvPr/>
          </p:nvSpPr>
          <p:spPr>
            <a:xfrm>
              <a:off x="5526835" y="1110329"/>
              <a:ext cx="1735494" cy="2071411"/>
            </a:xfrm>
            <a:custGeom>
              <a:avLst/>
              <a:gdLst>
                <a:gd name="connsiteX0" fmla="*/ 0 w 1735494"/>
                <a:gd name="connsiteY0" fmla="*/ 2071411 h 2071411"/>
                <a:gd name="connsiteX1" fmla="*/ 886408 w 1735494"/>
                <a:gd name="connsiteY1" fmla="*/ 15 h 2071411"/>
                <a:gd name="connsiteX2" fmla="*/ 1735494 w 1735494"/>
                <a:gd name="connsiteY2" fmla="*/ 2043419 h 2071411"/>
              </a:gdLst>
              <a:ahLst/>
              <a:cxnLst>
                <a:cxn ang="0">
                  <a:pos x="connsiteX0" y="connsiteY0"/>
                </a:cxn>
                <a:cxn ang="0">
                  <a:pos x="connsiteX1" y="connsiteY1"/>
                </a:cxn>
                <a:cxn ang="0">
                  <a:pos x="connsiteX2" y="connsiteY2"/>
                </a:cxn>
              </a:cxnLst>
              <a:rect l="l" t="t" r="r" b="b"/>
              <a:pathLst>
                <a:path w="1735494" h="2071411">
                  <a:moveTo>
                    <a:pt x="0" y="2071411"/>
                  </a:moveTo>
                  <a:cubicBezTo>
                    <a:pt x="298579" y="1038045"/>
                    <a:pt x="597159" y="4680"/>
                    <a:pt x="886408" y="15"/>
                  </a:cubicBezTo>
                  <a:cubicBezTo>
                    <a:pt x="1175657" y="-4650"/>
                    <a:pt x="1455575" y="1019384"/>
                    <a:pt x="1735494" y="204341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DCEA754-BC06-4E68-AF97-18AF1C199897}"/>
                </a:ext>
              </a:extLst>
            </p:cNvPr>
            <p:cNvSpPr/>
            <p:nvPr/>
          </p:nvSpPr>
          <p:spPr>
            <a:xfrm>
              <a:off x="5797367" y="722337"/>
              <a:ext cx="1194430"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Very Weak</a:t>
              </a:r>
              <a:endParaRPr lang="en-US" dirty="0"/>
            </a:p>
          </p:txBody>
        </p:sp>
        <p:sp>
          <p:nvSpPr>
            <p:cNvPr id="24" name="TextBox 23">
              <a:extLst>
                <a:ext uri="{FF2B5EF4-FFF2-40B4-BE49-F238E27FC236}">
                  <a16:creationId xmlns:a16="http://schemas.microsoft.com/office/drawing/2014/main" id="{D0E4B93E-99C8-4ABC-9B2A-F5866D8B6750}"/>
                </a:ext>
              </a:extLst>
            </p:cNvPr>
            <p:cNvSpPr txBox="1"/>
            <p:nvPr/>
          </p:nvSpPr>
          <p:spPr>
            <a:xfrm>
              <a:off x="8130080" y="2941577"/>
              <a:ext cx="839747" cy="461665"/>
            </a:xfrm>
            <a:prstGeom prst="rect">
              <a:avLst/>
            </a:prstGeom>
            <a:noFill/>
          </p:spPr>
          <p:txBody>
            <a:bodyPr wrap="square" rtlCol="0">
              <a:spAutoFit/>
            </a:bodyPr>
            <a:lstStyle/>
            <a:p>
              <a:r>
                <a:rPr lang="en-US" sz="2400" i="1" dirty="0">
                  <a:latin typeface="Times New Roman" panose="02020603050405020304" pitchFamily="18" charset="0"/>
                  <a:cs typeface="Times New Roman" panose="02020603050405020304" pitchFamily="18" charset="0"/>
                </a:rPr>
                <a:t>RSS</a:t>
              </a:r>
            </a:p>
          </p:txBody>
        </p:sp>
        <p:sp>
          <p:nvSpPr>
            <p:cNvPr id="25" name="TextBox 24">
              <a:extLst>
                <a:ext uri="{FF2B5EF4-FFF2-40B4-BE49-F238E27FC236}">
                  <a16:creationId xmlns:a16="http://schemas.microsoft.com/office/drawing/2014/main" id="{3A4051C7-81DC-43AB-BC46-65866E8764D9}"/>
                </a:ext>
              </a:extLst>
            </p:cNvPr>
            <p:cNvSpPr txBox="1"/>
            <p:nvPr/>
          </p:nvSpPr>
          <p:spPr>
            <a:xfrm>
              <a:off x="1244095" y="1679704"/>
              <a:ext cx="1138326" cy="461665"/>
            </a:xfrm>
            <a:prstGeom prst="rect">
              <a:avLst/>
            </a:prstGeom>
            <a:noFill/>
          </p:spPr>
          <p:txBody>
            <a:bodyPr wrap="square" rtlCol="0">
              <a:spAutoFit/>
            </a:bodyPr>
            <a:lstStyle/>
            <a:p>
              <a:r>
                <a:rPr lang="el-GR" sz="2400" i="1" dirty="0">
                  <a:latin typeface="Times New Roman" panose="02020603050405020304" pitchFamily="18" charset="0"/>
                  <a:cs typeface="Times New Roman" panose="02020603050405020304" pitchFamily="18" charset="0"/>
                </a:rPr>
                <a:t>μ</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RSS</a:t>
              </a:r>
              <a:r>
                <a:rPr lang="en-US" sz="2400" dirty="0">
                  <a:latin typeface="Times New Roman" panose="02020603050405020304" pitchFamily="18" charset="0"/>
                  <a:cs typeface="Times New Roman" panose="02020603050405020304" pitchFamily="18" charset="0"/>
                </a:rPr>
                <a:t>)</a:t>
              </a:r>
            </a:p>
          </p:txBody>
        </p:sp>
      </p:grpSp>
      <p:grpSp>
        <p:nvGrpSpPr>
          <p:cNvPr id="51" name="Group 50">
            <a:extLst>
              <a:ext uri="{FF2B5EF4-FFF2-40B4-BE49-F238E27FC236}">
                <a16:creationId xmlns:a16="http://schemas.microsoft.com/office/drawing/2014/main" id="{45385073-819A-4C41-BE69-3B8B704B8025}"/>
              </a:ext>
            </a:extLst>
          </p:cNvPr>
          <p:cNvGrpSpPr/>
          <p:nvPr/>
        </p:nvGrpSpPr>
        <p:grpSpPr>
          <a:xfrm>
            <a:off x="856573" y="3563984"/>
            <a:ext cx="6930585" cy="3097763"/>
            <a:chOff x="1315038" y="3520288"/>
            <a:chExt cx="6930585" cy="3097763"/>
          </a:xfrm>
        </p:grpSpPr>
        <p:grpSp>
          <p:nvGrpSpPr>
            <p:cNvPr id="27" name="Group 26">
              <a:extLst>
                <a:ext uri="{FF2B5EF4-FFF2-40B4-BE49-F238E27FC236}">
                  <a16:creationId xmlns:a16="http://schemas.microsoft.com/office/drawing/2014/main" id="{43CED005-3C31-47B3-A5F1-B359A2BE894A}"/>
                </a:ext>
              </a:extLst>
            </p:cNvPr>
            <p:cNvGrpSpPr/>
            <p:nvPr/>
          </p:nvGrpSpPr>
          <p:grpSpPr>
            <a:xfrm>
              <a:off x="1315038" y="3520288"/>
              <a:ext cx="6930585" cy="3097763"/>
              <a:chOff x="1701273" y="597159"/>
              <a:chExt cx="7268554" cy="3526972"/>
            </a:xfrm>
          </p:grpSpPr>
          <p:cxnSp>
            <p:nvCxnSpPr>
              <p:cNvPr id="28" name="Straight Arrow Connector 27">
                <a:extLst>
                  <a:ext uri="{FF2B5EF4-FFF2-40B4-BE49-F238E27FC236}">
                    <a16:creationId xmlns:a16="http://schemas.microsoft.com/office/drawing/2014/main" id="{C5BCBDFA-63A7-49E6-AD0D-542F8E5792EF}"/>
                  </a:ext>
                </a:extLst>
              </p:cNvPr>
              <p:cNvCxnSpPr>
                <a:cxnSpLocks/>
              </p:cNvCxnSpPr>
              <p:nvPr/>
            </p:nvCxnSpPr>
            <p:spPr>
              <a:xfrm flipV="1">
                <a:off x="2258008" y="3172410"/>
                <a:ext cx="5756988" cy="93304"/>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D9D350A-E6E2-4395-8AAC-2D4322FF52DC}"/>
                  </a:ext>
                </a:extLst>
              </p:cNvPr>
              <p:cNvCxnSpPr/>
              <p:nvPr/>
            </p:nvCxnSpPr>
            <p:spPr>
              <a:xfrm flipV="1">
                <a:off x="2575249" y="597159"/>
                <a:ext cx="0" cy="3526972"/>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B3D59D13-33C9-429A-8365-54BF896F4B66}"/>
                  </a:ext>
                </a:extLst>
              </p:cNvPr>
              <p:cNvSpPr/>
              <p:nvPr/>
            </p:nvSpPr>
            <p:spPr>
              <a:xfrm>
                <a:off x="2037629" y="880970"/>
                <a:ext cx="1128471"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Very near</a:t>
                </a:r>
                <a:endParaRPr lang="en-US" dirty="0"/>
              </a:p>
            </p:txBody>
          </p:sp>
          <p:sp>
            <p:nvSpPr>
              <p:cNvPr id="35" name="Rectangle 34">
                <a:extLst>
                  <a:ext uri="{FF2B5EF4-FFF2-40B4-BE49-F238E27FC236}">
                    <a16:creationId xmlns:a16="http://schemas.microsoft.com/office/drawing/2014/main" id="{C16350A4-098C-4228-A3A8-F0265B27CB0C}"/>
                  </a:ext>
                </a:extLst>
              </p:cNvPr>
              <p:cNvSpPr/>
              <p:nvPr/>
            </p:nvSpPr>
            <p:spPr>
              <a:xfrm>
                <a:off x="3208473" y="1385167"/>
                <a:ext cx="724922"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Near </a:t>
                </a:r>
                <a:endParaRPr lang="en-US" dirty="0"/>
              </a:p>
            </p:txBody>
          </p:sp>
          <p:sp>
            <p:nvSpPr>
              <p:cNvPr id="36" name="Rectangle 35">
                <a:extLst>
                  <a:ext uri="{FF2B5EF4-FFF2-40B4-BE49-F238E27FC236}">
                    <a16:creationId xmlns:a16="http://schemas.microsoft.com/office/drawing/2014/main" id="{31469E70-3494-4B4D-8494-94CC11FBDE9F}"/>
                  </a:ext>
                </a:extLst>
              </p:cNvPr>
              <p:cNvSpPr/>
              <p:nvPr/>
            </p:nvSpPr>
            <p:spPr>
              <a:xfrm>
                <a:off x="3863066" y="810976"/>
                <a:ext cx="1069524"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Moderate</a:t>
                </a:r>
                <a:endParaRPr lang="en-US" dirty="0"/>
              </a:p>
            </p:txBody>
          </p:sp>
          <p:sp>
            <p:nvSpPr>
              <p:cNvPr id="37" name="Rectangle 36">
                <a:extLst>
                  <a:ext uri="{FF2B5EF4-FFF2-40B4-BE49-F238E27FC236}">
                    <a16:creationId xmlns:a16="http://schemas.microsoft.com/office/drawing/2014/main" id="{B86A760C-1A3A-46D0-8D7F-FEB513BE7407}"/>
                  </a:ext>
                </a:extLst>
              </p:cNvPr>
              <p:cNvSpPr/>
              <p:nvPr/>
            </p:nvSpPr>
            <p:spPr>
              <a:xfrm>
                <a:off x="5000255" y="1369639"/>
                <a:ext cx="516457"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Far</a:t>
                </a:r>
                <a:endParaRPr lang="en-US" dirty="0"/>
              </a:p>
            </p:txBody>
          </p:sp>
          <p:sp>
            <p:nvSpPr>
              <p:cNvPr id="39" name="Rectangle 38">
                <a:extLst>
                  <a:ext uri="{FF2B5EF4-FFF2-40B4-BE49-F238E27FC236}">
                    <a16:creationId xmlns:a16="http://schemas.microsoft.com/office/drawing/2014/main" id="{026F20E9-A0A8-4423-8579-A26338E84006}"/>
                  </a:ext>
                </a:extLst>
              </p:cNvPr>
              <p:cNvSpPr/>
              <p:nvPr/>
            </p:nvSpPr>
            <p:spPr>
              <a:xfrm>
                <a:off x="5797367" y="722337"/>
                <a:ext cx="980528" cy="420505"/>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Very far</a:t>
                </a:r>
                <a:endParaRPr lang="en-US" dirty="0"/>
              </a:p>
            </p:txBody>
          </p:sp>
          <p:sp>
            <p:nvSpPr>
              <p:cNvPr id="40" name="TextBox 39">
                <a:extLst>
                  <a:ext uri="{FF2B5EF4-FFF2-40B4-BE49-F238E27FC236}">
                    <a16:creationId xmlns:a16="http://schemas.microsoft.com/office/drawing/2014/main" id="{208F2263-DEA3-454D-A7E5-A284FD36C68B}"/>
                  </a:ext>
                </a:extLst>
              </p:cNvPr>
              <p:cNvSpPr txBox="1"/>
              <p:nvPr/>
            </p:nvSpPr>
            <p:spPr>
              <a:xfrm>
                <a:off x="8130080" y="2941577"/>
                <a:ext cx="839747" cy="525631"/>
              </a:xfrm>
              <a:prstGeom prst="rect">
                <a:avLst/>
              </a:prstGeom>
              <a:noFill/>
            </p:spPr>
            <p:txBody>
              <a:bodyPr wrap="square" rtlCol="0">
                <a:spAutoFit/>
              </a:bodyPr>
              <a:lstStyle/>
              <a:p>
                <a:r>
                  <a:rPr lang="en-US" sz="2400" i="1" dirty="0">
                    <a:latin typeface="Times New Roman" panose="02020603050405020304" pitchFamily="18" charset="0"/>
                    <a:cs typeface="Times New Roman" panose="02020603050405020304" pitchFamily="18" charset="0"/>
                  </a:rPr>
                  <a:t>r</a:t>
                </a:r>
              </a:p>
            </p:txBody>
          </p:sp>
          <p:sp>
            <p:nvSpPr>
              <p:cNvPr id="41" name="TextBox 40">
                <a:extLst>
                  <a:ext uri="{FF2B5EF4-FFF2-40B4-BE49-F238E27FC236}">
                    <a16:creationId xmlns:a16="http://schemas.microsoft.com/office/drawing/2014/main" id="{5569C75E-B0F2-4767-958F-E96A7A2DB6AC}"/>
                  </a:ext>
                </a:extLst>
              </p:cNvPr>
              <p:cNvSpPr txBox="1"/>
              <p:nvPr/>
            </p:nvSpPr>
            <p:spPr>
              <a:xfrm>
                <a:off x="1701273" y="1674439"/>
                <a:ext cx="813229" cy="525631"/>
              </a:xfrm>
              <a:prstGeom prst="rect">
                <a:avLst/>
              </a:prstGeom>
              <a:noFill/>
            </p:spPr>
            <p:txBody>
              <a:bodyPr wrap="square" rtlCol="0">
                <a:spAutoFit/>
              </a:bodyPr>
              <a:lstStyle/>
              <a:p>
                <a:r>
                  <a:rPr lang="el-GR" sz="2400" i="1" dirty="0">
                    <a:latin typeface="Times New Roman" panose="02020603050405020304" pitchFamily="18" charset="0"/>
                    <a:cs typeface="Times New Roman" panose="02020603050405020304" pitchFamily="18" charset="0"/>
                  </a:rPr>
                  <a:t>μ</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r</a:t>
                </a:r>
                <a:r>
                  <a:rPr lang="en-US" sz="2400" dirty="0">
                    <a:latin typeface="Times New Roman" panose="02020603050405020304" pitchFamily="18" charset="0"/>
                    <a:cs typeface="Times New Roman" panose="02020603050405020304" pitchFamily="18" charset="0"/>
                  </a:rPr>
                  <a:t>)</a:t>
                </a:r>
              </a:p>
            </p:txBody>
          </p:sp>
        </p:grpSp>
        <p:sp>
          <p:nvSpPr>
            <p:cNvPr id="42" name="Trapezoid 41">
              <a:extLst>
                <a:ext uri="{FF2B5EF4-FFF2-40B4-BE49-F238E27FC236}">
                  <a16:creationId xmlns:a16="http://schemas.microsoft.com/office/drawing/2014/main" id="{E4B6A3CE-1464-4EC7-BC27-222E05994000}"/>
                </a:ext>
              </a:extLst>
            </p:cNvPr>
            <p:cNvSpPr/>
            <p:nvPr/>
          </p:nvSpPr>
          <p:spPr>
            <a:xfrm>
              <a:off x="2528319" y="4130452"/>
              <a:ext cx="1138891" cy="1733646"/>
            </a:xfrm>
            <a:prstGeom prst="trapezoid">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rapezoid 42">
              <a:extLst>
                <a:ext uri="{FF2B5EF4-FFF2-40B4-BE49-F238E27FC236}">
                  <a16:creationId xmlns:a16="http://schemas.microsoft.com/office/drawing/2014/main" id="{7CF0D913-C61D-41B4-962E-737494606C12}"/>
                </a:ext>
              </a:extLst>
            </p:cNvPr>
            <p:cNvSpPr/>
            <p:nvPr/>
          </p:nvSpPr>
          <p:spPr>
            <a:xfrm>
              <a:off x="4235626" y="4097132"/>
              <a:ext cx="1138891" cy="1733646"/>
            </a:xfrm>
            <a:prstGeom prst="trapezoid">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rapezoid 43">
              <a:extLst>
                <a:ext uri="{FF2B5EF4-FFF2-40B4-BE49-F238E27FC236}">
                  <a16:creationId xmlns:a16="http://schemas.microsoft.com/office/drawing/2014/main" id="{6E3C9081-0E2C-493E-BE77-CC858A506999}"/>
                </a:ext>
              </a:extLst>
            </p:cNvPr>
            <p:cNvSpPr/>
            <p:nvPr/>
          </p:nvSpPr>
          <p:spPr>
            <a:xfrm>
              <a:off x="3376312" y="4119459"/>
              <a:ext cx="1138891" cy="1733646"/>
            </a:xfrm>
            <a:prstGeom prst="trapezoid">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rapezoid 44">
              <a:extLst>
                <a:ext uri="{FF2B5EF4-FFF2-40B4-BE49-F238E27FC236}">
                  <a16:creationId xmlns:a16="http://schemas.microsoft.com/office/drawing/2014/main" id="{77EB2871-7778-40C5-8E93-FD7FD9F3E2D0}"/>
                </a:ext>
              </a:extLst>
            </p:cNvPr>
            <p:cNvSpPr/>
            <p:nvPr/>
          </p:nvSpPr>
          <p:spPr>
            <a:xfrm>
              <a:off x="5060894" y="4081281"/>
              <a:ext cx="1138891" cy="1733646"/>
            </a:xfrm>
            <a:prstGeom prst="trapezoid">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Connector 47">
              <a:extLst>
                <a:ext uri="{FF2B5EF4-FFF2-40B4-BE49-F238E27FC236}">
                  <a16:creationId xmlns:a16="http://schemas.microsoft.com/office/drawing/2014/main" id="{91F675A3-D88D-42B5-9018-6F32DB2C4285}"/>
                </a:ext>
              </a:extLst>
            </p:cNvPr>
            <p:cNvCxnSpPr/>
            <p:nvPr/>
          </p:nvCxnSpPr>
          <p:spPr>
            <a:xfrm>
              <a:off x="2148376" y="4130452"/>
              <a:ext cx="37994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5F6B2A-45EA-43C1-9B3C-BA925F5BF89D}"/>
                </a:ext>
              </a:extLst>
            </p:cNvPr>
            <p:cNvCxnSpPr/>
            <p:nvPr/>
          </p:nvCxnSpPr>
          <p:spPr>
            <a:xfrm>
              <a:off x="2528319" y="4130452"/>
              <a:ext cx="359617" cy="17003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2" name="TextBox 51">
            <a:extLst>
              <a:ext uri="{FF2B5EF4-FFF2-40B4-BE49-F238E27FC236}">
                <a16:creationId xmlns:a16="http://schemas.microsoft.com/office/drawing/2014/main" id="{EFE13571-4582-4F2C-9A7A-B19C1A9C9431}"/>
              </a:ext>
            </a:extLst>
          </p:cNvPr>
          <p:cNvSpPr txBox="1"/>
          <p:nvPr/>
        </p:nvSpPr>
        <p:spPr>
          <a:xfrm>
            <a:off x="6391853" y="886829"/>
            <a:ext cx="5085007"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Membership function of input variable</a:t>
            </a:r>
          </a:p>
        </p:txBody>
      </p:sp>
      <p:sp>
        <p:nvSpPr>
          <p:cNvPr id="53" name="TextBox 52">
            <a:extLst>
              <a:ext uri="{FF2B5EF4-FFF2-40B4-BE49-F238E27FC236}">
                <a16:creationId xmlns:a16="http://schemas.microsoft.com/office/drawing/2014/main" id="{92AB4AAD-11AE-4126-AF9B-F83205FAC1FF}"/>
              </a:ext>
            </a:extLst>
          </p:cNvPr>
          <p:cNvSpPr txBox="1"/>
          <p:nvPr/>
        </p:nvSpPr>
        <p:spPr>
          <a:xfrm>
            <a:off x="6391853" y="4594620"/>
            <a:ext cx="5085007"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Membership function of output variable</a:t>
            </a:r>
          </a:p>
        </p:txBody>
      </p:sp>
      <p:sp>
        <p:nvSpPr>
          <p:cNvPr id="5" name="Slide Number Placeholder 4">
            <a:extLst>
              <a:ext uri="{FF2B5EF4-FFF2-40B4-BE49-F238E27FC236}">
                <a16:creationId xmlns:a16="http://schemas.microsoft.com/office/drawing/2014/main" id="{D176C173-EFAF-4F43-A599-1D880116DD44}"/>
              </a:ext>
            </a:extLst>
          </p:cNvPr>
          <p:cNvSpPr>
            <a:spLocks noGrp="1"/>
          </p:cNvSpPr>
          <p:nvPr>
            <p:ph type="sldNum" sz="quarter" idx="12"/>
          </p:nvPr>
        </p:nvSpPr>
        <p:spPr/>
        <p:txBody>
          <a:bodyPr/>
          <a:lstStyle/>
          <a:p>
            <a:fld id="{C3F1913A-7668-436E-8561-76A60B792217}" type="slidenum">
              <a:rPr lang="en-US" smtClean="0"/>
              <a:t>65</a:t>
            </a:fld>
            <a:endParaRPr lang="en-US"/>
          </a:p>
        </p:txBody>
      </p:sp>
    </p:spTree>
    <p:extLst>
      <p:ext uri="{BB962C8B-B14F-4D97-AF65-F5344CB8AC3E}">
        <p14:creationId xmlns:p14="http://schemas.microsoft.com/office/powerpoint/2010/main" val="21534055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1164499C-FF70-44D9-BF55-E3FE7091A27B}"/>
              </a:ext>
            </a:extLst>
          </p:cNvPr>
          <p:cNvGrpSpPr/>
          <p:nvPr/>
        </p:nvGrpSpPr>
        <p:grpSpPr>
          <a:xfrm>
            <a:off x="5573485" y="556328"/>
            <a:ext cx="5417201" cy="4605654"/>
            <a:chOff x="4901681" y="164442"/>
            <a:chExt cx="5417201" cy="4605654"/>
          </a:xfrm>
        </p:grpSpPr>
        <p:sp>
          <p:nvSpPr>
            <p:cNvPr id="14" name="Oval 13">
              <a:extLst>
                <a:ext uri="{FF2B5EF4-FFF2-40B4-BE49-F238E27FC236}">
                  <a16:creationId xmlns:a16="http://schemas.microsoft.com/office/drawing/2014/main" id="{0E038318-F60B-4DA7-BA18-A7C68CB0B2F6}"/>
                </a:ext>
              </a:extLst>
            </p:cNvPr>
            <p:cNvSpPr/>
            <p:nvPr/>
          </p:nvSpPr>
          <p:spPr>
            <a:xfrm>
              <a:off x="6862666" y="2158482"/>
              <a:ext cx="251926" cy="247261"/>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01E24386-1762-4CAB-8165-B0AC731A745D}"/>
                </a:ext>
              </a:extLst>
            </p:cNvPr>
            <p:cNvSpPr/>
            <p:nvPr/>
          </p:nvSpPr>
          <p:spPr>
            <a:xfrm>
              <a:off x="4901681" y="3012046"/>
              <a:ext cx="401216" cy="327939"/>
            </a:xfrm>
            <a:prstGeom prst="triangl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AC1CCE73-2EB9-460E-9374-3AE3E841A83D}"/>
                </a:ext>
              </a:extLst>
            </p:cNvPr>
            <p:cNvSpPr/>
            <p:nvPr/>
          </p:nvSpPr>
          <p:spPr>
            <a:xfrm>
              <a:off x="7615334" y="300913"/>
              <a:ext cx="401216" cy="327939"/>
            </a:xfrm>
            <a:prstGeom prst="triangl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DEA53F9E-E252-4265-8CAA-A3D280EE4BC8}"/>
                </a:ext>
              </a:extLst>
            </p:cNvPr>
            <p:cNvSpPr/>
            <p:nvPr/>
          </p:nvSpPr>
          <p:spPr>
            <a:xfrm>
              <a:off x="9207759" y="2194046"/>
              <a:ext cx="401216" cy="327939"/>
            </a:xfrm>
            <a:prstGeom prst="triangl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apezoid 20">
              <a:extLst>
                <a:ext uri="{FF2B5EF4-FFF2-40B4-BE49-F238E27FC236}">
                  <a16:creationId xmlns:a16="http://schemas.microsoft.com/office/drawing/2014/main" id="{4EF15D55-6325-4648-A19E-5803D44A0582}"/>
                </a:ext>
              </a:extLst>
            </p:cNvPr>
            <p:cNvSpPr/>
            <p:nvPr/>
          </p:nvSpPr>
          <p:spPr>
            <a:xfrm>
              <a:off x="7615334" y="4301936"/>
              <a:ext cx="530291" cy="468160"/>
            </a:xfrm>
            <a:prstGeom prst="trapezoid">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7ECA3AB4-5CBD-4ECA-B608-B92627138A90}"/>
                </a:ext>
              </a:extLst>
            </p:cNvPr>
            <p:cNvCxnSpPr>
              <a:cxnSpLocks/>
            </p:cNvCxnSpPr>
            <p:nvPr/>
          </p:nvCxnSpPr>
          <p:spPr>
            <a:xfrm flipV="1">
              <a:off x="6991351" y="628851"/>
              <a:ext cx="827313" cy="152963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5957ED4-ADB6-42EB-9885-69534E16CE7B}"/>
                </a:ext>
              </a:extLst>
            </p:cNvPr>
            <p:cNvCxnSpPr>
              <a:cxnSpLocks/>
            </p:cNvCxnSpPr>
            <p:nvPr/>
          </p:nvCxnSpPr>
          <p:spPr>
            <a:xfrm flipV="1">
              <a:off x="7080420" y="2358015"/>
              <a:ext cx="2230365" cy="1151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6BC446B-454E-4825-952A-68DA52712028}"/>
                </a:ext>
              </a:extLst>
            </p:cNvPr>
            <p:cNvCxnSpPr>
              <a:cxnSpLocks/>
            </p:cNvCxnSpPr>
            <p:nvPr/>
          </p:nvCxnSpPr>
          <p:spPr>
            <a:xfrm flipH="1">
              <a:off x="5205315" y="2369531"/>
              <a:ext cx="1696967" cy="80648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C119C8E-DE8E-4409-A5B1-DDC9B9FA97DE}"/>
                </a:ext>
              </a:extLst>
            </p:cNvPr>
            <p:cNvSpPr txBox="1"/>
            <p:nvPr/>
          </p:nvSpPr>
          <p:spPr>
            <a:xfrm>
              <a:off x="7815942" y="1007706"/>
              <a:ext cx="122542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RSS</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d</a:t>
              </a:r>
              <a:r>
                <a:rPr lang="en-US" baseline="-25000" dirty="0">
                  <a:latin typeface="Times New Roman" panose="02020603050405020304" pitchFamily="18" charset="0"/>
                  <a:cs typeface="Times New Roman" panose="02020603050405020304" pitchFamily="18" charset="0"/>
                </a:rPr>
                <a:t>1</a:t>
              </a:r>
            </a:p>
          </p:txBody>
        </p:sp>
        <p:sp>
          <p:nvSpPr>
            <p:cNvPr id="29" name="TextBox 28">
              <a:extLst>
                <a:ext uri="{FF2B5EF4-FFF2-40B4-BE49-F238E27FC236}">
                  <a16:creationId xmlns:a16="http://schemas.microsoft.com/office/drawing/2014/main" id="{8FC1B204-0939-4E84-A0EA-AA6E1B3D9C2A}"/>
                </a:ext>
              </a:extLst>
            </p:cNvPr>
            <p:cNvSpPr txBox="1"/>
            <p:nvPr/>
          </p:nvSpPr>
          <p:spPr>
            <a:xfrm>
              <a:off x="5302897" y="2173349"/>
              <a:ext cx="122542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RSS</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d</a:t>
              </a:r>
              <a:r>
                <a:rPr lang="en-US" baseline="-25000" dirty="0">
                  <a:latin typeface="Times New Roman" panose="02020603050405020304" pitchFamily="18" charset="0"/>
                  <a:cs typeface="Times New Roman" panose="02020603050405020304" pitchFamily="18" charset="0"/>
                </a:rPr>
                <a:t>2</a:t>
              </a:r>
            </a:p>
          </p:txBody>
        </p:sp>
        <p:sp>
          <p:nvSpPr>
            <p:cNvPr id="30" name="TextBox 29">
              <a:extLst>
                <a:ext uri="{FF2B5EF4-FFF2-40B4-BE49-F238E27FC236}">
                  <a16:creationId xmlns:a16="http://schemas.microsoft.com/office/drawing/2014/main" id="{38B1B65A-781B-4406-A187-65897A8373AA}"/>
                </a:ext>
              </a:extLst>
            </p:cNvPr>
            <p:cNvSpPr txBox="1"/>
            <p:nvPr/>
          </p:nvSpPr>
          <p:spPr>
            <a:xfrm>
              <a:off x="7767306" y="2463640"/>
              <a:ext cx="122542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RSS</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d</a:t>
              </a:r>
              <a:r>
                <a:rPr lang="en-US" baseline="-25000" dirty="0">
                  <a:latin typeface="Times New Roman" panose="02020603050405020304" pitchFamily="18" charset="0"/>
                  <a:cs typeface="Times New Roman" panose="02020603050405020304" pitchFamily="18" charset="0"/>
                </a:rPr>
                <a:t>3</a:t>
              </a:r>
            </a:p>
          </p:txBody>
        </p:sp>
        <p:sp>
          <p:nvSpPr>
            <p:cNvPr id="31" name="TextBox 30">
              <a:extLst>
                <a:ext uri="{FF2B5EF4-FFF2-40B4-BE49-F238E27FC236}">
                  <a16:creationId xmlns:a16="http://schemas.microsoft.com/office/drawing/2014/main" id="{E92EDD5C-7C76-4BA8-A542-A789A6E9A48C}"/>
                </a:ext>
              </a:extLst>
            </p:cNvPr>
            <p:cNvSpPr txBox="1"/>
            <p:nvPr/>
          </p:nvSpPr>
          <p:spPr>
            <a:xfrm>
              <a:off x="7164353" y="1866983"/>
              <a:ext cx="1704393"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t>
              </a:r>
              <a:r>
                <a:rPr lang="en-US" sz="2400" i="1" dirty="0" err="1">
                  <a:latin typeface="Times New Roman" panose="02020603050405020304" pitchFamily="18" charset="0"/>
                  <a:cs typeface="Times New Roman" panose="02020603050405020304" pitchFamily="18" charset="0"/>
                </a:rPr>
                <a:t>x</a:t>
              </a:r>
              <a:r>
                <a:rPr lang="en-US" sz="2400" i="1" baseline="-25000" dirty="0" err="1">
                  <a:latin typeface="Times New Roman" panose="02020603050405020304" pitchFamily="18" charset="0"/>
                  <a:cs typeface="Times New Roman" panose="02020603050405020304" pitchFamily="18" charset="0"/>
                </a:rPr>
                <a:t>node</a:t>
              </a:r>
              <a:r>
                <a:rPr lang="en-US" sz="2400"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y</a:t>
              </a:r>
              <a:r>
                <a:rPr lang="en-US" sz="2400" i="1" baseline="-25000" dirty="0" err="1">
                  <a:latin typeface="Times New Roman" panose="02020603050405020304" pitchFamily="18" charset="0"/>
                  <a:cs typeface="Times New Roman" panose="02020603050405020304" pitchFamily="18" charset="0"/>
                </a:rPr>
                <a:t>node</a:t>
              </a:r>
              <a:r>
                <a:rPr lang="en-US" sz="2400" dirty="0">
                  <a:latin typeface="Times New Roman" panose="02020603050405020304" pitchFamily="18" charset="0"/>
                  <a:cs typeface="Times New Roman" panose="02020603050405020304" pitchFamily="18" charset="0"/>
                </a:rPr>
                <a:t>)</a:t>
              </a:r>
            </a:p>
          </p:txBody>
        </p:sp>
        <p:sp>
          <p:nvSpPr>
            <p:cNvPr id="33" name="TextBox 32">
              <a:extLst>
                <a:ext uri="{FF2B5EF4-FFF2-40B4-BE49-F238E27FC236}">
                  <a16:creationId xmlns:a16="http://schemas.microsoft.com/office/drawing/2014/main" id="{3BF19798-10B9-4174-9FA3-B3D108814CFB}"/>
                </a:ext>
              </a:extLst>
            </p:cNvPr>
            <p:cNvSpPr txBox="1"/>
            <p:nvPr/>
          </p:nvSpPr>
          <p:spPr>
            <a:xfrm>
              <a:off x="8011884" y="164442"/>
              <a:ext cx="10294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x</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y</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a:t>
              </a:r>
            </a:p>
          </p:txBody>
        </p:sp>
        <p:sp>
          <p:nvSpPr>
            <p:cNvPr id="34" name="TextBox 33">
              <a:extLst>
                <a:ext uri="{FF2B5EF4-FFF2-40B4-BE49-F238E27FC236}">
                  <a16:creationId xmlns:a16="http://schemas.microsoft.com/office/drawing/2014/main" id="{717C672B-9C26-48E8-8966-6077E8A07486}"/>
                </a:ext>
              </a:extLst>
            </p:cNvPr>
            <p:cNvSpPr txBox="1"/>
            <p:nvPr/>
          </p:nvSpPr>
          <p:spPr>
            <a:xfrm>
              <a:off x="9289402" y="2650093"/>
              <a:ext cx="10294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x</a:t>
              </a:r>
              <a:r>
                <a:rPr lang="en-US" sz="2400" baseline="-25000" dirty="0">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y</a:t>
              </a:r>
              <a:r>
                <a:rPr lang="en-US" sz="2400" baseline="-25000" dirty="0">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a:t>
              </a:r>
            </a:p>
          </p:txBody>
        </p:sp>
        <p:sp>
          <p:nvSpPr>
            <p:cNvPr id="35" name="TextBox 34">
              <a:extLst>
                <a:ext uri="{FF2B5EF4-FFF2-40B4-BE49-F238E27FC236}">
                  <a16:creationId xmlns:a16="http://schemas.microsoft.com/office/drawing/2014/main" id="{B6D8D574-CF81-43ED-A3BC-3A9C7B85D8C8}"/>
                </a:ext>
              </a:extLst>
            </p:cNvPr>
            <p:cNvSpPr txBox="1"/>
            <p:nvPr/>
          </p:nvSpPr>
          <p:spPr>
            <a:xfrm>
              <a:off x="5387650" y="3109152"/>
              <a:ext cx="10294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x</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y</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a:t>
              </a:r>
            </a:p>
          </p:txBody>
        </p:sp>
      </p:gr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D7E0DC1-5E51-434F-8CF0-D6B1DB023614}"/>
                  </a:ext>
                </a:extLst>
              </p:cNvPr>
              <p:cNvSpPr txBox="1"/>
              <p:nvPr/>
            </p:nvSpPr>
            <p:spPr>
              <a:xfrm>
                <a:off x="320350" y="739761"/>
                <a:ext cx="5654351" cy="1403718"/>
              </a:xfrm>
              <a:prstGeom prst="rect">
                <a:avLst/>
              </a:prstGeom>
              <a:solidFill>
                <a:srgbClr val="CCECFF"/>
              </a:solid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sz="2800" i="1" smtClean="0">
                              <a:latin typeface="Cambria Math" panose="02040503050406030204" pitchFamily="18" charset="0"/>
                            </a:rPr>
                          </m:ctrlPr>
                        </m:sSubSupPr>
                        <m:e>
                          <m:r>
                            <a:rPr lang="en-US" sz="2800" b="0" i="1" smtClean="0">
                              <a:latin typeface="Cambria Math" panose="02040503050406030204" pitchFamily="18" charset="0"/>
                            </a:rPr>
                            <m:t>𝑑</m:t>
                          </m:r>
                        </m:e>
                        <m:sub>
                          <m:r>
                            <a:rPr lang="en-US" sz="2800" b="0" i="1" smtClean="0">
                              <a:latin typeface="Cambria Math" panose="02040503050406030204" pitchFamily="18" charset="0"/>
                            </a:rPr>
                            <m:t>1</m:t>
                          </m:r>
                        </m:sub>
                        <m:sup>
                          <m:r>
                            <a:rPr lang="en-US" sz="2800" b="0" i="1" smtClean="0">
                              <a:latin typeface="Cambria Math" panose="02040503050406030204" pitchFamily="18" charset="0"/>
                            </a:rPr>
                            <m:t>2</m:t>
                          </m:r>
                        </m:sup>
                      </m:sSubSup>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𝑛𝑜𝑑𝑒</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e>
                          </m:d>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0" i="1" smtClean="0">
                                      <a:latin typeface="Cambria Math" panose="02040503050406030204" pitchFamily="18" charset="0"/>
                                    </a:rPr>
                                    <m:t>𝑦</m:t>
                                  </m:r>
                                </m:e>
                                <m:sub>
                                  <m:r>
                                    <a:rPr lang="en-US" sz="2800" i="1">
                                      <a:latin typeface="Cambria Math" panose="02040503050406030204" pitchFamily="18" charset="0"/>
                                    </a:rPr>
                                    <m:t>𝑛𝑜𝑑𝑒</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b="0" i="1" smtClean="0">
                                      <a:latin typeface="Cambria Math" panose="02040503050406030204" pitchFamily="18" charset="0"/>
                                    </a:rPr>
                                    <m:t>𝑦</m:t>
                                  </m:r>
                                </m:e>
                                <m:sub>
                                  <m:r>
                                    <a:rPr lang="en-US" sz="2800" i="1">
                                      <a:latin typeface="Cambria Math" panose="02040503050406030204" pitchFamily="18" charset="0"/>
                                    </a:rPr>
                                    <m:t>1</m:t>
                                  </m:r>
                                </m:sub>
                              </m:sSub>
                            </m:e>
                          </m:d>
                        </m:e>
                        <m:sup>
                          <m:r>
                            <a:rPr lang="en-US" sz="2800" i="1">
                              <a:latin typeface="Cambria Math" panose="02040503050406030204" pitchFamily="18" charset="0"/>
                            </a:rPr>
                            <m:t>2</m:t>
                          </m:r>
                        </m:sup>
                      </m:sSup>
                    </m:oMath>
                  </m:oMathPara>
                </a14:m>
                <a:endParaRPr lang="en-US" sz="28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Sup>
                        <m:sSubSupPr>
                          <m:ctrlPr>
                            <a:rPr lang="en-US" sz="2800" i="1">
                              <a:latin typeface="Cambria Math" panose="02040503050406030204" pitchFamily="18" charset="0"/>
                            </a:rPr>
                          </m:ctrlPr>
                        </m:sSubSupPr>
                        <m:e>
                          <m:r>
                            <a:rPr lang="en-US" sz="2800" i="1">
                              <a:latin typeface="Cambria Math" panose="02040503050406030204" pitchFamily="18" charset="0"/>
                            </a:rPr>
                            <m:t>𝑑</m:t>
                          </m:r>
                        </m:e>
                        <m:sub>
                          <m:r>
                            <a:rPr lang="en-US" sz="2800" b="0" i="1" smtClean="0">
                              <a:latin typeface="Cambria Math" panose="02040503050406030204" pitchFamily="18" charset="0"/>
                            </a:rPr>
                            <m:t>2</m:t>
                          </m:r>
                        </m:sub>
                        <m:sup>
                          <m:r>
                            <a:rPr lang="en-US" sz="2800" i="1">
                              <a:latin typeface="Cambria Math" panose="02040503050406030204" pitchFamily="18" charset="0"/>
                            </a:rPr>
                            <m:t>2</m:t>
                          </m:r>
                        </m:sup>
                      </m:sSubSup>
                      <m:r>
                        <a:rPr lang="en-US" sz="2800" i="1">
                          <a:latin typeface="Cambria Math" panose="02040503050406030204" pitchFamily="18" charset="0"/>
                        </a:rPr>
                        <m:t>=</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𝑛𝑜𝑑𝑒</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b="0" i="1" smtClean="0">
                                      <a:latin typeface="Cambria Math" panose="02040503050406030204" pitchFamily="18" charset="0"/>
                                    </a:rPr>
                                    <m:t>2</m:t>
                                  </m:r>
                                </m:sub>
                              </m:sSub>
                            </m:e>
                          </m:d>
                        </m:e>
                        <m:sup>
                          <m:r>
                            <a:rPr lang="en-US" sz="2800" i="1">
                              <a:latin typeface="Cambria Math" panose="02040503050406030204" pitchFamily="18" charset="0"/>
                            </a:rPr>
                            <m:t>2</m:t>
                          </m:r>
                        </m:sup>
                      </m:sSup>
                      <m:r>
                        <a:rPr lang="en-US" sz="2800" i="1">
                          <a:latin typeface="Cambria Math" panose="02040503050406030204" pitchFamily="18" charset="0"/>
                        </a:rPr>
                        <m:t>+</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0" i="1" smtClean="0">
                                      <a:latin typeface="Cambria Math" panose="02040503050406030204" pitchFamily="18" charset="0"/>
                                    </a:rPr>
                                    <m:t>𝑦</m:t>
                                  </m:r>
                                </m:e>
                                <m:sub>
                                  <m:r>
                                    <a:rPr lang="en-US" sz="2800" i="1">
                                      <a:latin typeface="Cambria Math" panose="02040503050406030204" pitchFamily="18" charset="0"/>
                                    </a:rPr>
                                    <m:t>𝑛𝑜𝑑𝑒</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b="0" i="1" smtClean="0">
                                      <a:latin typeface="Cambria Math" panose="02040503050406030204" pitchFamily="18" charset="0"/>
                                    </a:rPr>
                                    <m:t>2</m:t>
                                  </m:r>
                                </m:sub>
                              </m:sSub>
                            </m:e>
                          </m:d>
                        </m:e>
                        <m:sup>
                          <m:r>
                            <a:rPr lang="en-US" sz="2800" i="1">
                              <a:latin typeface="Cambria Math" panose="02040503050406030204" pitchFamily="18" charset="0"/>
                            </a:rPr>
                            <m:t>2</m:t>
                          </m:r>
                        </m:sup>
                      </m:sSup>
                    </m:oMath>
                  </m:oMathPara>
                </a14:m>
                <a:endParaRPr lang="en-US" sz="28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Sup>
                        <m:sSubSupPr>
                          <m:ctrlPr>
                            <a:rPr lang="en-US" sz="2800" i="1">
                              <a:latin typeface="Cambria Math" panose="02040503050406030204" pitchFamily="18" charset="0"/>
                            </a:rPr>
                          </m:ctrlPr>
                        </m:sSubSupPr>
                        <m:e>
                          <m:r>
                            <a:rPr lang="en-US" sz="2800" i="1">
                              <a:latin typeface="Cambria Math" panose="02040503050406030204" pitchFamily="18" charset="0"/>
                            </a:rPr>
                            <m:t>𝑑</m:t>
                          </m:r>
                        </m:e>
                        <m:sub>
                          <m:r>
                            <a:rPr lang="en-US" sz="2800" b="0" i="1" smtClean="0">
                              <a:latin typeface="Cambria Math" panose="02040503050406030204" pitchFamily="18" charset="0"/>
                            </a:rPr>
                            <m:t>3</m:t>
                          </m:r>
                        </m:sub>
                        <m:sup>
                          <m:r>
                            <a:rPr lang="en-US" sz="2800" i="1">
                              <a:latin typeface="Cambria Math" panose="02040503050406030204" pitchFamily="18" charset="0"/>
                            </a:rPr>
                            <m:t>2</m:t>
                          </m:r>
                        </m:sup>
                      </m:sSubSup>
                      <m:r>
                        <a:rPr lang="en-US" sz="2800" i="1">
                          <a:latin typeface="Cambria Math" panose="02040503050406030204" pitchFamily="18" charset="0"/>
                        </a:rPr>
                        <m:t>=</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𝑛𝑜𝑑𝑒</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b="0" i="1" smtClean="0">
                                      <a:latin typeface="Cambria Math" panose="02040503050406030204" pitchFamily="18" charset="0"/>
                                    </a:rPr>
                                    <m:t>3</m:t>
                                  </m:r>
                                </m:sub>
                              </m:sSub>
                            </m:e>
                          </m:d>
                        </m:e>
                        <m:sup>
                          <m:r>
                            <a:rPr lang="en-US" sz="2800" i="1">
                              <a:latin typeface="Cambria Math" panose="02040503050406030204" pitchFamily="18" charset="0"/>
                            </a:rPr>
                            <m:t>2</m:t>
                          </m:r>
                        </m:sup>
                      </m:sSup>
                      <m:r>
                        <a:rPr lang="en-US" sz="2800" i="1">
                          <a:latin typeface="Cambria Math" panose="02040503050406030204" pitchFamily="18" charset="0"/>
                        </a:rPr>
                        <m:t>+</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0" i="1" smtClean="0">
                                      <a:latin typeface="Cambria Math" panose="02040503050406030204" pitchFamily="18" charset="0"/>
                                    </a:rPr>
                                    <m:t>𝑦</m:t>
                                  </m:r>
                                </m:e>
                                <m:sub>
                                  <m:r>
                                    <a:rPr lang="en-US" sz="2800" i="1">
                                      <a:latin typeface="Cambria Math" panose="02040503050406030204" pitchFamily="18" charset="0"/>
                                    </a:rPr>
                                    <m:t>𝑛𝑜𝑑𝑒</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b="0" i="1" smtClean="0">
                                      <a:latin typeface="Cambria Math" panose="02040503050406030204" pitchFamily="18" charset="0"/>
                                    </a:rPr>
                                    <m:t>3</m:t>
                                  </m:r>
                                </m:sub>
                              </m:sSub>
                            </m:e>
                          </m:d>
                        </m:e>
                        <m:sup>
                          <m:r>
                            <a:rPr lang="en-US" sz="2800" i="1">
                              <a:latin typeface="Cambria Math" panose="02040503050406030204" pitchFamily="18" charset="0"/>
                            </a:rPr>
                            <m:t>2</m:t>
                          </m:r>
                        </m:sup>
                      </m:sSup>
                    </m:oMath>
                  </m:oMathPara>
                </a14:m>
                <a:endParaRPr lang="en-US" sz="2800" dirty="0">
                  <a:latin typeface="Times New Roman" panose="02020603050405020304" pitchFamily="18" charset="0"/>
                  <a:cs typeface="Times New Roman" panose="02020603050405020304" pitchFamily="18" charset="0"/>
                </a:endParaRPr>
              </a:p>
            </p:txBody>
          </p:sp>
        </mc:Choice>
        <mc:Fallback xmlns="">
          <p:sp>
            <p:nvSpPr>
              <p:cNvPr id="37" name="TextBox 36">
                <a:extLst>
                  <a:ext uri="{FF2B5EF4-FFF2-40B4-BE49-F238E27FC236}">
                    <a16:creationId xmlns:a16="http://schemas.microsoft.com/office/drawing/2014/main" id="{8D7E0DC1-5E51-434F-8CF0-D6B1DB023614}"/>
                  </a:ext>
                </a:extLst>
              </p:cNvPr>
              <p:cNvSpPr txBox="1">
                <a:spLocks noRot="1" noChangeAspect="1" noMove="1" noResize="1" noEditPoints="1" noAdjustHandles="1" noChangeArrowheads="1" noChangeShapeType="1" noTextEdit="1"/>
              </p:cNvSpPr>
              <p:nvPr/>
            </p:nvSpPr>
            <p:spPr>
              <a:xfrm>
                <a:off x="320350" y="739761"/>
                <a:ext cx="5654351" cy="1403718"/>
              </a:xfrm>
              <a:prstGeom prst="rect">
                <a:avLst/>
              </a:prstGeom>
              <a:blipFill>
                <a:blip r:embed="rId2"/>
                <a:stretch>
                  <a:fillRect/>
                </a:stretch>
              </a:blipFill>
            </p:spPr>
            <p:txBody>
              <a:bodyPr/>
              <a:lstStyle/>
              <a:p>
                <a:r>
                  <a:rPr lang="en-US">
                    <a:noFill/>
                  </a:rPr>
                  <a:t> </a:t>
                </a:r>
              </a:p>
            </p:txBody>
          </p:sp>
        </mc:Fallback>
      </mc:AlternateContent>
      <p:sp>
        <p:nvSpPr>
          <p:cNvPr id="38" name="TextBox 37">
            <a:extLst>
              <a:ext uri="{FF2B5EF4-FFF2-40B4-BE49-F238E27FC236}">
                <a16:creationId xmlns:a16="http://schemas.microsoft.com/office/drawing/2014/main" id="{24167AB7-D5BB-48AF-A18E-9E29204970B9}"/>
              </a:ext>
            </a:extLst>
          </p:cNvPr>
          <p:cNvSpPr txBox="1"/>
          <p:nvPr/>
        </p:nvSpPr>
        <p:spPr>
          <a:xfrm>
            <a:off x="169506" y="4761491"/>
            <a:ext cx="6212633" cy="461665"/>
          </a:xfrm>
          <a:prstGeom prst="rect">
            <a:avLst/>
          </a:prstGeom>
          <a:solidFill>
            <a:srgbClr val="FFC000"/>
          </a:solidFill>
        </p:spPr>
        <p:txBody>
          <a:bodyPr wrap="square" rtlCol="0">
            <a:spAutoFit/>
          </a:bodyPr>
          <a:lstStyle/>
          <a:p>
            <a:r>
              <a:rPr lang="en-US" sz="2400" dirty="0">
                <a:latin typeface="Times New Roman" panose="02020603050405020304" pitchFamily="18" charset="0"/>
                <a:cs typeface="Times New Roman" panose="02020603050405020304" pitchFamily="18" charset="0"/>
              </a:rPr>
              <a:t>Solving above equations we can find (</a:t>
            </a:r>
            <a:r>
              <a:rPr lang="en-US" sz="2400" i="1" dirty="0" err="1">
                <a:latin typeface="Times New Roman" panose="02020603050405020304" pitchFamily="18" charset="0"/>
                <a:cs typeface="Times New Roman" panose="02020603050405020304" pitchFamily="18" charset="0"/>
              </a:rPr>
              <a:t>x</a:t>
            </a:r>
            <a:r>
              <a:rPr lang="en-US" sz="2400" i="1" baseline="-25000" dirty="0" err="1">
                <a:latin typeface="Times New Roman" panose="02020603050405020304" pitchFamily="18" charset="0"/>
                <a:cs typeface="Times New Roman" panose="02020603050405020304" pitchFamily="18" charset="0"/>
              </a:rPr>
              <a:t>node</a:t>
            </a:r>
            <a:r>
              <a:rPr lang="en-US" sz="2400"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y</a:t>
            </a:r>
            <a:r>
              <a:rPr lang="en-US" sz="2400" i="1" baseline="-25000" dirty="0" err="1">
                <a:latin typeface="Times New Roman" panose="02020603050405020304" pitchFamily="18" charset="0"/>
                <a:cs typeface="Times New Roman" panose="02020603050405020304" pitchFamily="18" charset="0"/>
              </a:rPr>
              <a:t>node</a:t>
            </a:r>
            <a:r>
              <a:rPr lang="en-US" sz="2400" dirty="0">
                <a:latin typeface="Times New Roman" panose="02020603050405020304" pitchFamily="18" charset="0"/>
                <a:cs typeface="Times New Roman" panose="02020603050405020304" pitchFamily="18" charset="0"/>
              </a:rPr>
              <a:t>) </a:t>
            </a:r>
          </a:p>
        </p:txBody>
      </p:sp>
      <p:sp>
        <p:nvSpPr>
          <p:cNvPr id="5" name="Slide Number Placeholder 4">
            <a:extLst>
              <a:ext uri="{FF2B5EF4-FFF2-40B4-BE49-F238E27FC236}">
                <a16:creationId xmlns:a16="http://schemas.microsoft.com/office/drawing/2014/main" id="{79377084-899A-4CF7-8283-8F7D22347DB0}"/>
              </a:ext>
            </a:extLst>
          </p:cNvPr>
          <p:cNvSpPr>
            <a:spLocks noGrp="1"/>
          </p:cNvSpPr>
          <p:nvPr>
            <p:ph type="sldNum" sz="quarter" idx="12"/>
          </p:nvPr>
        </p:nvSpPr>
        <p:spPr/>
        <p:txBody>
          <a:bodyPr/>
          <a:lstStyle/>
          <a:p>
            <a:fld id="{C3F1913A-7668-436E-8561-76A60B792217}" type="slidenum">
              <a:rPr lang="en-US" smtClean="0"/>
              <a:t>66</a:t>
            </a:fld>
            <a:endParaRPr lang="en-US"/>
          </a:p>
        </p:txBody>
      </p:sp>
    </p:spTree>
    <p:extLst>
      <p:ext uri="{BB962C8B-B14F-4D97-AF65-F5344CB8AC3E}">
        <p14:creationId xmlns:p14="http://schemas.microsoft.com/office/powerpoint/2010/main" val="12879703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3A60BE6-47B1-4FB6-BFA1-21D3E16FC463}"/>
              </a:ext>
            </a:extLst>
          </p:cNvPr>
          <p:cNvSpPr txBox="1"/>
          <p:nvPr/>
        </p:nvSpPr>
        <p:spPr>
          <a:xfrm>
            <a:off x="81293" y="93064"/>
            <a:ext cx="4913694" cy="584775"/>
          </a:xfrm>
          <a:prstGeom prst="rect">
            <a:avLst/>
          </a:prstGeom>
          <a:solidFill>
            <a:srgbClr val="CCECFF"/>
          </a:solidFill>
        </p:spPr>
        <p:txBody>
          <a:bodyPr wrap="square" rtlCol="0">
            <a:spAutoFit/>
          </a:bodyPr>
          <a:lstStyle/>
          <a:p>
            <a:r>
              <a:rPr lang="en-US" sz="3200" dirty="0">
                <a:latin typeface="Times New Roman" panose="02020603050405020304" pitchFamily="18" charset="0"/>
                <a:cs typeface="Times New Roman" panose="02020603050405020304" pitchFamily="18" charset="0"/>
              </a:rPr>
              <a:t>GA in shortest link selection</a:t>
            </a:r>
          </a:p>
        </p:txBody>
      </p:sp>
      <p:sp>
        <p:nvSpPr>
          <p:cNvPr id="63" name="TextBox 62">
            <a:extLst>
              <a:ext uri="{FF2B5EF4-FFF2-40B4-BE49-F238E27FC236}">
                <a16:creationId xmlns:a16="http://schemas.microsoft.com/office/drawing/2014/main" id="{622DD916-3359-4D0D-A6B4-B7D0F2F85C87}"/>
              </a:ext>
            </a:extLst>
          </p:cNvPr>
          <p:cNvSpPr txBox="1"/>
          <p:nvPr/>
        </p:nvSpPr>
        <p:spPr>
          <a:xfrm>
            <a:off x="4705739" y="939058"/>
            <a:ext cx="401216"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H</a:t>
            </a:r>
          </a:p>
        </p:txBody>
      </p:sp>
      <p:grpSp>
        <p:nvGrpSpPr>
          <p:cNvPr id="66" name="Group 65">
            <a:extLst>
              <a:ext uri="{FF2B5EF4-FFF2-40B4-BE49-F238E27FC236}">
                <a16:creationId xmlns:a16="http://schemas.microsoft.com/office/drawing/2014/main" id="{77CA2936-A136-46A2-99AF-86B3BFBF3A4B}"/>
              </a:ext>
            </a:extLst>
          </p:cNvPr>
          <p:cNvGrpSpPr/>
          <p:nvPr/>
        </p:nvGrpSpPr>
        <p:grpSpPr>
          <a:xfrm>
            <a:off x="357672" y="1071555"/>
            <a:ext cx="5038531" cy="3003340"/>
            <a:chOff x="1161661" y="1271246"/>
            <a:chExt cx="5038531" cy="3003340"/>
          </a:xfrm>
        </p:grpSpPr>
        <p:sp>
          <p:nvSpPr>
            <p:cNvPr id="6" name="Oval 5">
              <a:extLst>
                <a:ext uri="{FF2B5EF4-FFF2-40B4-BE49-F238E27FC236}">
                  <a16:creationId xmlns:a16="http://schemas.microsoft.com/office/drawing/2014/main" id="{2189BB00-1B38-41D3-82C0-3616606BC34D}"/>
                </a:ext>
              </a:extLst>
            </p:cNvPr>
            <p:cNvSpPr/>
            <p:nvPr/>
          </p:nvSpPr>
          <p:spPr>
            <a:xfrm>
              <a:off x="1436914" y="1726163"/>
              <a:ext cx="251927" cy="279919"/>
            </a:xfrm>
            <a:prstGeom prst="ellips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02C87E5-D9D9-4117-B610-DE69C1AC7427}"/>
                </a:ext>
              </a:extLst>
            </p:cNvPr>
            <p:cNvSpPr/>
            <p:nvPr/>
          </p:nvSpPr>
          <p:spPr>
            <a:xfrm>
              <a:off x="2743200" y="1621579"/>
              <a:ext cx="251927" cy="279919"/>
            </a:xfrm>
            <a:prstGeom prst="ellipse">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80D7043-6893-4CCD-93DD-7ED9810D612D}"/>
                </a:ext>
              </a:extLst>
            </p:cNvPr>
            <p:cNvSpPr/>
            <p:nvPr/>
          </p:nvSpPr>
          <p:spPr>
            <a:xfrm>
              <a:off x="1768150" y="2920482"/>
              <a:ext cx="251927" cy="279919"/>
            </a:xfrm>
            <a:prstGeom prst="ellipse">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778A0BC-5AB5-43CC-91B7-69EA72950F7B}"/>
                </a:ext>
              </a:extLst>
            </p:cNvPr>
            <p:cNvSpPr/>
            <p:nvPr/>
          </p:nvSpPr>
          <p:spPr>
            <a:xfrm>
              <a:off x="3722914" y="2065174"/>
              <a:ext cx="251927" cy="279919"/>
            </a:xfrm>
            <a:prstGeom prst="ellipse">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1726858-E749-4AFB-A885-3941A70A7898}"/>
                </a:ext>
              </a:extLst>
            </p:cNvPr>
            <p:cNvSpPr/>
            <p:nvPr/>
          </p:nvSpPr>
          <p:spPr>
            <a:xfrm>
              <a:off x="3391678" y="2768082"/>
              <a:ext cx="251927" cy="279919"/>
            </a:xfrm>
            <a:prstGeom prst="ellipse">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BE134E8-D10F-4E02-AA82-31FC361C92D7}"/>
                </a:ext>
              </a:extLst>
            </p:cNvPr>
            <p:cNvSpPr/>
            <p:nvPr/>
          </p:nvSpPr>
          <p:spPr>
            <a:xfrm>
              <a:off x="2198914" y="2488163"/>
              <a:ext cx="251927" cy="279919"/>
            </a:xfrm>
            <a:prstGeom prst="ellipse">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97BBA6A-DB81-456F-8A19-43A97F92120C}"/>
                </a:ext>
              </a:extLst>
            </p:cNvPr>
            <p:cNvSpPr/>
            <p:nvPr/>
          </p:nvSpPr>
          <p:spPr>
            <a:xfrm>
              <a:off x="4842587" y="1341660"/>
              <a:ext cx="251927" cy="279919"/>
            </a:xfrm>
            <a:prstGeom prst="ellipse">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C3D2979-5ADA-48BF-BFC6-786DD8FA2330}"/>
                </a:ext>
              </a:extLst>
            </p:cNvPr>
            <p:cNvSpPr/>
            <p:nvPr/>
          </p:nvSpPr>
          <p:spPr>
            <a:xfrm>
              <a:off x="4453812" y="3530082"/>
              <a:ext cx="251927" cy="279919"/>
            </a:xfrm>
            <a:prstGeom prst="ellipse">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7F22574-9779-490D-9475-7193EC5AE863}"/>
                </a:ext>
              </a:extLst>
            </p:cNvPr>
            <p:cNvSpPr/>
            <p:nvPr/>
          </p:nvSpPr>
          <p:spPr>
            <a:xfrm>
              <a:off x="5725886" y="2637452"/>
              <a:ext cx="251927" cy="27991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D2E49AB-449F-461D-925A-0707D01C3271}"/>
                </a:ext>
              </a:extLst>
            </p:cNvPr>
            <p:cNvSpPr/>
            <p:nvPr/>
          </p:nvSpPr>
          <p:spPr>
            <a:xfrm>
              <a:off x="2640562" y="3390122"/>
              <a:ext cx="251927" cy="279919"/>
            </a:xfrm>
            <a:prstGeom prst="ellipse">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AAC63A50-CFAA-4A11-AE6F-9FA0C5C625D5}"/>
                </a:ext>
              </a:extLst>
            </p:cNvPr>
            <p:cNvSpPr/>
            <p:nvPr/>
          </p:nvSpPr>
          <p:spPr>
            <a:xfrm>
              <a:off x="3722914" y="3810001"/>
              <a:ext cx="251927" cy="279919"/>
            </a:xfrm>
            <a:prstGeom prst="ellipse">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28D3AC6-14E7-4743-8ABC-C1879EEEB7A7}"/>
                </a:ext>
              </a:extLst>
            </p:cNvPr>
            <p:cNvSpPr/>
            <p:nvPr/>
          </p:nvSpPr>
          <p:spPr>
            <a:xfrm>
              <a:off x="4595327" y="2488163"/>
              <a:ext cx="251927" cy="279919"/>
            </a:xfrm>
            <a:prstGeom prst="ellipse">
              <a:avLst/>
            </a:prstGeom>
            <a:solidFill>
              <a:srgbClr val="FF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E85476F-2DCB-433B-A5D9-BD63FF36DC1E}"/>
                </a:ext>
              </a:extLst>
            </p:cNvPr>
            <p:cNvSpPr txBox="1"/>
            <p:nvPr/>
          </p:nvSpPr>
          <p:spPr>
            <a:xfrm>
              <a:off x="1161661" y="1326891"/>
              <a:ext cx="401216"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S</a:t>
              </a:r>
            </a:p>
          </p:txBody>
        </p:sp>
        <p:sp>
          <p:nvSpPr>
            <p:cNvPr id="19" name="TextBox 18">
              <a:extLst>
                <a:ext uri="{FF2B5EF4-FFF2-40B4-BE49-F238E27FC236}">
                  <a16:creationId xmlns:a16="http://schemas.microsoft.com/office/drawing/2014/main" id="{C4B24AE7-89BB-4CC9-AD7D-7F128C618EE6}"/>
                </a:ext>
              </a:extLst>
            </p:cNvPr>
            <p:cNvSpPr txBox="1"/>
            <p:nvPr/>
          </p:nvSpPr>
          <p:spPr>
            <a:xfrm>
              <a:off x="5798976" y="2262678"/>
              <a:ext cx="401216"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D</a:t>
              </a:r>
            </a:p>
          </p:txBody>
        </p:sp>
        <p:cxnSp>
          <p:nvCxnSpPr>
            <p:cNvPr id="21" name="Straight Connector 20">
              <a:extLst>
                <a:ext uri="{FF2B5EF4-FFF2-40B4-BE49-F238E27FC236}">
                  <a16:creationId xmlns:a16="http://schemas.microsoft.com/office/drawing/2014/main" id="{B8E8D242-0B34-4FAA-A91D-0D2637B98E18}"/>
                </a:ext>
              </a:extLst>
            </p:cNvPr>
            <p:cNvCxnSpPr>
              <a:cxnSpLocks/>
              <a:stCxn id="6" idx="6"/>
              <a:endCxn id="7" idx="2"/>
            </p:cNvCxnSpPr>
            <p:nvPr/>
          </p:nvCxnSpPr>
          <p:spPr>
            <a:xfrm flipV="1">
              <a:off x="1688841" y="1761539"/>
              <a:ext cx="1054359" cy="104584"/>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E8F4930-6A0D-4C5F-8A97-24504BD84D14}"/>
                </a:ext>
              </a:extLst>
            </p:cNvPr>
            <p:cNvCxnSpPr>
              <a:stCxn id="7" idx="6"/>
              <a:endCxn id="9" idx="1"/>
            </p:cNvCxnSpPr>
            <p:nvPr/>
          </p:nvCxnSpPr>
          <p:spPr>
            <a:xfrm>
              <a:off x="2995127" y="1761539"/>
              <a:ext cx="764681" cy="34462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86BB646-D52F-408C-AF44-6D04B271D9D9}"/>
                </a:ext>
              </a:extLst>
            </p:cNvPr>
            <p:cNvCxnSpPr>
              <a:stCxn id="7" idx="7"/>
              <a:endCxn id="12" idx="2"/>
            </p:cNvCxnSpPr>
            <p:nvPr/>
          </p:nvCxnSpPr>
          <p:spPr>
            <a:xfrm flipV="1">
              <a:off x="2958233" y="1481620"/>
              <a:ext cx="1884354" cy="1809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ED52810-4FB2-41F9-AD1D-C07DA8934D36}"/>
                </a:ext>
              </a:extLst>
            </p:cNvPr>
            <p:cNvCxnSpPr>
              <a:stCxn id="6" idx="4"/>
              <a:endCxn id="11" idx="0"/>
            </p:cNvCxnSpPr>
            <p:nvPr/>
          </p:nvCxnSpPr>
          <p:spPr>
            <a:xfrm>
              <a:off x="1562878" y="2006082"/>
              <a:ext cx="762000" cy="482081"/>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9E615CF-4B1A-4441-89D6-B698A0077599}"/>
                </a:ext>
              </a:extLst>
            </p:cNvPr>
            <p:cNvCxnSpPr>
              <a:stCxn id="11" idx="6"/>
              <a:endCxn id="10" idx="1"/>
            </p:cNvCxnSpPr>
            <p:nvPr/>
          </p:nvCxnSpPr>
          <p:spPr>
            <a:xfrm>
              <a:off x="2450841" y="2628123"/>
              <a:ext cx="977731" cy="180952"/>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0B49F17-4ACF-4183-A8C9-A5C7FCB9A224}"/>
                </a:ext>
              </a:extLst>
            </p:cNvPr>
            <p:cNvCxnSpPr>
              <a:stCxn id="11" idx="4"/>
              <a:endCxn id="8" idx="6"/>
            </p:cNvCxnSpPr>
            <p:nvPr/>
          </p:nvCxnSpPr>
          <p:spPr>
            <a:xfrm flipH="1">
              <a:off x="2020077" y="2768082"/>
              <a:ext cx="304801" cy="2923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40C164F-C479-4638-B7A9-12FD098DCC93}"/>
                </a:ext>
              </a:extLst>
            </p:cNvPr>
            <p:cNvCxnSpPr>
              <a:stCxn id="8" idx="5"/>
              <a:endCxn id="15" idx="1"/>
            </p:cNvCxnSpPr>
            <p:nvPr/>
          </p:nvCxnSpPr>
          <p:spPr>
            <a:xfrm>
              <a:off x="1983183" y="3159408"/>
              <a:ext cx="694273" cy="271707"/>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9629E50-78E3-4881-A497-BF68427AF37D}"/>
                </a:ext>
              </a:extLst>
            </p:cNvPr>
            <p:cNvCxnSpPr>
              <a:stCxn id="10" idx="4"/>
              <a:endCxn id="16" idx="0"/>
            </p:cNvCxnSpPr>
            <p:nvPr/>
          </p:nvCxnSpPr>
          <p:spPr>
            <a:xfrm>
              <a:off x="3517642" y="3048001"/>
              <a:ext cx="331236"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7353E13-6CA9-4FE9-921F-BB943D5CAA49}"/>
                </a:ext>
              </a:extLst>
            </p:cNvPr>
            <p:cNvCxnSpPr>
              <a:cxnSpLocks/>
              <a:stCxn id="10" idx="7"/>
              <a:endCxn id="9" idx="4"/>
            </p:cNvCxnSpPr>
            <p:nvPr/>
          </p:nvCxnSpPr>
          <p:spPr>
            <a:xfrm flipV="1">
              <a:off x="3606711" y="2345093"/>
              <a:ext cx="242167" cy="46398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13A7C4F-7F36-4DFA-B4A3-022B48961F35}"/>
                </a:ext>
              </a:extLst>
            </p:cNvPr>
            <p:cNvCxnSpPr>
              <a:stCxn id="9" idx="6"/>
              <a:endCxn id="12" idx="3"/>
            </p:cNvCxnSpPr>
            <p:nvPr/>
          </p:nvCxnSpPr>
          <p:spPr>
            <a:xfrm flipV="1">
              <a:off x="3974841" y="1580586"/>
              <a:ext cx="904640" cy="624548"/>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FA89B89-03CF-4E91-8DA4-4EC2A4FF975D}"/>
                </a:ext>
              </a:extLst>
            </p:cNvPr>
            <p:cNvCxnSpPr>
              <a:stCxn id="12" idx="5"/>
              <a:endCxn id="14" idx="1"/>
            </p:cNvCxnSpPr>
            <p:nvPr/>
          </p:nvCxnSpPr>
          <p:spPr>
            <a:xfrm>
              <a:off x="5057620" y="1580586"/>
              <a:ext cx="705160" cy="1097859"/>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0F87FE4-EA99-44CC-8487-A9ED351CC6E2}"/>
                </a:ext>
              </a:extLst>
            </p:cNvPr>
            <p:cNvCxnSpPr>
              <a:stCxn id="9" idx="5"/>
              <a:endCxn id="17" idx="1"/>
            </p:cNvCxnSpPr>
            <p:nvPr/>
          </p:nvCxnSpPr>
          <p:spPr>
            <a:xfrm>
              <a:off x="3937947" y="2304100"/>
              <a:ext cx="694274" cy="225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2825EF7E-525D-40CD-99A5-B7837100A9E2}"/>
                </a:ext>
              </a:extLst>
            </p:cNvPr>
            <p:cNvCxnSpPr>
              <a:stCxn id="10" idx="6"/>
              <a:endCxn id="17" idx="2"/>
            </p:cNvCxnSpPr>
            <p:nvPr/>
          </p:nvCxnSpPr>
          <p:spPr>
            <a:xfrm flipV="1">
              <a:off x="3643605" y="2628123"/>
              <a:ext cx="951722" cy="279919"/>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2E94C42-8522-4F52-8421-F24B563B4026}"/>
                </a:ext>
              </a:extLst>
            </p:cNvPr>
            <p:cNvCxnSpPr>
              <a:stCxn id="16" idx="6"/>
              <a:endCxn id="13" idx="2"/>
            </p:cNvCxnSpPr>
            <p:nvPr/>
          </p:nvCxnSpPr>
          <p:spPr>
            <a:xfrm flipV="1">
              <a:off x="3974841" y="3670042"/>
              <a:ext cx="478971" cy="279919"/>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0BE133E-21DF-44E9-851B-3AE375CA862F}"/>
                </a:ext>
              </a:extLst>
            </p:cNvPr>
            <p:cNvCxnSpPr>
              <a:stCxn id="13" idx="6"/>
              <a:endCxn id="14" idx="3"/>
            </p:cNvCxnSpPr>
            <p:nvPr/>
          </p:nvCxnSpPr>
          <p:spPr>
            <a:xfrm flipV="1">
              <a:off x="4705739" y="2876378"/>
              <a:ext cx="1057041" cy="793664"/>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97E648AB-3FE6-4EAE-BAF4-F8F8B898EE74}"/>
                </a:ext>
              </a:extLst>
            </p:cNvPr>
            <p:cNvCxnSpPr>
              <a:stCxn id="15" idx="6"/>
              <a:endCxn id="16" idx="1"/>
            </p:cNvCxnSpPr>
            <p:nvPr/>
          </p:nvCxnSpPr>
          <p:spPr>
            <a:xfrm>
              <a:off x="2892489" y="3530082"/>
              <a:ext cx="867319" cy="320912"/>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4B65562-67E2-4ECF-86E4-02422D0D46C1}"/>
                </a:ext>
              </a:extLst>
            </p:cNvPr>
            <p:cNvCxnSpPr>
              <a:stCxn id="17" idx="6"/>
              <a:endCxn id="14" idx="2"/>
            </p:cNvCxnSpPr>
            <p:nvPr/>
          </p:nvCxnSpPr>
          <p:spPr>
            <a:xfrm>
              <a:off x="4847254" y="2628123"/>
              <a:ext cx="878632" cy="149289"/>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BB9EFCCA-A708-4D99-98E0-14D80033BBFA}"/>
                </a:ext>
              </a:extLst>
            </p:cNvPr>
            <p:cNvSpPr txBox="1"/>
            <p:nvPr/>
          </p:nvSpPr>
          <p:spPr>
            <a:xfrm>
              <a:off x="2676331" y="1271246"/>
              <a:ext cx="401216"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A</a:t>
              </a:r>
            </a:p>
          </p:txBody>
        </p:sp>
        <p:sp>
          <p:nvSpPr>
            <p:cNvPr id="57" name="TextBox 56">
              <a:extLst>
                <a:ext uri="{FF2B5EF4-FFF2-40B4-BE49-F238E27FC236}">
                  <a16:creationId xmlns:a16="http://schemas.microsoft.com/office/drawing/2014/main" id="{1D7FE07F-E217-42B8-983C-7F865283ADD6}"/>
                </a:ext>
              </a:extLst>
            </p:cNvPr>
            <p:cNvSpPr txBox="1"/>
            <p:nvPr/>
          </p:nvSpPr>
          <p:spPr>
            <a:xfrm>
              <a:off x="2312169" y="2134185"/>
              <a:ext cx="401216"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B</a:t>
              </a:r>
            </a:p>
          </p:txBody>
        </p:sp>
        <p:sp>
          <p:nvSpPr>
            <p:cNvPr id="58" name="TextBox 57">
              <a:extLst>
                <a:ext uri="{FF2B5EF4-FFF2-40B4-BE49-F238E27FC236}">
                  <a16:creationId xmlns:a16="http://schemas.microsoft.com/office/drawing/2014/main" id="{913E1F1C-A585-4990-A24C-E0A3DD524EA8}"/>
                </a:ext>
              </a:extLst>
            </p:cNvPr>
            <p:cNvSpPr txBox="1"/>
            <p:nvPr/>
          </p:nvSpPr>
          <p:spPr>
            <a:xfrm>
              <a:off x="1409700" y="2831069"/>
              <a:ext cx="401216"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C</a:t>
              </a:r>
            </a:p>
          </p:txBody>
        </p:sp>
        <p:sp>
          <p:nvSpPr>
            <p:cNvPr id="59" name="TextBox 58">
              <a:extLst>
                <a:ext uri="{FF2B5EF4-FFF2-40B4-BE49-F238E27FC236}">
                  <a16:creationId xmlns:a16="http://schemas.microsoft.com/office/drawing/2014/main" id="{891F91A3-5941-48FE-9F5B-FA19EE260267}"/>
                </a:ext>
              </a:extLst>
            </p:cNvPr>
            <p:cNvSpPr txBox="1"/>
            <p:nvPr/>
          </p:nvSpPr>
          <p:spPr>
            <a:xfrm>
              <a:off x="2235459" y="3505872"/>
              <a:ext cx="401216"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K</a:t>
              </a:r>
            </a:p>
          </p:txBody>
        </p:sp>
        <p:sp>
          <p:nvSpPr>
            <p:cNvPr id="60" name="TextBox 59">
              <a:extLst>
                <a:ext uri="{FF2B5EF4-FFF2-40B4-BE49-F238E27FC236}">
                  <a16:creationId xmlns:a16="http://schemas.microsoft.com/office/drawing/2014/main" id="{7A971FBD-8164-45BF-8B14-987F5F235A6B}"/>
                </a:ext>
              </a:extLst>
            </p:cNvPr>
            <p:cNvSpPr txBox="1"/>
            <p:nvPr/>
          </p:nvSpPr>
          <p:spPr>
            <a:xfrm>
              <a:off x="3167745" y="2448465"/>
              <a:ext cx="401216"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E</a:t>
              </a:r>
            </a:p>
          </p:txBody>
        </p:sp>
        <p:sp>
          <p:nvSpPr>
            <p:cNvPr id="61" name="TextBox 60">
              <a:extLst>
                <a:ext uri="{FF2B5EF4-FFF2-40B4-BE49-F238E27FC236}">
                  <a16:creationId xmlns:a16="http://schemas.microsoft.com/office/drawing/2014/main" id="{E0883685-9CE5-4C14-BDE1-B51FEEEA72AA}"/>
                </a:ext>
              </a:extLst>
            </p:cNvPr>
            <p:cNvSpPr txBox="1"/>
            <p:nvPr/>
          </p:nvSpPr>
          <p:spPr>
            <a:xfrm>
              <a:off x="3321698" y="3905254"/>
              <a:ext cx="401216"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F</a:t>
              </a:r>
            </a:p>
          </p:txBody>
        </p:sp>
        <p:sp>
          <p:nvSpPr>
            <p:cNvPr id="62" name="TextBox 61">
              <a:extLst>
                <a:ext uri="{FF2B5EF4-FFF2-40B4-BE49-F238E27FC236}">
                  <a16:creationId xmlns:a16="http://schemas.microsoft.com/office/drawing/2014/main" id="{38B21B33-6C96-40E9-B430-43F20D742FE5}"/>
                </a:ext>
              </a:extLst>
            </p:cNvPr>
            <p:cNvSpPr txBox="1"/>
            <p:nvPr/>
          </p:nvSpPr>
          <p:spPr>
            <a:xfrm>
              <a:off x="3769566" y="1630464"/>
              <a:ext cx="401216"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G</a:t>
              </a:r>
            </a:p>
          </p:txBody>
        </p:sp>
        <p:sp>
          <p:nvSpPr>
            <p:cNvPr id="64" name="TextBox 63">
              <a:extLst>
                <a:ext uri="{FF2B5EF4-FFF2-40B4-BE49-F238E27FC236}">
                  <a16:creationId xmlns:a16="http://schemas.microsoft.com/office/drawing/2014/main" id="{78A3A5C8-D1A2-477D-B6F6-C0A1B834D67C}"/>
                </a:ext>
              </a:extLst>
            </p:cNvPr>
            <p:cNvSpPr txBox="1"/>
            <p:nvPr/>
          </p:nvSpPr>
          <p:spPr>
            <a:xfrm>
              <a:off x="4537790" y="2076196"/>
              <a:ext cx="401216"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I</a:t>
              </a:r>
            </a:p>
          </p:txBody>
        </p:sp>
        <p:sp>
          <p:nvSpPr>
            <p:cNvPr id="65" name="TextBox 64">
              <a:extLst>
                <a:ext uri="{FF2B5EF4-FFF2-40B4-BE49-F238E27FC236}">
                  <a16:creationId xmlns:a16="http://schemas.microsoft.com/office/drawing/2014/main" id="{97FA5E4D-F2F2-4290-99FD-AC2943733D52}"/>
                </a:ext>
              </a:extLst>
            </p:cNvPr>
            <p:cNvSpPr txBox="1"/>
            <p:nvPr/>
          </p:nvSpPr>
          <p:spPr>
            <a:xfrm>
              <a:off x="4377614" y="3067741"/>
              <a:ext cx="401216"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J</a:t>
              </a:r>
            </a:p>
          </p:txBody>
        </p:sp>
      </p:grpSp>
      <p:graphicFrame>
        <p:nvGraphicFramePr>
          <p:cNvPr id="69" name="Table 67">
            <a:extLst>
              <a:ext uri="{FF2B5EF4-FFF2-40B4-BE49-F238E27FC236}">
                <a16:creationId xmlns:a16="http://schemas.microsoft.com/office/drawing/2014/main" id="{8F21FFB3-9A5C-486D-B8E9-22DDD0CA82EC}"/>
              </a:ext>
            </a:extLst>
          </p:cNvPr>
          <p:cNvGraphicFramePr>
            <a:graphicFrameLocks noGrp="1"/>
          </p:cNvGraphicFramePr>
          <p:nvPr>
            <p:extLst>
              <p:ext uri="{D42A27DB-BD31-4B8C-83A1-F6EECF244321}">
                <p14:modId xmlns:p14="http://schemas.microsoft.com/office/powerpoint/2010/main" val="3913117839"/>
              </p:ext>
            </p:extLst>
          </p:nvPr>
        </p:nvGraphicFramePr>
        <p:xfrm>
          <a:off x="5762001" y="319074"/>
          <a:ext cx="2342645" cy="396240"/>
        </p:xfrm>
        <a:graphic>
          <a:graphicData uri="http://schemas.openxmlformats.org/drawingml/2006/table">
            <a:tbl>
              <a:tblPr firstRow="1" bandRow="1">
                <a:tableStyleId>{5C22544A-7EE6-4342-B048-85BDC9FD1C3A}</a:tableStyleId>
              </a:tblPr>
              <a:tblGrid>
                <a:gridCol w="468529">
                  <a:extLst>
                    <a:ext uri="{9D8B030D-6E8A-4147-A177-3AD203B41FA5}">
                      <a16:colId xmlns:a16="http://schemas.microsoft.com/office/drawing/2014/main" val="1165287518"/>
                    </a:ext>
                  </a:extLst>
                </a:gridCol>
                <a:gridCol w="468529">
                  <a:extLst>
                    <a:ext uri="{9D8B030D-6E8A-4147-A177-3AD203B41FA5}">
                      <a16:colId xmlns:a16="http://schemas.microsoft.com/office/drawing/2014/main" val="2876485454"/>
                    </a:ext>
                  </a:extLst>
                </a:gridCol>
                <a:gridCol w="468529">
                  <a:extLst>
                    <a:ext uri="{9D8B030D-6E8A-4147-A177-3AD203B41FA5}">
                      <a16:colId xmlns:a16="http://schemas.microsoft.com/office/drawing/2014/main" val="2708501679"/>
                    </a:ext>
                  </a:extLst>
                </a:gridCol>
                <a:gridCol w="468529">
                  <a:extLst>
                    <a:ext uri="{9D8B030D-6E8A-4147-A177-3AD203B41FA5}">
                      <a16:colId xmlns:a16="http://schemas.microsoft.com/office/drawing/2014/main" val="4293132178"/>
                    </a:ext>
                  </a:extLst>
                </a:gridCol>
                <a:gridCol w="468529">
                  <a:extLst>
                    <a:ext uri="{9D8B030D-6E8A-4147-A177-3AD203B41FA5}">
                      <a16:colId xmlns:a16="http://schemas.microsoft.com/office/drawing/2014/main" val="4294191746"/>
                    </a:ext>
                  </a:extLst>
                </a:gridCol>
              </a:tblGrid>
              <a:tr h="351825">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957704145"/>
                  </a:ext>
                </a:extLst>
              </a:tr>
            </a:tbl>
          </a:graphicData>
        </a:graphic>
      </p:graphicFrame>
      <p:graphicFrame>
        <p:nvGraphicFramePr>
          <p:cNvPr id="70" name="Table 67">
            <a:extLst>
              <a:ext uri="{FF2B5EF4-FFF2-40B4-BE49-F238E27FC236}">
                <a16:creationId xmlns:a16="http://schemas.microsoft.com/office/drawing/2014/main" id="{AD321F41-AB89-4F5A-8E18-C76CE4151C0A}"/>
              </a:ext>
            </a:extLst>
          </p:cNvPr>
          <p:cNvGraphicFramePr>
            <a:graphicFrameLocks noGrp="1"/>
          </p:cNvGraphicFramePr>
          <p:nvPr>
            <p:extLst>
              <p:ext uri="{D42A27DB-BD31-4B8C-83A1-F6EECF244321}">
                <p14:modId xmlns:p14="http://schemas.microsoft.com/office/powerpoint/2010/main" val="2223636911"/>
              </p:ext>
            </p:extLst>
          </p:nvPr>
        </p:nvGraphicFramePr>
        <p:xfrm>
          <a:off x="5855826" y="889523"/>
          <a:ext cx="2171519" cy="396240"/>
        </p:xfrm>
        <a:graphic>
          <a:graphicData uri="http://schemas.openxmlformats.org/drawingml/2006/table">
            <a:tbl>
              <a:tblPr firstRow="1" bandRow="1">
                <a:tableStyleId>{5C22544A-7EE6-4342-B048-85BDC9FD1C3A}</a:tableStyleId>
              </a:tblPr>
              <a:tblGrid>
                <a:gridCol w="310217">
                  <a:extLst>
                    <a:ext uri="{9D8B030D-6E8A-4147-A177-3AD203B41FA5}">
                      <a16:colId xmlns:a16="http://schemas.microsoft.com/office/drawing/2014/main" val="1165287518"/>
                    </a:ext>
                  </a:extLst>
                </a:gridCol>
                <a:gridCol w="310217">
                  <a:extLst>
                    <a:ext uri="{9D8B030D-6E8A-4147-A177-3AD203B41FA5}">
                      <a16:colId xmlns:a16="http://schemas.microsoft.com/office/drawing/2014/main" val="2876485454"/>
                    </a:ext>
                  </a:extLst>
                </a:gridCol>
                <a:gridCol w="310217">
                  <a:extLst>
                    <a:ext uri="{9D8B030D-6E8A-4147-A177-3AD203B41FA5}">
                      <a16:colId xmlns:a16="http://schemas.microsoft.com/office/drawing/2014/main" val="2708501679"/>
                    </a:ext>
                  </a:extLst>
                </a:gridCol>
                <a:gridCol w="310217">
                  <a:extLst>
                    <a:ext uri="{9D8B030D-6E8A-4147-A177-3AD203B41FA5}">
                      <a16:colId xmlns:a16="http://schemas.microsoft.com/office/drawing/2014/main" val="4293132178"/>
                    </a:ext>
                  </a:extLst>
                </a:gridCol>
                <a:gridCol w="310217">
                  <a:extLst>
                    <a:ext uri="{9D8B030D-6E8A-4147-A177-3AD203B41FA5}">
                      <a16:colId xmlns:a16="http://schemas.microsoft.com/office/drawing/2014/main" val="4294191746"/>
                    </a:ext>
                  </a:extLst>
                </a:gridCol>
                <a:gridCol w="310217">
                  <a:extLst>
                    <a:ext uri="{9D8B030D-6E8A-4147-A177-3AD203B41FA5}">
                      <a16:colId xmlns:a16="http://schemas.microsoft.com/office/drawing/2014/main" val="1357460263"/>
                    </a:ext>
                  </a:extLst>
                </a:gridCol>
                <a:gridCol w="310217">
                  <a:extLst>
                    <a:ext uri="{9D8B030D-6E8A-4147-A177-3AD203B41FA5}">
                      <a16:colId xmlns:a16="http://schemas.microsoft.com/office/drawing/2014/main" val="144303888"/>
                    </a:ext>
                  </a:extLst>
                </a:gridCol>
              </a:tblGrid>
              <a:tr h="370840">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957704145"/>
                  </a:ext>
                </a:extLst>
              </a:tr>
            </a:tbl>
          </a:graphicData>
        </a:graphic>
      </p:graphicFrame>
      <p:sp>
        <p:nvSpPr>
          <p:cNvPr id="72" name="Arrow: Down 71">
            <a:extLst>
              <a:ext uri="{FF2B5EF4-FFF2-40B4-BE49-F238E27FC236}">
                <a16:creationId xmlns:a16="http://schemas.microsoft.com/office/drawing/2014/main" id="{9CD60FA7-CDFF-41F5-A3E5-AB1421689057}"/>
              </a:ext>
            </a:extLst>
          </p:cNvPr>
          <p:cNvSpPr/>
          <p:nvPr/>
        </p:nvSpPr>
        <p:spPr>
          <a:xfrm>
            <a:off x="6707267" y="1401230"/>
            <a:ext cx="230044" cy="18652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3" name="Table 67">
            <a:extLst>
              <a:ext uri="{FF2B5EF4-FFF2-40B4-BE49-F238E27FC236}">
                <a16:creationId xmlns:a16="http://schemas.microsoft.com/office/drawing/2014/main" id="{1757DC8A-D6D9-48C1-90D1-6B2A7B2857FA}"/>
              </a:ext>
            </a:extLst>
          </p:cNvPr>
          <p:cNvGraphicFramePr>
            <a:graphicFrameLocks noGrp="1"/>
          </p:cNvGraphicFramePr>
          <p:nvPr>
            <p:extLst>
              <p:ext uri="{D42A27DB-BD31-4B8C-83A1-F6EECF244321}">
                <p14:modId xmlns:p14="http://schemas.microsoft.com/office/powerpoint/2010/main" val="3486448283"/>
              </p:ext>
            </p:extLst>
          </p:nvPr>
        </p:nvGraphicFramePr>
        <p:xfrm>
          <a:off x="5827636" y="3354030"/>
          <a:ext cx="1874116" cy="396240"/>
        </p:xfrm>
        <a:graphic>
          <a:graphicData uri="http://schemas.openxmlformats.org/drawingml/2006/table">
            <a:tbl>
              <a:tblPr firstRow="1" bandRow="1">
                <a:tableStyleId>{5C22544A-7EE6-4342-B048-85BDC9FD1C3A}</a:tableStyleId>
              </a:tblPr>
              <a:tblGrid>
                <a:gridCol w="468529">
                  <a:extLst>
                    <a:ext uri="{9D8B030D-6E8A-4147-A177-3AD203B41FA5}">
                      <a16:colId xmlns:a16="http://schemas.microsoft.com/office/drawing/2014/main" val="1165287518"/>
                    </a:ext>
                  </a:extLst>
                </a:gridCol>
                <a:gridCol w="468529">
                  <a:extLst>
                    <a:ext uri="{9D8B030D-6E8A-4147-A177-3AD203B41FA5}">
                      <a16:colId xmlns:a16="http://schemas.microsoft.com/office/drawing/2014/main" val="2876485454"/>
                    </a:ext>
                  </a:extLst>
                </a:gridCol>
                <a:gridCol w="468529">
                  <a:extLst>
                    <a:ext uri="{9D8B030D-6E8A-4147-A177-3AD203B41FA5}">
                      <a16:colId xmlns:a16="http://schemas.microsoft.com/office/drawing/2014/main" val="2708501679"/>
                    </a:ext>
                  </a:extLst>
                </a:gridCol>
                <a:gridCol w="468529">
                  <a:extLst>
                    <a:ext uri="{9D8B030D-6E8A-4147-A177-3AD203B41FA5}">
                      <a16:colId xmlns:a16="http://schemas.microsoft.com/office/drawing/2014/main" val="4293132178"/>
                    </a:ext>
                  </a:extLst>
                </a:gridCol>
              </a:tblGrid>
              <a:tr h="351825">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957704145"/>
                  </a:ext>
                </a:extLst>
              </a:tr>
            </a:tbl>
          </a:graphicData>
        </a:graphic>
      </p:graphicFrame>
      <p:graphicFrame>
        <p:nvGraphicFramePr>
          <p:cNvPr id="74" name="Table 67">
            <a:extLst>
              <a:ext uri="{FF2B5EF4-FFF2-40B4-BE49-F238E27FC236}">
                <a16:creationId xmlns:a16="http://schemas.microsoft.com/office/drawing/2014/main" id="{772FEFD0-FB77-4EF5-A410-AA5BC76F8289}"/>
              </a:ext>
            </a:extLst>
          </p:cNvPr>
          <p:cNvGraphicFramePr>
            <a:graphicFrameLocks noGrp="1"/>
          </p:cNvGraphicFramePr>
          <p:nvPr>
            <p:extLst>
              <p:ext uri="{D42A27DB-BD31-4B8C-83A1-F6EECF244321}">
                <p14:modId xmlns:p14="http://schemas.microsoft.com/office/powerpoint/2010/main" val="479847105"/>
              </p:ext>
            </p:extLst>
          </p:nvPr>
        </p:nvGraphicFramePr>
        <p:xfrm>
          <a:off x="5921462" y="3924479"/>
          <a:ext cx="1861302" cy="396240"/>
        </p:xfrm>
        <a:graphic>
          <a:graphicData uri="http://schemas.openxmlformats.org/drawingml/2006/table">
            <a:tbl>
              <a:tblPr firstRow="1" bandRow="1">
                <a:tableStyleId>{5C22544A-7EE6-4342-B048-85BDC9FD1C3A}</a:tableStyleId>
              </a:tblPr>
              <a:tblGrid>
                <a:gridCol w="310217">
                  <a:extLst>
                    <a:ext uri="{9D8B030D-6E8A-4147-A177-3AD203B41FA5}">
                      <a16:colId xmlns:a16="http://schemas.microsoft.com/office/drawing/2014/main" val="1165287518"/>
                    </a:ext>
                  </a:extLst>
                </a:gridCol>
                <a:gridCol w="310217">
                  <a:extLst>
                    <a:ext uri="{9D8B030D-6E8A-4147-A177-3AD203B41FA5}">
                      <a16:colId xmlns:a16="http://schemas.microsoft.com/office/drawing/2014/main" val="2876485454"/>
                    </a:ext>
                  </a:extLst>
                </a:gridCol>
                <a:gridCol w="310217">
                  <a:extLst>
                    <a:ext uri="{9D8B030D-6E8A-4147-A177-3AD203B41FA5}">
                      <a16:colId xmlns:a16="http://schemas.microsoft.com/office/drawing/2014/main" val="2708501679"/>
                    </a:ext>
                  </a:extLst>
                </a:gridCol>
                <a:gridCol w="310217">
                  <a:extLst>
                    <a:ext uri="{9D8B030D-6E8A-4147-A177-3AD203B41FA5}">
                      <a16:colId xmlns:a16="http://schemas.microsoft.com/office/drawing/2014/main" val="4293132178"/>
                    </a:ext>
                  </a:extLst>
                </a:gridCol>
                <a:gridCol w="310217">
                  <a:extLst>
                    <a:ext uri="{9D8B030D-6E8A-4147-A177-3AD203B41FA5}">
                      <a16:colId xmlns:a16="http://schemas.microsoft.com/office/drawing/2014/main" val="4294191746"/>
                    </a:ext>
                  </a:extLst>
                </a:gridCol>
                <a:gridCol w="310217">
                  <a:extLst>
                    <a:ext uri="{9D8B030D-6E8A-4147-A177-3AD203B41FA5}">
                      <a16:colId xmlns:a16="http://schemas.microsoft.com/office/drawing/2014/main" val="1357460263"/>
                    </a:ext>
                  </a:extLst>
                </a:gridCol>
              </a:tblGrid>
              <a:tr h="370840">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957704145"/>
                  </a:ext>
                </a:extLst>
              </a:tr>
            </a:tbl>
          </a:graphicData>
        </a:graphic>
      </p:graphicFrame>
      <p:sp>
        <p:nvSpPr>
          <p:cNvPr id="75" name="TextBox 74">
            <a:extLst>
              <a:ext uri="{FF2B5EF4-FFF2-40B4-BE49-F238E27FC236}">
                <a16:creationId xmlns:a16="http://schemas.microsoft.com/office/drawing/2014/main" id="{AB9C5F5B-B85C-4373-BF67-F57AD82DD839}"/>
              </a:ext>
            </a:extLst>
          </p:cNvPr>
          <p:cNvSpPr txBox="1"/>
          <p:nvPr/>
        </p:nvSpPr>
        <p:spPr>
          <a:xfrm>
            <a:off x="7071050" y="2015004"/>
            <a:ext cx="153955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Crossover</a:t>
            </a:r>
          </a:p>
        </p:txBody>
      </p:sp>
      <p:sp>
        <p:nvSpPr>
          <p:cNvPr id="79" name="Freeform: Shape 78">
            <a:extLst>
              <a:ext uri="{FF2B5EF4-FFF2-40B4-BE49-F238E27FC236}">
                <a16:creationId xmlns:a16="http://schemas.microsoft.com/office/drawing/2014/main" id="{5C052C74-6358-4FE1-9ED1-4E8E4645A70D}"/>
              </a:ext>
            </a:extLst>
          </p:cNvPr>
          <p:cNvSpPr/>
          <p:nvPr/>
        </p:nvSpPr>
        <p:spPr>
          <a:xfrm>
            <a:off x="858416" y="1355617"/>
            <a:ext cx="4105470" cy="1163648"/>
          </a:xfrm>
          <a:custGeom>
            <a:avLst/>
            <a:gdLst>
              <a:gd name="connsiteX0" fmla="*/ 0 w 4105470"/>
              <a:gd name="connsiteY0" fmla="*/ 127950 h 1163648"/>
              <a:gd name="connsiteX1" fmla="*/ 1119674 w 4105470"/>
              <a:gd name="connsiteY1" fmla="*/ 15983 h 1163648"/>
              <a:gd name="connsiteX2" fmla="*/ 2164702 w 4105470"/>
              <a:gd name="connsiteY2" fmla="*/ 435861 h 1163648"/>
              <a:gd name="connsiteX3" fmla="*/ 2985796 w 4105470"/>
              <a:gd name="connsiteY3" fmla="*/ 874399 h 1163648"/>
              <a:gd name="connsiteX4" fmla="*/ 4105470 w 4105470"/>
              <a:gd name="connsiteY4" fmla="*/ 1163648 h 1163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5470" h="1163648">
                <a:moveTo>
                  <a:pt x="0" y="127950"/>
                </a:moveTo>
                <a:cubicBezTo>
                  <a:pt x="379445" y="46307"/>
                  <a:pt x="758890" y="-35335"/>
                  <a:pt x="1119674" y="15983"/>
                </a:cubicBezTo>
                <a:cubicBezTo>
                  <a:pt x="1480458" y="67301"/>
                  <a:pt x="1853682" y="292792"/>
                  <a:pt x="2164702" y="435861"/>
                </a:cubicBezTo>
                <a:cubicBezTo>
                  <a:pt x="2475722" y="578930"/>
                  <a:pt x="2662335" y="753101"/>
                  <a:pt x="2985796" y="874399"/>
                </a:cubicBezTo>
                <a:cubicBezTo>
                  <a:pt x="3309257" y="995697"/>
                  <a:pt x="3707363" y="1079672"/>
                  <a:pt x="4105470" y="1163648"/>
                </a:cubicBezTo>
              </a:path>
            </a:pathLst>
          </a:cu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Shape 79">
            <a:extLst>
              <a:ext uri="{FF2B5EF4-FFF2-40B4-BE49-F238E27FC236}">
                <a16:creationId xmlns:a16="http://schemas.microsoft.com/office/drawing/2014/main" id="{57745841-5AE1-496A-A185-5C508BD5DE3C}"/>
              </a:ext>
            </a:extLst>
          </p:cNvPr>
          <p:cNvSpPr/>
          <p:nvPr/>
        </p:nvSpPr>
        <p:spPr>
          <a:xfrm>
            <a:off x="550506" y="1115928"/>
            <a:ext cx="4618653" cy="1597187"/>
          </a:xfrm>
          <a:custGeom>
            <a:avLst/>
            <a:gdLst>
              <a:gd name="connsiteX0" fmla="*/ 0 w 4618653"/>
              <a:gd name="connsiteY0" fmla="*/ 647558 h 1597187"/>
              <a:gd name="connsiteX1" fmla="*/ 895739 w 4618653"/>
              <a:gd name="connsiteY1" fmla="*/ 1291370 h 1597187"/>
              <a:gd name="connsiteX2" fmla="*/ 2099388 w 4618653"/>
              <a:gd name="connsiteY2" fmla="*/ 1589950 h 1597187"/>
              <a:gd name="connsiteX3" fmla="*/ 2528596 w 4618653"/>
              <a:gd name="connsiteY3" fmla="*/ 1011452 h 1597187"/>
              <a:gd name="connsiteX4" fmla="*/ 1604865 w 4618653"/>
              <a:gd name="connsiteY4" fmla="*/ 675550 h 1597187"/>
              <a:gd name="connsiteX5" fmla="*/ 2192694 w 4618653"/>
              <a:gd name="connsiteY5" fmla="*/ 181027 h 1597187"/>
              <a:gd name="connsiteX6" fmla="*/ 3685592 w 4618653"/>
              <a:gd name="connsiteY6" fmla="*/ 13076 h 1597187"/>
              <a:gd name="connsiteX7" fmla="*/ 4180114 w 4618653"/>
              <a:gd name="connsiteY7" fmla="*/ 488937 h 1597187"/>
              <a:gd name="connsiteX8" fmla="*/ 4618653 w 4618653"/>
              <a:gd name="connsiteY8" fmla="*/ 1300701 h 1597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18653" h="1597187">
                <a:moveTo>
                  <a:pt x="0" y="647558"/>
                </a:moveTo>
                <a:cubicBezTo>
                  <a:pt x="272920" y="890931"/>
                  <a:pt x="545841" y="1134305"/>
                  <a:pt x="895739" y="1291370"/>
                </a:cubicBezTo>
                <a:cubicBezTo>
                  <a:pt x="1245637" y="1448435"/>
                  <a:pt x="1827245" y="1636603"/>
                  <a:pt x="2099388" y="1589950"/>
                </a:cubicBezTo>
                <a:cubicBezTo>
                  <a:pt x="2371531" y="1543297"/>
                  <a:pt x="2611016" y="1163852"/>
                  <a:pt x="2528596" y="1011452"/>
                </a:cubicBezTo>
                <a:cubicBezTo>
                  <a:pt x="2446176" y="859052"/>
                  <a:pt x="1660849" y="813954"/>
                  <a:pt x="1604865" y="675550"/>
                </a:cubicBezTo>
                <a:cubicBezTo>
                  <a:pt x="1548881" y="537146"/>
                  <a:pt x="1845906" y="291439"/>
                  <a:pt x="2192694" y="181027"/>
                </a:cubicBezTo>
                <a:cubicBezTo>
                  <a:pt x="2539482" y="70615"/>
                  <a:pt x="3354355" y="-38242"/>
                  <a:pt x="3685592" y="13076"/>
                </a:cubicBezTo>
                <a:cubicBezTo>
                  <a:pt x="4016829" y="64394"/>
                  <a:pt x="4024604" y="274333"/>
                  <a:pt x="4180114" y="488937"/>
                </a:cubicBezTo>
                <a:cubicBezTo>
                  <a:pt x="4335624" y="703541"/>
                  <a:pt x="4477138" y="1002121"/>
                  <a:pt x="4618653" y="1300701"/>
                </a:cubicBezTo>
              </a:path>
            </a:pathLst>
          </a:custGeom>
          <a:noFill/>
          <a:ln w="285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16550856-E5D6-4DDF-AFFB-E203D2170644}"/>
              </a:ext>
            </a:extLst>
          </p:cNvPr>
          <p:cNvSpPr txBox="1"/>
          <p:nvPr/>
        </p:nvSpPr>
        <p:spPr>
          <a:xfrm>
            <a:off x="632925" y="4953847"/>
            <a:ext cx="9592888"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Here chromosome is composed of nodes forming source to destination link. </a:t>
            </a:r>
          </a:p>
        </p:txBody>
      </p:sp>
      <p:graphicFrame>
        <p:nvGraphicFramePr>
          <p:cNvPr id="82" name="Table 67">
            <a:extLst>
              <a:ext uri="{FF2B5EF4-FFF2-40B4-BE49-F238E27FC236}">
                <a16:creationId xmlns:a16="http://schemas.microsoft.com/office/drawing/2014/main" id="{BE57EB69-C9F8-4E2B-A43E-244106331442}"/>
              </a:ext>
            </a:extLst>
          </p:cNvPr>
          <p:cNvGraphicFramePr>
            <a:graphicFrameLocks noGrp="1"/>
          </p:cNvGraphicFramePr>
          <p:nvPr>
            <p:extLst>
              <p:ext uri="{D42A27DB-BD31-4B8C-83A1-F6EECF244321}">
                <p14:modId xmlns:p14="http://schemas.microsoft.com/office/powerpoint/2010/main" val="259413803"/>
              </p:ext>
            </p:extLst>
          </p:nvPr>
        </p:nvGraphicFramePr>
        <p:xfrm>
          <a:off x="9011155" y="350176"/>
          <a:ext cx="2342648" cy="396240"/>
        </p:xfrm>
        <a:graphic>
          <a:graphicData uri="http://schemas.openxmlformats.org/drawingml/2006/table">
            <a:tbl>
              <a:tblPr firstRow="1" bandRow="1">
                <a:tableStyleId>{5C22544A-7EE6-4342-B048-85BDC9FD1C3A}</a:tableStyleId>
              </a:tblPr>
              <a:tblGrid>
                <a:gridCol w="334664">
                  <a:extLst>
                    <a:ext uri="{9D8B030D-6E8A-4147-A177-3AD203B41FA5}">
                      <a16:colId xmlns:a16="http://schemas.microsoft.com/office/drawing/2014/main" val="1165287518"/>
                    </a:ext>
                  </a:extLst>
                </a:gridCol>
                <a:gridCol w="334664">
                  <a:extLst>
                    <a:ext uri="{9D8B030D-6E8A-4147-A177-3AD203B41FA5}">
                      <a16:colId xmlns:a16="http://schemas.microsoft.com/office/drawing/2014/main" val="2876485454"/>
                    </a:ext>
                  </a:extLst>
                </a:gridCol>
                <a:gridCol w="334664">
                  <a:extLst>
                    <a:ext uri="{9D8B030D-6E8A-4147-A177-3AD203B41FA5}">
                      <a16:colId xmlns:a16="http://schemas.microsoft.com/office/drawing/2014/main" val="2708501679"/>
                    </a:ext>
                  </a:extLst>
                </a:gridCol>
                <a:gridCol w="334664">
                  <a:extLst>
                    <a:ext uri="{9D8B030D-6E8A-4147-A177-3AD203B41FA5}">
                      <a16:colId xmlns:a16="http://schemas.microsoft.com/office/drawing/2014/main" val="4293132178"/>
                    </a:ext>
                  </a:extLst>
                </a:gridCol>
                <a:gridCol w="334664">
                  <a:extLst>
                    <a:ext uri="{9D8B030D-6E8A-4147-A177-3AD203B41FA5}">
                      <a16:colId xmlns:a16="http://schemas.microsoft.com/office/drawing/2014/main" val="4294191746"/>
                    </a:ext>
                  </a:extLst>
                </a:gridCol>
                <a:gridCol w="334664">
                  <a:extLst>
                    <a:ext uri="{9D8B030D-6E8A-4147-A177-3AD203B41FA5}">
                      <a16:colId xmlns:a16="http://schemas.microsoft.com/office/drawing/2014/main" val="2366772016"/>
                    </a:ext>
                  </a:extLst>
                </a:gridCol>
                <a:gridCol w="334664">
                  <a:extLst>
                    <a:ext uri="{9D8B030D-6E8A-4147-A177-3AD203B41FA5}">
                      <a16:colId xmlns:a16="http://schemas.microsoft.com/office/drawing/2014/main" val="1668043784"/>
                    </a:ext>
                  </a:extLst>
                </a:gridCol>
              </a:tblGrid>
              <a:tr h="351825">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7704145"/>
                  </a:ext>
                </a:extLst>
              </a:tr>
            </a:tbl>
          </a:graphicData>
        </a:graphic>
      </p:graphicFrame>
      <p:sp>
        <p:nvSpPr>
          <p:cNvPr id="83" name="Arrow: Down 82">
            <a:extLst>
              <a:ext uri="{FF2B5EF4-FFF2-40B4-BE49-F238E27FC236}">
                <a16:creationId xmlns:a16="http://schemas.microsoft.com/office/drawing/2014/main" id="{D3591299-5C08-42E6-AB97-9E67643FBFF3}"/>
              </a:ext>
            </a:extLst>
          </p:cNvPr>
          <p:cNvSpPr/>
          <p:nvPr/>
        </p:nvSpPr>
        <p:spPr>
          <a:xfrm>
            <a:off x="9995769" y="900162"/>
            <a:ext cx="230044" cy="18652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4" name="Table 67">
            <a:extLst>
              <a:ext uri="{FF2B5EF4-FFF2-40B4-BE49-F238E27FC236}">
                <a16:creationId xmlns:a16="http://schemas.microsoft.com/office/drawing/2014/main" id="{802CD2C8-B1D6-4C8F-BEBE-FF8905BBF396}"/>
              </a:ext>
            </a:extLst>
          </p:cNvPr>
          <p:cNvGraphicFramePr>
            <a:graphicFrameLocks noGrp="1"/>
          </p:cNvGraphicFramePr>
          <p:nvPr>
            <p:extLst>
              <p:ext uri="{D42A27DB-BD31-4B8C-83A1-F6EECF244321}">
                <p14:modId xmlns:p14="http://schemas.microsoft.com/office/powerpoint/2010/main" val="2165620712"/>
              </p:ext>
            </p:extLst>
          </p:nvPr>
        </p:nvGraphicFramePr>
        <p:xfrm>
          <a:off x="9339486" y="2833070"/>
          <a:ext cx="1673320" cy="396240"/>
        </p:xfrm>
        <a:graphic>
          <a:graphicData uri="http://schemas.openxmlformats.org/drawingml/2006/table">
            <a:tbl>
              <a:tblPr firstRow="1" bandRow="1">
                <a:tableStyleId>{5C22544A-7EE6-4342-B048-85BDC9FD1C3A}</a:tableStyleId>
              </a:tblPr>
              <a:tblGrid>
                <a:gridCol w="334664">
                  <a:extLst>
                    <a:ext uri="{9D8B030D-6E8A-4147-A177-3AD203B41FA5}">
                      <a16:colId xmlns:a16="http://schemas.microsoft.com/office/drawing/2014/main" val="1165287518"/>
                    </a:ext>
                  </a:extLst>
                </a:gridCol>
                <a:gridCol w="334664">
                  <a:extLst>
                    <a:ext uri="{9D8B030D-6E8A-4147-A177-3AD203B41FA5}">
                      <a16:colId xmlns:a16="http://schemas.microsoft.com/office/drawing/2014/main" val="2876485454"/>
                    </a:ext>
                  </a:extLst>
                </a:gridCol>
                <a:gridCol w="334664">
                  <a:extLst>
                    <a:ext uri="{9D8B030D-6E8A-4147-A177-3AD203B41FA5}">
                      <a16:colId xmlns:a16="http://schemas.microsoft.com/office/drawing/2014/main" val="2708501679"/>
                    </a:ext>
                  </a:extLst>
                </a:gridCol>
                <a:gridCol w="334664">
                  <a:extLst>
                    <a:ext uri="{9D8B030D-6E8A-4147-A177-3AD203B41FA5}">
                      <a16:colId xmlns:a16="http://schemas.microsoft.com/office/drawing/2014/main" val="4293132178"/>
                    </a:ext>
                  </a:extLst>
                </a:gridCol>
                <a:gridCol w="334664">
                  <a:extLst>
                    <a:ext uri="{9D8B030D-6E8A-4147-A177-3AD203B41FA5}">
                      <a16:colId xmlns:a16="http://schemas.microsoft.com/office/drawing/2014/main" val="1668043784"/>
                    </a:ext>
                  </a:extLst>
                </a:gridCol>
              </a:tblGrid>
              <a:tr h="351825">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i="1" dirty="0">
                          <a:solidFill>
                            <a:schemeClr val="tx1"/>
                          </a:solidFill>
                          <a:latin typeface="Times New Roman" panose="02020603050405020304" pitchFamily="18" charset="0"/>
                          <a:cs typeface="Times New Roman" panose="02020603050405020304" pitchFamily="18"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7704145"/>
                  </a:ext>
                </a:extLst>
              </a:tr>
            </a:tbl>
          </a:graphicData>
        </a:graphic>
      </p:graphicFrame>
      <p:sp>
        <p:nvSpPr>
          <p:cNvPr id="85" name="TextBox 84">
            <a:extLst>
              <a:ext uri="{FF2B5EF4-FFF2-40B4-BE49-F238E27FC236}">
                <a16:creationId xmlns:a16="http://schemas.microsoft.com/office/drawing/2014/main" id="{46A489E7-59C9-4FAA-9450-7482AFDD738F}"/>
              </a:ext>
            </a:extLst>
          </p:cNvPr>
          <p:cNvSpPr txBox="1"/>
          <p:nvPr/>
        </p:nvSpPr>
        <p:spPr>
          <a:xfrm>
            <a:off x="10278801" y="1543777"/>
            <a:ext cx="1362693"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Mutation</a:t>
            </a:r>
          </a:p>
        </p:txBody>
      </p:sp>
      <p:sp>
        <p:nvSpPr>
          <p:cNvPr id="20" name="Slide Number Placeholder 19">
            <a:extLst>
              <a:ext uri="{FF2B5EF4-FFF2-40B4-BE49-F238E27FC236}">
                <a16:creationId xmlns:a16="http://schemas.microsoft.com/office/drawing/2014/main" id="{C23D2C5C-8E59-436D-8C97-497F1D3A4B5F}"/>
              </a:ext>
            </a:extLst>
          </p:cNvPr>
          <p:cNvSpPr>
            <a:spLocks noGrp="1"/>
          </p:cNvSpPr>
          <p:nvPr>
            <p:ph type="sldNum" sz="quarter" idx="12"/>
          </p:nvPr>
        </p:nvSpPr>
        <p:spPr/>
        <p:txBody>
          <a:bodyPr/>
          <a:lstStyle/>
          <a:p>
            <a:fld id="{C3F1913A-7668-436E-8561-76A60B792217}" type="slidenum">
              <a:rPr lang="en-US" smtClean="0"/>
              <a:t>67</a:t>
            </a:fld>
            <a:endParaRPr lang="en-US"/>
          </a:p>
        </p:txBody>
      </p:sp>
    </p:spTree>
    <p:extLst>
      <p:ext uri="{BB962C8B-B14F-4D97-AF65-F5344CB8AC3E}">
        <p14:creationId xmlns:p14="http://schemas.microsoft.com/office/powerpoint/2010/main" val="39116354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1D6ACC-7DDA-417D-B444-D8DCF45F4AF5}"/>
              </a:ext>
            </a:extLst>
          </p:cNvPr>
          <p:cNvSpPr/>
          <p:nvPr/>
        </p:nvSpPr>
        <p:spPr>
          <a:xfrm>
            <a:off x="547395" y="215809"/>
            <a:ext cx="11106540" cy="5637762"/>
          </a:xfrm>
          <a:prstGeom prst="rect">
            <a:avLst/>
          </a:prstGeom>
        </p:spPr>
        <p:txBody>
          <a:bodyPr wrap="square">
            <a:spAutoFit/>
          </a:bodyPr>
          <a:lstStyle/>
          <a:p>
            <a:pPr algn="just">
              <a:lnSpc>
                <a:spcPct val="107000"/>
              </a:lnSpc>
              <a:spcAft>
                <a:spcPts val="800"/>
              </a:spcAft>
            </a:pPr>
            <a:r>
              <a:rPr lang="en-US" sz="1600" b="1" dirty="0">
                <a:latin typeface="Times New Roman" panose="02020603050405020304" pitchFamily="18" charset="0"/>
                <a:ea typeface="Calibri" panose="020F0502020204030204" pitchFamily="34" charset="0"/>
                <a:cs typeface="Times New Roman" panose="02020603050405020304" pitchFamily="18" charset="0"/>
              </a:rPr>
              <a:t>References</a:t>
            </a:r>
          </a:p>
          <a:p>
            <a:pPr marL="342900" marR="0" lvl="0" indent="-342900" algn="just">
              <a:lnSpc>
                <a:spcPct val="107000"/>
              </a:lnSpc>
              <a:spcBef>
                <a:spcPts val="0"/>
              </a:spcBef>
              <a:spcAft>
                <a:spcPts val="800"/>
              </a:spcAft>
              <a:buFont typeface="+mj-lt"/>
              <a:buAutoNum type="arabicPeriod"/>
            </a:pPr>
            <a:r>
              <a:rPr lang="en-US" sz="1600" dirty="0" err="1">
                <a:latin typeface="Times New Roman" panose="02020603050405020304" pitchFamily="18" charset="0"/>
                <a:ea typeface="Calibri" panose="020F0502020204030204" pitchFamily="34" charset="0"/>
                <a:cs typeface="Times New Roman" panose="02020603050405020304" pitchFamily="18" charset="0"/>
              </a:rPr>
              <a:t>Sethu</a:t>
            </a:r>
            <a:r>
              <a:rPr lang="en-US" sz="1600" dirty="0">
                <a:latin typeface="Times New Roman" panose="02020603050405020304" pitchFamily="18" charset="0"/>
                <a:ea typeface="Calibri" panose="020F0502020204030204" pitchFamily="34" charset="0"/>
                <a:cs typeface="Times New Roman" panose="02020603050405020304" pitchFamily="18" charset="0"/>
              </a:rPr>
              <a:t> Lakshmi Pa and </a:t>
            </a:r>
            <a:r>
              <a:rPr lang="en-US" sz="1600" dirty="0" err="1">
                <a:latin typeface="Times New Roman" panose="02020603050405020304" pitchFamily="18" charset="0"/>
                <a:ea typeface="Calibri" panose="020F0502020204030204" pitchFamily="34" charset="0"/>
                <a:cs typeface="Times New Roman" panose="02020603050405020304" pitchFamily="18" charset="0"/>
              </a:rPr>
              <a:t>Jibukumar</a:t>
            </a:r>
            <a:r>
              <a:rPr lang="en-US" sz="1600" dirty="0">
                <a:latin typeface="Times New Roman" panose="02020603050405020304" pitchFamily="18" charset="0"/>
                <a:ea typeface="Calibri" panose="020F0502020204030204" pitchFamily="34" charset="0"/>
                <a:cs typeface="Times New Roman" panose="02020603050405020304" pitchFamily="18" charset="0"/>
              </a:rPr>
              <a:t> M G, ‘Performance Analysis of SWIPT in Multi-hop Wireless Sensor Networks,’ Third International Conference on Computing and Network Communications (CoCoNet’19), pp.2157–2166, Procedia Computer Science 171 (2020) </a:t>
            </a:r>
          </a:p>
          <a:p>
            <a:pPr marL="342900" marR="0" lvl="0" indent="-342900" algn="just">
              <a:lnSpc>
                <a:spcPct val="107000"/>
              </a:lnSpc>
              <a:spcBef>
                <a:spcPts val="0"/>
              </a:spcBef>
              <a:spcAft>
                <a:spcPts val="800"/>
              </a:spcAft>
              <a:buFont typeface="+mj-lt"/>
              <a:buAutoNum type="arabicPeriod"/>
            </a:pPr>
            <a:r>
              <a:rPr lang="en-US" sz="1600" dirty="0" err="1">
                <a:latin typeface="Times New Roman" panose="02020603050405020304" pitchFamily="18" charset="0"/>
                <a:ea typeface="Calibri" panose="020F0502020204030204" pitchFamily="34" charset="0"/>
                <a:cs typeface="Times New Roman" panose="02020603050405020304" pitchFamily="18" charset="0"/>
              </a:rPr>
              <a:t>Zhansheng</a:t>
            </a:r>
            <a:r>
              <a:rPr lang="en-US" sz="1600" dirty="0">
                <a:latin typeface="Times New Roman" panose="02020603050405020304" pitchFamily="18" charset="0"/>
                <a:ea typeface="Calibri" panose="020F0502020204030204" pitchFamily="34" charset="0"/>
                <a:cs typeface="Times New Roman" panose="02020603050405020304" pitchFamily="18" charset="0"/>
              </a:rPr>
              <a:t> Chen and Hong Shen, ‘A grid-based reliable multi-hop routing protocol for energy-efficient wireless sensor networks,’ International Journal of Distributed Sensor Networks, pp.1-17, Vol. 14(3), 2018</a:t>
            </a:r>
          </a:p>
          <a:p>
            <a:pPr marL="342900" marR="0" lvl="0" indent="-342900" algn="just">
              <a:lnSpc>
                <a:spcPct val="107000"/>
              </a:lnSpc>
              <a:spcBef>
                <a:spcPts val="0"/>
              </a:spcBef>
              <a:spcAft>
                <a:spcPts val="800"/>
              </a:spcAft>
              <a:buFont typeface="+mj-lt"/>
              <a:buAutoNum type="arabicPeriod"/>
            </a:pPr>
            <a:r>
              <a:rPr lang="en-US" sz="1600" dirty="0">
                <a:latin typeface="Times New Roman" panose="02020603050405020304" pitchFamily="18" charset="0"/>
                <a:cs typeface="Times New Roman" panose="02020603050405020304" pitchFamily="18" charset="0"/>
              </a:rPr>
              <a:t>Liao </a:t>
            </a:r>
            <a:r>
              <a:rPr lang="en-US" sz="1600" dirty="0" err="1">
                <a:latin typeface="Times New Roman" panose="02020603050405020304" pitchFamily="18" charset="0"/>
                <a:cs typeface="Times New Roman" panose="02020603050405020304" pitchFamily="18" charset="0"/>
              </a:rPr>
              <a:t>Wenxing</a:t>
            </a:r>
            <a:r>
              <a:rPr lang="en-US" sz="1600" dirty="0">
                <a:latin typeface="Times New Roman" panose="02020603050405020304" pitchFamily="18" charset="0"/>
                <a:cs typeface="Times New Roman" panose="02020603050405020304" pitchFamily="18" charset="0"/>
              </a:rPr>
              <a:t>, Wu </a:t>
            </a:r>
            <a:r>
              <a:rPr lang="en-US" sz="1600" dirty="0" err="1">
                <a:latin typeface="Times New Roman" panose="02020603050405020304" pitchFamily="18" charset="0"/>
                <a:cs typeface="Times New Roman" panose="02020603050405020304" pitchFamily="18" charset="0"/>
              </a:rPr>
              <a:t>Muqing</a:t>
            </a:r>
            <a:r>
              <a:rPr lang="en-US" sz="1600" dirty="0">
                <a:latin typeface="Times New Roman" panose="02020603050405020304" pitchFamily="18" charset="0"/>
                <a:cs typeface="Times New Roman" panose="02020603050405020304" pitchFamily="18" charset="0"/>
              </a:rPr>
              <a:t>, Zhao Min, Li </a:t>
            </a:r>
            <a:r>
              <a:rPr lang="en-US" sz="1600" dirty="0" err="1">
                <a:latin typeface="Times New Roman" panose="02020603050405020304" pitchFamily="18" charset="0"/>
                <a:cs typeface="Times New Roman" panose="02020603050405020304" pitchFamily="18" charset="0"/>
              </a:rPr>
              <a:t>Peizhe</a:t>
            </a:r>
            <a:r>
              <a:rPr lang="en-US" sz="1600" dirty="0">
                <a:latin typeface="Times New Roman" panose="02020603050405020304" pitchFamily="18" charset="0"/>
                <a:cs typeface="Times New Roman" panose="02020603050405020304" pitchFamily="18" charset="0"/>
              </a:rPr>
              <a:t> and Li </a:t>
            </a:r>
            <a:r>
              <a:rPr lang="en-US" sz="1600" dirty="0" err="1">
                <a:latin typeface="Times New Roman" panose="02020603050405020304" pitchFamily="18" charset="0"/>
                <a:cs typeface="Times New Roman" panose="02020603050405020304" pitchFamily="18" charset="0"/>
              </a:rPr>
              <a:t>Tianze</a:t>
            </a:r>
            <a:r>
              <a:rPr lang="en-US" sz="1600" dirty="0">
                <a:latin typeface="Times New Roman" panose="02020603050405020304" pitchFamily="18" charset="0"/>
                <a:cs typeface="Times New Roman" panose="02020603050405020304" pitchFamily="18" charset="0"/>
              </a:rPr>
              <a:t>, ‘Hop count limitation analysis in wireless multi-hop networks,’ International Journal of Distributed Sensor Networks, Vol. 13(1), pp.1-12, 2017</a:t>
            </a:r>
          </a:p>
          <a:p>
            <a:pPr marL="342900" marR="0" lvl="0" indent="-342900" algn="just">
              <a:lnSpc>
                <a:spcPct val="107000"/>
              </a:lnSpc>
              <a:spcBef>
                <a:spcPts val="0"/>
              </a:spcBef>
              <a:spcAft>
                <a:spcPts val="800"/>
              </a:spcAft>
              <a:buFont typeface="+mj-lt"/>
              <a:buAutoNum type="arabicPeriod"/>
            </a:pPr>
            <a:r>
              <a:rPr lang="en-US" sz="1600" dirty="0">
                <a:latin typeface="Times New Roman" panose="02020603050405020304" pitchFamily="18" charset="0"/>
                <a:cs typeface="Times New Roman" panose="02020603050405020304" pitchFamily="18" charset="0"/>
              </a:rPr>
              <a:t>G. Guo, G. Sun, S. Bin and F. Shao, ‘Design and Analysis of Field Telemedicine Information Communication Protocol Based on Wireless Sensor Network,’ in IEEE Access, vol. 7, pp. 50630-50635, 2019</a:t>
            </a:r>
          </a:p>
          <a:p>
            <a:pPr marL="342900" marR="0" lvl="0" indent="-342900" algn="just">
              <a:lnSpc>
                <a:spcPct val="107000"/>
              </a:lnSpc>
              <a:spcBef>
                <a:spcPts val="0"/>
              </a:spcBef>
              <a:spcAft>
                <a:spcPts val="800"/>
              </a:spcAft>
              <a:buFont typeface="+mj-lt"/>
              <a:buAutoNum type="arabicPeriod"/>
            </a:pPr>
            <a:r>
              <a:rPr lang="en-US" sz="1600" dirty="0">
                <a:latin typeface="Times New Roman" panose="02020603050405020304" pitchFamily="18" charset="0"/>
                <a:cs typeface="Times New Roman" panose="02020603050405020304" pitchFamily="18" charset="0"/>
              </a:rPr>
              <a:t>M. Deb and S. Roy, ‘Harvested Profile Aware Multi hop Routing Protocol for Wireless Sensor Network,’ 2018 Fifth International Conference on Emerging Applications of Information Technology (EAIT), 2018, pp. 1-4, 12-13 January 2018, Kolkata, India</a:t>
            </a:r>
          </a:p>
          <a:p>
            <a:pPr marL="342900" marR="0" lvl="0" indent="-342900" algn="just">
              <a:lnSpc>
                <a:spcPct val="107000"/>
              </a:lnSpc>
              <a:spcBef>
                <a:spcPts val="0"/>
              </a:spcBef>
              <a:spcAft>
                <a:spcPts val="800"/>
              </a:spcAft>
              <a:buFont typeface="+mj-lt"/>
              <a:buAutoNum type="arabicPeriod"/>
            </a:pPr>
            <a:r>
              <a:rPr lang="en-US" sz="1600" dirty="0">
                <a:latin typeface="Times New Roman" panose="02020603050405020304" pitchFamily="18" charset="0"/>
                <a:cs typeface="Times New Roman" panose="02020603050405020304" pitchFamily="18" charset="0"/>
              </a:rPr>
              <a:t>Nader F. Mir, ‘Computer and Communication Networks,’ Pearson Education, 2009</a:t>
            </a:r>
          </a:p>
          <a:p>
            <a:pPr marL="342900" marR="0" lvl="0" indent="-342900" algn="just">
              <a:lnSpc>
                <a:spcPct val="107000"/>
              </a:lnSpc>
              <a:spcBef>
                <a:spcPts val="0"/>
              </a:spcBef>
              <a:spcAft>
                <a:spcPts val="800"/>
              </a:spcAft>
              <a:buFont typeface="+mj-lt"/>
              <a:buAutoNum type="arabicPeriod"/>
            </a:pPr>
            <a:r>
              <a:rPr lang="en-US" sz="1600" dirty="0">
                <a:latin typeface="Times New Roman" panose="02020603050405020304" pitchFamily="18" charset="0"/>
                <a:cs typeface="Times New Roman" panose="02020603050405020304" pitchFamily="18" charset="0"/>
              </a:rPr>
              <a:t>T. </a:t>
            </a:r>
            <a:r>
              <a:rPr lang="en-US" sz="1600" dirty="0" err="1">
                <a:latin typeface="Times New Roman" panose="02020603050405020304" pitchFamily="18" charset="0"/>
                <a:cs typeface="Times New Roman" panose="02020603050405020304" pitchFamily="18" charset="0"/>
              </a:rPr>
              <a:t>Tatarnikova</a:t>
            </a:r>
            <a:r>
              <a:rPr lang="en-US" sz="1600" dirty="0">
                <a:latin typeface="Times New Roman" panose="02020603050405020304" pitchFamily="18" charset="0"/>
                <a:cs typeface="Times New Roman" panose="02020603050405020304" pitchFamily="18" charset="0"/>
              </a:rPr>
              <a:t> and F. </a:t>
            </a:r>
            <a:r>
              <a:rPr lang="en-US" sz="1600" dirty="0" err="1">
                <a:latin typeface="Times New Roman" panose="02020603050405020304" pitchFamily="18" charset="0"/>
                <a:cs typeface="Times New Roman" panose="02020603050405020304" pitchFamily="18" charset="0"/>
              </a:rPr>
              <a:t>Bimbetov</a:t>
            </a:r>
            <a:r>
              <a:rPr lang="en-US" sz="1600" dirty="0">
                <a:latin typeface="Times New Roman" panose="02020603050405020304" pitchFamily="18" charset="0"/>
                <a:cs typeface="Times New Roman" panose="02020603050405020304" pitchFamily="18" charset="0"/>
              </a:rPr>
              <a:t>, ‘Bee Swarm Algorithm for Selecting Heads of Wireless Sensor Network Clusters,’ 2022 11th Mediterranean Conference on Embedded Computing (MECO), 2022, pp. 1-4, 07-10 June 2022, </a:t>
            </a:r>
            <a:r>
              <a:rPr lang="en-US" sz="1600" dirty="0" err="1">
                <a:latin typeface="Times New Roman" panose="02020603050405020304" pitchFamily="18" charset="0"/>
                <a:cs typeface="Times New Roman" panose="02020603050405020304" pitchFamily="18" charset="0"/>
              </a:rPr>
              <a:t>Budva</a:t>
            </a:r>
            <a:r>
              <a:rPr lang="en-US" sz="1600" dirty="0">
                <a:latin typeface="Times New Roman" panose="02020603050405020304" pitchFamily="18" charset="0"/>
                <a:cs typeface="Times New Roman" panose="02020603050405020304" pitchFamily="18" charset="0"/>
              </a:rPr>
              <a:t>, Montenegro</a:t>
            </a:r>
          </a:p>
          <a:p>
            <a:pPr marL="342900" marR="0" lvl="0" indent="-342900" algn="just">
              <a:lnSpc>
                <a:spcPct val="107000"/>
              </a:lnSpc>
              <a:spcBef>
                <a:spcPts val="0"/>
              </a:spcBef>
              <a:spcAft>
                <a:spcPts val="800"/>
              </a:spcAft>
              <a:buFont typeface="+mj-lt"/>
              <a:buAutoNum type="arabicPeriod"/>
            </a:pPr>
            <a:r>
              <a:rPr lang="en-US" sz="1600" dirty="0">
                <a:latin typeface="Times New Roman" panose="02020603050405020304" pitchFamily="18" charset="0"/>
                <a:cs typeface="Times New Roman" panose="02020603050405020304" pitchFamily="18" charset="0"/>
              </a:rPr>
              <a:t>N. N. Reddy and S. C, ‘Energy Efficient Clustering Hierarchy in Wireless Sensor Network using Dynamic Clustering Approach ILEACH-ACHH Protocol Compared with LEACH-ACHH Protocol,’ 2022 2nd International Conference on Innovative Practices in Technology and Management (ICIPTM), 2022, pp. 535-541, 23-25 February 2022, Gautam Buddha Nagar, India</a:t>
            </a:r>
          </a:p>
        </p:txBody>
      </p:sp>
      <p:sp>
        <p:nvSpPr>
          <p:cNvPr id="6" name="Slide Number Placeholder 5">
            <a:extLst>
              <a:ext uri="{FF2B5EF4-FFF2-40B4-BE49-F238E27FC236}">
                <a16:creationId xmlns:a16="http://schemas.microsoft.com/office/drawing/2014/main" id="{B93ABEC6-993F-4D19-9485-3DC4B0333F0C}"/>
              </a:ext>
            </a:extLst>
          </p:cNvPr>
          <p:cNvSpPr>
            <a:spLocks noGrp="1"/>
          </p:cNvSpPr>
          <p:nvPr>
            <p:ph type="sldNum" sz="quarter" idx="12"/>
          </p:nvPr>
        </p:nvSpPr>
        <p:spPr/>
        <p:txBody>
          <a:bodyPr/>
          <a:lstStyle/>
          <a:p>
            <a:fld id="{C3F1913A-7668-436E-8561-76A60B792217}" type="slidenum">
              <a:rPr lang="en-US" smtClean="0"/>
              <a:t>68</a:t>
            </a:fld>
            <a:endParaRPr lang="en-US"/>
          </a:p>
        </p:txBody>
      </p:sp>
    </p:spTree>
    <p:extLst>
      <p:ext uri="{BB962C8B-B14F-4D97-AF65-F5344CB8AC3E}">
        <p14:creationId xmlns:p14="http://schemas.microsoft.com/office/powerpoint/2010/main" val="318176340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842C8D-B913-47C6-BF85-CB56176B8C1F}"/>
              </a:ext>
            </a:extLst>
          </p:cNvPr>
          <p:cNvSpPr/>
          <p:nvPr/>
        </p:nvSpPr>
        <p:spPr>
          <a:xfrm rot="1816813">
            <a:off x="3238065" y="2188276"/>
            <a:ext cx="5044073" cy="1446550"/>
          </a:xfrm>
          <a:prstGeom prst="rect">
            <a:avLst/>
          </a:prstGeom>
          <a:noFill/>
        </p:spPr>
        <p:txBody>
          <a:bodyPr wrap="none" lIns="91440" tIns="45720" rIns="91440" bIns="45720">
            <a:spAutoFit/>
          </a:bodyPr>
          <a:lstStyle/>
          <a:p>
            <a:pPr algn="ctr"/>
            <a:r>
              <a:rPr lang="en-US" sz="8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Thank You</a:t>
            </a:r>
          </a:p>
        </p:txBody>
      </p:sp>
      <p:sp>
        <p:nvSpPr>
          <p:cNvPr id="5" name="Slide Number Placeholder 4">
            <a:extLst>
              <a:ext uri="{FF2B5EF4-FFF2-40B4-BE49-F238E27FC236}">
                <a16:creationId xmlns:a16="http://schemas.microsoft.com/office/drawing/2014/main" id="{CF61F7AA-7B7F-440E-8B46-81C797C7F141}"/>
              </a:ext>
            </a:extLst>
          </p:cNvPr>
          <p:cNvSpPr>
            <a:spLocks noGrp="1"/>
          </p:cNvSpPr>
          <p:nvPr>
            <p:ph type="sldNum" sz="quarter" idx="12"/>
          </p:nvPr>
        </p:nvSpPr>
        <p:spPr/>
        <p:txBody>
          <a:bodyPr/>
          <a:lstStyle/>
          <a:p>
            <a:fld id="{C3F1913A-7668-436E-8561-76A60B792217}" type="slidenum">
              <a:rPr lang="en-US" smtClean="0"/>
              <a:t>69</a:t>
            </a:fld>
            <a:endParaRPr lang="en-US"/>
          </a:p>
        </p:txBody>
      </p:sp>
    </p:spTree>
    <p:extLst>
      <p:ext uri="{BB962C8B-B14F-4D97-AF65-F5344CB8AC3E}">
        <p14:creationId xmlns:p14="http://schemas.microsoft.com/office/powerpoint/2010/main" val="32648060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3025</TotalTime>
  <Words>6241</Words>
  <Application>Microsoft Macintosh PowerPoint</Application>
  <PresentationFormat>Widescreen</PresentationFormat>
  <Paragraphs>778</Paragraphs>
  <Slides>69</Slides>
  <Notes>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69</vt:i4>
      </vt:variant>
    </vt:vector>
  </HeadingPairs>
  <TitlesOfParts>
    <vt:vector size="78" baseType="lpstr">
      <vt:lpstr>Arial</vt:lpstr>
      <vt:lpstr>Calibri</vt:lpstr>
      <vt:lpstr>Calibri Light</vt:lpstr>
      <vt:lpstr>Cambria Math</vt:lpstr>
      <vt:lpstr>Times New Roman</vt:lpstr>
      <vt:lpstr>Wingdings</vt:lpstr>
      <vt:lpstr>Office Theme</vt:lpstr>
      <vt:lpstr>Equation</vt:lpstr>
      <vt:lpstr>Bitmap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CSEJU</dc:creator>
  <cp:lastModifiedBy>shakibrybmn@gmail.com</cp:lastModifiedBy>
  <cp:revision>361</cp:revision>
  <cp:lastPrinted>2022-10-28T04:16:39Z</cp:lastPrinted>
  <dcterms:created xsi:type="dcterms:W3CDTF">2022-10-10T18:59:09Z</dcterms:created>
  <dcterms:modified xsi:type="dcterms:W3CDTF">2025-10-12T11:30:59Z</dcterms:modified>
</cp:coreProperties>
</file>