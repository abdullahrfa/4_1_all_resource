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1"/>
  </p:notesMasterIdLst>
  <p:sldIdLst>
    <p:sldId id="256" r:id="rId2"/>
    <p:sldId id="314" r:id="rId3"/>
    <p:sldId id="315" r:id="rId4"/>
    <p:sldId id="316" r:id="rId5"/>
    <p:sldId id="317" r:id="rId6"/>
    <p:sldId id="319" r:id="rId7"/>
    <p:sldId id="326" r:id="rId8"/>
    <p:sldId id="322" r:id="rId9"/>
    <p:sldId id="321" r:id="rId10"/>
    <p:sldId id="323" r:id="rId11"/>
    <p:sldId id="354" r:id="rId12"/>
    <p:sldId id="355" r:id="rId13"/>
    <p:sldId id="356" r:id="rId14"/>
    <p:sldId id="357" r:id="rId15"/>
    <p:sldId id="358" r:id="rId16"/>
    <p:sldId id="327" r:id="rId17"/>
    <p:sldId id="328" r:id="rId18"/>
    <p:sldId id="332" r:id="rId19"/>
    <p:sldId id="330" r:id="rId20"/>
    <p:sldId id="331" r:id="rId21"/>
    <p:sldId id="359" r:id="rId22"/>
    <p:sldId id="360" r:id="rId23"/>
    <p:sldId id="361" r:id="rId24"/>
    <p:sldId id="333" r:id="rId25"/>
    <p:sldId id="334" r:id="rId26"/>
    <p:sldId id="335" r:id="rId27"/>
    <p:sldId id="320" r:id="rId28"/>
    <p:sldId id="257" r:id="rId29"/>
    <p:sldId id="259" r:id="rId30"/>
    <p:sldId id="260" r:id="rId31"/>
    <p:sldId id="269" r:id="rId32"/>
    <p:sldId id="275" r:id="rId33"/>
    <p:sldId id="270" r:id="rId34"/>
    <p:sldId id="276" r:id="rId35"/>
    <p:sldId id="289" r:id="rId36"/>
    <p:sldId id="290" r:id="rId37"/>
    <p:sldId id="293" r:id="rId38"/>
    <p:sldId id="386" r:id="rId39"/>
    <p:sldId id="387" r:id="rId40"/>
    <p:sldId id="381" r:id="rId41"/>
    <p:sldId id="385" r:id="rId42"/>
    <p:sldId id="295" r:id="rId43"/>
    <p:sldId id="346" r:id="rId44"/>
    <p:sldId id="377" r:id="rId45"/>
    <p:sldId id="378" r:id="rId46"/>
    <p:sldId id="379" r:id="rId47"/>
    <p:sldId id="296" r:id="rId48"/>
    <p:sldId id="376" r:id="rId49"/>
    <p:sldId id="348" r:id="rId50"/>
    <p:sldId id="349" r:id="rId51"/>
    <p:sldId id="350" r:id="rId52"/>
    <p:sldId id="351" r:id="rId53"/>
    <p:sldId id="300" r:id="rId54"/>
    <p:sldId id="383" r:id="rId55"/>
    <p:sldId id="301" r:id="rId56"/>
    <p:sldId id="384" r:id="rId57"/>
    <p:sldId id="303" r:id="rId58"/>
    <p:sldId id="304" r:id="rId59"/>
    <p:sldId id="309" r:id="rId60"/>
    <p:sldId id="305" r:id="rId61"/>
    <p:sldId id="310" r:id="rId62"/>
    <p:sldId id="306" r:id="rId63"/>
    <p:sldId id="307" r:id="rId64"/>
    <p:sldId id="313" r:id="rId65"/>
    <p:sldId id="308" r:id="rId66"/>
    <p:sldId id="311" r:id="rId67"/>
    <p:sldId id="380" r:id="rId68"/>
    <p:sldId id="353" r:id="rId69"/>
    <p:sldId id="258"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161" autoAdjust="0"/>
  </p:normalViewPr>
  <p:slideViewPr>
    <p:cSldViewPr snapToGrid="0">
      <p:cViewPr varScale="1">
        <p:scale>
          <a:sx n="76" d="100"/>
          <a:sy n="76" d="100"/>
        </p:scale>
        <p:origin x="946"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plu shiplu" userId="0add6af257b16c4e" providerId="LiveId" clId="{5F8461D8-4845-4898-990B-3DBA61BCF800}"/>
    <pc:docChg chg="delSld">
      <pc:chgData name="shiplu shiplu" userId="0add6af257b16c4e" providerId="LiveId" clId="{5F8461D8-4845-4898-990B-3DBA61BCF800}" dt="2025-10-07T09:58:04.238" v="22" actId="2696"/>
      <pc:docMkLst>
        <pc:docMk/>
      </pc:docMkLst>
      <pc:sldChg chg="del">
        <pc:chgData name="shiplu shiplu" userId="0add6af257b16c4e" providerId="LiveId" clId="{5F8461D8-4845-4898-990B-3DBA61BCF800}" dt="2025-10-07T09:56:39.033" v="0" actId="2696"/>
        <pc:sldMkLst>
          <pc:docMk/>
          <pc:sldMk cId="2387966624" sldId="336"/>
        </pc:sldMkLst>
      </pc:sldChg>
      <pc:sldChg chg="del">
        <pc:chgData name="shiplu shiplu" userId="0add6af257b16c4e" providerId="LiveId" clId="{5F8461D8-4845-4898-990B-3DBA61BCF800}" dt="2025-10-07T09:57:34.346" v="14" actId="2696"/>
        <pc:sldMkLst>
          <pc:docMk/>
          <pc:sldMk cId="3286127844" sldId="337"/>
        </pc:sldMkLst>
      </pc:sldChg>
      <pc:sldChg chg="del">
        <pc:chgData name="shiplu shiplu" userId="0add6af257b16c4e" providerId="LiveId" clId="{5F8461D8-4845-4898-990B-3DBA61BCF800}" dt="2025-10-07T09:57:37.694" v="15" actId="2696"/>
        <pc:sldMkLst>
          <pc:docMk/>
          <pc:sldMk cId="669262947" sldId="338"/>
        </pc:sldMkLst>
      </pc:sldChg>
      <pc:sldChg chg="del">
        <pc:chgData name="shiplu shiplu" userId="0add6af257b16c4e" providerId="LiveId" clId="{5F8461D8-4845-4898-990B-3DBA61BCF800}" dt="2025-10-07T09:56:44.046" v="1" actId="2696"/>
        <pc:sldMkLst>
          <pc:docMk/>
          <pc:sldMk cId="8048633" sldId="340"/>
        </pc:sldMkLst>
      </pc:sldChg>
      <pc:sldChg chg="del">
        <pc:chgData name="shiplu shiplu" userId="0add6af257b16c4e" providerId="LiveId" clId="{5F8461D8-4845-4898-990B-3DBA61BCF800}" dt="2025-10-07T09:56:47.501" v="2" actId="2696"/>
        <pc:sldMkLst>
          <pc:docMk/>
          <pc:sldMk cId="1326469747" sldId="341"/>
        </pc:sldMkLst>
      </pc:sldChg>
      <pc:sldChg chg="del">
        <pc:chgData name="shiplu shiplu" userId="0add6af257b16c4e" providerId="LiveId" clId="{5F8461D8-4845-4898-990B-3DBA61BCF800}" dt="2025-10-07T09:56:54.605" v="4" actId="2696"/>
        <pc:sldMkLst>
          <pc:docMk/>
          <pc:sldMk cId="78318589" sldId="342"/>
        </pc:sldMkLst>
      </pc:sldChg>
      <pc:sldChg chg="del">
        <pc:chgData name="shiplu shiplu" userId="0add6af257b16c4e" providerId="LiveId" clId="{5F8461D8-4845-4898-990B-3DBA61BCF800}" dt="2025-10-07T09:56:57.883" v="5" actId="2696"/>
        <pc:sldMkLst>
          <pc:docMk/>
          <pc:sldMk cId="48820690" sldId="343"/>
        </pc:sldMkLst>
      </pc:sldChg>
      <pc:sldChg chg="del">
        <pc:chgData name="shiplu shiplu" userId="0add6af257b16c4e" providerId="LiveId" clId="{5F8461D8-4845-4898-990B-3DBA61BCF800}" dt="2025-10-07T09:56:51.076" v="3" actId="2696"/>
        <pc:sldMkLst>
          <pc:docMk/>
          <pc:sldMk cId="519949371" sldId="344"/>
        </pc:sldMkLst>
      </pc:sldChg>
      <pc:sldChg chg="del">
        <pc:chgData name="shiplu shiplu" userId="0add6af257b16c4e" providerId="LiveId" clId="{5F8461D8-4845-4898-990B-3DBA61BCF800}" dt="2025-10-07T09:57:01.450" v="6" actId="2696"/>
        <pc:sldMkLst>
          <pc:docMk/>
          <pc:sldMk cId="3273196739" sldId="345"/>
        </pc:sldMkLst>
      </pc:sldChg>
      <pc:sldChg chg="del">
        <pc:chgData name="shiplu shiplu" userId="0add6af257b16c4e" providerId="LiveId" clId="{5F8461D8-4845-4898-990B-3DBA61BCF800}" dt="2025-10-07T09:57:06.839" v="7" actId="2696"/>
        <pc:sldMkLst>
          <pc:docMk/>
          <pc:sldMk cId="3861254057" sldId="362"/>
        </pc:sldMkLst>
      </pc:sldChg>
      <pc:sldChg chg="del">
        <pc:chgData name="shiplu shiplu" userId="0add6af257b16c4e" providerId="LiveId" clId="{5F8461D8-4845-4898-990B-3DBA61BCF800}" dt="2025-10-07T09:57:10.728" v="8" actId="2696"/>
        <pc:sldMkLst>
          <pc:docMk/>
          <pc:sldMk cId="4124060523" sldId="363"/>
        </pc:sldMkLst>
      </pc:sldChg>
      <pc:sldChg chg="del">
        <pc:chgData name="shiplu shiplu" userId="0add6af257b16c4e" providerId="LiveId" clId="{5F8461D8-4845-4898-990B-3DBA61BCF800}" dt="2025-10-07T09:57:15.726" v="9" actId="2696"/>
        <pc:sldMkLst>
          <pc:docMk/>
          <pc:sldMk cId="4041802867" sldId="364"/>
        </pc:sldMkLst>
      </pc:sldChg>
      <pc:sldChg chg="del">
        <pc:chgData name="shiplu shiplu" userId="0add6af257b16c4e" providerId="LiveId" clId="{5F8461D8-4845-4898-990B-3DBA61BCF800}" dt="2025-10-07T09:57:19.506" v="10" actId="2696"/>
        <pc:sldMkLst>
          <pc:docMk/>
          <pc:sldMk cId="3047641341" sldId="365"/>
        </pc:sldMkLst>
      </pc:sldChg>
      <pc:sldChg chg="del">
        <pc:chgData name="shiplu shiplu" userId="0add6af257b16c4e" providerId="LiveId" clId="{5F8461D8-4845-4898-990B-3DBA61BCF800}" dt="2025-10-07T09:57:22.972" v="11" actId="2696"/>
        <pc:sldMkLst>
          <pc:docMk/>
          <pc:sldMk cId="3542982517" sldId="366"/>
        </pc:sldMkLst>
      </pc:sldChg>
      <pc:sldChg chg="del">
        <pc:chgData name="shiplu shiplu" userId="0add6af257b16c4e" providerId="LiveId" clId="{5F8461D8-4845-4898-990B-3DBA61BCF800}" dt="2025-10-07T09:57:27.013" v="12" actId="2696"/>
        <pc:sldMkLst>
          <pc:docMk/>
          <pc:sldMk cId="1830652146" sldId="367"/>
        </pc:sldMkLst>
      </pc:sldChg>
      <pc:sldChg chg="del">
        <pc:chgData name="shiplu shiplu" userId="0add6af257b16c4e" providerId="LiveId" clId="{5F8461D8-4845-4898-990B-3DBA61BCF800}" dt="2025-10-07T09:57:30.997" v="13" actId="2696"/>
        <pc:sldMkLst>
          <pc:docMk/>
          <pc:sldMk cId="1115141504" sldId="368"/>
        </pc:sldMkLst>
      </pc:sldChg>
      <pc:sldChg chg="del">
        <pc:chgData name="shiplu shiplu" userId="0add6af257b16c4e" providerId="LiveId" clId="{5F8461D8-4845-4898-990B-3DBA61BCF800}" dt="2025-10-07T09:57:42.019" v="16" actId="2696"/>
        <pc:sldMkLst>
          <pc:docMk/>
          <pc:sldMk cId="953574262" sldId="369"/>
        </pc:sldMkLst>
      </pc:sldChg>
      <pc:sldChg chg="del">
        <pc:chgData name="shiplu shiplu" userId="0add6af257b16c4e" providerId="LiveId" clId="{5F8461D8-4845-4898-990B-3DBA61BCF800}" dt="2025-10-07T09:57:45.812" v="17" actId="2696"/>
        <pc:sldMkLst>
          <pc:docMk/>
          <pc:sldMk cId="3640103702" sldId="370"/>
        </pc:sldMkLst>
      </pc:sldChg>
      <pc:sldChg chg="del">
        <pc:chgData name="shiplu shiplu" userId="0add6af257b16c4e" providerId="LiveId" clId="{5F8461D8-4845-4898-990B-3DBA61BCF800}" dt="2025-10-07T09:57:49.426" v="18" actId="2696"/>
        <pc:sldMkLst>
          <pc:docMk/>
          <pc:sldMk cId="1547139049" sldId="371"/>
        </pc:sldMkLst>
      </pc:sldChg>
      <pc:sldChg chg="del">
        <pc:chgData name="shiplu shiplu" userId="0add6af257b16c4e" providerId="LiveId" clId="{5F8461D8-4845-4898-990B-3DBA61BCF800}" dt="2025-10-07T09:57:53.327" v="19" actId="2696"/>
        <pc:sldMkLst>
          <pc:docMk/>
          <pc:sldMk cId="2117160418" sldId="372"/>
        </pc:sldMkLst>
      </pc:sldChg>
      <pc:sldChg chg="del">
        <pc:chgData name="shiplu shiplu" userId="0add6af257b16c4e" providerId="LiveId" clId="{5F8461D8-4845-4898-990B-3DBA61BCF800}" dt="2025-10-07T09:57:57.161" v="20" actId="2696"/>
        <pc:sldMkLst>
          <pc:docMk/>
          <pc:sldMk cId="2870848714" sldId="373"/>
        </pc:sldMkLst>
      </pc:sldChg>
      <pc:sldChg chg="del">
        <pc:chgData name="shiplu shiplu" userId="0add6af257b16c4e" providerId="LiveId" clId="{5F8461D8-4845-4898-990B-3DBA61BCF800}" dt="2025-10-07T09:58:00.690" v="21" actId="2696"/>
        <pc:sldMkLst>
          <pc:docMk/>
          <pc:sldMk cId="515392543" sldId="374"/>
        </pc:sldMkLst>
      </pc:sldChg>
      <pc:sldChg chg="del">
        <pc:chgData name="shiplu shiplu" userId="0add6af257b16c4e" providerId="LiveId" clId="{5F8461D8-4845-4898-990B-3DBA61BCF800}" dt="2025-10-07T09:58:04.238" v="22" actId="2696"/>
        <pc:sldMkLst>
          <pc:docMk/>
          <pc:sldMk cId="1935297929" sldId="3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F31913-0FC3-4CF4-BADB-BE39A6CFBD86}" type="datetimeFigureOut">
              <a:rPr lang="en-US" smtClean="0"/>
              <a:t>10/7/2025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7829CF-F3B1-402F-BC88-89CA5E9C5F3F}" type="slidenum">
              <a:rPr lang="en-US" smtClean="0"/>
              <a:t>‹#›</a:t>
            </a:fld>
            <a:endParaRPr lang="en-US"/>
          </a:p>
        </p:txBody>
      </p:sp>
    </p:spTree>
    <p:extLst>
      <p:ext uri="{BB962C8B-B14F-4D97-AF65-F5344CB8AC3E}">
        <p14:creationId xmlns:p14="http://schemas.microsoft.com/office/powerpoint/2010/main" val="2097864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829CF-F3B1-402F-BC88-89CA5E9C5F3F}" type="slidenum">
              <a:rPr lang="en-US" smtClean="0"/>
              <a:t>2</a:t>
            </a:fld>
            <a:endParaRPr lang="en-US"/>
          </a:p>
        </p:txBody>
      </p:sp>
    </p:spTree>
    <p:extLst>
      <p:ext uri="{BB962C8B-B14F-4D97-AF65-F5344CB8AC3E}">
        <p14:creationId xmlns:p14="http://schemas.microsoft.com/office/powerpoint/2010/main" val="731201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829CF-F3B1-402F-BC88-89CA5E9C5F3F}" type="slidenum">
              <a:rPr lang="en-US" smtClean="0"/>
              <a:t>3</a:t>
            </a:fld>
            <a:endParaRPr lang="en-US"/>
          </a:p>
        </p:txBody>
      </p:sp>
    </p:spTree>
    <p:extLst>
      <p:ext uri="{BB962C8B-B14F-4D97-AF65-F5344CB8AC3E}">
        <p14:creationId xmlns:p14="http://schemas.microsoft.com/office/powerpoint/2010/main" val="1369864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a:t>
            </a:fld>
            <a:endParaRPr lang="en-US"/>
          </a:p>
        </p:txBody>
      </p:sp>
    </p:spTree>
    <p:extLst>
      <p:ext uri="{BB962C8B-B14F-4D97-AF65-F5344CB8AC3E}">
        <p14:creationId xmlns:p14="http://schemas.microsoft.com/office/powerpoint/2010/main" val="1044731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829CF-F3B1-402F-BC88-89CA5E9C5F3F}" type="slidenum">
              <a:rPr lang="en-US" smtClean="0"/>
              <a:t>5</a:t>
            </a:fld>
            <a:endParaRPr lang="en-US"/>
          </a:p>
        </p:txBody>
      </p:sp>
    </p:spTree>
    <p:extLst>
      <p:ext uri="{BB962C8B-B14F-4D97-AF65-F5344CB8AC3E}">
        <p14:creationId xmlns:p14="http://schemas.microsoft.com/office/powerpoint/2010/main" val="1044731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829CF-F3B1-402F-BC88-89CA5E9C5F3F}" type="slidenum">
              <a:rPr lang="en-US" smtClean="0"/>
              <a:t>6</a:t>
            </a:fld>
            <a:endParaRPr lang="en-US"/>
          </a:p>
        </p:txBody>
      </p:sp>
    </p:spTree>
    <p:extLst>
      <p:ext uri="{BB962C8B-B14F-4D97-AF65-F5344CB8AC3E}">
        <p14:creationId xmlns:p14="http://schemas.microsoft.com/office/powerpoint/2010/main" val="1044731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829CF-F3B1-402F-BC88-89CA5E9C5F3F}" type="slidenum">
              <a:rPr lang="en-US" smtClean="0"/>
              <a:t>7</a:t>
            </a:fld>
            <a:endParaRPr lang="en-US"/>
          </a:p>
        </p:txBody>
      </p:sp>
    </p:spTree>
    <p:extLst>
      <p:ext uri="{BB962C8B-B14F-4D97-AF65-F5344CB8AC3E}">
        <p14:creationId xmlns:p14="http://schemas.microsoft.com/office/powerpoint/2010/main" val="1428436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829CF-F3B1-402F-BC88-89CA5E9C5F3F}" type="slidenum">
              <a:rPr lang="en-US" smtClean="0"/>
              <a:t>9</a:t>
            </a:fld>
            <a:endParaRPr lang="en-US"/>
          </a:p>
        </p:txBody>
      </p:sp>
    </p:spTree>
    <p:extLst>
      <p:ext uri="{BB962C8B-B14F-4D97-AF65-F5344CB8AC3E}">
        <p14:creationId xmlns:p14="http://schemas.microsoft.com/office/powerpoint/2010/main" val="928769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829CF-F3B1-402F-BC88-89CA5E9C5F3F}" type="slidenum">
              <a:rPr lang="en-US" smtClean="0"/>
              <a:t>10</a:t>
            </a:fld>
            <a:endParaRPr lang="en-US"/>
          </a:p>
        </p:txBody>
      </p:sp>
    </p:spTree>
    <p:extLst>
      <p:ext uri="{BB962C8B-B14F-4D97-AF65-F5344CB8AC3E}">
        <p14:creationId xmlns:p14="http://schemas.microsoft.com/office/powerpoint/2010/main" val="32864920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11</a:t>
            </a:fld>
            <a:endParaRPr lang="en-US"/>
          </a:p>
        </p:txBody>
      </p:sp>
    </p:spTree>
    <p:extLst>
      <p:ext uri="{BB962C8B-B14F-4D97-AF65-F5344CB8AC3E}">
        <p14:creationId xmlns:p14="http://schemas.microsoft.com/office/powerpoint/2010/main" val="783084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829CF-F3B1-402F-BC88-89CA5E9C5F3F}" type="slidenum">
              <a:rPr lang="en-US" smtClean="0"/>
              <a:t>12</a:t>
            </a:fld>
            <a:endParaRPr lang="en-US"/>
          </a:p>
        </p:txBody>
      </p:sp>
    </p:spTree>
    <p:extLst>
      <p:ext uri="{BB962C8B-B14F-4D97-AF65-F5344CB8AC3E}">
        <p14:creationId xmlns:p14="http://schemas.microsoft.com/office/powerpoint/2010/main" val="432999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pPr>
            <a:r>
              <a:rPr lang="en-US" dirty="0"/>
              <a:t>A SDD is a context free grammar with attributes and rules</a:t>
            </a:r>
          </a:p>
          <a:p>
            <a:pPr eaLnBrk="1" hangingPunct="1">
              <a:lnSpc>
                <a:spcPct val="80000"/>
              </a:lnSpc>
            </a:pPr>
            <a:r>
              <a:rPr lang="en-US" dirty="0"/>
              <a:t>Attributes are associated with grammar symbols and rules with productions</a:t>
            </a:r>
          </a:p>
          <a:p>
            <a:pPr eaLnBrk="1" hangingPunct="1">
              <a:lnSpc>
                <a:spcPct val="80000"/>
              </a:lnSpc>
            </a:pPr>
            <a:r>
              <a:rPr lang="en-US" dirty="0"/>
              <a:t>Attributes may be of many kinds: numbers, types, table references, strings, etc.</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13</a:t>
            </a:fld>
            <a:endParaRPr lang="en-US"/>
          </a:p>
        </p:txBody>
      </p:sp>
    </p:spTree>
    <p:extLst>
      <p:ext uri="{BB962C8B-B14F-4D97-AF65-F5344CB8AC3E}">
        <p14:creationId xmlns:p14="http://schemas.microsoft.com/office/powerpoint/2010/main" val="3240965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See Text book for Explanation..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rule for </a:t>
            </a:r>
            <a:r>
              <a:rPr lang="en-US" sz="1200" b="1" i="0" kern="1200" dirty="0">
                <a:solidFill>
                  <a:schemeClr val="tx1"/>
                </a:solidFill>
                <a:effectLst/>
                <a:latin typeface="+mn-lt"/>
                <a:ea typeface="+mn-ea"/>
                <a:cs typeface="+mn-cs"/>
              </a:rPr>
              <a:t>production 1</a:t>
            </a:r>
            <a:r>
              <a:rPr lang="en-US" sz="1200" b="0" i="0" kern="1200" dirty="0">
                <a:solidFill>
                  <a:schemeClr val="tx1"/>
                </a:solidFill>
                <a:effectLst/>
                <a:latin typeface="+mn-lt"/>
                <a:ea typeface="+mn-ea"/>
                <a:cs typeface="+mn-cs"/>
              </a:rPr>
              <a:t>, L </a:t>
            </a:r>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 E n, sets </a:t>
            </a:r>
            <a:r>
              <a:rPr lang="en-US" sz="1200" b="0" i="0" kern="1200" dirty="0" err="1">
                <a:solidFill>
                  <a:schemeClr val="tx1"/>
                </a:solidFill>
                <a:effectLst/>
                <a:latin typeface="+mn-lt"/>
                <a:ea typeface="+mn-ea"/>
                <a:cs typeface="+mn-cs"/>
              </a:rPr>
              <a:t>L.val</a:t>
            </a:r>
            <a:r>
              <a:rPr lang="en-US" sz="1200" b="0" i="0" kern="1200" dirty="0">
                <a:solidFill>
                  <a:schemeClr val="tx1"/>
                </a:solidFill>
                <a:effectLst/>
                <a:latin typeface="+mn-lt"/>
                <a:ea typeface="+mn-ea"/>
                <a:cs typeface="+mn-cs"/>
              </a:rPr>
              <a:t> to </a:t>
            </a:r>
            <a:r>
              <a:rPr lang="en-US" sz="1200" b="0" i="0" kern="1200" dirty="0" err="1">
                <a:solidFill>
                  <a:schemeClr val="tx1"/>
                </a:solidFill>
                <a:effectLst/>
                <a:latin typeface="+mn-lt"/>
                <a:ea typeface="+mn-ea"/>
                <a:cs typeface="+mn-cs"/>
              </a:rPr>
              <a:t>E.val</a:t>
            </a:r>
            <a:r>
              <a:rPr lang="en-US" sz="1200" b="0" i="0" kern="1200" dirty="0">
                <a:solidFill>
                  <a:schemeClr val="tx1"/>
                </a:solidFill>
                <a:effectLst/>
                <a:latin typeface="+mn-lt"/>
                <a:ea typeface="+mn-ea"/>
                <a:cs typeface="+mn-cs"/>
              </a:rPr>
              <a:t>, which we shall see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is the numerical value of the entire expression.</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Production 2</a:t>
            </a:r>
            <a:r>
              <a:rPr lang="en-US" sz="1200" b="0" i="0" kern="1200" dirty="0">
                <a:solidFill>
                  <a:schemeClr val="tx1"/>
                </a:solidFill>
                <a:effectLst/>
                <a:latin typeface="+mn-lt"/>
                <a:ea typeface="+mn-ea"/>
                <a:cs typeface="+mn-cs"/>
              </a:rPr>
              <a:t>, E </a:t>
            </a:r>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E</a:t>
            </a:r>
            <a:r>
              <a:rPr lang="en-US" sz="1220" b="1" i="1" kern="1200" baseline="-25000" dirty="0">
                <a:solidFill>
                  <a:schemeClr val="tx1"/>
                </a:solidFill>
                <a:effectLst/>
                <a:latin typeface="+mn-lt"/>
                <a:ea typeface="+mn-ea"/>
                <a:cs typeface="+mn-cs"/>
              </a:rPr>
              <a:t>1</a:t>
            </a:r>
            <a:r>
              <a:rPr lang="en-US" sz="1200" b="0" i="1"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T, also has one rule, which computes the </a:t>
            </a:r>
            <a:r>
              <a:rPr lang="en-US" sz="1200" b="1" i="1" kern="1200" dirty="0" err="1">
                <a:solidFill>
                  <a:schemeClr val="tx1"/>
                </a:solidFill>
                <a:effectLst/>
                <a:latin typeface="+mn-lt"/>
                <a:ea typeface="+mn-ea"/>
                <a:cs typeface="+mn-cs"/>
              </a:rPr>
              <a:t>val</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attribute for the head E as the sum of the values at </a:t>
            </a:r>
            <a:r>
              <a:rPr lang="en-US" sz="1200" b="0" i="1" kern="1200" dirty="0">
                <a:solidFill>
                  <a:schemeClr val="tx1"/>
                </a:solidFill>
                <a:effectLst/>
                <a:latin typeface="+mn-lt"/>
                <a:ea typeface="+mn-ea"/>
                <a:cs typeface="+mn-cs"/>
              </a:rPr>
              <a:t>E</a:t>
            </a:r>
            <a:r>
              <a:rPr lang="en-US" sz="1220" b="1" i="1" kern="1200" baseline="-25000" dirty="0">
                <a:solidFill>
                  <a:schemeClr val="tx1"/>
                </a:solidFill>
                <a:effectLst/>
                <a:latin typeface="+mn-lt"/>
                <a:ea typeface="+mn-ea"/>
                <a:cs typeface="+mn-cs"/>
              </a:rPr>
              <a:t>1 </a:t>
            </a:r>
            <a:r>
              <a:rPr lang="en-US" sz="1200" b="0" i="0" kern="1200" dirty="0">
                <a:solidFill>
                  <a:schemeClr val="tx1"/>
                </a:solidFill>
                <a:effectLst/>
                <a:latin typeface="+mn-lt"/>
                <a:ea typeface="+mn-ea"/>
                <a:cs typeface="+mn-cs"/>
              </a:rPr>
              <a:t>and T. </a:t>
            </a:r>
          </a:p>
          <a:p>
            <a:r>
              <a:rPr lang="en-US" sz="1200" b="0" i="0" kern="1200" dirty="0">
                <a:solidFill>
                  <a:schemeClr val="tx1"/>
                </a:solidFill>
                <a:effectLst/>
                <a:latin typeface="+mn-lt"/>
                <a:ea typeface="+mn-ea"/>
                <a:cs typeface="+mn-cs"/>
              </a:rPr>
              <a:t>At any parse</a:t>
            </a:r>
            <a:r>
              <a:rPr lang="en-US" dirty="0"/>
              <a:t> </a:t>
            </a:r>
            <a:r>
              <a:rPr lang="en-US" sz="1200" b="0" i="0" kern="1200" dirty="0">
                <a:solidFill>
                  <a:schemeClr val="tx1"/>
                </a:solidFill>
                <a:effectLst/>
                <a:latin typeface="+mn-lt"/>
                <a:ea typeface="+mn-ea"/>
                <a:cs typeface="+mn-cs"/>
              </a:rPr>
              <a:t>tree node N labeled </a:t>
            </a:r>
            <a:r>
              <a:rPr lang="en-US" sz="1200" b="0" i="1" kern="1200" dirty="0">
                <a:solidFill>
                  <a:schemeClr val="tx1"/>
                </a:solidFill>
                <a:effectLst/>
                <a:latin typeface="+mn-lt"/>
                <a:ea typeface="+mn-ea"/>
                <a:cs typeface="+mn-cs"/>
              </a:rPr>
              <a:t>E, </a:t>
            </a:r>
            <a:r>
              <a:rPr lang="en-US" sz="1200" b="0" i="0" kern="1200" dirty="0">
                <a:solidFill>
                  <a:schemeClr val="tx1"/>
                </a:solidFill>
                <a:effectLst/>
                <a:latin typeface="+mn-lt"/>
                <a:ea typeface="+mn-ea"/>
                <a:cs typeface="+mn-cs"/>
              </a:rPr>
              <a:t>the value of </a:t>
            </a:r>
            <a:r>
              <a:rPr lang="en-US" sz="1200" b="0" i="1" kern="1200" dirty="0" err="1">
                <a:solidFill>
                  <a:schemeClr val="tx1"/>
                </a:solidFill>
                <a:effectLst/>
                <a:latin typeface="+mn-lt"/>
                <a:ea typeface="+mn-ea"/>
                <a:cs typeface="+mn-cs"/>
              </a:rPr>
              <a:t>val</a:t>
            </a:r>
            <a:r>
              <a:rPr lang="en-US" sz="1200" b="0" i="1"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for </a:t>
            </a:r>
            <a:r>
              <a:rPr lang="en-US" sz="1200" b="0" i="1" kern="1200" dirty="0">
                <a:solidFill>
                  <a:schemeClr val="tx1"/>
                </a:solidFill>
                <a:effectLst/>
                <a:latin typeface="+mn-lt"/>
                <a:ea typeface="+mn-ea"/>
                <a:cs typeface="+mn-cs"/>
              </a:rPr>
              <a:t>E </a:t>
            </a:r>
            <a:r>
              <a:rPr lang="en-US" sz="1200" b="0" i="0" kern="1200" dirty="0">
                <a:solidFill>
                  <a:schemeClr val="tx1"/>
                </a:solidFill>
                <a:effectLst/>
                <a:latin typeface="+mn-lt"/>
                <a:ea typeface="+mn-ea"/>
                <a:cs typeface="+mn-cs"/>
              </a:rPr>
              <a:t>is the sum of the values of </a:t>
            </a:r>
            <a:r>
              <a:rPr lang="en-US" sz="1200" b="0" i="1" kern="1200" dirty="0" err="1">
                <a:solidFill>
                  <a:schemeClr val="tx1"/>
                </a:solidFill>
                <a:effectLst/>
                <a:latin typeface="+mn-lt"/>
                <a:ea typeface="+mn-ea"/>
                <a:cs typeface="+mn-cs"/>
              </a:rPr>
              <a:t>val</a:t>
            </a:r>
            <a:r>
              <a:rPr lang="en-US" sz="1200" b="0" i="1"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children of node N labeled E and T.</a:t>
            </a:r>
            <a:r>
              <a:rPr lang="en-US" dirty="0"/>
              <a:t> </a:t>
            </a:r>
            <a:br>
              <a:rPr lang="en-US" dirty="0"/>
            </a:br>
            <a:br>
              <a:rPr lang="en-US" dirty="0"/>
            </a:br>
            <a:r>
              <a:rPr lang="en-US" sz="1200" b="1" i="0" kern="1200" dirty="0">
                <a:solidFill>
                  <a:schemeClr val="tx1"/>
                </a:solidFill>
                <a:effectLst/>
                <a:latin typeface="+mn-lt"/>
                <a:ea typeface="+mn-ea"/>
                <a:cs typeface="+mn-cs"/>
              </a:rPr>
              <a:t>Production 3, </a:t>
            </a:r>
            <a:r>
              <a:rPr lang="en-US" sz="1200" b="0" i="0" kern="1200" dirty="0">
                <a:solidFill>
                  <a:schemeClr val="tx1"/>
                </a:solidFill>
                <a:effectLst/>
                <a:latin typeface="+mn-lt"/>
                <a:ea typeface="+mn-ea"/>
                <a:cs typeface="+mn-cs"/>
              </a:rPr>
              <a:t>E + T, has a single rule that defines the value of </a:t>
            </a:r>
            <a:r>
              <a:rPr lang="en-US" sz="1200" b="0" i="1" kern="1200" dirty="0" err="1">
                <a:solidFill>
                  <a:schemeClr val="tx1"/>
                </a:solidFill>
                <a:effectLst/>
                <a:latin typeface="+mn-lt"/>
                <a:ea typeface="+mn-ea"/>
                <a:cs typeface="+mn-cs"/>
              </a:rPr>
              <a:t>val</a:t>
            </a:r>
            <a:r>
              <a:rPr lang="en-US" sz="1200" b="0" i="1"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for 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to be the same as the value of </a:t>
            </a:r>
            <a:r>
              <a:rPr lang="en-US" sz="1200" b="0" i="1" kern="1200" dirty="0" err="1">
                <a:solidFill>
                  <a:schemeClr val="tx1"/>
                </a:solidFill>
                <a:effectLst/>
                <a:latin typeface="+mn-lt"/>
                <a:ea typeface="+mn-ea"/>
                <a:cs typeface="+mn-cs"/>
              </a:rPr>
              <a:t>val</a:t>
            </a:r>
            <a:r>
              <a:rPr lang="en-US" sz="1200" b="0" i="1"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the child for T. </a:t>
            </a:r>
          </a:p>
          <a:p>
            <a:r>
              <a:rPr lang="en-US" sz="1200" b="1" i="0" kern="1200" dirty="0">
                <a:solidFill>
                  <a:schemeClr val="tx1"/>
                </a:solidFill>
                <a:effectLst/>
                <a:latin typeface="+mn-lt"/>
                <a:ea typeface="+mn-ea"/>
                <a:cs typeface="+mn-cs"/>
              </a:rPr>
              <a:t>Production 4</a:t>
            </a:r>
            <a:r>
              <a:rPr lang="en-US" sz="1200" b="0" i="0" kern="1200" dirty="0">
                <a:solidFill>
                  <a:schemeClr val="tx1"/>
                </a:solidFill>
                <a:effectLst/>
                <a:latin typeface="+mn-lt"/>
                <a:ea typeface="+mn-ea"/>
                <a:cs typeface="+mn-cs"/>
              </a:rPr>
              <a:t> is similar to</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second production; its rule multiplies the values at the children instead of</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adding them. </a:t>
            </a:r>
          </a:p>
          <a:p>
            <a:r>
              <a:rPr lang="en-US" sz="1200" b="0" i="0" kern="1200" dirty="0">
                <a:solidFill>
                  <a:schemeClr val="tx1"/>
                </a:solidFill>
                <a:effectLst/>
                <a:latin typeface="+mn-lt"/>
                <a:ea typeface="+mn-ea"/>
                <a:cs typeface="+mn-cs"/>
              </a:rPr>
              <a:t>The rules for </a:t>
            </a:r>
            <a:r>
              <a:rPr lang="en-US" sz="1200" b="1" i="0" kern="1200" dirty="0">
                <a:solidFill>
                  <a:schemeClr val="tx1"/>
                </a:solidFill>
                <a:effectLst/>
                <a:latin typeface="+mn-lt"/>
                <a:ea typeface="+mn-ea"/>
                <a:cs typeface="+mn-cs"/>
              </a:rPr>
              <a:t>productions 5 and 6 </a:t>
            </a:r>
            <a:r>
              <a:rPr lang="en-US" sz="1200" b="0" i="0" kern="1200" dirty="0">
                <a:solidFill>
                  <a:schemeClr val="tx1"/>
                </a:solidFill>
                <a:effectLst/>
                <a:latin typeface="+mn-lt"/>
                <a:ea typeface="+mn-ea"/>
                <a:cs typeface="+mn-cs"/>
              </a:rPr>
              <a:t>copy values at a child, like that</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for the third production. </a:t>
            </a:r>
          </a:p>
          <a:p>
            <a:r>
              <a:rPr lang="en-US" sz="1200" b="1" i="0" kern="1200" dirty="0">
                <a:solidFill>
                  <a:schemeClr val="tx1"/>
                </a:solidFill>
                <a:effectLst/>
                <a:latin typeface="+mn-lt"/>
                <a:ea typeface="+mn-ea"/>
                <a:cs typeface="+mn-cs"/>
              </a:rPr>
              <a:t>Production 7</a:t>
            </a:r>
            <a:r>
              <a:rPr lang="en-US" sz="1200" b="0" i="0" kern="1200" dirty="0">
                <a:solidFill>
                  <a:schemeClr val="tx1"/>
                </a:solidFill>
                <a:effectLst/>
                <a:latin typeface="+mn-lt"/>
                <a:ea typeface="+mn-ea"/>
                <a:cs typeface="+mn-cs"/>
              </a:rPr>
              <a:t> gives </a:t>
            </a:r>
            <a:r>
              <a:rPr lang="en-US" sz="1200" b="0" i="1" kern="1200" dirty="0" err="1">
                <a:solidFill>
                  <a:schemeClr val="tx1"/>
                </a:solidFill>
                <a:effectLst/>
                <a:latin typeface="+mn-lt"/>
                <a:ea typeface="+mn-ea"/>
                <a:cs typeface="+mn-cs"/>
              </a:rPr>
              <a:t>F.val</a:t>
            </a:r>
            <a:r>
              <a:rPr lang="en-US" sz="1200" b="0" i="1"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value of a digit, that is,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numerical value of the token </a:t>
            </a:r>
            <a:r>
              <a:rPr lang="en-US" sz="1200" b="1" i="0" kern="1200" dirty="0">
                <a:solidFill>
                  <a:schemeClr val="tx1"/>
                </a:solidFill>
                <a:effectLst/>
                <a:latin typeface="+mn-lt"/>
                <a:ea typeface="+mn-ea"/>
                <a:cs typeface="+mn-cs"/>
              </a:rPr>
              <a:t>digit </a:t>
            </a:r>
            <a:r>
              <a:rPr lang="en-US" sz="1200" b="0" i="0" kern="1200" dirty="0">
                <a:solidFill>
                  <a:schemeClr val="tx1"/>
                </a:solidFill>
                <a:effectLst/>
                <a:latin typeface="+mn-lt"/>
                <a:ea typeface="+mn-ea"/>
                <a:cs typeface="+mn-cs"/>
              </a:rPr>
              <a:t>that the lexical analyzer returned.</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14</a:t>
            </a:fld>
            <a:endParaRPr lang="en-US"/>
          </a:p>
        </p:txBody>
      </p:sp>
    </p:spTree>
    <p:extLst>
      <p:ext uri="{BB962C8B-B14F-4D97-AF65-F5344CB8AC3E}">
        <p14:creationId xmlns:p14="http://schemas.microsoft.com/office/powerpoint/2010/main" val="765250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15</a:t>
            </a:fld>
            <a:endParaRPr lang="en-US"/>
          </a:p>
        </p:txBody>
      </p:sp>
    </p:spTree>
    <p:extLst>
      <p:ext uri="{BB962C8B-B14F-4D97-AF65-F5344CB8AC3E}">
        <p14:creationId xmlns:p14="http://schemas.microsoft.com/office/powerpoint/2010/main" val="3873679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829CF-F3B1-402F-BC88-89CA5E9C5F3F}" type="slidenum">
              <a:rPr lang="en-US" smtClean="0"/>
              <a:t>16</a:t>
            </a:fld>
            <a:endParaRPr lang="en-US"/>
          </a:p>
        </p:txBody>
      </p:sp>
    </p:spTree>
    <p:extLst>
      <p:ext uri="{BB962C8B-B14F-4D97-AF65-F5344CB8AC3E}">
        <p14:creationId xmlns:p14="http://schemas.microsoft.com/office/powerpoint/2010/main" val="36368483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829CF-F3B1-402F-BC88-89CA5E9C5F3F}" type="slidenum">
              <a:rPr lang="en-US" smtClean="0"/>
              <a:t>17</a:t>
            </a:fld>
            <a:endParaRPr lang="en-US"/>
          </a:p>
        </p:txBody>
      </p:sp>
    </p:spTree>
    <p:extLst>
      <p:ext uri="{BB962C8B-B14F-4D97-AF65-F5344CB8AC3E}">
        <p14:creationId xmlns:p14="http://schemas.microsoft.com/office/powerpoint/2010/main" val="9317280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829CF-F3B1-402F-BC88-89CA5E9C5F3F}" type="slidenum">
              <a:rPr lang="en-US" smtClean="0"/>
              <a:t>18</a:t>
            </a:fld>
            <a:endParaRPr lang="en-US"/>
          </a:p>
        </p:txBody>
      </p:sp>
    </p:spTree>
    <p:extLst>
      <p:ext uri="{BB962C8B-B14F-4D97-AF65-F5344CB8AC3E}">
        <p14:creationId xmlns:p14="http://schemas.microsoft.com/office/powerpoint/2010/main" val="20746825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19</a:t>
            </a:fld>
            <a:endParaRPr lang="en-US"/>
          </a:p>
        </p:txBody>
      </p:sp>
    </p:spTree>
    <p:extLst>
      <p:ext uri="{BB962C8B-B14F-4D97-AF65-F5344CB8AC3E}">
        <p14:creationId xmlns:p14="http://schemas.microsoft.com/office/powerpoint/2010/main" val="16143183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20</a:t>
            </a:fld>
            <a:endParaRPr lang="en-US"/>
          </a:p>
        </p:txBody>
      </p:sp>
    </p:spTree>
    <p:extLst>
      <p:ext uri="{BB962C8B-B14F-4D97-AF65-F5344CB8AC3E}">
        <p14:creationId xmlns:p14="http://schemas.microsoft.com/office/powerpoint/2010/main" val="82505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See Text book for Explanation..</a:t>
            </a:r>
          </a:p>
          <a:p>
            <a:br>
              <a:rPr lang="en-US" dirty="0"/>
            </a:br>
            <a:r>
              <a:rPr lang="en-US" sz="1200" b="0" i="0" kern="1200" dirty="0">
                <a:solidFill>
                  <a:schemeClr val="tx1"/>
                </a:solidFill>
                <a:effectLst/>
                <a:latin typeface="+mn-lt"/>
                <a:ea typeface="+mn-ea"/>
                <a:cs typeface="+mn-cs"/>
              </a:rPr>
              <a:t>To see how the semantic rules are used, consider the annotated parse tree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for 3 * 5 in Fig. 5.5. The leftmost leaf in the parse tree, labeled </a:t>
            </a:r>
            <a:r>
              <a:rPr lang="en-US" sz="1200" b="1" i="0" kern="1200" dirty="0">
                <a:solidFill>
                  <a:schemeClr val="tx1"/>
                </a:solidFill>
                <a:effectLst/>
                <a:latin typeface="+mn-lt"/>
                <a:ea typeface="+mn-ea"/>
                <a:cs typeface="+mn-cs"/>
              </a:rPr>
              <a:t>digit, </a:t>
            </a:r>
            <a:r>
              <a:rPr lang="en-US" sz="1200" b="0" i="0" kern="1200" dirty="0">
                <a:solidFill>
                  <a:schemeClr val="tx1"/>
                </a:solidFill>
                <a:effectLst/>
                <a:latin typeface="+mn-lt"/>
                <a:ea typeface="+mn-ea"/>
                <a:cs typeface="+mn-cs"/>
              </a:rPr>
              <a:t>has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attribute value </a:t>
            </a:r>
            <a:r>
              <a:rPr lang="en-US" sz="1200" b="0" i="0" kern="1200" dirty="0" err="1">
                <a:solidFill>
                  <a:schemeClr val="tx1"/>
                </a:solidFill>
                <a:effectLst/>
                <a:latin typeface="+mn-lt"/>
                <a:ea typeface="+mn-ea"/>
                <a:cs typeface="+mn-cs"/>
              </a:rPr>
              <a:t>lexval</a:t>
            </a:r>
            <a:r>
              <a:rPr lang="en-US" sz="1200" b="0" i="0" kern="1200" dirty="0">
                <a:solidFill>
                  <a:schemeClr val="tx1"/>
                </a:solidFill>
                <a:effectLst/>
                <a:latin typeface="+mn-lt"/>
                <a:ea typeface="+mn-ea"/>
                <a:cs typeface="+mn-cs"/>
              </a:rPr>
              <a:t> = 3, where the 3 is supplied by the lexical analyzer. Its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parent is for production 4, F </a:t>
            </a:r>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digit. </a:t>
            </a:r>
            <a:r>
              <a:rPr lang="en-US" sz="1200" b="0" i="0" kern="1200" dirty="0">
                <a:solidFill>
                  <a:schemeClr val="tx1"/>
                </a:solidFill>
                <a:effectLst/>
                <a:latin typeface="+mn-lt"/>
                <a:ea typeface="+mn-ea"/>
                <a:cs typeface="+mn-cs"/>
              </a:rPr>
              <a:t>The only semantic rule associated with</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production defines </a:t>
            </a:r>
            <a:r>
              <a:rPr lang="en-US" sz="1200" b="0" i="0" kern="1200" dirty="0" err="1">
                <a:solidFill>
                  <a:schemeClr val="tx1"/>
                </a:solidFill>
                <a:effectLst/>
                <a:latin typeface="+mn-lt"/>
                <a:ea typeface="+mn-ea"/>
                <a:cs typeface="+mn-cs"/>
              </a:rPr>
              <a:t>F.val</a:t>
            </a:r>
            <a:r>
              <a:rPr lang="en-US" sz="1200" b="0"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digit.</a:t>
            </a:r>
            <a:r>
              <a:rPr lang="en-US" sz="1200" b="0" i="0" kern="1200" dirty="0" err="1">
                <a:solidFill>
                  <a:schemeClr val="tx1"/>
                </a:solidFill>
                <a:effectLst/>
                <a:latin typeface="+mn-lt"/>
                <a:ea typeface="+mn-ea"/>
                <a:cs typeface="+mn-cs"/>
              </a:rPr>
              <a:t>lexval</a:t>
            </a:r>
            <a:r>
              <a:rPr lang="en-US" sz="1200" b="0" i="0" kern="1200" dirty="0">
                <a:solidFill>
                  <a:schemeClr val="tx1"/>
                </a:solidFill>
                <a:effectLst/>
                <a:latin typeface="+mn-lt"/>
                <a:ea typeface="+mn-ea"/>
                <a:cs typeface="+mn-cs"/>
              </a:rPr>
              <a:t>, which equals 3.</a:t>
            </a:r>
            <a:r>
              <a:rPr lang="en-US" dirty="0"/>
              <a:t> </a:t>
            </a:r>
            <a:br>
              <a:rPr lang="en-US" dirty="0"/>
            </a:br>
            <a:endParaRPr lang="en-US" dirty="0"/>
          </a:p>
          <a:p>
            <a:r>
              <a:rPr lang="en-US" sz="1200" b="0" i="0" kern="1200" dirty="0">
                <a:solidFill>
                  <a:schemeClr val="tx1"/>
                </a:solidFill>
                <a:effectLst/>
                <a:latin typeface="+mn-lt"/>
                <a:ea typeface="+mn-ea"/>
                <a:cs typeface="+mn-cs"/>
              </a:rPr>
              <a:t>At the second child of the root, the inherited attribute </a:t>
            </a:r>
            <a:r>
              <a:rPr lang="en-US" sz="1200" b="1" i="1" kern="1200" dirty="0">
                <a:solidFill>
                  <a:schemeClr val="tx1"/>
                </a:solidFill>
                <a:effectLst/>
                <a:latin typeface="+mn-lt"/>
                <a:ea typeface="+mn-ea"/>
                <a:cs typeface="+mn-cs"/>
              </a:rPr>
              <a:t>T’.</a:t>
            </a:r>
            <a:r>
              <a:rPr lang="en-US" sz="1200" b="1" i="1" kern="1200" dirty="0" err="1">
                <a:solidFill>
                  <a:schemeClr val="tx1"/>
                </a:solidFill>
                <a:effectLst/>
                <a:latin typeface="+mn-lt"/>
                <a:ea typeface="+mn-ea"/>
                <a:cs typeface="+mn-cs"/>
              </a:rPr>
              <a:t>inh</a:t>
            </a:r>
            <a:r>
              <a:rPr lang="en-US" sz="1200" b="1" i="1"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is defined by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semantic rule </a:t>
            </a:r>
            <a:r>
              <a:rPr lang="en-US" sz="1200" b="1" i="1" kern="1200" dirty="0">
                <a:solidFill>
                  <a:schemeClr val="tx1"/>
                </a:solidFill>
                <a:effectLst/>
                <a:latin typeface="+mn-lt"/>
                <a:ea typeface="+mn-ea"/>
                <a:cs typeface="+mn-cs"/>
              </a:rPr>
              <a:t>T’.</a:t>
            </a:r>
            <a:r>
              <a:rPr lang="en-US" sz="1200" b="1" i="1" kern="1200" dirty="0" err="1">
                <a:solidFill>
                  <a:schemeClr val="tx1"/>
                </a:solidFill>
                <a:effectLst/>
                <a:latin typeface="+mn-lt"/>
                <a:ea typeface="+mn-ea"/>
                <a:cs typeface="+mn-cs"/>
              </a:rPr>
              <a:t>inh</a:t>
            </a:r>
            <a:r>
              <a:rPr lang="en-US" sz="1200" b="1" i="1"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F.val</a:t>
            </a:r>
            <a:r>
              <a:rPr lang="en-US" sz="1200" b="0" i="0" kern="1200" dirty="0">
                <a:solidFill>
                  <a:schemeClr val="tx1"/>
                </a:solidFill>
                <a:effectLst/>
                <a:latin typeface="+mn-lt"/>
                <a:ea typeface="+mn-ea"/>
                <a:cs typeface="+mn-cs"/>
              </a:rPr>
              <a:t> associated with production 1. Thus, the left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operand, 3, for the * operator is passed from left to right across the children of</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root.</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production at the node for T’ is </a:t>
            </a:r>
            <a:r>
              <a:rPr lang="en-US" sz="1200" b="1" i="0" kern="1200" dirty="0">
                <a:solidFill>
                  <a:schemeClr val="tx1"/>
                </a:solidFill>
                <a:effectLst/>
                <a:latin typeface="+mn-lt"/>
                <a:ea typeface="+mn-ea"/>
                <a:cs typeface="+mn-cs"/>
              </a:rPr>
              <a:t>T’ </a:t>
            </a:r>
            <a:r>
              <a:rPr lang="en-US" sz="1200" b="1" i="0" kern="1200" dirty="0">
                <a:solidFill>
                  <a:schemeClr val="tx1"/>
                </a:solidFill>
                <a:effectLst/>
                <a:latin typeface="+mn-lt"/>
                <a:ea typeface="+mn-ea"/>
                <a:cs typeface="+mn-cs"/>
                <a:sym typeface="Wingdings" panose="05000000000000000000" pitchFamily="2" charset="2"/>
              </a:rPr>
              <a:t></a:t>
            </a:r>
            <a:r>
              <a:rPr lang="en-US" sz="1200" b="1" i="0" kern="1200" dirty="0">
                <a:solidFill>
                  <a:schemeClr val="tx1"/>
                </a:solidFill>
                <a:effectLst/>
                <a:latin typeface="+mn-lt"/>
                <a:ea typeface="+mn-ea"/>
                <a:cs typeface="+mn-cs"/>
              </a:rPr>
              <a:t> * FT</a:t>
            </a:r>
            <a:r>
              <a:rPr lang="en-US" sz="2400" b="1" i="0" kern="1200" baseline="-25000" dirty="0">
                <a:solidFill>
                  <a:schemeClr val="tx1"/>
                </a:solidFill>
                <a:effectLst/>
                <a:latin typeface="+mn-lt"/>
                <a:ea typeface="+mn-ea"/>
                <a:cs typeface="+mn-cs"/>
              </a:rPr>
              <a:t>1</a:t>
            </a:r>
            <a:r>
              <a:rPr lang="en-US" sz="1200" b="1"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We retain the subscript</a:t>
            </a:r>
            <a:r>
              <a:rPr lang="en-US" sz="1200" b="1" i="0" kern="1200" baseline="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 in the annotated parse tree to distinguish between the two nodes for T’</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The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inherited attribute </a:t>
            </a:r>
            <a:r>
              <a:rPr lang="en-US" sz="1200" b="1" i="1" kern="1200" dirty="0">
                <a:solidFill>
                  <a:schemeClr val="tx1"/>
                </a:solidFill>
                <a:effectLst/>
                <a:latin typeface="+mn-lt"/>
                <a:ea typeface="+mn-ea"/>
                <a:cs typeface="+mn-cs"/>
              </a:rPr>
              <a:t>T</a:t>
            </a:r>
            <a:r>
              <a:rPr lang="en-US" sz="2400" b="1" i="1" kern="1200" baseline="-25000" dirty="0">
                <a:solidFill>
                  <a:schemeClr val="tx1"/>
                </a:solidFill>
                <a:effectLst/>
                <a:latin typeface="+mn-lt"/>
                <a:ea typeface="+mn-ea"/>
                <a:cs typeface="+mn-cs"/>
              </a:rPr>
              <a:t>1</a:t>
            </a:r>
            <a:r>
              <a:rPr lang="en-US" sz="1200" b="1" i="1" kern="1200" dirty="0">
                <a:solidFill>
                  <a:schemeClr val="tx1"/>
                </a:solidFill>
                <a:effectLst/>
                <a:latin typeface="+mn-lt"/>
                <a:ea typeface="+mn-ea"/>
                <a:cs typeface="+mn-cs"/>
              </a:rPr>
              <a:t>’.inh </a:t>
            </a:r>
            <a:r>
              <a:rPr lang="en-US" sz="1200" b="0" i="0" kern="1200" dirty="0">
                <a:solidFill>
                  <a:schemeClr val="tx1"/>
                </a:solidFill>
                <a:effectLst/>
                <a:latin typeface="+mn-lt"/>
                <a:ea typeface="+mn-ea"/>
                <a:cs typeface="+mn-cs"/>
              </a:rPr>
              <a:t>is defined by the semantic rule </a:t>
            </a:r>
            <a:r>
              <a:rPr lang="en-US" sz="1200" b="1" i="1" kern="1200" dirty="0">
                <a:solidFill>
                  <a:schemeClr val="tx1"/>
                </a:solidFill>
                <a:effectLst/>
                <a:latin typeface="+mn-lt"/>
                <a:ea typeface="+mn-ea"/>
                <a:cs typeface="+mn-cs"/>
              </a:rPr>
              <a:t>T</a:t>
            </a:r>
            <a:r>
              <a:rPr lang="en-US" sz="2400" b="1" i="1" kern="1200" baseline="-25000" dirty="0">
                <a:solidFill>
                  <a:schemeClr val="tx1"/>
                </a:solidFill>
                <a:effectLst/>
                <a:latin typeface="+mn-lt"/>
                <a:ea typeface="+mn-ea"/>
                <a:cs typeface="+mn-cs"/>
              </a:rPr>
              <a:t>1</a:t>
            </a:r>
            <a:r>
              <a:rPr lang="en-US" sz="1200" b="1" i="1"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.inh = </a:t>
            </a:r>
            <a:r>
              <a:rPr lang="en-US" sz="1200" b="1" i="1" kern="1200" dirty="0">
                <a:solidFill>
                  <a:schemeClr val="tx1"/>
                </a:solidFill>
                <a:effectLst/>
                <a:latin typeface="+mn-lt"/>
                <a:ea typeface="+mn-ea"/>
                <a:cs typeface="+mn-cs"/>
              </a:rPr>
              <a:t>T</a:t>
            </a:r>
            <a:r>
              <a:rPr lang="en-US" sz="2400" b="1" i="1" kern="1200" baseline="-25000" dirty="0">
                <a:solidFill>
                  <a:schemeClr val="tx1"/>
                </a:solidFill>
                <a:effectLst/>
                <a:latin typeface="+mn-lt"/>
                <a:ea typeface="+mn-ea"/>
                <a:cs typeface="+mn-cs"/>
              </a:rPr>
              <a:t>1</a:t>
            </a:r>
            <a:r>
              <a:rPr lang="en-US" sz="1200" b="1" i="1"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a:t>
            </a:r>
            <a:r>
              <a:rPr lang="en-US" sz="1200" b="1" i="1" kern="1200" dirty="0">
                <a:solidFill>
                  <a:schemeClr val="tx1"/>
                </a:solidFill>
                <a:effectLst/>
                <a:latin typeface="+mn-lt"/>
                <a:ea typeface="+mn-ea"/>
                <a:cs typeface="+mn-cs"/>
              </a:rPr>
              <a:t>inh</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F.val</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associated with production </a:t>
            </a:r>
            <a:r>
              <a:rPr lang="en-US" sz="1200" b="1" i="0" kern="1200" dirty="0">
                <a:solidFill>
                  <a:schemeClr val="tx1"/>
                </a:solidFill>
                <a:effectLst/>
                <a:latin typeface="+mn-lt"/>
                <a:ea typeface="+mn-ea"/>
                <a:cs typeface="+mn-cs"/>
              </a:rPr>
              <a:t>2.</a:t>
            </a:r>
            <a:r>
              <a:rPr lang="en-US" dirty="0"/>
              <a:t> </a:t>
            </a:r>
          </a:p>
          <a:p>
            <a:endParaRPr lang="en-US" dirty="0"/>
          </a:p>
          <a:p>
            <a:r>
              <a:rPr lang="en-US" sz="1200" b="0" i="0" kern="1200" dirty="0">
                <a:solidFill>
                  <a:schemeClr val="tx1"/>
                </a:solidFill>
                <a:effectLst/>
                <a:latin typeface="+mn-lt"/>
                <a:ea typeface="+mn-ea"/>
                <a:cs typeface="+mn-cs"/>
              </a:rPr>
              <a:t>With </a:t>
            </a:r>
            <a:r>
              <a:rPr lang="en-US" sz="1200" b="1" i="0" kern="1200" dirty="0">
                <a:solidFill>
                  <a:schemeClr val="tx1"/>
                </a:solidFill>
                <a:effectLst/>
                <a:latin typeface="+mn-lt"/>
                <a:ea typeface="+mn-ea"/>
                <a:cs typeface="+mn-cs"/>
              </a:rPr>
              <a:t>T’.</a:t>
            </a:r>
            <a:r>
              <a:rPr lang="en-US" sz="1200" b="1" i="0" kern="1200" dirty="0" err="1">
                <a:solidFill>
                  <a:schemeClr val="tx1"/>
                </a:solidFill>
                <a:effectLst/>
                <a:latin typeface="+mn-lt"/>
                <a:ea typeface="+mn-ea"/>
                <a:cs typeface="+mn-cs"/>
              </a:rPr>
              <a:t>inh</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3 and </a:t>
            </a:r>
            <a:r>
              <a:rPr lang="en-US" sz="1200" b="1" i="0" kern="1200" dirty="0" err="1">
                <a:solidFill>
                  <a:schemeClr val="tx1"/>
                </a:solidFill>
                <a:effectLst/>
                <a:latin typeface="+mn-lt"/>
                <a:ea typeface="+mn-ea"/>
                <a:cs typeface="+mn-cs"/>
              </a:rPr>
              <a:t>F.val</a:t>
            </a:r>
            <a:r>
              <a:rPr lang="en-US" sz="1200" b="0" i="0" kern="1200" dirty="0">
                <a:solidFill>
                  <a:schemeClr val="tx1"/>
                </a:solidFill>
                <a:effectLst/>
                <a:latin typeface="+mn-lt"/>
                <a:ea typeface="+mn-ea"/>
                <a:cs typeface="+mn-cs"/>
              </a:rPr>
              <a:t> = 5, we get </a:t>
            </a:r>
            <a:r>
              <a:rPr lang="en-US" sz="1200" b="1" i="1" kern="1200" dirty="0">
                <a:solidFill>
                  <a:schemeClr val="tx1"/>
                </a:solidFill>
                <a:effectLst/>
                <a:latin typeface="+mn-lt"/>
                <a:ea typeface="+mn-ea"/>
                <a:cs typeface="+mn-cs"/>
              </a:rPr>
              <a:t>T</a:t>
            </a:r>
            <a:r>
              <a:rPr lang="en-US" sz="2400" b="1" i="1" kern="1200" baseline="-25000" dirty="0">
                <a:solidFill>
                  <a:schemeClr val="tx1"/>
                </a:solidFill>
                <a:effectLst/>
                <a:latin typeface="+mn-lt"/>
                <a:ea typeface="+mn-ea"/>
                <a:cs typeface="+mn-cs"/>
              </a:rPr>
              <a:t>1</a:t>
            </a:r>
            <a:r>
              <a:rPr lang="en-US" sz="1200" b="1" i="1" kern="1200" dirty="0">
                <a:solidFill>
                  <a:schemeClr val="tx1"/>
                </a:solidFill>
                <a:effectLst/>
                <a:latin typeface="+mn-lt"/>
                <a:ea typeface="+mn-ea"/>
                <a:cs typeface="+mn-cs"/>
              </a:rPr>
              <a:t>’.inh</a:t>
            </a:r>
            <a:r>
              <a:rPr lang="en-US" sz="1200" b="0" i="0" kern="1200" dirty="0">
                <a:solidFill>
                  <a:schemeClr val="tx1"/>
                </a:solidFill>
                <a:effectLst/>
                <a:latin typeface="+mn-lt"/>
                <a:ea typeface="+mn-ea"/>
                <a:cs typeface="+mn-cs"/>
              </a:rPr>
              <a:t> = 15. At the lower node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for </a:t>
            </a:r>
            <a:r>
              <a:rPr lang="en-US" sz="1200" b="1" i="1" kern="1200" dirty="0">
                <a:solidFill>
                  <a:schemeClr val="tx1"/>
                </a:solidFill>
                <a:effectLst/>
                <a:latin typeface="+mn-lt"/>
                <a:ea typeface="+mn-ea"/>
                <a:cs typeface="+mn-cs"/>
              </a:rPr>
              <a:t>T</a:t>
            </a:r>
            <a:r>
              <a:rPr lang="en-US" sz="2400" b="1" i="1" kern="1200" baseline="-25000" dirty="0">
                <a:solidFill>
                  <a:schemeClr val="tx1"/>
                </a:solidFill>
                <a:effectLst/>
                <a:latin typeface="+mn-lt"/>
                <a:ea typeface="+mn-ea"/>
                <a:cs typeface="+mn-cs"/>
              </a:rPr>
              <a:t>1</a:t>
            </a:r>
            <a:r>
              <a:rPr lang="en-US" sz="1200" b="1" i="1"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the production is </a:t>
            </a:r>
            <a:r>
              <a:rPr lang="en-US" sz="1200" b="1" i="0" kern="1200" dirty="0">
                <a:solidFill>
                  <a:schemeClr val="tx1"/>
                </a:solidFill>
                <a:effectLst/>
                <a:latin typeface="+mn-lt"/>
                <a:ea typeface="+mn-ea"/>
                <a:cs typeface="+mn-cs"/>
              </a:rPr>
              <a:t>T’</a:t>
            </a:r>
            <a:r>
              <a:rPr lang="en-US" sz="1200" b="0" i="0" kern="1200" dirty="0">
                <a:solidFill>
                  <a:schemeClr val="tx1"/>
                </a:solidFill>
                <a:effectLst/>
                <a:latin typeface="+mn-lt"/>
                <a:ea typeface="+mn-ea"/>
                <a:cs typeface="+mn-cs"/>
                <a:sym typeface="Wingdings" panose="05000000000000000000" pitchFamily="2" charset="2"/>
              </a:rPr>
              <a:t> </a:t>
            </a:r>
            <a:r>
              <a:rPr lang="en-US" sz="1200" b="1" i="1" kern="1200" dirty="0">
                <a:solidFill>
                  <a:schemeClr val="tx1"/>
                </a:solidFill>
                <a:effectLst/>
                <a:latin typeface="+mn-lt"/>
                <a:ea typeface="+mn-ea"/>
                <a:cs typeface="+mn-cs"/>
              </a:rPr>
              <a:t>empty string . </a:t>
            </a:r>
            <a:r>
              <a:rPr lang="en-US" sz="1200" b="0" i="0" kern="1200" dirty="0">
                <a:solidFill>
                  <a:schemeClr val="tx1"/>
                </a:solidFill>
                <a:effectLst/>
                <a:latin typeface="+mn-lt"/>
                <a:ea typeface="+mn-ea"/>
                <a:cs typeface="+mn-cs"/>
              </a:rPr>
              <a:t>The semantic rule </a:t>
            </a:r>
            <a:r>
              <a:rPr lang="en-US" sz="1200" b="1" i="0" kern="1200" dirty="0">
                <a:solidFill>
                  <a:schemeClr val="tx1"/>
                </a:solidFill>
                <a:effectLst/>
                <a:latin typeface="+mn-lt"/>
                <a:ea typeface="+mn-ea"/>
                <a:cs typeface="+mn-cs"/>
              </a:rPr>
              <a:t>T’.</a:t>
            </a:r>
            <a:r>
              <a:rPr lang="en-US" sz="1200" b="1" i="0" kern="1200" dirty="0" err="1">
                <a:solidFill>
                  <a:schemeClr val="tx1"/>
                </a:solidFill>
                <a:effectLst/>
                <a:latin typeface="+mn-lt"/>
                <a:ea typeface="+mn-ea"/>
                <a:cs typeface="+mn-cs"/>
              </a:rPr>
              <a:t>syn</a:t>
            </a:r>
            <a:r>
              <a:rPr lang="en-US" sz="1200" b="1" i="0" kern="1200" dirty="0">
                <a:solidFill>
                  <a:schemeClr val="tx1"/>
                </a:solidFill>
                <a:effectLst/>
                <a:latin typeface="+mn-lt"/>
                <a:ea typeface="+mn-ea"/>
                <a:cs typeface="+mn-cs"/>
              </a:rPr>
              <a:t> = T’.</a:t>
            </a:r>
            <a:r>
              <a:rPr lang="en-US" sz="1200" b="1" i="0" kern="1200" dirty="0" err="1">
                <a:solidFill>
                  <a:schemeClr val="tx1"/>
                </a:solidFill>
                <a:effectLst/>
                <a:latin typeface="+mn-lt"/>
                <a:ea typeface="+mn-ea"/>
                <a:cs typeface="+mn-cs"/>
              </a:rPr>
              <a:t>inh</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defines</a:t>
            </a:r>
            <a:br>
              <a:rPr lang="en-US" sz="1200" b="0" i="0" kern="1200" dirty="0">
                <a:solidFill>
                  <a:schemeClr val="tx1"/>
                </a:solidFill>
                <a:effectLst/>
                <a:latin typeface="+mn-lt"/>
                <a:ea typeface="+mn-ea"/>
                <a:cs typeface="+mn-cs"/>
              </a:rPr>
            </a:br>
            <a:r>
              <a:rPr lang="en-US" sz="1200" b="1" i="1" kern="1200" dirty="0">
                <a:solidFill>
                  <a:schemeClr val="tx1"/>
                </a:solidFill>
                <a:effectLst/>
                <a:latin typeface="+mn-lt"/>
                <a:ea typeface="+mn-ea"/>
                <a:cs typeface="+mn-cs"/>
              </a:rPr>
              <a:t>T</a:t>
            </a:r>
            <a:r>
              <a:rPr lang="en-US" sz="2400" b="1" i="1" kern="1200" baseline="-25000" dirty="0">
                <a:solidFill>
                  <a:schemeClr val="tx1"/>
                </a:solidFill>
                <a:effectLst/>
                <a:latin typeface="+mn-lt"/>
                <a:ea typeface="+mn-ea"/>
                <a:cs typeface="+mn-cs"/>
              </a:rPr>
              <a:t>1</a:t>
            </a:r>
            <a:r>
              <a:rPr lang="en-US" sz="1200" b="1" i="1"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.syn </a:t>
            </a:r>
            <a:r>
              <a:rPr lang="en-US" sz="1200" b="0" i="0" kern="1200" dirty="0">
                <a:solidFill>
                  <a:schemeClr val="tx1"/>
                </a:solidFill>
                <a:effectLst/>
                <a:latin typeface="+mn-lt"/>
                <a:ea typeface="+mn-ea"/>
                <a:cs typeface="+mn-cs"/>
              </a:rPr>
              <a:t>= 15. The </a:t>
            </a:r>
            <a:r>
              <a:rPr lang="en-US" sz="1200" b="0" i="0" kern="1200" dirty="0" err="1">
                <a:solidFill>
                  <a:schemeClr val="tx1"/>
                </a:solidFill>
                <a:effectLst/>
                <a:latin typeface="+mn-lt"/>
                <a:ea typeface="+mn-ea"/>
                <a:cs typeface="+mn-cs"/>
              </a:rPr>
              <a:t>syn</a:t>
            </a:r>
            <a:r>
              <a:rPr lang="en-US" sz="1200" b="0" i="0" kern="1200" dirty="0">
                <a:solidFill>
                  <a:schemeClr val="tx1"/>
                </a:solidFill>
                <a:effectLst/>
                <a:latin typeface="+mn-lt"/>
                <a:ea typeface="+mn-ea"/>
                <a:cs typeface="+mn-cs"/>
              </a:rPr>
              <a:t> attributes at the nodes for T' pass the value 15 up the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tree to the node for T , where </a:t>
            </a:r>
            <a:r>
              <a:rPr lang="en-US" sz="1200" b="0" i="0" kern="1200" dirty="0" err="1">
                <a:solidFill>
                  <a:schemeClr val="tx1"/>
                </a:solidFill>
                <a:effectLst/>
                <a:latin typeface="+mn-lt"/>
                <a:ea typeface="+mn-ea"/>
                <a:cs typeface="+mn-cs"/>
              </a:rPr>
              <a:t>T.val</a:t>
            </a:r>
            <a:r>
              <a:rPr lang="en-US" sz="1200" b="0" i="0" kern="1200" dirty="0">
                <a:solidFill>
                  <a:schemeClr val="tx1"/>
                </a:solidFill>
                <a:effectLst/>
                <a:latin typeface="+mn-lt"/>
                <a:ea typeface="+mn-ea"/>
                <a:cs typeface="+mn-cs"/>
              </a:rPr>
              <a:t> = 15.</a:t>
            </a:r>
            <a:r>
              <a:rPr lang="en-US" dirty="0"/>
              <a:t> </a:t>
            </a: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21</a:t>
            </a:fld>
            <a:endParaRPr lang="en-US"/>
          </a:p>
        </p:txBody>
      </p:sp>
    </p:spTree>
    <p:extLst>
      <p:ext uri="{BB962C8B-B14F-4D97-AF65-F5344CB8AC3E}">
        <p14:creationId xmlns:p14="http://schemas.microsoft.com/office/powerpoint/2010/main" val="24753331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22</a:t>
            </a:fld>
            <a:endParaRPr lang="en-US"/>
          </a:p>
        </p:txBody>
      </p:sp>
    </p:spTree>
    <p:extLst>
      <p:ext uri="{BB962C8B-B14F-4D97-AF65-F5344CB8AC3E}">
        <p14:creationId xmlns:p14="http://schemas.microsoft.com/office/powerpoint/2010/main" val="30540902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23</a:t>
            </a:fld>
            <a:endParaRPr lang="en-US"/>
          </a:p>
        </p:txBody>
      </p:sp>
    </p:spTree>
    <p:extLst>
      <p:ext uri="{BB962C8B-B14F-4D97-AF65-F5344CB8AC3E}">
        <p14:creationId xmlns:p14="http://schemas.microsoft.com/office/powerpoint/2010/main" val="17087440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829CF-F3B1-402F-BC88-89CA5E9C5F3F}" type="slidenum">
              <a:rPr lang="en-US" smtClean="0"/>
              <a:t>24</a:t>
            </a:fld>
            <a:endParaRPr lang="en-US"/>
          </a:p>
        </p:txBody>
      </p:sp>
    </p:spTree>
    <p:extLst>
      <p:ext uri="{BB962C8B-B14F-4D97-AF65-F5344CB8AC3E}">
        <p14:creationId xmlns:p14="http://schemas.microsoft.com/office/powerpoint/2010/main" val="6159731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829CF-F3B1-402F-BC88-89CA5E9C5F3F}" type="slidenum">
              <a:rPr lang="en-US" smtClean="0"/>
              <a:t>25</a:t>
            </a:fld>
            <a:endParaRPr lang="en-US"/>
          </a:p>
        </p:txBody>
      </p:sp>
    </p:spTree>
    <p:extLst>
      <p:ext uri="{BB962C8B-B14F-4D97-AF65-F5344CB8AC3E}">
        <p14:creationId xmlns:p14="http://schemas.microsoft.com/office/powerpoint/2010/main" val="6549688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829CF-F3B1-402F-BC88-89CA5E9C5F3F}" type="slidenum">
              <a:rPr lang="en-US" smtClean="0"/>
              <a:t>26</a:t>
            </a:fld>
            <a:endParaRPr lang="en-US"/>
          </a:p>
        </p:txBody>
      </p:sp>
    </p:spTree>
    <p:extLst>
      <p:ext uri="{BB962C8B-B14F-4D97-AF65-F5344CB8AC3E}">
        <p14:creationId xmlns:p14="http://schemas.microsoft.com/office/powerpoint/2010/main" val="32603957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33</a:t>
            </a:fld>
            <a:endParaRPr lang="en-US"/>
          </a:p>
        </p:txBody>
      </p:sp>
    </p:spTree>
    <p:extLst>
      <p:ext uri="{BB962C8B-B14F-4D97-AF65-F5344CB8AC3E}">
        <p14:creationId xmlns:p14="http://schemas.microsoft.com/office/powerpoint/2010/main" val="35251272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34</a:t>
            </a:fld>
            <a:endParaRPr lang="en-US"/>
          </a:p>
        </p:txBody>
      </p:sp>
    </p:spTree>
    <p:extLst>
      <p:ext uri="{BB962C8B-B14F-4D97-AF65-F5344CB8AC3E}">
        <p14:creationId xmlns:p14="http://schemas.microsoft.com/office/powerpoint/2010/main" val="3277654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35</a:t>
            </a:fld>
            <a:endParaRPr lang="en-US"/>
          </a:p>
        </p:txBody>
      </p:sp>
    </p:spTree>
    <p:extLst>
      <p:ext uri="{BB962C8B-B14F-4D97-AF65-F5344CB8AC3E}">
        <p14:creationId xmlns:p14="http://schemas.microsoft.com/office/powerpoint/2010/main" val="14574591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36</a:t>
            </a:fld>
            <a:endParaRPr lang="en-US"/>
          </a:p>
        </p:txBody>
      </p:sp>
    </p:spTree>
    <p:extLst>
      <p:ext uri="{BB962C8B-B14F-4D97-AF65-F5344CB8AC3E}">
        <p14:creationId xmlns:p14="http://schemas.microsoft.com/office/powerpoint/2010/main" val="39900508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37</a:t>
            </a:fld>
            <a:endParaRPr lang="en-US"/>
          </a:p>
        </p:txBody>
      </p:sp>
    </p:spTree>
    <p:extLst>
      <p:ext uri="{BB962C8B-B14F-4D97-AF65-F5344CB8AC3E}">
        <p14:creationId xmlns:p14="http://schemas.microsoft.com/office/powerpoint/2010/main" val="13081578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https://iq.opengenus.org/symbol-table-in-compiler/</a:t>
            </a:r>
          </a:p>
        </p:txBody>
      </p:sp>
      <p:sp>
        <p:nvSpPr>
          <p:cNvPr id="4" name="Slide Number Placeholder 3"/>
          <p:cNvSpPr>
            <a:spLocks noGrp="1"/>
          </p:cNvSpPr>
          <p:nvPr>
            <p:ph type="sldNum" sz="quarter" idx="10"/>
          </p:nvPr>
        </p:nvSpPr>
        <p:spPr/>
        <p:txBody>
          <a:bodyPr/>
          <a:lstStyle/>
          <a:p>
            <a:fld id="{387829CF-F3B1-402F-BC88-89CA5E9C5F3F}" type="slidenum">
              <a:rPr lang="en-US" smtClean="0"/>
              <a:t>38</a:t>
            </a:fld>
            <a:endParaRPr lang="en-US"/>
          </a:p>
        </p:txBody>
      </p:sp>
    </p:spTree>
    <p:extLst>
      <p:ext uri="{BB962C8B-B14F-4D97-AF65-F5344CB8AC3E}">
        <p14:creationId xmlns:p14="http://schemas.microsoft.com/office/powerpoint/2010/main" val="29826713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https://www.geeksforgeeks.org/symbol-table-compiler/</a:t>
            </a:r>
          </a:p>
          <a:p>
            <a:r>
              <a:rPr lang="en-US" dirty="0"/>
              <a:t>https://www.tutorialspoint.com/compiler_design/compiler_design_symbol_table.htm</a:t>
            </a:r>
          </a:p>
          <a:p>
            <a:r>
              <a:rPr lang="en-US" dirty="0"/>
              <a:t>https://iq.opengenus.org/symbol-table-in-compiler/</a:t>
            </a:r>
          </a:p>
        </p:txBody>
      </p:sp>
      <p:sp>
        <p:nvSpPr>
          <p:cNvPr id="4" name="Slide Number Placeholder 3"/>
          <p:cNvSpPr>
            <a:spLocks noGrp="1"/>
          </p:cNvSpPr>
          <p:nvPr>
            <p:ph type="sldNum" sz="quarter" idx="10"/>
          </p:nvPr>
        </p:nvSpPr>
        <p:spPr/>
        <p:txBody>
          <a:bodyPr/>
          <a:lstStyle/>
          <a:p>
            <a:fld id="{387829CF-F3B1-402F-BC88-89CA5E9C5F3F}" type="slidenum">
              <a:rPr lang="en-US" smtClean="0"/>
              <a:t>39</a:t>
            </a:fld>
            <a:endParaRPr lang="en-US"/>
          </a:p>
        </p:txBody>
      </p:sp>
    </p:spTree>
    <p:extLst>
      <p:ext uri="{BB962C8B-B14F-4D97-AF65-F5344CB8AC3E}">
        <p14:creationId xmlns:p14="http://schemas.microsoft.com/office/powerpoint/2010/main" val="13265870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https://www.geeksforgeeks.org/symbol-table-compiler/</a:t>
            </a:r>
          </a:p>
          <a:p>
            <a:r>
              <a:rPr lang="en-US" dirty="0"/>
              <a:t>https://www.tutorialspoint.com/compiler_design/compiler_design_symbol_table.htm</a:t>
            </a:r>
          </a:p>
          <a:p>
            <a:r>
              <a:rPr lang="en-US" dirty="0"/>
              <a:t>https://iq.opengenus.org/symbol-table-in-compiler/</a:t>
            </a:r>
          </a:p>
        </p:txBody>
      </p:sp>
      <p:sp>
        <p:nvSpPr>
          <p:cNvPr id="4" name="Slide Number Placeholder 3"/>
          <p:cNvSpPr>
            <a:spLocks noGrp="1"/>
          </p:cNvSpPr>
          <p:nvPr>
            <p:ph type="sldNum" sz="quarter" idx="10"/>
          </p:nvPr>
        </p:nvSpPr>
        <p:spPr/>
        <p:txBody>
          <a:bodyPr/>
          <a:lstStyle/>
          <a:p>
            <a:fld id="{387829CF-F3B1-402F-BC88-89CA5E9C5F3F}" type="slidenum">
              <a:rPr lang="en-US" smtClean="0"/>
              <a:t>40</a:t>
            </a:fld>
            <a:endParaRPr lang="en-US"/>
          </a:p>
        </p:txBody>
      </p:sp>
    </p:spTree>
    <p:extLst>
      <p:ext uri="{BB962C8B-B14F-4D97-AF65-F5344CB8AC3E}">
        <p14:creationId xmlns:p14="http://schemas.microsoft.com/office/powerpoint/2010/main" val="32049877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https://www.geeksforgeeks.org/symbol-table-compiler/</a:t>
            </a:r>
          </a:p>
          <a:p>
            <a:r>
              <a:rPr lang="en-US" dirty="0"/>
              <a:t>https://www.tutorialspoint.com/compiler_design/compiler_design_symbol_table.htm</a:t>
            </a:r>
          </a:p>
          <a:p>
            <a:r>
              <a:rPr lang="en-US" dirty="0"/>
              <a:t>https://iq.opengenus.org/symbol-table-in-compiler/</a:t>
            </a:r>
          </a:p>
        </p:txBody>
      </p:sp>
      <p:sp>
        <p:nvSpPr>
          <p:cNvPr id="4" name="Slide Number Placeholder 3"/>
          <p:cNvSpPr>
            <a:spLocks noGrp="1"/>
          </p:cNvSpPr>
          <p:nvPr>
            <p:ph type="sldNum" sz="quarter" idx="10"/>
          </p:nvPr>
        </p:nvSpPr>
        <p:spPr/>
        <p:txBody>
          <a:bodyPr/>
          <a:lstStyle/>
          <a:p>
            <a:fld id="{387829CF-F3B1-402F-BC88-89CA5E9C5F3F}" type="slidenum">
              <a:rPr lang="en-US" smtClean="0"/>
              <a:t>41</a:t>
            </a:fld>
            <a:endParaRPr lang="en-US"/>
          </a:p>
        </p:txBody>
      </p:sp>
    </p:spTree>
    <p:extLst>
      <p:ext uri="{BB962C8B-B14F-4D97-AF65-F5344CB8AC3E}">
        <p14:creationId xmlns:p14="http://schemas.microsoft.com/office/powerpoint/2010/main" val="6941065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42</a:t>
            </a:fld>
            <a:endParaRPr lang="en-US"/>
          </a:p>
        </p:txBody>
      </p:sp>
    </p:spTree>
    <p:extLst>
      <p:ext uri="{BB962C8B-B14F-4D97-AF65-F5344CB8AC3E}">
        <p14:creationId xmlns:p14="http://schemas.microsoft.com/office/powerpoint/2010/main" val="14334031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43</a:t>
            </a:fld>
            <a:endParaRPr lang="en-US"/>
          </a:p>
        </p:txBody>
      </p:sp>
    </p:spTree>
    <p:extLst>
      <p:ext uri="{BB962C8B-B14F-4D97-AF65-F5344CB8AC3E}">
        <p14:creationId xmlns:p14="http://schemas.microsoft.com/office/powerpoint/2010/main" val="28118807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44</a:t>
            </a:fld>
            <a:endParaRPr lang="en-US"/>
          </a:p>
        </p:txBody>
      </p:sp>
    </p:spTree>
    <p:extLst>
      <p:ext uri="{BB962C8B-B14F-4D97-AF65-F5344CB8AC3E}">
        <p14:creationId xmlns:p14="http://schemas.microsoft.com/office/powerpoint/2010/main" val="3590269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45</a:t>
            </a:fld>
            <a:endParaRPr lang="en-US"/>
          </a:p>
        </p:txBody>
      </p:sp>
    </p:spTree>
    <p:extLst>
      <p:ext uri="{BB962C8B-B14F-4D97-AF65-F5344CB8AC3E}">
        <p14:creationId xmlns:p14="http://schemas.microsoft.com/office/powerpoint/2010/main" val="168778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46</a:t>
            </a:fld>
            <a:endParaRPr lang="en-US"/>
          </a:p>
        </p:txBody>
      </p:sp>
    </p:spTree>
    <p:extLst>
      <p:ext uri="{BB962C8B-B14F-4D97-AF65-F5344CB8AC3E}">
        <p14:creationId xmlns:p14="http://schemas.microsoft.com/office/powerpoint/2010/main" val="32188304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47</a:t>
            </a:fld>
            <a:endParaRPr lang="en-US"/>
          </a:p>
        </p:txBody>
      </p:sp>
    </p:spTree>
    <p:extLst>
      <p:ext uri="{BB962C8B-B14F-4D97-AF65-F5344CB8AC3E}">
        <p14:creationId xmlns:p14="http://schemas.microsoft.com/office/powerpoint/2010/main" val="39239118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48</a:t>
            </a:fld>
            <a:endParaRPr lang="en-US"/>
          </a:p>
        </p:txBody>
      </p:sp>
    </p:spTree>
    <p:extLst>
      <p:ext uri="{BB962C8B-B14F-4D97-AF65-F5344CB8AC3E}">
        <p14:creationId xmlns:p14="http://schemas.microsoft.com/office/powerpoint/2010/main" val="12195664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49</a:t>
            </a:fld>
            <a:endParaRPr lang="en-US"/>
          </a:p>
        </p:txBody>
      </p:sp>
    </p:spTree>
    <p:extLst>
      <p:ext uri="{BB962C8B-B14F-4D97-AF65-F5344CB8AC3E}">
        <p14:creationId xmlns:p14="http://schemas.microsoft.com/office/powerpoint/2010/main" val="25303458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50</a:t>
            </a:fld>
            <a:endParaRPr lang="en-US"/>
          </a:p>
        </p:txBody>
      </p:sp>
    </p:spTree>
    <p:extLst>
      <p:ext uri="{BB962C8B-B14F-4D97-AF65-F5344CB8AC3E}">
        <p14:creationId xmlns:p14="http://schemas.microsoft.com/office/powerpoint/2010/main" val="27117879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51</a:t>
            </a:fld>
            <a:endParaRPr lang="en-US"/>
          </a:p>
        </p:txBody>
      </p:sp>
    </p:spTree>
    <p:extLst>
      <p:ext uri="{BB962C8B-B14F-4D97-AF65-F5344CB8AC3E}">
        <p14:creationId xmlns:p14="http://schemas.microsoft.com/office/powerpoint/2010/main" val="21952466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52</a:t>
            </a:fld>
            <a:endParaRPr lang="en-US"/>
          </a:p>
        </p:txBody>
      </p:sp>
    </p:spTree>
    <p:extLst>
      <p:ext uri="{BB962C8B-B14F-4D97-AF65-F5344CB8AC3E}">
        <p14:creationId xmlns:p14="http://schemas.microsoft.com/office/powerpoint/2010/main" val="27262923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53</a:t>
            </a:fld>
            <a:endParaRPr lang="en-US"/>
          </a:p>
        </p:txBody>
      </p:sp>
    </p:spTree>
    <p:extLst>
      <p:ext uri="{BB962C8B-B14F-4D97-AF65-F5344CB8AC3E}">
        <p14:creationId xmlns:p14="http://schemas.microsoft.com/office/powerpoint/2010/main" val="392875732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54</a:t>
            </a:fld>
            <a:endParaRPr lang="en-US"/>
          </a:p>
        </p:txBody>
      </p:sp>
    </p:spTree>
    <p:extLst>
      <p:ext uri="{BB962C8B-B14F-4D97-AF65-F5344CB8AC3E}">
        <p14:creationId xmlns:p14="http://schemas.microsoft.com/office/powerpoint/2010/main" val="22223146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55</a:t>
            </a:fld>
            <a:endParaRPr lang="en-US"/>
          </a:p>
        </p:txBody>
      </p:sp>
    </p:spTree>
    <p:extLst>
      <p:ext uri="{BB962C8B-B14F-4D97-AF65-F5344CB8AC3E}">
        <p14:creationId xmlns:p14="http://schemas.microsoft.com/office/powerpoint/2010/main" val="24393567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56</a:t>
            </a:fld>
            <a:endParaRPr lang="en-US"/>
          </a:p>
        </p:txBody>
      </p:sp>
    </p:spTree>
    <p:extLst>
      <p:ext uri="{BB962C8B-B14F-4D97-AF65-F5344CB8AC3E}">
        <p14:creationId xmlns:p14="http://schemas.microsoft.com/office/powerpoint/2010/main" val="155296511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57</a:t>
            </a:fld>
            <a:endParaRPr lang="en-US"/>
          </a:p>
        </p:txBody>
      </p:sp>
    </p:spTree>
    <p:extLst>
      <p:ext uri="{BB962C8B-B14F-4D97-AF65-F5344CB8AC3E}">
        <p14:creationId xmlns:p14="http://schemas.microsoft.com/office/powerpoint/2010/main" val="42434773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58</a:t>
            </a:fld>
            <a:endParaRPr lang="en-US"/>
          </a:p>
        </p:txBody>
      </p:sp>
    </p:spTree>
    <p:extLst>
      <p:ext uri="{BB962C8B-B14F-4D97-AF65-F5344CB8AC3E}">
        <p14:creationId xmlns:p14="http://schemas.microsoft.com/office/powerpoint/2010/main" val="25828434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59</a:t>
            </a:fld>
            <a:endParaRPr lang="en-US"/>
          </a:p>
        </p:txBody>
      </p:sp>
    </p:spTree>
    <p:extLst>
      <p:ext uri="{BB962C8B-B14F-4D97-AF65-F5344CB8AC3E}">
        <p14:creationId xmlns:p14="http://schemas.microsoft.com/office/powerpoint/2010/main" val="22789615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60</a:t>
            </a:fld>
            <a:endParaRPr lang="en-US"/>
          </a:p>
        </p:txBody>
      </p:sp>
    </p:spTree>
    <p:extLst>
      <p:ext uri="{BB962C8B-B14F-4D97-AF65-F5344CB8AC3E}">
        <p14:creationId xmlns:p14="http://schemas.microsoft.com/office/powerpoint/2010/main" val="343869147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61</a:t>
            </a:fld>
            <a:endParaRPr lang="en-US"/>
          </a:p>
        </p:txBody>
      </p:sp>
    </p:spTree>
    <p:extLst>
      <p:ext uri="{BB962C8B-B14F-4D97-AF65-F5344CB8AC3E}">
        <p14:creationId xmlns:p14="http://schemas.microsoft.com/office/powerpoint/2010/main" val="25117800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62</a:t>
            </a:fld>
            <a:endParaRPr lang="en-US"/>
          </a:p>
        </p:txBody>
      </p:sp>
    </p:spTree>
    <p:extLst>
      <p:ext uri="{BB962C8B-B14F-4D97-AF65-F5344CB8AC3E}">
        <p14:creationId xmlns:p14="http://schemas.microsoft.com/office/powerpoint/2010/main" val="4209825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63</a:t>
            </a:fld>
            <a:endParaRPr lang="en-US"/>
          </a:p>
        </p:txBody>
      </p:sp>
    </p:spTree>
    <p:extLst>
      <p:ext uri="{BB962C8B-B14F-4D97-AF65-F5344CB8AC3E}">
        <p14:creationId xmlns:p14="http://schemas.microsoft.com/office/powerpoint/2010/main" val="31608210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64</a:t>
            </a:fld>
            <a:endParaRPr lang="en-US"/>
          </a:p>
        </p:txBody>
      </p:sp>
    </p:spTree>
    <p:extLst>
      <p:ext uri="{BB962C8B-B14F-4D97-AF65-F5344CB8AC3E}">
        <p14:creationId xmlns:p14="http://schemas.microsoft.com/office/powerpoint/2010/main" val="31608210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65</a:t>
            </a:fld>
            <a:endParaRPr lang="en-US"/>
          </a:p>
        </p:txBody>
      </p:sp>
    </p:spTree>
    <p:extLst>
      <p:ext uri="{BB962C8B-B14F-4D97-AF65-F5344CB8AC3E}">
        <p14:creationId xmlns:p14="http://schemas.microsoft.com/office/powerpoint/2010/main" val="423010239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66</a:t>
            </a:fld>
            <a:endParaRPr lang="en-US"/>
          </a:p>
        </p:txBody>
      </p:sp>
    </p:spTree>
    <p:extLst>
      <p:ext uri="{BB962C8B-B14F-4D97-AF65-F5344CB8AC3E}">
        <p14:creationId xmlns:p14="http://schemas.microsoft.com/office/powerpoint/2010/main" val="114094059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pPr>
            <a:r>
              <a:rPr lang="en-US" dirty="0"/>
              <a:t>A SDD is a context free grammar with attributes and rules</a:t>
            </a:r>
          </a:p>
          <a:p>
            <a:pPr eaLnBrk="1" hangingPunct="1">
              <a:lnSpc>
                <a:spcPct val="80000"/>
              </a:lnSpc>
            </a:pPr>
            <a:r>
              <a:rPr lang="en-US" dirty="0"/>
              <a:t>Attributes are associated with grammar symbols and rules with productions</a:t>
            </a:r>
          </a:p>
          <a:p>
            <a:pPr eaLnBrk="1" hangingPunct="1">
              <a:lnSpc>
                <a:spcPct val="80000"/>
              </a:lnSpc>
            </a:pPr>
            <a:r>
              <a:rPr lang="en-US" dirty="0"/>
              <a:t>Attributes may be of many kinds: numbers, types, table references, strings, etc.</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solidFill>
                  <a:prstClr val="black"/>
                </a:solidFill>
              </a:rPr>
              <a:pPr/>
              <a:t>67</a:t>
            </a:fld>
            <a:endParaRPr lang="en-US">
              <a:solidFill>
                <a:prstClr val="black"/>
              </a:solidFill>
            </a:endParaRPr>
          </a:p>
        </p:txBody>
      </p:sp>
    </p:spTree>
    <p:extLst>
      <p:ext uri="{BB962C8B-B14F-4D97-AF65-F5344CB8AC3E}">
        <p14:creationId xmlns:p14="http://schemas.microsoft.com/office/powerpoint/2010/main" val="82888861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68</a:t>
            </a:fld>
            <a:endParaRPr lang="en-US"/>
          </a:p>
        </p:txBody>
      </p:sp>
    </p:spTree>
    <p:extLst>
      <p:ext uri="{BB962C8B-B14F-4D97-AF65-F5344CB8AC3E}">
        <p14:creationId xmlns:p14="http://schemas.microsoft.com/office/powerpoint/2010/main" val="2827563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10/7/2025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10/7/2025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10/7/2025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10/7/2025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10/7/2025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www.tutorialspoint.com/compiler_design/compiler_design_semantic_analysis.htm"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hyperlink" Target="https://www.geeksforgeeks.org/syntax-directed-translation-in-compiler-design/"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7200" b="1" dirty="0">
                <a:solidFill>
                  <a:srgbClr val="CC3300"/>
                </a:solidFill>
                <a:latin typeface="Angsana New" panose="02020603050405020304" pitchFamily="18" charset="-34"/>
                <a:cs typeface="Angsana New" panose="02020603050405020304" pitchFamily="18" charset="-34"/>
              </a:rPr>
              <a:t>Semantic Analysis</a:t>
            </a:r>
            <a:endParaRPr lang="en-US" sz="7200" dirty="0">
              <a:latin typeface="Angsana New" panose="02020603050405020304" pitchFamily="18" charset="-34"/>
              <a:cs typeface="Angsana New" panose="02020603050405020304" pitchFamily="18" charset="-34"/>
            </a:endParaRPr>
          </a:p>
        </p:txBody>
      </p:sp>
      <p:sp>
        <p:nvSpPr>
          <p:cNvPr id="3" name="Subtitle 2"/>
          <p:cNvSpPr>
            <a:spLocks noGrp="1"/>
          </p:cNvSpPr>
          <p:nvPr>
            <p:ph type="subTitle" idx="1"/>
          </p:nvPr>
        </p:nvSpPr>
        <p:spPr/>
        <p:txBody>
          <a:bodyPr>
            <a:normAutofit/>
          </a:bodyPr>
          <a:lstStyle/>
          <a:p>
            <a:endParaRPr lang="en-US" b="1" dirty="0"/>
          </a:p>
        </p:txBody>
      </p:sp>
    </p:spTree>
    <p:extLst>
      <p:ext uri="{BB962C8B-B14F-4D97-AF65-F5344CB8AC3E}">
        <p14:creationId xmlns:p14="http://schemas.microsoft.com/office/powerpoint/2010/main" val="117988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Semantic Analysis</a:t>
            </a:r>
            <a:endParaRPr lang="en-US" sz="4000" dirty="0"/>
          </a:p>
        </p:txBody>
      </p:sp>
      <p:sp>
        <p:nvSpPr>
          <p:cNvPr id="3" name="Content Placeholder 2"/>
          <p:cNvSpPr>
            <a:spLocks noGrp="1"/>
          </p:cNvSpPr>
          <p:nvPr>
            <p:ph idx="1"/>
          </p:nvPr>
        </p:nvSpPr>
        <p:spPr>
          <a:xfrm>
            <a:off x="2371724" y="2160059"/>
            <a:ext cx="6657975" cy="1268941"/>
          </a:xfrm>
        </p:spPr>
        <p:txBody>
          <a:bodyPr/>
          <a:lstStyle/>
          <a:p>
            <a:pPr marL="0" lvl="0" indent="0" algn="ctr" fontAlgn="base">
              <a:lnSpc>
                <a:spcPct val="100000"/>
              </a:lnSpc>
              <a:spcBef>
                <a:spcPct val="20000"/>
              </a:spcBef>
              <a:spcAft>
                <a:spcPct val="0"/>
              </a:spcAft>
              <a:buClrTx/>
              <a:buSzTx/>
              <a:buNone/>
            </a:pPr>
            <a:r>
              <a:rPr lang="en-US" sz="2800" dirty="0">
                <a:solidFill>
                  <a:srgbClr val="000000"/>
                </a:solidFill>
                <a:latin typeface="Century" panose="02040604050505020304" pitchFamily="18" charset="0"/>
              </a:rPr>
              <a:t>Having figured out the program’s structure, now figure out what it means</a:t>
            </a:r>
          </a:p>
          <a:p>
            <a:pPr marL="365760" lvl="1" indent="0">
              <a:lnSpc>
                <a:spcPct val="100000"/>
              </a:lnSpc>
              <a:spcBef>
                <a:spcPct val="20000"/>
              </a:spcBef>
              <a:spcAft>
                <a:spcPts val="0"/>
              </a:spcAft>
              <a:buClr>
                <a:srgbClr val="FE8637"/>
              </a:buClr>
              <a:buSzPct val="80000"/>
              <a:buNone/>
            </a:pPr>
            <a:endParaRPr lang="en-US" sz="2400" dirty="0">
              <a:solidFill>
                <a:prstClr val="black"/>
              </a:solidFill>
              <a:latin typeface="Century Schoolbook"/>
            </a:endParaRPr>
          </a:p>
          <a:p>
            <a:endParaRPr lang="en-US" dirty="0"/>
          </a:p>
        </p:txBody>
      </p:sp>
    </p:spTree>
    <p:extLst>
      <p:ext uri="{BB962C8B-B14F-4D97-AF65-F5344CB8AC3E}">
        <p14:creationId xmlns:p14="http://schemas.microsoft.com/office/powerpoint/2010/main" val="2841475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2"/>
          <p:cNvSpPr txBox="1">
            <a:spLocks noChangeArrowheads="1"/>
          </p:cNvSpPr>
          <p:nvPr/>
        </p:nvSpPr>
        <p:spPr bwMode="auto">
          <a:xfrm>
            <a:off x="1100137" y="7810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200" kern="1200">
                <a:solidFill>
                  <a:srgbClr val="FF0000"/>
                </a:solidFill>
                <a:latin typeface="+mj-lt"/>
                <a:ea typeface="+mj-ea"/>
                <a:cs typeface="+mj-cs"/>
              </a:defRPr>
            </a:lvl1pPr>
            <a:lvl2pPr algn="ctr" rtl="0" fontAlgn="base">
              <a:spcBef>
                <a:spcPct val="0"/>
              </a:spcBef>
              <a:spcAft>
                <a:spcPct val="0"/>
              </a:spcAft>
              <a:defRPr sz="3200">
                <a:solidFill>
                  <a:srgbClr val="FF0000"/>
                </a:solidFill>
                <a:latin typeface="Arial" panose="020B0604020202020204" pitchFamily="34" charset="0"/>
              </a:defRPr>
            </a:lvl2pPr>
            <a:lvl3pPr algn="ctr" rtl="0" fontAlgn="base">
              <a:spcBef>
                <a:spcPct val="0"/>
              </a:spcBef>
              <a:spcAft>
                <a:spcPct val="0"/>
              </a:spcAft>
              <a:defRPr sz="3200">
                <a:solidFill>
                  <a:srgbClr val="FF0000"/>
                </a:solidFill>
                <a:latin typeface="Arial" panose="020B0604020202020204" pitchFamily="34" charset="0"/>
              </a:defRPr>
            </a:lvl3pPr>
            <a:lvl4pPr algn="ctr" rtl="0" fontAlgn="base">
              <a:spcBef>
                <a:spcPct val="0"/>
              </a:spcBef>
              <a:spcAft>
                <a:spcPct val="0"/>
              </a:spcAft>
              <a:defRPr sz="3200">
                <a:solidFill>
                  <a:srgbClr val="FF0000"/>
                </a:solidFill>
                <a:latin typeface="Arial" panose="020B0604020202020204" pitchFamily="34" charset="0"/>
              </a:defRPr>
            </a:lvl4pPr>
            <a:lvl5pPr algn="ctr" rtl="0" fontAlgn="base">
              <a:spcBef>
                <a:spcPct val="0"/>
              </a:spcBef>
              <a:spcAft>
                <a:spcPct val="0"/>
              </a:spcAft>
              <a:defRPr sz="3200">
                <a:solidFill>
                  <a:srgbClr val="FF0000"/>
                </a:solidFill>
                <a:latin typeface="Arial" panose="020B0604020202020204" pitchFamily="34" charset="0"/>
              </a:defRPr>
            </a:lvl5pPr>
            <a:lvl6pPr marL="457200" algn="ctr" rtl="0" fontAlgn="base">
              <a:spcBef>
                <a:spcPct val="0"/>
              </a:spcBef>
              <a:spcAft>
                <a:spcPct val="0"/>
              </a:spcAft>
              <a:defRPr sz="3200">
                <a:solidFill>
                  <a:srgbClr val="FF0000"/>
                </a:solidFill>
                <a:latin typeface="Arial" panose="020B0604020202020204" pitchFamily="34" charset="0"/>
              </a:defRPr>
            </a:lvl6pPr>
            <a:lvl7pPr marL="914400" algn="ctr" rtl="0" fontAlgn="base">
              <a:spcBef>
                <a:spcPct val="0"/>
              </a:spcBef>
              <a:spcAft>
                <a:spcPct val="0"/>
              </a:spcAft>
              <a:defRPr sz="3200">
                <a:solidFill>
                  <a:srgbClr val="FF0000"/>
                </a:solidFill>
                <a:latin typeface="Arial" panose="020B0604020202020204" pitchFamily="34" charset="0"/>
              </a:defRPr>
            </a:lvl7pPr>
            <a:lvl8pPr marL="1371600" algn="ctr" rtl="0" fontAlgn="base">
              <a:spcBef>
                <a:spcPct val="0"/>
              </a:spcBef>
              <a:spcAft>
                <a:spcPct val="0"/>
              </a:spcAft>
              <a:defRPr sz="3200">
                <a:solidFill>
                  <a:srgbClr val="FF0000"/>
                </a:solidFill>
                <a:latin typeface="Arial" panose="020B0604020202020204" pitchFamily="34" charset="0"/>
              </a:defRPr>
            </a:lvl8pPr>
            <a:lvl9pPr marL="1828800" algn="ctr" rtl="0" fontAlgn="base">
              <a:spcBef>
                <a:spcPct val="0"/>
              </a:spcBef>
              <a:spcAft>
                <a:spcPct val="0"/>
              </a:spcAft>
              <a:defRPr sz="3200">
                <a:solidFill>
                  <a:srgbClr val="FF0000"/>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1200" cap="none" spc="0" normalizeH="0" baseline="0" noProof="0">
                <a:ln>
                  <a:noFill/>
                </a:ln>
                <a:solidFill>
                  <a:srgbClr val="C00000"/>
                </a:solidFill>
                <a:effectLst/>
                <a:uLnTx/>
                <a:uFillTx/>
                <a:latin typeface="Century Schoolbook" panose="02040604050505020304" pitchFamily="18" charset="0"/>
              </a:rPr>
              <a:t>Compiler Phases</a:t>
            </a:r>
            <a:endParaRPr kumimoji="0" lang="en-US" sz="3200" b="0" i="0" u="none" strike="noStrike" kern="1200" cap="none" spc="0" normalizeH="0" baseline="0" noProof="0" dirty="0">
              <a:ln>
                <a:noFill/>
              </a:ln>
              <a:solidFill>
                <a:srgbClr val="C00000"/>
              </a:solidFill>
              <a:effectLst/>
              <a:uLnTx/>
              <a:uFillTx/>
              <a:latin typeface="Century Schoolbook" panose="02040604050505020304" pitchFamily="18" charset="0"/>
            </a:endParaRPr>
          </a:p>
        </p:txBody>
      </p:sp>
      <p:sp>
        <p:nvSpPr>
          <p:cNvPr id="42" name="Text Box 4"/>
          <p:cNvSpPr txBox="1">
            <a:spLocks noChangeArrowheads="1"/>
          </p:cNvSpPr>
          <p:nvPr/>
        </p:nvSpPr>
        <p:spPr bwMode="auto">
          <a:xfrm>
            <a:off x="4781550" y="457200"/>
            <a:ext cx="19812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eaLnBrk="0" fontAlgn="base" hangingPunct="0">
              <a:spcBef>
                <a:spcPct val="0"/>
              </a:spcBef>
              <a:spcAft>
                <a:spcPct val="0"/>
              </a:spcAft>
            </a:pPr>
            <a:r>
              <a:rPr lang="en-US">
                <a:solidFill>
                  <a:srgbClr val="000000"/>
                </a:solidFill>
                <a:latin typeface="Arial" panose="020B0604020202020204" pitchFamily="34" charset="0"/>
              </a:rPr>
              <a:t>Analysis </a:t>
            </a:r>
          </a:p>
          <a:p>
            <a:pPr algn="ctr" defTabSz="914400" eaLnBrk="0" fontAlgn="base" hangingPunct="0">
              <a:spcBef>
                <a:spcPct val="0"/>
              </a:spcBef>
              <a:spcAft>
                <a:spcPct val="0"/>
              </a:spcAft>
            </a:pPr>
            <a:r>
              <a:rPr lang="en-US">
                <a:solidFill>
                  <a:srgbClr val="000000"/>
                </a:solidFill>
                <a:latin typeface="Arial" panose="020B0604020202020204" pitchFamily="34" charset="0"/>
              </a:rPr>
              <a:t>of input program </a:t>
            </a:r>
          </a:p>
          <a:p>
            <a:pPr algn="ctr" defTabSz="914400" eaLnBrk="0" fontAlgn="base" hangingPunct="0">
              <a:spcBef>
                <a:spcPct val="0"/>
              </a:spcBef>
              <a:spcAft>
                <a:spcPct val="0"/>
              </a:spcAft>
            </a:pPr>
            <a:r>
              <a:rPr lang="en-US">
                <a:solidFill>
                  <a:srgbClr val="000000"/>
                </a:solidFill>
                <a:latin typeface="Arial" panose="020B0604020202020204" pitchFamily="34" charset="0"/>
              </a:rPr>
              <a:t>(</a:t>
            </a:r>
            <a:r>
              <a:rPr lang="en-US" b="1">
                <a:solidFill>
                  <a:srgbClr val="000000"/>
                </a:solidFill>
                <a:latin typeface="Arial" panose="020B0604020202020204" pitchFamily="34" charset="0"/>
              </a:rPr>
              <a:t>front</a:t>
            </a:r>
            <a:r>
              <a:rPr lang="en-US">
                <a:solidFill>
                  <a:srgbClr val="000000"/>
                </a:solidFill>
                <a:latin typeface="Arial" panose="020B0604020202020204" pitchFamily="34" charset="0"/>
              </a:rPr>
              <a:t>-end)</a:t>
            </a:r>
          </a:p>
        </p:txBody>
      </p:sp>
      <p:grpSp>
        <p:nvGrpSpPr>
          <p:cNvPr id="43" name="Group 5"/>
          <p:cNvGrpSpPr>
            <a:grpSpLocks/>
          </p:cNvGrpSpPr>
          <p:nvPr/>
        </p:nvGrpSpPr>
        <p:grpSpPr bwMode="auto">
          <a:xfrm>
            <a:off x="4705350" y="1447800"/>
            <a:ext cx="4724400" cy="4800600"/>
            <a:chOff x="2352" y="768"/>
            <a:chExt cx="2976" cy="3024"/>
          </a:xfrm>
        </p:grpSpPr>
        <p:sp>
          <p:nvSpPr>
            <p:cNvPr id="44" name="AutoShape 6"/>
            <p:cNvSpPr>
              <a:spLocks noChangeArrowheads="1"/>
            </p:cNvSpPr>
            <p:nvPr/>
          </p:nvSpPr>
          <p:spPr bwMode="auto">
            <a:xfrm>
              <a:off x="2688" y="768"/>
              <a:ext cx="720" cy="336"/>
            </a:xfrm>
            <a:prstGeom prst="roundRect">
              <a:avLst>
                <a:gd name="adj" fmla="val 16667"/>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1" u="none" strike="noStrike" kern="0" cap="none" spc="0" normalizeH="0" baseline="0" noProof="0">
                  <a:ln>
                    <a:noFill/>
                  </a:ln>
                  <a:solidFill>
                    <a:srgbClr val="000000"/>
                  </a:solidFill>
                  <a:effectLst/>
                  <a:uLnTx/>
                  <a:uFillTx/>
                  <a:latin typeface="Arial" panose="020B0604020202020204" pitchFamily="34" charset="0"/>
                </a:rPr>
                <a:t>character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1" u="none" strike="noStrike" kern="0" cap="none" spc="0" normalizeH="0" baseline="0" noProof="0">
                  <a:ln>
                    <a:noFill/>
                  </a:ln>
                  <a:solidFill>
                    <a:srgbClr val="000000"/>
                  </a:solidFill>
                  <a:effectLst/>
                  <a:uLnTx/>
                  <a:uFillTx/>
                  <a:latin typeface="Arial" panose="020B0604020202020204" pitchFamily="34" charset="0"/>
                </a:rPr>
                <a:t>stream</a:t>
              </a:r>
            </a:p>
          </p:txBody>
        </p:sp>
        <p:sp>
          <p:nvSpPr>
            <p:cNvPr id="45" name="Text Box 7"/>
            <p:cNvSpPr txBox="1">
              <a:spLocks noChangeArrowheads="1"/>
            </p:cNvSpPr>
            <p:nvPr/>
          </p:nvSpPr>
          <p:spPr bwMode="auto">
            <a:xfrm>
              <a:off x="2400" y="1248"/>
              <a:ext cx="1248" cy="249"/>
            </a:xfrm>
            <a:prstGeom prst="rect">
              <a:avLst/>
            </a:prstGeom>
            <a:noFill/>
            <a:ln w="285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panose="020B0604020202020204" pitchFamily="34" charset="0"/>
                </a:rPr>
                <a:t>Lexical Analysis</a:t>
              </a:r>
            </a:p>
          </p:txBody>
        </p:sp>
        <p:sp>
          <p:nvSpPr>
            <p:cNvPr id="46" name="Text Box 8"/>
            <p:cNvSpPr txBox="1">
              <a:spLocks noChangeArrowheads="1"/>
            </p:cNvSpPr>
            <p:nvPr/>
          </p:nvSpPr>
          <p:spPr bwMode="auto">
            <a:xfrm>
              <a:off x="4080" y="2976"/>
              <a:ext cx="1248" cy="249"/>
            </a:xfrm>
            <a:prstGeom prst="rect">
              <a:avLst/>
            </a:prstGeom>
            <a:noFill/>
            <a:ln w="285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panose="020B0604020202020204" pitchFamily="34" charset="0"/>
                </a:rPr>
                <a:t>Code Generation</a:t>
              </a:r>
            </a:p>
          </p:txBody>
        </p:sp>
        <p:sp>
          <p:nvSpPr>
            <p:cNvPr id="47" name="Text Box 9"/>
            <p:cNvSpPr txBox="1">
              <a:spLocks noChangeArrowheads="1"/>
            </p:cNvSpPr>
            <p:nvPr/>
          </p:nvSpPr>
          <p:spPr bwMode="auto">
            <a:xfrm>
              <a:off x="4032" y="2112"/>
              <a:ext cx="1248" cy="249"/>
            </a:xfrm>
            <a:prstGeom prst="rect">
              <a:avLst/>
            </a:prstGeom>
            <a:noFill/>
            <a:ln w="285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panose="020B0604020202020204" pitchFamily="34" charset="0"/>
                </a:rPr>
                <a:t>Optimization</a:t>
              </a:r>
            </a:p>
          </p:txBody>
        </p:sp>
        <p:sp>
          <p:nvSpPr>
            <p:cNvPr id="48" name="Text Box 10"/>
            <p:cNvSpPr txBox="1">
              <a:spLocks noChangeArrowheads="1"/>
            </p:cNvSpPr>
            <p:nvPr/>
          </p:nvSpPr>
          <p:spPr bwMode="auto">
            <a:xfrm>
              <a:off x="4032" y="1056"/>
              <a:ext cx="1248" cy="422"/>
            </a:xfrm>
            <a:prstGeom prst="rect">
              <a:avLst/>
            </a:prstGeom>
            <a:noFill/>
            <a:ln w="285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panose="020B0604020202020204" pitchFamily="34" charset="0"/>
                </a:rPr>
                <a:t>Intermediate Code Generation</a:t>
              </a:r>
            </a:p>
          </p:txBody>
        </p:sp>
        <p:sp>
          <p:nvSpPr>
            <p:cNvPr id="49" name="Text Box 11"/>
            <p:cNvSpPr txBox="1">
              <a:spLocks noChangeArrowheads="1"/>
            </p:cNvSpPr>
            <p:nvPr/>
          </p:nvSpPr>
          <p:spPr bwMode="auto">
            <a:xfrm>
              <a:off x="2352" y="2976"/>
              <a:ext cx="1392" cy="249"/>
            </a:xfrm>
            <a:prstGeom prst="rect">
              <a:avLst/>
            </a:prstGeom>
            <a:noFill/>
            <a:ln w="285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panose="020B0604020202020204" pitchFamily="34" charset="0"/>
                </a:rPr>
                <a:t>Semantic Analysis</a:t>
              </a:r>
            </a:p>
          </p:txBody>
        </p:sp>
        <p:sp>
          <p:nvSpPr>
            <p:cNvPr id="50" name="Text Box 12"/>
            <p:cNvSpPr txBox="1">
              <a:spLocks noChangeArrowheads="1"/>
            </p:cNvSpPr>
            <p:nvPr/>
          </p:nvSpPr>
          <p:spPr bwMode="auto">
            <a:xfrm>
              <a:off x="2400" y="2112"/>
              <a:ext cx="1344" cy="249"/>
            </a:xfrm>
            <a:prstGeom prst="rect">
              <a:avLst/>
            </a:prstGeom>
            <a:noFill/>
            <a:ln w="285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panose="020B0604020202020204" pitchFamily="34" charset="0"/>
                </a:rPr>
                <a:t>Syntactic Analysis</a:t>
              </a:r>
            </a:p>
          </p:txBody>
        </p:sp>
        <p:sp>
          <p:nvSpPr>
            <p:cNvPr id="51" name="AutoShape 13"/>
            <p:cNvSpPr>
              <a:spLocks noChangeArrowheads="1"/>
            </p:cNvSpPr>
            <p:nvPr/>
          </p:nvSpPr>
          <p:spPr bwMode="auto">
            <a:xfrm>
              <a:off x="2688" y="3360"/>
              <a:ext cx="720" cy="336"/>
            </a:xfrm>
            <a:prstGeom prst="roundRect">
              <a:avLst>
                <a:gd name="adj" fmla="val 16667"/>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1" u="none" strike="noStrike" kern="0" cap="none" spc="0" normalizeH="0" baseline="0" noProof="0">
                  <a:ln>
                    <a:noFill/>
                  </a:ln>
                  <a:solidFill>
                    <a:srgbClr val="000000"/>
                  </a:solidFill>
                  <a:effectLst/>
                  <a:uLnTx/>
                  <a:uFillTx/>
                  <a:latin typeface="Arial" panose="020B0604020202020204" pitchFamily="34" charset="0"/>
                </a:rPr>
                <a:t>annotated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1" u="none" strike="noStrike" kern="0" cap="none" spc="0" normalizeH="0" baseline="0" noProof="0">
                  <a:ln>
                    <a:noFill/>
                  </a:ln>
                  <a:solidFill>
                    <a:srgbClr val="000000"/>
                  </a:solidFill>
                  <a:effectLst/>
                  <a:uLnTx/>
                  <a:uFillTx/>
                  <a:latin typeface="Arial" panose="020B0604020202020204" pitchFamily="34" charset="0"/>
                </a:rPr>
                <a:t>AST</a:t>
              </a:r>
            </a:p>
          </p:txBody>
        </p:sp>
        <p:sp>
          <p:nvSpPr>
            <p:cNvPr id="52" name="AutoShape 14"/>
            <p:cNvSpPr>
              <a:spLocks noChangeArrowheads="1"/>
            </p:cNvSpPr>
            <p:nvPr/>
          </p:nvSpPr>
          <p:spPr bwMode="auto">
            <a:xfrm>
              <a:off x="2688" y="2496"/>
              <a:ext cx="720" cy="336"/>
            </a:xfrm>
            <a:prstGeom prst="roundRect">
              <a:avLst>
                <a:gd name="adj" fmla="val 16667"/>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1" u="none" strike="noStrike" kern="0" cap="none" spc="0" normalizeH="0" baseline="0" noProof="0">
                  <a:ln>
                    <a:noFill/>
                  </a:ln>
                  <a:solidFill>
                    <a:srgbClr val="000000"/>
                  </a:solidFill>
                  <a:effectLst/>
                  <a:uLnTx/>
                  <a:uFillTx/>
                  <a:latin typeface="Arial" panose="020B0604020202020204" pitchFamily="34" charset="0"/>
                </a:rPr>
                <a:t>abstract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1" u="none" strike="noStrike" kern="0" cap="none" spc="0" normalizeH="0" baseline="0" noProof="0">
                  <a:ln>
                    <a:noFill/>
                  </a:ln>
                  <a:solidFill>
                    <a:srgbClr val="000000"/>
                  </a:solidFill>
                  <a:effectLst/>
                  <a:uLnTx/>
                  <a:uFillTx/>
                  <a:latin typeface="Arial" panose="020B0604020202020204" pitchFamily="34" charset="0"/>
                </a:rPr>
                <a:t>syntax tree</a:t>
              </a:r>
            </a:p>
          </p:txBody>
        </p:sp>
        <p:sp>
          <p:nvSpPr>
            <p:cNvPr id="53" name="AutoShape 15"/>
            <p:cNvSpPr>
              <a:spLocks noChangeArrowheads="1"/>
            </p:cNvSpPr>
            <p:nvPr/>
          </p:nvSpPr>
          <p:spPr bwMode="auto">
            <a:xfrm>
              <a:off x="2640" y="1632"/>
              <a:ext cx="720" cy="336"/>
            </a:xfrm>
            <a:prstGeom prst="roundRect">
              <a:avLst>
                <a:gd name="adj" fmla="val 16667"/>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1" u="none" strike="noStrike" kern="0" cap="none" spc="0" normalizeH="0" baseline="0" noProof="0">
                  <a:ln>
                    <a:noFill/>
                  </a:ln>
                  <a:solidFill>
                    <a:srgbClr val="000000"/>
                  </a:solidFill>
                  <a:effectLst/>
                  <a:uLnTx/>
                  <a:uFillTx/>
                  <a:latin typeface="Arial" panose="020B0604020202020204" pitchFamily="34" charset="0"/>
                </a:rPr>
                <a:t>token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1" u="none" strike="noStrike" kern="0" cap="none" spc="0" normalizeH="0" baseline="0" noProof="0">
                  <a:ln>
                    <a:noFill/>
                  </a:ln>
                  <a:solidFill>
                    <a:srgbClr val="000000"/>
                  </a:solidFill>
                  <a:effectLst/>
                  <a:uLnTx/>
                  <a:uFillTx/>
                  <a:latin typeface="Arial" panose="020B0604020202020204" pitchFamily="34" charset="0"/>
                </a:rPr>
                <a:t>stream</a:t>
              </a:r>
            </a:p>
          </p:txBody>
        </p:sp>
        <p:sp>
          <p:nvSpPr>
            <p:cNvPr id="54" name="AutoShape 16"/>
            <p:cNvSpPr>
              <a:spLocks noChangeArrowheads="1"/>
            </p:cNvSpPr>
            <p:nvPr/>
          </p:nvSpPr>
          <p:spPr bwMode="auto">
            <a:xfrm>
              <a:off x="4320" y="3360"/>
              <a:ext cx="720" cy="336"/>
            </a:xfrm>
            <a:prstGeom prst="roundRect">
              <a:avLst>
                <a:gd name="adj" fmla="val 16667"/>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1" u="none" strike="noStrike" kern="0" cap="none" spc="0" normalizeH="0" baseline="0" noProof="0">
                  <a:ln>
                    <a:noFill/>
                  </a:ln>
                  <a:solidFill>
                    <a:srgbClr val="000000"/>
                  </a:solidFill>
                  <a:effectLst/>
                  <a:uLnTx/>
                  <a:uFillTx/>
                  <a:latin typeface="Arial" panose="020B0604020202020204" pitchFamily="34" charset="0"/>
                </a:rPr>
                <a:t>target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1" u="none" strike="noStrike" kern="0" cap="none" spc="0" normalizeH="0" baseline="0" noProof="0">
                  <a:ln>
                    <a:noFill/>
                  </a:ln>
                  <a:solidFill>
                    <a:srgbClr val="000000"/>
                  </a:solidFill>
                  <a:effectLst/>
                  <a:uLnTx/>
                  <a:uFillTx/>
                  <a:latin typeface="Arial" panose="020B0604020202020204" pitchFamily="34" charset="0"/>
                </a:rPr>
                <a:t>language</a:t>
              </a:r>
            </a:p>
          </p:txBody>
        </p:sp>
        <p:sp>
          <p:nvSpPr>
            <p:cNvPr id="55" name="AutoShape 17"/>
            <p:cNvSpPr>
              <a:spLocks noChangeArrowheads="1"/>
            </p:cNvSpPr>
            <p:nvPr/>
          </p:nvSpPr>
          <p:spPr bwMode="auto">
            <a:xfrm>
              <a:off x="4224" y="2496"/>
              <a:ext cx="816" cy="336"/>
            </a:xfrm>
            <a:prstGeom prst="roundRect">
              <a:avLst>
                <a:gd name="adj" fmla="val 16667"/>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1" u="none" strike="noStrike" kern="0" cap="none" spc="0" normalizeH="0" baseline="0" noProof="0">
                  <a:ln>
                    <a:noFill/>
                  </a:ln>
                  <a:solidFill>
                    <a:srgbClr val="000000"/>
                  </a:solidFill>
                  <a:effectLst/>
                  <a:uLnTx/>
                  <a:uFillTx/>
                  <a:latin typeface="Arial" panose="020B0604020202020204" pitchFamily="34" charset="0"/>
                </a:rPr>
                <a:t>intermediate</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1" u="none" strike="noStrike" kern="0" cap="none" spc="0" normalizeH="0" baseline="0" noProof="0">
                  <a:ln>
                    <a:noFill/>
                  </a:ln>
                  <a:solidFill>
                    <a:srgbClr val="000000"/>
                  </a:solidFill>
                  <a:effectLst/>
                  <a:uLnTx/>
                  <a:uFillTx/>
                  <a:latin typeface="Arial" panose="020B0604020202020204" pitchFamily="34" charset="0"/>
                </a:rPr>
                <a:t>form</a:t>
              </a:r>
            </a:p>
          </p:txBody>
        </p:sp>
        <p:sp>
          <p:nvSpPr>
            <p:cNvPr id="56" name="AutoShape 18"/>
            <p:cNvSpPr>
              <a:spLocks noChangeArrowheads="1"/>
            </p:cNvSpPr>
            <p:nvPr/>
          </p:nvSpPr>
          <p:spPr bwMode="auto">
            <a:xfrm>
              <a:off x="4224" y="1632"/>
              <a:ext cx="816" cy="336"/>
            </a:xfrm>
            <a:prstGeom prst="roundRect">
              <a:avLst>
                <a:gd name="adj" fmla="val 16667"/>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1" u="none" strike="noStrike" kern="0" cap="none" spc="0" normalizeH="0" baseline="0" noProof="0">
                  <a:ln>
                    <a:noFill/>
                  </a:ln>
                  <a:solidFill>
                    <a:srgbClr val="000000"/>
                  </a:solidFill>
                  <a:effectLst/>
                  <a:uLnTx/>
                  <a:uFillTx/>
                  <a:latin typeface="Arial" panose="020B0604020202020204" pitchFamily="34" charset="0"/>
                </a:rPr>
                <a:t>intermediate</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1" u="none" strike="noStrike" kern="0" cap="none" spc="0" normalizeH="0" baseline="0" noProof="0">
                  <a:ln>
                    <a:noFill/>
                  </a:ln>
                  <a:solidFill>
                    <a:srgbClr val="000000"/>
                  </a:solidFill>
                  <a:effectLst/>
                  <a:uLnTx/>
                  <a:uFillTx/>
                  <a:latin typeface="Arial" panose="020B0604020202020204" pitchFamily="34" charset="0"/>
                </a:rPr>
                <a:t>form</a:t>
              </a:r>
            </a:p>
          </p:txBody>
        </p:sp>
        <p:sp>
          <p:nvSpPr>
            <p:cNvPr id="57" name="Line 19"/>
            <p:cNvSpPr>
              <a:spLocks noChangeShapeType="1"/>
            </p:cNvSpPr>
            <p:nvPr/>
          </p:nvSpPr>
          <p:spPr bwMode="auto">
            <a:xfrm>
              <a:off x="3024" y="1488"/>
              <a:ext cx="0" cy="14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58" name="Line 20"/>
            <p:cNvSpPr>
              <a:spLocks noChangeShapeType="1"/>
            </p:cNvSpPr>
            <p:nvPr/>
          </p:nvSpPr>
          <p:spPr bwMode="auto">
            <a:xfrm>
              <a:off x="3024" y="1104"/>
              <a:ext cx="0" cy="14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59" name="Line 21"/>
            <p:cNvSpPr>
              <a:spLocks noChangeShapeType="1"/>
            </p:cNvSpPr>
            <p:nvPr/>
          </p:nvSpPr>
          <p:spPr bwMode="auto">
            <a:xfrm>
              <a:off x="3024" y="2832"/>
              <a:ext cx="0" cy="14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60" name="Line 22"/>
            <p:cNvSpPr>
              <a:spLocks noChangeShapeType="1"/>
            </p:cNvSpPr>
            <p:nvPr/>
          </p:nvSpPr>
          <p:spPr bwMode="auto">
            <a:xfrm>
              <a:off x="3024" y="2352"/>
              <a:ext cx="0" cy="14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61" name="Line 23"/>
            <p:cNvSpPr>
              <a:spLocks noChangeShapeType="1"/>
            </p:cNvSpPr>
            <p:nvPr/>
          </p:nvSpPr>
          <p:spPr bwMode="auto">
            <a:xfrm>
              <a:off x="3024" y="1968"/>
              <a:ext cx="0" cy="14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62" name="Line 24"/>
            <p:cNvSpPr>
              <a:spLocks noChangeShapeType="1"/>
            </p:cNvSpPr>
            <p:nvPr/>
          </p:nvSpPr>
          <p:spPr bwMode="auto">
            <a:xfrm>
              <a:off x="3024" y="3216"/>
              <a:ext cx="0" cy="14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63" name="Line 25"/>
            <p:cNvSpPr>
              <a:spLocks noChangeShapeType="1"/>
            </p:cNvSpPr>
            <p:nvPr/>
          </p:nvSpPr>
          <p:spPr bwMode="auto">
            <a:xfrm>
              <a:off x="4608" y="912"/>
              <a:ext cx="0" cy="14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64" name="Line 26"/>
            <p:cNvSpPr>
              <a:spLocks noChangeShapeType="1"/>
            </p:cNvSpPr>
            <p:nvPr/>
          </p:nvSpPr>
          <p:spPr bwMode="auto">
            <a:xfrm>
              <a:off x="4608" y="1488"/>
              <a:ext cx="0" cy="14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65" name="Line 27"/>
            <p:cNvSpPr>
              <a:spLocks noChangeShapeType="1"/>
            </p:cNvSpPr>
            <p:nvPr/>
          </p:nvSpPr>
          <p:spPr bwMode="auto">
            <a:xfrm>
              <a:off x="4608" y="1968"/>
              <a:ext cx="0" cy="14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66" name="Line 28"/>
            <p:cNvSpPr>
              <a:spLocks noChangeShapeType="1"/>
            </p:cNvSpPr>
            <p:nvPr/>
          </p:nvSpPr>
          <p:spPr bwMode="auto">
            <a:xfrm>
              <a:off x="4608" y="2352"/>
              <a:ext cx="0" cy="14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67" name="Line 29"/>
            <p:cNvSpPr>
              <a:spLocks noChangeShapeType="1"/>
            </p:cNvSpPr>
            <p:nvPr/>
          </p:nvSpPr>
          <p:spPr bwMode="auto">
            <a:xfrm>
              <a:off x="4656" y="2832"/>
              <a:ext cx="0" cy="14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68" name="Line 30"/>
            <p:cNvSpPr>
              <a:spLocks noChangeShapeType="1"/>
            </p:cNvSpPr>
            <p:nvPr/>
          </p:nvSpPr>
          <p:spPr bwMode="auto">
            <a:xfrm>
              <a:off x="4656" y="3216"/>
              <a:ext cx="0" cy="14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69" name="Line 31"/>
            <p:cNvSpPr>
              <a:spLocks noChangeShapeType="1"/>
            </p:cNvSpPr>
            <p:nvPr/>
          </p:nvSpPr>
          <p:spPr bwMode="auto">
            <a:xfrm>
              <a:off x="3024" y="3696"/>
              <a:ext cx="0" cy="9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70" name="Line 32"/>
            <p:cNvSpPr>
              <a:spLocks noChangeShapeType="1"/>
            </p:cNvSpPr>
            <p:nvPr/>
          </p:nvSpPr>
          <p:spPr bwMode="auto">
            <a:xfrm>
              <a:off x="3024" y="3792"/>
              <a:ext cx="86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71" name="Line 33"/>
            <p:cNvSpPr>
              <a:spLocks noChangeShapeType="1"/>
            </p:cNvSpPr>
            <p:nvPr/>
          </p:nvSpPr>
          <p:spPr bwMode="auto">
            <a:xfrm flipV="1">
              <a:off x="3888" y="912"/>
              <a:ext cx="0" cy="28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sp>
          <p:nvSpPr>
            <p:cNvPr id="72" name="Line 34"/>
            <p:cNvSpPr>
              <a:spLocks noChangeShapeType="1"/>
            </p:cNvSpPr>
            <p:nvPr/>
          </p:nvSpPr>
          <p:spPr bwMode="auto">
            <a:xfrm>
              <a:off x="3888" y="912"/>
              <a:ext cx="7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panose="02020603050405020304" pitchFamily="18" charset="0"/>
              </a:endParaRPr>
            </a:p>
          </p:txBody>
        </p:sp>
      </p:grpSp>
      <p:sp>
        <p:nvSpPr>
          <p:cNvPr id="73" name="Text Box 35"/>
          <p:cNvSpPr txBox="1">
            <a:spLocks noChangeArrowheads="1"/>
          </p:cNvSpPr>
          <p:nvPr/>
        </p:nvSpPr>
        <p:spPr bwMode="auto">
          <a:xfrm>
            <a:off x="7067550" y="457200"/>
            <a:ext cx="21336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914400" eaLnBrk="0" fontAlgn="base" hangingPunct="0">
              <a:spcBef>
                <a:spcPct val="0"/>
              </a:spcBef>
              <a:spcAft>
                <a:spcPct val="0"/>
              </a:spcAft>
            </a:pPr>
            <a:r>
              <a:rPr lang="en-US">
                <a:solidFill>
                  <a:srgbClr val="000000"/>
                </a:solidFill>
                <a:latin typeface="Arial" panose="020B0604020202020204" pitchFamily="34" charset="0"/>
              </a:rPr>
              <a:t>Synthesis </a:t>
            </a:r>
          </a:p>
          <a:p>
            <a:pPr algn="ctr" defTabSz="914400" eaLnBrk="0" fontAlgn="base" hangingPunct="0">
              <a:spcBef>
                <a:spcPct val="0"/>
              </a:spcBef>
              <a:spcAft>
                <a:spcPct val="0"/>
              </a:spcAft>
            </a:pPr>
            <a:r>
              <a:rPr lang="en-US">
                <a:solidFill>
                  <a:srgbClr val="000000"/>
                </a:solidFill>
                <a:latin typeface="Arial" panose="020B0604020202020204" pitchFamily="34" charset="0"/>
              </a:rPr>
              <a:t>of output program </a:t>
            </a:r>
          </a:p>
          <a:p>
            <a:pPr algn="ctr" defTabSz="914400" eaLnBrk="0" fontAlgn="base" hangingPunct="0">
              <a:spcBef>
                <a:spcPct val="0"/>
              </a:spcBef>
              <a:spcAft>
                <a:spcPct val="0"/>
              </a:spcAft>
            </a:pPr>
            <a:r>
              <a:rPr lang="en-US">
                <a:solidFill>
                  <a:srgbClr val="000000"/>
                </a:solidFill>
                <a:latin typeface="Arial" panose="020B0604020202020204" pitchFamily="34" charset="0"/>
              </a:rPr>
              <a:t>(</a:t>
            </a:r>
            <a:r>
              <a:rPr lang="en-US" b="1">
                <a:solidFill>
                  <a:srgbClr val="000000"/>
                </a:solidFill>
                <a:latin typeface="Arial" panose="020B0604020202020204" pitchFamily="34" charset="0"/>
              </a:rPr>
              <a:t>back</a:t>
            </a:r>
            <a:r>
              <a:rPr lang="en-US">
                <a:solidFill>
                  <a:srgbClr val="000000"/>
                </a:solidFill>
                <a:latin typeface="Arial" panose="020B0604020202020204" pitchFamily="34" charset="0"/>
              </a:rPr>
              <a:t>-end)</a:t>
            </a:r>
          </a:p>
        </p:txBody>
      </p:sp>
      <p:sp>
        <p:nvSpPr>
          <p:cNvPr id="74" name="AutoShape 36"/>
          <p:cNvSpPr>
            <a:spLocks noChangeArrowheads="1"/>
          </p:cNvSpPr>
          <p:nvPr/>
        </p:nvSpPr>
        <p:spPr bwMode="auto">
          <a:xfrm>
            <a:off x="3486150" y="4800600"/>
            <a:ext cx="838200" cy="685800"/>
          </a:xfrm>
          <a:prstGeom prst="rightArrow">
            <a:avLst>
              <a:gd name="adj1" fmla="val 50000"/>
              <a:gd name="adj2" fmla="val 30556"/>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eaLnBrk="0" fontAlgn="base" hangingPunct="0">
              <a:spcBef>
                <a:spcPct val="0"/>
              </a:spcBef>
              <a:spcAft>
                <a:spcPct val="0"/>
              </a:spcAft>
            </a:pPr>
            <a:endParaRPr lang="en-US" sz="2400">
              <a:solidFill>
                <a:srgbClr val="000000"/>
              </a:solidFill>
              <a:latin typeface="Times" panose="02020603050405020304" pitchFamily="18" charset="0"/>
            </a:endParaRPr>
          </a:p>
        </p:txBody>
      </p:sp>
    </p:spTree>
    <p:extLst>
      <p:ext uri="{BB962C8B-B14F-4D97-AF65-F5344CB8AC3E}">
        <p14:creationId xmlns:p14="http://schemas.microsoft.com/office/powerpoint/2010/main" val="693557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Semantic Analysis</a:t>
            </a:r>
            <a:endParaRPr lang="en-US" dirty="0"/>
          </a:p>
        </p:txBody>
      </p:sp>
      <p:sp>
        <p:nvSpPr>
          <p:cNvPr id="3" name="TextBox 2"/>
          <p:cNvSpPr txBox="1"/>
          <p:nvPr/>
        </p:nvSpPr>
        <p:spPr>
          <a:xfrm>
            <a:off x="1210613" y="1906074"/>
            <a:ext cx="10367494" cy="4524315"/>
          </a:xfrm>
          <a:prstGeom prst="rect">
            <a:avLst/>
          </a:prstGeom>
          <a:noFill/>
        </p:spPr>
        <p:txBody>
          <a:bodyPr wrap="square" rtlCol="0">
            <a:spAutoFit/>
          </a:bodyPr>
          <a:lstStyle/>
          <a:p>
            <a:pPr marL="285750" indent="-285750">
              <a:buFont typeface="Wingdings" pitchFamily="2" charset="2"/>
              <a:buChar char="§"/>
            </a:pPr>
            <a:r>
              <a:rPr lang="en-US" sz="2000" dirty="0"/>
              <a:t>Parser uses a CFG(Context-free-Grammar) to validate the input string and produce output for the next phase of the compiler. Output could be either a parse tree or an abstract syntax tree. </a:t>
            </a:r>
          </a:p>
          <a:p>
            <a:pPr marL="285750" indent="-285750">
              <a:buFont typeface="Wingdings" pitchFamily="2" charset="2"/>
              <a:buChar char="§"/>
            </a:pPr>
            <a:endParaRPr lang="en-US" sz="2000" dirty="0"/>
          </a:p>
          <a:p>
            <a:pPr marL="285750" indent="-285750">
              <a:buFont typeface="Wingdings" pitchFamily="2" charset="2"/>
              <a:buChar char="§"/>
            </a:pPr>
            <a:r>
              <a:rPr lang="en-US" sz="2000" dirty="0"/>
              <a:t>The plain parse-tree constructed in the syntax analysis phase is generally of </a:t>
            </a:r>
            <a:r>
              <a:rPr lang="en-US" sz="2000" b="1" dirty="0">
                <a:solidFill>
                  <a:srgbClr val="FF0000"/>
                </a:solidFill>
              </a:rPr>
              <a:t>no use for a compiler</a:t>
            </a:r>
            <a:r>
              <a:rPr lang="en-US" sz="2000" dirty="0"/>
              <a:t>,  as </a:t>
            </a:r>
            <a:r>
              <a:rPr lang="en-US" sz="2000" b="1" dirty="0">
                <a:solidFill>
                  <a:srgbClr val="FF0000"/>
                </a:solidFill>
              </a:rPr>
              <a:t>it does not carry any information of how to evaluate the tree</a:t>
            </a:r>
          </a:p>
          <a:p>
            <a:endParaRPr lang="en-US" sz="2000" b="1" dirty="0">
              <a:solidFill>
                <a:srgbClr val="FF0000"/>
              </a:solidFill>
            </a:endParaRPr>
          </a:p>
          <a:p>
            <a:r>
              <a:rPr lang="en-US" sz="2000" dirty="0"/>
              <a:t>     </a:t>
            </a:r>
            <a:r>
              <a:rPr lang="en-US" sz="2000" u="sng" dirty="0"/>
              <a:t> </a:t>
            </a:r>
            <a:r>
              <a:rPr lang="en-US" sz="2400" b="1" u="sng" dirty="0"/>
              <a:t>Example</a:t>
            </a:r>
            <a:r>
              <a:rPr lang="en-US" sz="2400" b="1" dirty="0"/>
              <a:t>:      E → E + T </a:t>
            </a:r>
          </a:p>
          <a:p>
            <a:r>
              <a:rPr lang="en-US" sz="2000" dirty="0"/>
              <a:t>          </a:t>
            </a:r>
          </a:p>
          <a:p>
            <a:pPr marL="342900" indent="-342900">
              <a:buFont typeface="Wingdings" panose="05000000000000000000" pitchFamily="2" charset="2"/>
              <a:buChar char="ü"/>
            </a:pPr>
            <a:r>
              <a:rPr lang="en-US" sz="2000" dirty="0"/>
              <a:t>The above </a:t>
            </a:r>
            <a:r>
              <a:rPr lang="en-US" sz="2000" dirty="0">
                <a:solidFill>
                  <a:srgbClr val="FF0000"/>
                </a:solidFill>
              </a:rPr>
              <a:t>CFG production has no semantic rule associated with it</a:t>
            </a:r>
            <a:r>
              <a:rPr lang="en-US" sz="2000" dirty="0"/>
              <a:t>, and </a:t>
            </a:r>
            <a:r>
              <a:rPr lang="en-US" sz="2000" dirty="0">
                <a:solidFill>
                  <a:srgbClr val="FF0000"/>
                </a:solidFill>
              </a:rPr>
              <a:t>it cannot help in making any sense of the production</a:t>
            </a:r>
            <a:r>
              <a:rPr lang="en-US" sz="2000" dirty="0"/>
              <a:t>!!</a:t>
            </a:r>
          </a:p>
          <a:p>
            <a:pPr marL="342900" indent="-342900">
              <a:buFont typeface="Wingdings" panose="05000000000000000000" pitchFamily="2" charset="2"/>
              <a:buChar char="ü"/>
            </a:pPr>
            <a:r>
              <a:rPr lang="en-US" sz="2000" dirty="0"/>
              <a:t>Now to interleave semantic analysis with the syntax analysis phase of the compiler, we use </a:t>
            </a:r>
            <a:r>
              <a:rPr lang="en-US" sz="2400" b="1" dirty="0">
                <a:solidFill>
                  <a:srgbClr val="00B050"/>
                </a:solidFill>
              </a:rPr>
              <a:t>Syntax Directed Translation</a:t>
            </a:r>
          </a:p>
          <a:p>
            <a:endParaRPr lang="en-US" sz="2000" dirty="0"/>
          </a:p>
          <a:p>
            <a:pPr marL="285750" indent="-285750">
              <a:buFont typeface="Wingdings" pitchFamily="2" charset="2"/>
              <a:buChar char="§"/>
            </a:pPr>
            <a:endParaRPr lang="en-US" sz="2000" b="1" dirty="0">
              <a:solidFill>
                <a:srgbClr val="FF0000"/>
              </a:solidFill>
            </a:endParaRPr>
          </a:p>
        </p:txBody>
      </p:sp>
    </p:spTree>
    <p:extLst>
      <p:ext uri="{BB962C8B-B14F-4D97-AF65-F5344CB8AC3E}">
        <p14:creationId xmlns:p14="http://schemas.microsoft.com/office/powerpoint/2010/main" val="3584394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24257" y="3715551"/>
            <a:ext cx="5640947" cy="6310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lvl="2" algn="ctr"/>
            <a:r>
              <a:rPr lang="en-US" sz="2000" b="1" dirty="0">
                <a:solidFill>
                  <a:schemeClr val="accent2">
                    <a:lumMod val="75000"/>
                  </a:schemeClr>
                </a:solidFill>
              </a:rPr>
              <a:t>CFG + </a:t>
            </a:r>
            <a:r>
              <a:rPr lang="en-US" sz="2000" b="1">
                <a:solidFill>
                  <a:schemeClr val="accent2">
                    <a:lumMod val="75000"/>
                  </a:schemeClr>
                </a:solidFill>
              </a:rPr>
              <a:t>Semantic Rules </a:t>
            </a:r>
            <a:r>
              <a:rPr lang="en-US" sz="2000" b="1" dirty="0">
                <a:solidFill>
                  <a:schemeClr val="accent2">
                    <a:lumMod val="75000"/>
                  </a:schemeClr>
                </a:solidFill>
              </a:rPr>
              <a:t>= Syntax Directed Definitions</a:t>
            </a:r>
          </a:p>
        </p:txBody>
      </p:sp>
      <p:sp>
        <p:nvSpPr>
          <p:cNvPr id="2" name="Title 1"/>
          <p:cNvSpPr>
            <a:spLocks noGrp="1"/>
          </p:cNvSpPr>
          <p:nvPr>
            <p:ph type="title"/>
          </p:nvPr>
        </p:nvSpPr>
        <p:spPr/>
        <p:txBody>
          <a:bodyPr/>
          <a:lstStyle/>
          <a:p>
            <a:r>
              <a:rPr lang="en-US" cap="small" spc="0" dirty="0">
                <a:solidFill>
                  <a:srgbClr val="575F6D"/>
                </a:solidFill>
                <a:latin typeface="Century Schoolbook"/>
              </a:rPr>
              <a:t>Semantic Analysis</a:t>
            </a:r>
            <a:endParaRPr lang="en-US" dirty="0"/>
          </a:p>
        </p:txBody>
      </p:sp>
      <p:sp>
        <p:nvSpPr>
          <p:cNvPr id="3" name="TextBox 2"/>
          <p:cNvSpPr txBox="1"/>
          <p:nvPr/>
        </p:nvSpPr>
        <p:spPr>
          <a:xfrm>
            <a:off x="1210613" y="1712891"/>
            <a:ext cx="10367494" cy="1938992"/>
          </a:xfrm>
          <a:prstGeom prst="rect">
            <a:avLst/>
          </a:prstGeom>
          <a:noFill/>
        </p:spPr>
        <p:txBody>
          <a:bodyPr wrap="square" rtlCol="0">
            <a:spAutoFit/>
          </a:bodyPr>
          <a:lstStyle/>
          <a:p>
            <a:pPr marL="285750" indent="-285750">
              <a:lnSpc>
                <a:spcPct val="150000"/>
              </a:lnSpc>
              <a:buFont typeface="Wingdings" pitchFamily="2" charset="2"/>
              <a:buChar char="§"/>
            </a:pPr>
            <a:r>
              <a:rPr lang="en-US" sz="2000" dirty="0">
                <a:ea typeface="Tahoma" pitchFamily="34" charset="0"/>
                <a:cs typeface="Times New Roman" pitchFamily="18" charset="0"/>
              </a:rPr>
              <a:t>Semantics of a language provide meaning to its constructs, like tokens and syntax structure</a:t>
            </a:r>
          </a:p>
          <a:p>
            <a:pPr marL="285750" indent="-285750">
              <a:lnSpc>
                <a:spcPct val="150000"/>
              </a:lnSpc>
              <a:buFont typeface="Wingdings" pitchFamily="2" charset="2"/>
              <a:buChar char="§"/>
            </a:pPr>
            <a:r>
              <a:rPr lang="en-US" sz="2000" dirty="0">
                <a:ea typeface="Tahoma" pitchFamily="34" charset="0"/>
                <a:cs typeface="Times New Roman" pitchFamily="18" charset="0"/>
              </a:rPr>
              <a:t>Semantics help </a:t>
            </a:r>
            <a:r>
              <a:rPr lang="en-US" sz="2000" u="sng" dirty="0">
                <a:ea typeface="Tahoma" pitchFamily="34" charset="0"/>
                <a:cs typeface="Times New Roman" pitchFamily="18" charset="0"/>
              </a:rPr>
              <a:t>interpret symbols, their types, and their relations with each other</a:t>
            </a:r>
            <a:endParaRPr lang="en-US" sz="2000" dirty="0">
              <a:ea typeface="Tahoma" pitchFamily="34" charset="0"/>
              <a:cs typeface="Times New Roman" pitchFamily="18" charset="0"/>
            </a:endParaRPr>
          </a:p>
          <a:p>
            <a:pPr marL="285750" indent="-285750">
              <a:lnSpc>
                <a:spcPct val="150000"/>
              </a:lnSpc>
              <a:buFont typeface="Wingdings" pitchFamily="2" charset="2"/>
              <a:buChar char="§"/>
            </a:pPr>
            <a:r>
              <a:rPr lang="en-US" sz="2000" dirty="0">
                <a:ea typeface="Tahoma" pitchFamily="34" charset="0"/>
                <a:cs typeface="Times New Roman" pitchFamily="18" charset="0"/>
              </a:rPr>
              <a:t>Semantic analysis judges whether the syntax structure constructed in the source program derives any meaning or not</a:t>
            </a:r>
          </a:p>
        </p:txBody>
      </p:sp>
      <p:sp>
        <p:nvSpPr>
          <p:cNvPr id="6" name="Rectangle 5"/>
          <p:cNvSpPr/>
          <p:nvPr/>
        </p:nvSpPr>
        <p:spPr>
          <a:xfrm>
            <a:off x="1347989" y="4332489"/>
            <a:ext cx="6096000" cy="984885"/>
          </a:xfrm>
          <a:prstGeom prst="rect">
            <a:avLst/>
          </a:prstGeom>
        </p:spPr>
        <p:txBody>
          <a:bodyPr>
            <a:spAutoFit/>
          </a:bodyPr>
          <a:lstStyle/>
          <a:p>
            <a:r>
              <a:rPr lang="en-US" sz="2000" b="1" dirty="0"/>
              <a:t>Example:</a:t>
            </a:r>
          </a:p>
          <a:p>
            <a:endParaRPr lang="en-US" dirty="0"/>
          </a:p>
          <a:p>
            <a:r>
              <a:rPr lang="en-US" sz="2000" dirty="0"/>
              <a:t>           </a:t>
            </a:r>
            <a:r>
              <a:rPr lang="en-US" sz="2000" b="1" dirty="0" err="1">
                <a:solidFill>
                  <a:srgbClr val="FF0000"/>
                </a:solidFill>
              </a:rPr>
              <a:t>int</a:t>
            </a:r>
            <a:r>
              <a:rPr lang="en-US" sz="2000" b="1" dirty="0">
                <a:solidFill>
                  <a:srgbClr val="FF0000"/>
                </a:solidFill>
              </a:rPr>
              <a:t> a = “value”;</a:t>
            </a:r>
          </a:p>
        </p:txBody>
      </p:sp>
      <p:sp>
        <p:nvSpPr>
          <p:cNvPr id="7" name="TextBox 6"/>
          <p:cNvSpPr txBox="1"/>
          <p:nvPr/>
        </p:nvSpPr>
        <p:spPr>
          <a:xfrm>
            <a:off x="4395989" y="4495379"/>
            <a:ext cx="6412579" cy="1200329"/>
          </a:xfrm>
          <a:prstGeom prst="rect">
            <a:avLst/>
          </a:prstGeom>
          <a:noFill/>
          <a:ln>
            <a:solidFill>
              <a:schemeClr val="tx1"/>
            </a:solidFill>
          </a:ln>
        </p:spPr>
        <p:txBody>
          <a:bodyPr wrap="square" rtlCol="0">
            <a:spAutoFit/>
          </a:bodyPr>
          <a:lstStyle/>
          <a:p>
            <a:pPr marL="285750" indent="-285750">
              <a:buFont typeface="Wingdings" pitchFamily="2" charset="2"/>
              <a:buChar char="ü"/>
            </a:pPr>
            <a:r>
              <a:rPr lang="en-US" u="sng" dirty="0"/>
              <a:t>This statement should not issue an error in lexical and syntax analysis phase,</a:t>
            </a:r>
            <a:r>
              <a:rPr lang="en-US" dirty="0"/>
              <a:t> as it is lexically and structurally correct!!</a:t>
            </a:r>
          </a:p>
          <a:p>
            <a:pPr marL="285750" indent="-285750">
              <a:buFont typeface="Wingdings" pitchFamily="2" charset="2"/>
              <a:buChar char="ü"/>
            </a:pPr>
            <a:r>
              <a:rPr lang="en-US" dirty="0"/>
              <a:t> </a:t>
            </a:r>
            <a:r>
              <a:rPr lang="en-US" b="1" dirty="0"/>
              <a:t>But it should generate a semantic error as the type of the assignment differs</a:t>
            </a:r>
          </a:p>
        </p:txBody>
      </p:sp>
      <p:sp>
        <p:nvSpPr>
          <p:cNvPr id="8" name="TextBox 7"/>
          <p:cNvSpPr txBox="1"/>
          <p:nvPr/>
        </p:nvSpPr>
        <p:spPr>
          <a:xfrm>
            <a:off x="1197732" y="5956738"/>
            <a:ext cx="9610836" cy="400110"/>
          </a:xfrm>
          <a:prstGeom prst="rect">
            <a:avLst/>
          </a:prstGeom>
          <a:noFill/>
        </p:spPr>
        <p:txBody>
          <a:bodyPr wrap="none" rtlCol="0">
            <a:spAutoFit/>
          </a:bodyPr>
          <a:lstStyle/>
          <a:p>
            <a:pPr marL="285750" indent="-285750">
              <a:buFont typeface="Wingdings" pitchFamily="2" charset="2"/>
              <a:buChar char="§"/>
            </a:pPr>
            <a:r>
              <a:rPr lang="en-US" sz="2000" dirty="0"/>
              <a:t>These rules are set by the grammar of the language and evaluated in semantic analysis. </a:t>
            </a:r>
          </a:p>
        </p:txBody>
      </p:sp>
    </p:spTree>
    <p:extLst>
      <p:ext uri="{BB962C8B-B14F-4D97-AF65-F5344CB8AC3E}">
        <p14:creationId xmlns:p14="http://schemas.microsoft.com/office/powerpoint/2010/main" val="3493621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Semantic Analysis</a:t>
            </a:r>
            <a:endParaRPr lang="en-US" dirty="0"/>
          </a:p>
        </p:txBody>
      </p:sp>
      <p:sp>
        <p:nvSpPr>
          <p:cNvPr id="3" name="Rectangle 2"/>
          <p:cNvSpPr/>
          <p:nvPr/>
        </p:nvSpPr>
        <p:spPr>
          <a:xfrm>
            <a:off x="1116169" y="1865676"/>
            <a:ext cx="10049814" cy="4154984"/>
          </a:xfrm>
          <a:prstGeom prst="rect">
            <a:avLst/>
          </a:prstGeom>
        </p:spPr>
        <p:txBody>
          <a:bodyPr wrap="square">
            <a:spAutoFit/>
          </a:bodyPr>
          <a:lstStyle/>
          <a:p>
            <a:r>
              <a:rPr lang="en-US" sz="2000" dirty="0"/>
              <a:t>The following tasks should be performed in semantic analysis:</a:t>
            </a:r>
          </a:p>
          <a:p>
            <a:pPr marL="1657350" lvl="3" indent="-285750">
              <a:buFont typeface="Arial" pitchFamily="34" charset="0"/>
              <a:buChar char="•"/>
            </a:pPr>
            <a:r>
              <a:rPr lang="en-US" sz="2000" dirty="0"/>
              <a:t>Scope resolution</a:t>
            </a:r>
          </a:p>
          <a:p>
            <a:pPr marL="1657350" lvl="3" indent="-285750">
              <a:buFont typeface="Arial" pitchFamily="34" charset="0"/>
              <a:buChar char="•"/>
            </a:pPr>
            <a:r>
              <a:rPr lang="en-US" sz="2000" dirty="0"/>
              <a:t>Type checking</a:t>
            </a:r>
          </a:p>
          <a:p>
            <a:pPr marL="1657350" lvl="3" indent="-285750">
              <a:buFont typeface="Arial" pitchFamily="34" charset="0"/>
              <a:buChar char="•"/>
            </a:pPr>
            <a:r>
              <a:rPr lang="en-US" sz="2000" dirty="0"/>
              <a:t>Array-bound checking</a:t>
            </a:r>
          </a:p>
          <a:p>
            <a:endParaRPr lang="en-US" sz="2000" dirty="0"/>
          </a:p>
          <a:p>
            <a:r>
              <a:rPr lang="en-US" sz="2400" b="1" dirty="0"/>
              <a:t>Semantic Errors</a:t>
            </a:r>
          </a:p>
          <a:p>
            <a:r>
              <a:rPr lang="en-US" sz="2000" dirty="0"/>
              <a:t>Some of the semantics errors that the semantic analyzer is expected to recognize:</a:t>
            </a:r>
          </a:p>
          <a:p>
            <a:pPr marL="1200150" lvl="2" indent="-285750">
              <a:buFont typeface="Wingdings" pitchFamily="2" charset="2"/>
              <a:buChar char="Ø"/>
            </a:pPr>
            <a:r>
              <a:rPr lang="en-US" sz="2000" dirty="0"/>
              <a:t>Type mismatch</a:t>
            </a:r>
          </a:p>
          <a:p>
            <a:pPr marL="1200150" lvl="2" indent="-285750">
              <a:buFont typeface="Wingdings" pitchFamily="2" charset="2"/>
              <a:buChar char="Ø"/>
            </a:pPr>
            <a:r>
              <a:rPr lang="en-US" sz="2000" dirty="0"/>
              <a:t>Undeclared variable</a:t>
            </a:r>
          </a:p>
          <a:p>
            <a:pPr marL="1200150" lvl="2" indent="-285750">
              <a:buFont typeface="Wingdings" pitchFamily="2" charset="2"/>
              <a:buChar char="Ø"/>
            </a:pPr>
            <a:r>
              <a:rPr lang="en-US" sz="2000" dirty="0"/>
              <a:t>Reserved identifier misuse.</a:t>
            </a:r>
          </a:p>
          <a:p>
            <a:pPr marL="1200150" lvl="2" indent="-285750">
              <a:buFont typeface="Wingdings" pitchFamily="2" charset="2"/>
              <a:buChar char="Ø"/>
            </a:pPr>
            <a:r>
              <a:rPr lang="en-US" sz="2000" dirty="0"/>
              <a:t>Multiple declaration of variable in a scope.</a:t>
            </a:r>
          </a:p>
          <a:p>
            <a:pPr marL="1200150" lvl="2" indent="-285750">
              <a:buFont typeface="Wingdings" pitchFamily="2" charset="2"/>
              <a:buChar char="Ø"/>
            </a:pPr>
            <a:r>
              <a:rPr lang="en-US" sz="2000" dirty="0"/>
              <a:t>Accessing an out of scope variable.</a:t>
            </a:r>
          </a:p>
          <a:p>
            <a:pPr marL="1200150" lvl="2" indent="-285750">
              <a:buFont typeface="Wingdings" pitchFamily="2" charset="2"/>
              <a:buChar char="Ø"/>
            </a:pPr>
            <a:r>
              <a:rPr lang="en-US" sz="2000" dirty="0"/>
              <a:t>Actual and formal parameter mismatch.</a:t>
            </a:r>
          </a:p>
        </p:txBody>
      </p:sp>
    </p:spTree>
    <p:extLst>
      <p:ext uri="{BB962C8B-B14F-4D97-AF65-F5344CB8AC3E}">
        <p14:creationId xmlns:p14="http://schemas.microsoft.com/office/powerpoint/2010/main" val="1655086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Semantic Analysis</a:t>
            </a:r>
            <a:endParaRPr lang="en-US" dirty="0"/>
          </a:p>
        </p:txBody>
      </p:sp>
      <p:sp>
        <p:nvSpPr>
          <p:cNvPr id="3" name="Rectangle 2"/>
          <p:cNvSpPr/>
          <p:nvPr/>
        </p:nvSpPr>
        <p:spPr>
          <a:xfrm>
            <a:off x="1105866" y="1737360"/>
            <a:ext cx="10049814" cy="4493538"/>
          </a:xfrm>
          <a:prstGeom prst="rect">
            <a:avLst/>
          </a:prstGeom>
        </p:spPr>
        <p:txBody>
          <a:bodyPr wrap="square">
            <a:spAutoFit/>
          </a:bodyPr>
          <a:lstStyle/>
          <a:p>
            <a:pPr fontAlgn="base"/>
            <a:r>
              <a:rPr lang="en-US" sz="2400" b="1" dirty="0"/>
              <a:t>Functions of Semantic Analysis</a:t>
            </a:r>
            <a:endParaRPr lang="en-US" sz="2400" dirty="0"/>
          </a:p>
          <a:p>
            <a:pPr fontAlgn="base"/>
            <a:r>
              <a:rPr lang="en-US" sz="2000" b="1" dirty="0"/>
              <a:t>1. Type Checking –</a:t>
            </a:r>
            <a:br>
              <a:rPr lang="en-US" sz="2000" dirty="0"/>
            </a:br>
            <a:r>
              <a:rPr lang="en-US" sz="2000" dirty="0"/>
              <a:t>   </a:t>
            </a:r>
            <a:r>
              <a:rPr lang="en-US" sz="2000" dirty="0">
                <a:sym typeface="Wingdings" panose="05000000000000000000" pitchFamily="2" charset="2"/>
              </a:rPr>
              <a:t></a:t>
            </a:r>
            <a:r>
              <a:rPr lang="en-US" sz="2000" dirty="0"/>
              <a:t>Ensures that data types are used in a way consistent with their definition.</a:t>
            </a:r>
          </a:p>
          <a:p>
            <a:pPr fontAlgn="base"/>
            <a:r>
              <a:rPr lang="en-US" sz="2000" b="1" dirty="0"/>
              <a:t>2. Label Checking –</a:t>
            </a:r>
            <a:br>
              <a:rPr lang="en-US" sz="2000" dirty="0"/>
            </a:br>
            <a:r>
              <a:rPr lang="en-US" sz="2000" dirty="0"/>
              <a:t>   </a:t>
            </a:r>
            <a:r>
              <a:rPr lang="en-US" sz="2000" dirty="0">
                <a:sym typeface="Wingdings" panose="05000000000000000000" pitchFamily="2" charset="2"/>
              </a:rPr>
              <a:t> </a:t>
            </a:r>
            <a:r>
              <a:rPr lang="en-US" sz="2000" dirty="0"/>
              <a:t>A program should contain labels references.</a:t>
            </a:r>
          </a:p>
          <a:p>
            <a:pPr fontAlgn="base"/>
            <a:r>
              <a:rPr lang="en-US" sz="2000" b="1" dirty="0"/>
              <a:t>3. Flow Control Check –</a:t>
            </a:r>
            <a:br>
              <a:rPr lang="en-US" sz="2000" dirty="0"/>
            </a:br>
            <a:r>
              <a:rPr lang="en-US" sz="2000" dirty="0"/>
              <a:t>   </a:t>
            </a:r>
            <a:r>
              <a:rPr lang="en-US" sz="2000" dirty="0">
                <a:sym typeface="Wingdings" panose="05000000000000000000" pitchFamily="2" charset="2"/>
              </a:rPr>
              <a:t> </a:t>
            </a:r>
            <a:r>
              <a:rPr lang="en-US" sz="2000" dirty="0"/>
              <a:t>Keeps a check that control structures are used in a proper manner.</a:t>
            </a:r>
          </a:p>
          <a:p>
            <a:pPr fontAlgn="base"/>
            <a:r>
              <a:rPr lang="en-US" sz="2000" dirty="0"/>
              <a:t>       (Example: no break statement outside a loop)</a:t>
            </a:r>
          </a:p>
          <a:p>
            <a:pPr fontAlgn="base"/>
            <a:endParaRPr lang="en-US" sz="2000" dirty="0"/>
          </a:p>
          <a:p>
            <a:r>
              <a:rPr lang="en-US" sz="2200" b="1" u="sng" dirty="0"/>
              <a:t>Example of Type Casting</a:t>
            </a:r>
            <a:r>
              <a:rPr lang="en-US" sz="2200" u="sng" dirty="0"/>
              <a:t>:</a:t>
            </a:r>
          </a:p>
          <a:p>
            <a:r>
              <a:rPr lang="en-US" sz="2000" dirty="0"/>
              <a:t>   </a:t>
            </a:r>
            <a:r>
              <a:rPr lang="en-US" sz="2000" i="1" dirty="0">
                <a:solidFill>
                  <a:srgbClr val="00B050"/>
                </a:solidFill>
              </a:rPr>
              <a:t>float x = 10.1;</a:t>
            </a:r>
          </a:p>
          <a:p>
            <a:r>
              <a:rPr lang="en-US" sz="2000" i="1" dirty="0">
                <a:solidFill>
                  <a:srgbClr val="00B050"/>
                </a:solidFill>
              </a:rPr>
              <a:t>   float y = x*30; </a:t>
            </a:r>
          </a:p>
          <a:p>
            <a:r>
              <a:rPr lang="en-US" sz="2000" dirty="0"/>
              <a:t>In the above example integer 30 will be type casted to float 30.0 before multiplication, by semantic analyzer.</a:t>
            </a:r>
          </a:p>
        </p:txBody>
      </p:sp>
    </p:spTree>
    <p:extLst>
      <p:ext uri="{BB962C8B-B14F-4D97-AF65-F5344CB8AC3E}">
        <p14:creationId xmlns:p14="http://schemas.microsoft.com/office/powerpoint/2010/main" val="3712475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pPr algn="ctr"/>
            <a:r>
              <a:rPr lang="en-US" sz="6600" dirty="0"/>
              <a:t>Semantic Analysis</a:t>
            </a:r>
          </a:p>
        </p:txBody>
      </p:sp>
      <p:sp>
        <p:nvSpPr>
          <p:cNvPr id="5" name="Subtitle 4"/>
          <p:cNvSpPr>
            <a:spLocks noGrp="1"/>
          </p:cNvSpPr>
          <p:nvPr>
            <p:ph type="subTitle" idx="1"/>
          </p:nvPr>
        </p:nvSpPr>
        <p:spPr/>
        <p:txBody>
          <a:bodyPr>
            <a:normAutofit/>
          </a:bodyPr>
          <a:lstStyle/>
          <a:p>
            <a:pPr algn="ctr"/>
            <a:r>
              <a:rPr lang="en-US" sz="2800" dirty="0"/>
              <a:t>Syntax Directed Translation</a:t>
            </a:r>
          </a:p>
        </p:txBody>
      </p:sp>
    </p:spTree>
    <p:extLst>
      <p:ext uri="{BB962C8B-B14F-4D97-AF65-F5344CB8AC3E}">
        <p14:creationId xmlns:p14="http://schemas.microsoft.com/office/powerpoint/2010/main" val="2415944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Semantic Analysis</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1" y="1890714"/>
            <a:ext cx="7894167" cy="422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9395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Syntax-Directed Translation</a:t>
            </a: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229" y="1972136"/>
            <a:ext cx="9182337" cy="4192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2437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Syntax-Directed Translation</a:t>
            </a:r>
            <a:endParaRPr lang="en-US" dirty="0"/>
          </a:p>
        </p:txBody>
      </p:sp>
      <p:sp>
        <p:nvSpPr>
          <p:cNvPr id="5" name="Rectangle 3"/>
          <p:cNvSpPr>
            <a:spLocks noGrp="1" noChangeArrowheads="1"/>
          </p:cNvSpPr>
          <p:nvPr>
            <p:ph idx="1"/>
          </p:nvPr>
        </p:nvSpPr>
        <p:spPr>
          <a:xfrm>
            <a:off x="1243012" y="2018347"/>
            <a:ext cx="9473453" cy="424816"/>
          </a:xfrm>
        </p:spPr>
        <p:txBody>
          <a:bodyPr>
            <a:normAutofit/>
          </a:bodyPr>
          <a:lstStyle/>
          <a:p>
            <a:pPr>
              <a:buFont typeface="Arial" panose="020B0604020202020204" pitchFamily="34" charset="0"/>
              <a:buChar char="•"/>
            </a:pPr>
            <a:r>
              <a:rPr lang="en-US" dirty="0">
                <a:latin typeface="Century Schoolbook" panose="02040604050505020304" pitchFamily="18" charset="0"/>
                <a:cs typeface="Times" panose="02020603050405020304" pitchFamily="18" charset="0"/>
              </a:rPr>
              <a:t>  </a:t>
            </a:r>
            <a:r>
              <a:rPr lang="en-US" b="1" dirty="0">
                <a:latin typeface="Century Schoolbook" panose="02040604050505020304" pitchFamily="18" charset="0"/>
                <a:cs typeface="Times" panose="02020603050405020304" pitchFamily="18" charset="0"/>
              </a:rPr>
              <a:t>Example</a:t>
            </a:r>
            <a:r>
              <a:rPr lang="en-US" dirty="0">
                <a:latin typeface="Century Schoolbook" panose="02040604050505020304" pitchFamily="18" charset="0"/>
                <a:cs typeface="Times" panose="02020603050405020304" pitchFamily="18" charset="0"/>
              </a:rPr>
              <a:t>: Infix-to-Postfix Translator</a:t>
            </a:r>
          </a:p>
        </p:txBody>
      </p:sp>
      <p:sp>
        <p:nvSpPr>
          <p:cNvPr id="6" name="TextBox 3"/>
          <p:cNvSpPr txBox="1">
            <a:spLocks noChangeArrowheads="1"/>
          </p:cNvSpPr>
          <p:nvPr/>
        </p:nvSpPr>
        <p:spPr bwMode="auto">
          <a:xfrm>
            <a:off x="1865630" y="2666206"/>
            <a:ext cx="14814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sz="2000" dirty="0">
                <a:latin typeface="Century Schoolbook" panose="02040604050505020304" pitchFamily="18" charset="0"/>
              </a:rPr>
              <a:t>Production</a:t>
            </a:r>
          </a:p>
        </p:txBody>
      </p:sp>
      <p:sp>
        <p:nvSpPr>
          <p:cNvPr id="7" name="TextBox 4"/>
          <p:cNvSpPr txBox="1">
            <a:spLocks noChangeArrowheads="1"/>
          </p:cNvSpPr>
          <p:nvPr/>
        </p:nvSpPr>
        <p:spPr bwMode="auto">
          <a:xfrm>
            <a:off x="4989830" y="2590006"/>
            <a:ext cx="19175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sz="2000">
                <a:latin typeface="Century Schoolbook" panose="02040604050505020304" pitchFamily="18" charset="0"/>
              </a:rPr>
              <a:t>Semantic Rule</a:t>
            </a:r>
          </a:p>
        </p:txBody>
      </p:sp>
      <p:sp>
        <p:nvSpPr>
          <p:cNvPr id="8" name="TextBox 5"/>
          <p:cNvSpPr txBox="1">
            <a:spLocks noChangeArrowheads="1"/>
          </p:cNvSpPr>
          <p:nvPr/>
        </p:nvSpPr>
        <p:spPr bwMode="auto">
          <a:xfrm>
            <a:off x="1958498" y="3076732"/>
            <a:ext cx="12666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sz="2000" dirty="0">
                <a:latin typeface="Century Schoolbook" panose="02040604050505020304" pitchFamily="18" charset="0"/>
              </a:rPr>
              <a:t>E-&gt;E</a:t>
            </a:r>
            <a:r>
              <a:rPr lang="en-US" sz="2000" baseline="-25000" dirty="0">
                <a:latin typeface="Century Schoolbook" panose="02040604050505020304" pitchFamily="18" charset="0"/>
              </a:rPr>
              <a:t>1</a:t>
            </a:r>
            <a:r>
              <a:rPr lang="en-US" sz="2000" dirty="0">
                <a:latin typeface="Century Schoolbook" panose="02040604050505020304" pitchFamily="18" charset="0"/>
              </a:rPr>
              <a:t>+T</a:t>
            </a:r>
          </a:p>
        </p:txBody>
      </p:sp>
      <p:sp>
        <p:nvSpPr>
          <p:cNvPr id="9" name="TextBox 6"/>
          <p:cNvSpPr txBox="1">
            <a:spLocks noChangeArrowheads="1"/>
          </p:cNvSpPr>
          <p:nvPr/>
        </p:nvSpPr>
        <p:spPr bwMode="auto">
          <a:xfrm>
            <a:off x="4380230" y="3047206"/>
            <a:ext cx="39084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sz="2000" dirty="0" err="1">
                <a:latin typeface="Century Schoolbook" panose="02040604050505020304" pitchFamily="18" charset="0"/>
              </a:rPr>
              <a:t>E.code</a:t>
            </a:r>
            <a:r>
              <a:rPr lang="en-US" sz="2000" dirty="0">
                <a:latin typeface="Century Schoolbook" panose="02040604050505020304" pitchFamily="18" charset="0"/>
              </a:rPr>
              <a:t>=E</a:t>
            </a:r>
            <a:r>
              <a:rPr lang="en-US" sz="2000" baseline="-25000" dirty="0">
                <a:latin typeface="Century Schoolbook" panose="02040604050505020304" pitchFamily="18" charset="0"/>
              </a:rPr>
              <a:t>1</a:t>
            </a:r>
            <a:r>
              <a:rPr lang="en-US" sz="2000" dirty="0">
                <a:latin typeface="Century Schoolbook" panose="02040604050505020304" pitchFamily="18" charset="0"/>
              </a:rPr>
              <a:t>.code || </a:t>
            </a:r>
            <a:r>
              <a:rPr lang="en-US" sz="2000" dirty="0" err="1">
                <a:latin typeface="Century Schoolbook" panose="02040604050505020304" pitchFamily="18" charset="0"/>
              </a:rPr>
              <a:t>T.code</a:t>
            </a:r>
            <a:r>
              <a:rPr lang="en-US" sz="2000" dirty="0">
                <a:latin typeface="Century Schoolbook" panose="02040604050505020304" pitchFamily="18" charset="0"/>
              </a:rPr>
              <a:t> || ’+’</a:t>
            </a:r>
          </a:p>
        </p:txBody>
      </p:sp>
      <p:sp>
        <p:nvSpPr>
          <p:cNvPr id="3" name="TextBox 2"/>
          <p:cNvSpPr txBox="1"/>
          <p:nvPr/>
        </p:nvSpPr>
        <p:spPr>
          <a:xfrm>
            <a:off x="1296569" y="4051359"/>
            <a:ext cx="10075764" cy="2123658"/>
          </a:xfrm>
          <a:prstGeom prst="rect">
            <a:avLst/>
          </a:prstGeom>
          <a:noFill/>
        </p:spPr>
        <p:txBody>
          <a:bodyPr wrap="square" rtlCol="0">
            <a:spAutoFit/>
          </a:bodyPr>
          <a:lstStyle/>
          <a:p>
            <a:pPr marL="342900" indent="-342900">
              <a:buFont typeface="Arial" panose="020B0604020202020204" pitchFamily="34" charset="0"/>
              <a:buChar char="•"/>
            </a:pPr>
            <a:r>
              <a:rPr lang="en-US" sz="2200" dirty="0"/>
              <a:t>This production has two </a:t>
            </a:r>
            <a:r>
              <a:rPr lang="en-US" sz="2200" dirty="0" err="1"/>
              <a:t>nonterminals</a:t>
            </a:r>
            <a:r>
              <a:rPr lang="en-US" sz="2200" dirty="0"/>
              <a:t>, E and T; </a:t>
            </a:r>
          </a:p>
          <a:p>
            <a:pPr marL="342900" indent="-342900">
              <a:buFont typeface="Arial" panose="020B0604020202020204" pitchFamily="34" charset="0"/>
              <a:buChar char="•"/>
            </a:pPr>
            <a:r>
              <a:rPr lang="en-US" sz="2200" dirty="0"/>
              <a:t>The subscript in </a:t>
            </a:r>
            <a:r>
              <a:rPr lang="en-US" sz="2200" dirty="0">
                <a:latin typeface="Century Schoolbook" panose="02040604050505020304" pitchFamily="18" charset="0"/>
              </a:rPr>
              <a:t>E</a:t>
            </a:r>
            <a:r>
              <a:rPr lang="en-US" sz="2200" baseline="-25000" dirty="0">
                <a:latin typeface="Century Schoolbook" panose="02040604050505020304" pitchFamily="18" charset="0"/>
              </a:rPr>
              <a:t>1</a:t>
            </a:r>
            <a:r>
              <a:rPr lang="en-US" sz="2200" dirty="0"/>
              <a:t> distinguishes the occurrence of E in the production body from the occurrence of E as the head. </a:t>
            </a:r>
          </a:p>
          <a:p>
            <a:pPr marL="342900" indent="-342900">
              <a:buFont typeface="Arial" panose="020B0604020202020204" pitchFamily="34" charset="0"/>
              <a:buChar char="•"/>
            </a:pPr>
            <a:r>
              <a:rPr lang="en-US" sz="2200" dirty="0"/>
              <a:t>Both E and T have a string-valued attribute code. </a:t>
            </a:r>
          </a:p>
          <a:p>
            <a:pPr marL="342900" indent="-342900">
              <a:buFont typeface="Arial" panose="020B0604020202020204" pitchFamily="34" charset="0"/>
              <a:buChar char="•"/>
            </a:pPr>
            <a:r>
              <a:rPr lang="en-US" sz="2200" dirty="0"/>
              <a:t>The semantic rule specifies that the string </a:t>
            </a:r>
            <a:r>
              <a:rPr lang="en-US" sz="2200" dirty="0" err="1"/>
              <a:t>E.code</a:t>
            </a:r>
            <a:r>
              <a:rPr lang="en-US" sz="2200" dirty="0"/>
              <a:t> is formed by concatenating </a:t>
            </a:r>
            <a:r>
              <a:rPr lang="en-US" sz="2200" dirty="0">
                <a:latin typeface="Century Schoolbook" panose="02040604050505020304" pitchFamily="18" charset="0"/>
              </a:rPr>
              <a:t>E</a:t>
            </a:r>
            <a:r>
              <a:rPr lang="en-US" sz="2200" baseline="-25000" dirty="0">
                <a:latin typeface="Century Schoolbook" panose="02040604050505020304" pitchFamily="18" charset="0"/>
              </a:rPr>
              <a:t>1</a:t>
            </a:r>
            <a:r>
              <a:rPr lang="en-US" sz="2200" dirty="0"/>
              <a:t>.code, </a:t>
            </a:r>
            <a:r>
              <a:rPr lang="en-US" sz="2200" dirty="0" err="1"/>
              <a:t>T.code</a:t>
            </a:r>
            <a:r>
              <a:rPr lang="en-US" sz="2200" dirty="0"/>
              <a:t>, and the character </a:t>
            </a:r>
            <a:r>
              <a:rPr lang="en-US" sz="2200" b="1" i="1" dirty="0"/>
              <a:t>' + ‘ .</a:t>
            </a:r>
            <a:r>
              <a:rPr lang="en-US" sz="2200" dirty="0"/>
              <a:t> </a:t>
            </a:r>
          </a:p>
        </p:txBody>
      </p:sp>
    </p:spTree>
    <p:extLst>
      <p:ext uri="{BB962C8B-B14F-4D97-AF65-F5344CB8AC3E}">
        <p14:creationId xmlns:p14="http://schemas.microsoft.com/office/powerpoint/2010/main" val="3892061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Syntax-Directed Translation</a:t>
            </a:r>
            <a:endParaRPr lang="en-US" dirty="0"/>
          </a:p>
        </p:txBody>
      </p:sp>
      <p:pic>
        <p:nvPicPr>
          <p:cNvPr id="12" name="Picture 11"/>
          <p:cNvPicPr>
            <a:picLocks noChangeAspect="1"/>
          </p:cNvPicPr>
          <p:nvPr/>
        </p:nvPicPr>
        <p:blipFill>
          <a:blip r:embed="rId3"/>
          <a:stretch>
            <a:fillRect/>
          </a:stretch>
        </p:blipFill>
        <p:spPr>
          <a:xfrm>
            <a:off x="1097280" y="1932454"/>
            <a:ext cx="7266791" cy="4262920"/>
          </a:xfrm>
          <a:prstGeom prst="rect">
            <a:avLst/>
          </a:prstGeom>
        </p:spPr>
      </p:pic>
    </p:spTree>
    <p:extLst>
      <p:ext uri="{BB962C8B-B14F-4D97-AF65-F5344CB8AC3E}">
        <p14:creationId xmlns:p14="http://schemas.microsoft.com/office/powerpoint/2010/main" val="3822741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Syntax-Directed Definition</a:t>
            </a:r>
            <a:endParaRPr lang="en-US" dirty="0"/>
          </a:p>
        </p:txBody>
      </p:sp>
      <p:pic>
        <p:nvPicPr>
          <p:cNvPr id="4" name="Content Placeholder 3"/>
          <p:cNvPicPr>
            <a:picLocks noGrp="1" noChangeAspect="1"/>
          </p:cNvPicPr>
          <p:nvPr>
            <p:ph idx="1"/>
          </p:nvPr>
        </p:nvPicPr>
        <p:blipFill>
          <a:blip r:embed="rId3"/>
          <a:stretch>
            <a:fillRect/>
          </a:stretch>
        </p:blipFill>
        <p:spPr>
          <a:xfrm>
            <a:off x="1097280" y="1987062"/>
            <a:ext cx="8684029" cy="3473612"/>
          </a:xfrm>
          <a:prstGeom prst="rect">
            <a:avLst/>
          </a:prstGeom>
        </p:spPr>
      </p:pic>
    </p:spTree>
    <p:extLst>
      <p:ext uri="{BB962C8B-B14F-4D97-AF65-F5344CB8AC3E}">
        <p14:creationId xmlns:p14="http://schemas.microsoft.com/office/powerpoint/2010/main" val="2801195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Syntax-Directed Definition</a:t>
            </a:r>
            <a:endParaRPr lang="en-US" dirty="0"/>
          </a:p>
        </p:txBody>
      </p:sp>
      <p:pic>
        <p:nvPicPr>
          <p:cNvPr id="3" name="Picture 2"/>
          <p:cNvPicPr>
            <a:picLocks noChangeAspect="1"/>
          </p:cNvPicPr>
          <p:nvPr/>
        </p:nvPicPr>
        <p:blipFill>
          <a:blip r:embed="rId3"/>
          <a:stretch>
            <a:fillRect/>
          </a:stretch>
        </p:blipFill>
        <p:spPr>
          <a:xfrm>
            <a:off x="1221975" y="1795085"/>
            <a:ext cx="9572625" cy="4600180"/>
          </a:xfrm>
          <a:prstGeom prst="rect">
            <a:avLst/>
          </a:prstGeom>
        </p:spPr>
      </p:pic>
      <p:sp>
        <p:nvSpPr>
          <p:cNvPr id="4" name="TextBox 3"/>
          <p:cNvSpPr txBox="1"/>
          <p:nvPr/>
        </p:nvSpPr>
        <p:spPr>
          <a:xfrm>
            <a:off x="6126480" y="5545394"/>
            <a:ext cx="3909212" cy="400110"/>
          </a:xfrm>
          <a:prstGeom prst="rect">
            <a:avLst/>
          </a:prstGeom>
          <a:noFill/>
        </p:spPr>
        <p:txBody>
          <a:bodyPr wrap="none" rtlCol="0">
            <a:spAutoFit/>
          </a:bodyPr>
          <a:lstStyle/>
          <a:p>
            <a:r>
              <a:rPr lang="en-US" sz="2000" b="1" dirty="0"/>
              <a:t>Annotated Parse Tree for 3 * 5 + 4n</a:t>
            </a:r>
          </a:p>
        </p:txBody>
      </p:sp>
      <p:sp>
        <p:nvSpPr>
          <p:cNvPr id="5" name="TextBox 4"/>
          <p:cNvSpPr txBox="1"/>
          <p:nvPr/>
        </p:nvSpPr>
        <p:spPr>
          <a:xfrm>
            <a:off x="1537285" y="4209393"/>
            <a:ext cx="2898742" cy="646331"/>
          </a:xfrm>
          <a:prstGeom prst="rect">
            <a:avLst/>
          </a:prstGeom>
          <a:noFill/>
        </p:spPr>
        <p:txBody>
          <a:bodyPr wrap="none" rtlCol="0">
            <a:spAutoFit/>
          </a:bodyPr>
          <a:lstStyle/>
          <a:p>
            <a:r>
              <a:rPr lang="en-US" dirty="0"/>
              <a:t>Syntax-directed definition of </a:t>
            </a:r>
          </a:p>
          <a:p>
            <a:r>
              <a:rPr lang="en-US" dirty="0"/>
              <a:t>   a simple desk calculator </a:t>
            </a:r>
          </a:p>
        </p:txBody>
      </p:sp>
    </p:spTree>
    <p:extLst>
      <p:ext uri="{BB962C8B-B14F-4D97-AF65-F5344CB8AC3E}">
        <p14:creationId xmlns:p14="http://schemas.microsoft.com/office/powerpoint/2010/main" val="794067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Syntax-Directed Definition</a:t>
            </a:r>
            <a:endParaRPr lang="en-US" dirty="0"/>
          </a:p>
        </p:txBody>
      </p:sp>
      <p:pic>
        <p:nvPicPr>
          <p:cNvPr id="4" name="Picture 3"/>
          <p:cNvPicPr>
            <a:picLocks noChangeAspect="1"/>
          </p:cNvPicPr>
          <p:nvPr/>
        </p:nvPicPr>
        <p:blipFill>
          <a:blip r:embed="rId3"/>
          <a:stretch>
            <a:fillRect/>
          </a:stretch>
        </p:blipFill>
        <p:spPr>
          <a:xfrm>
            <a:off x="1097280" y="1945616"/>
            <a:ext cx="5960944" cy="3709255"/>
          </a:xfrm>
          <a:prstGeom prst="rect">
            <a:avLst/>
          </a:prstGeom>
        </p:spPr>
      </p:pic>
      <p:sp>
        <p:nvSpPr>
          <p:cNvPr id="3" name="TextBox 2"/>
          <p:cNvSpPr txBox="1"/>
          <p:nvPr/>
        </p:nvSpPr>
        <p:spPr>
          <a:xfrm>
            <a:off x="8583561" y="3614155"/>
            <a:ext cx="2123768" cy="1107996"/>
          </a:xfrm>
          <a:prstGeom prst="rect">
            <a:avLst/>
          </a:prstGeom>
          <a:noFill/>
        </p:spPr>
        <p:txBody>
          <a:bodyPr wrap="square" rtlCol="0">
            <a:spAutoFit/>
          </a:bodyPr>
          <a:lstStyle/>
          <a:p>
            <a:pPr algn="ctr"/>
            <a:r>
              <a:rPr lang="en-US" sz="6600" dirty="0"/>
              <a:t>?</a:t>
            </a:r>
          </a:p>
        </p:txBody>
      </p:sp>
      <p:sp>
        <p:nvSpPr>
          <p:cNvPr id="5" name="Right Arrow 4"/>
          <p:cNvSpPr/>
          <p:nvPr/>
        </p:nvSpPr>
        <p:spPr>
          <a:xfrm>
            <a:off x="7374194" y="3982065"/>
            <a:ext cx="1002890" cy="3721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199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Attribute Grammar</a:t>
            </a:r>
            <a:endParaRPr lang="en-US" dirty="0"/>
          </a:p>
        </p:txBody>
      </p:sp>
      <p:sp>
        <p:nvSpPr>
          <p:cNvPr id="5" name="Rectangle 3"/>
          <p:cNvSpPr>
            <a:spLocks noGrp="1" noChangeArrowheads="1"/>
          </p:cNvSpPr>
          <p:nvPr>
            <p:ph idx="1"/>
          </p:nvPr>
        </p:nvSpPr>
        <p:spPr>
          <a:xfrm>
            <a:off x="1211859" y="1913175"/>
            <a:ext cx="9473453" cy="4288120"/>
          </a:xfrm>
        </p:spPr>
        <p:txBody>
          <a:bodyPr>
            <a:normAutofit/>
          </a:bodyPr>
          <a:lstStyle/>
          <a:p>
            <a:pPr>
              <a:buFont typeface="Wingdings" panose="05000000000000000000" pitchFamily="2" charset="2"/>
              <a:buChar char="q"/>
            </a:pPr>
            <a:r>
              <a:rPr lang="en-US" dirty="0">
                <a:latin typeface="Century Schoolbook" panose="02040604050505020304"/>
                <a:cs typeface="Times" panose="02020603050405020304" pitchFamily="18" charset="0"/>
              </a:rPr>
              <a:t>  </a:t>
            </a:r>
            <a:r>
              <a:rPr lang="en-US" sz="2200" dirty="0">
                <a:cs typeface="Times" panose="02020603050405020304" pitchFamily="18" charset="0"/>
              </a:rPr>
              <a:t>A special form of context-free grammar where some additional information (attributes) are appended to one or more of its non-terminals in order to provide context-sensitive information.</a:t>
            </a:r>
          </a:p>
          <a:p>
            <a:pPr>
              <a:buFont typeface="Wingdings" panose="05000000000000000000" pitchFamily="2" charset="2"/>
              <a:buChar char="q"/>
            </a:pPr>
            <a:r>
              <a:rPr lang="en-US" sz="2200" dirty="0">
                <a:cs typeface="Times" panose="02020603050405020304" pitchFamily="18" charset="0"/>
              </a:rPr>
              <a:t> Each attribute has well-defined domain of values, such as integer, float, character, string, and expressions</a:t>
            </a:r>
          </a:p>
          <a:p>
            <a:pPr>
              <a:buFont typeface="Wingdings" panose="05000000000000000000" pitchFamily="2" charset="2"/>
              <a:buChar char="q"/>
            </a:pPr>
            <a:r>
              <a:rPr lang="en-US" sz="2200" dirty="0"/>
              <a:t> Attribute grammar is a medium to provide semantics to the context-free grammar and it can help specify the syntax and semantics of a programming language. </a:t>
            </a:r>
          </a:p>
          <a:p>
            <a:pPr>
              <a:buFont typeface="Wingdings" panose="05000000000000000000" pitchFamily="2" charset="2"/>
              <a:buChar char="q"/>
            </a:pPr>
            <a:r>
              <a:rPr lang="en-US" sz="2200" dirty="0"/>
              <a:t> Attribute grammar (when viewed as a parse-tree) can pass values or information among the nodes of a tree.</a:t>
            </a:r>
            <a:endParaRPr lang="en-US" sz="2200" dirty="0">
              <a:cs typeface="Times" panose="02020603050405020304" pitchFamily="18" charset="0"/>
            </a:endParaRPr>
          </a:p>
        </p:txBody>
      </p:sp>
    </p:spTree>
    <p:extLst>
      <p:ext uri="{BB962C8B-B14F-4D97-AF65-F5344CB8AC3E}">
        <p14:creationId xmlns:p14="http://schemas.microsoft.com/office/powerpoint/2010/main" val="3244595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Attribute Grammar</a:t>
            </a:r>
            <a:endParaRPr lang="en-US" dirty="0"/>
          </a:p>
        </p:txBody>
      </p:sp>
      <p:sp>
        <p:nvSpPr>
          <p:cNvPr id="5" name="Rectangle 3"/>
          <p:cNvSpPr>
            <a:spLocks noGrp="1" noChangeArrowheads="1"/>
          </p:cNvSpPr>
          <p:nvPr>
            <p:ph idx="1"/>
          </p:nvPr>
        </p:nvSpPr>
        <p:spPr>
          <a:xfrm>
            <a:off x="1211859" y="1913175"/>
            <a:ext cx="9473453" cy="4288120"/>
          </a:xfrm>
        </p:spPr>
        <p:txBody>
          <a:bodyPr>
            <a:normAutofit/>
          </a:bodyPr>
          <a:lstStyle/>
          <a:p>
            <a:pPr>
              <a:buFont typeface="Wingdings" panose="05000000000000000000" pitchFamily="2" charset="2"/>
              <a:buChar char="q"/>
            </a:pPr>
            <a:r>
              <a:rPr lang="en-US" b="1" dirty="0"/>
              <a:t>  </a:t>
            </a:r>
            <a:r>
              <a:rPr lang="en-US" sz="2400" b="1" dirty="0"/>
              <a:t>Example</a:t>
            </a:r>
            <a:r>
              <a:rPr lang="en-US" b="1" dirty="0"/>
              <a:t>:</a:t>
            </a:r>
          </a:p>
          <a:p>
            <a:pPr marL="0" indent="0">
              <a:buNone/>
            </a:pPr>
            <a:endParaRPr lang="en-US" b="1" dirty="0">
              <a:cs typeface="Times" panose="02020603050405020304" pitchFamily="18" charset="0"/>
            </a:endParaRPr>
          </a:p>
          <a:p>
            <a:pPr>
              <a:buFont typeface="Wingdings" panose="05000000000000000000" pitchFamily="2" charset="2"/>
              <a:buChar char="q"/>
            </a:pPr>
            <a:endParaRPr lang="en-US" b="1" dirty="0">
              <a:cs typeface="Times" panose="02020603050405020304" pitchFamily="18" charset="0"/>
            </a:endParaRPr>
          </a:p>
          <a:p>
            <a:pPr lvl="1">
              <a:buFont typeface="Wingdings" panose="05000000000000000000" pitchFamily="2" charset="2"/>
              <a:buChar char="ü"/>
            </a:pPr>
            <a:endParaRPr lang="en-US" sz="2000" dirty="0"/>
          </a:p>
          <a:p>
            <a:pPr lvl="1">
              <a:buFont typeface="Wingdings" panose="05000000000000000000" pitchFamily="2" charset="2"/>
              <a:buChar char="ü"/>
            </a:pPr>
            <a:endParaRPr lang="en-US" sz="2000" dirty="0">
              <a:latin typeface="Century Schoolbook" panose="02040604050505020304"/>
            </a:endParaRPr>
          </a:p>
          <a:p>
            <a:pPr lvl="1">
              <a:buFont typeface="Wingdings" panose="05000000000000000000" pitchFamily="2" charset="2"/>
              <a:buChar char="ü"/>
            </a:pPr>
            <a:r>
              <a:rPr lang="en-US" sz="2200" dirty="0"/>
              <a:t>The right part of the CFG contains the semantic rules that specify how the grammar should be interpreted. </a:t>
            </a:r>
          </a:p>
          <a:p>
            <a:pPr lvl="1">
              <a:buFont typeface="Wingdings" panose="05000000000000000000" pitchFamily="2" charset="2"/>
              <a:buChar char="ü"/>
            </a:pPr>
            <a:r>
              <a:rPr lang="en-US" sz="2200" dirty="0"/>
              <a:t>Here, the values of non-terminals E and T are added together and the result is copied to the non-terminal E.</a:t>
            </a:r>
            <a:endParaRPr lang="en-US" sz="2200" dirty="0">
              <a:cs typeface="Times" panose="02020603050405020304" pitchFamily="18" charset="0"/>
            </a:endParaRPr>
          </a:p>
        </p:txBody>
      </p:sp>
      <p:pic>
        <p:nvPicPr>
          <p:cNvPr id="3" name="Picture 2"/>
          <p:cNvPicPr>
            <a:picLocks noChangeAspect="1"/>
          </p:cNvPicPr>
          <p:nvPr/>
        </p:nvPicPr>
        <p:blipFill>
          <a:blip r:embed="rId3"/>
          <a:stretch>
            <a:fillRect/>
          </a:stretch>
        </p:blipFill>
        <p:spPr>
          <a:xfrm>
            <a:off x="2061890" y="3242131"/>
            <a:ext cx="5652321" cy="433215"/>
          </a:xfrm>
          <a:prstGeom prst="rect">
            <a:avLst/>
          </a:prstGeom>
        </p:spPr>
      </p:pic>
      <p:sp>
        <p:nvSpPr>
          <p:cNvPr id="6" name="TextBox 3"/>
          <p:cNvSpPr txBox="1">
            <a:spLocks noChangeArrowheads="1"/>
          </p:cNvSpPr>
          <p:nvPr/>
        </p:nvSpPr>
        <p:spPr bwMode="auto">
          <a:xfrm>
            <a:off x="2061172" y="2666206"/>
            <a:ext cx="14814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sz="2000" dirty="0">
                <a:latin typeface="Century Schoolbook" panose="02040604050505020304" pitchFamily="18" charset="0"/>
              </a:rPr>
              <a:t>Production</a:t>
            </a:r>
          </a:p>
        </p:txBody>
      </p:sp>
      <p:sp>
        <p:nvSpPr>
          <p:cNvPr id="7" name="TextBox 4"/>
          <p:cNvSpPr txBox="1">
            <a:spLocks noChangeArrowheads="1"/>
          </p:cNvSpPr>
          <p:nvPr/>
        </p:nvSpPr>
        <p:spPr bwMode="auto">
          <a:xfrm>
            <a:off x="3829399" y="2666206"/>
            <a:ext cx="19175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sz="2000" dirty="0">
                <a:latin typeface="Century Schoolbook" panose="02040604050505020304" pitchFamily="18" charset="0"/>
              </a:rPr>
              <a:t>Semantic Rule</a:t>
            </a:r>
          </a:p>
        </p:txBody>
      </p:sp>
    </p:spTree>
    <p:extLst>
      <p:ext uri="{BB962C8B-B14F-4D97-AF65-F5344CB8AC3E}">
        <p14:creationId xmlns:p14="http://schemas.microsoft.com/office/powerpoint/2010/main" val="1569141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Two Types of Attributes</a:t>
            </a:r>
            <a:endParaRPr lang="en-US" dirty="0"/>
          </a:p>
        </p:txBody>
      </p:sp>
      <p:sp>
        <p:nvSpPr>
          <p:cNvPr id="5" name="Rectangle 3"/>
          <p:cNvSpPr>
            <a:spLocks noGrp="1" noChangeArrowheads="1"/>
          </p:cNvSpPr>
          <p:nvPr>
            <p:ph idx="1"/>
          </p:nvPr>
        </p:nvSpPr>
        <p:spPr>
          <a:xfrm>
            <a:off x="1211859" y="1913175"/>
            <a:ext cx="9796110" cy="4288120"/>
          </a:xfrm>
        </p:spPr>
        <p:txBody>
          <a:bodyPr>
            <a:normAutofit fontScale="92500" lnSpcReduction="20000"/>
          </a:bodyPr>
          <a:lstStyle/>
          <a:p>
            <a:pPr>
              <a:buFont typeface="Wingdings" panose="05000000000000000000" pitchFamily="2" charset="2"/>
              <a:buChar char="q"/>
            </a:pPr>
            <a:r>
              <a:rPr lang="en-US" sz="2400" dirty="0">
                <a:latin typeface="+mj-lt"/>
              </a:rPr>
              <a:t> </a:t>
            </a:r>
            <a:r>
              <a:rPr lang="en-US" sz="2400" dirty="0"/>
              <a:t>Semantic attributes may be assigned to their values from their domain at the time of parsing and evaluated at the time of assignment or conditions. </a:t>
            </a:r>
          </a:p>
          <a:p>
            <a:pPr>
              <a:buFont typeface="Wingdings" panose="05000000000000000000" pitchFamily="2" charset="2"/>
              <a:buChar char="q"/>
            </a:pPr>
            <a:r>
              <a:rPr lang="en-US" sz="2400" dirty="0"/>
              <a:t>  Based on the way the attributes get their values, they can be broadly divided into two categories : synthesized attributes and inherited attributes.</a:t>
            </a:r>
            <a:endParaRPr lang="en-US" sz="2400" b="1" dirty="0">
              <a:cs typeface="Times" panose="02020603050405020304" pitchFamily="18" charset="0"/>
            </a:endParaRPr>
          </a:p>
          <a:p>
            <a:pPr marL="0" indent="0">
              <a:buNone/>
            </a:pPr>
            <a:r>
              <a:rPr lang="en-US" sz="2400" b="1" dirty="0">
                <a:latin typeface="+mj-lt"/>
                <a:cs typeface="Times" panose="02020603050405020304" pitchFamily="18" charset="0"/>
              </a:rPr>
              <a:t>    (1) </a:t>
            </a:r>
            <a:r>
              <a:rPr lang="en-US" sz="2400" b="1" dirty="0">
                <a:solidFill>
                  <a:srgbClr val="00B050"/>
                </a:solidFill>
                <a:latin typeface="+mj-lt"/>
              </a:rPr>
              <a:t>Synthesized attributes</a:t>
            </a:r>
          </a:p>
          <a:p>
            <a:pPr marL="0" indent="0">
              <a:buNone/>
            </a:pPr>
            <a:r>
              <a:rPr lang="en-US" sz="2400" dirty="0">
                <a:latin typeface="+mj-lt"/>
              </a:rPr>
              <a:t>            </a:t>
            </a:r>
            <a:r>
              <a:rPr lang="en-US" sz="2400" dirty="0">
                <a:latin typeface="+mj-lt"/>
                <a:sym typeface="Wingdings" panose="05000000000000000000" pitchFamily="2" charset="2"/>
              </a:rPr>
              <a:t></a:t>
            </a:r>
            <a:r>
              <a:rPr lang="en-US" sz="2400" dirty="0"/>
              <a:t>These attributes get values from the attribute values of their </a:t>
            </a:r>
            <a:r>
              <a:rPr lang="en-US" sz="2400" b="1" dirty="0"/>
              <a:t>child nodes. </a:t>
            </a:r>
            <a:r>
              <a:rPr lang="en-US" sz="2400" dirty="0"/>
              <a:t>(Variables in the RHS of the production).</a:t>
            </a:r>
          </a:p>
          <a:p>
            <a:pPr marL="0" indent="0">
              <a:buNone/>
            </a:pPr>
            <a:r>
              <a:rPr lang="en-US" sz="2400" dirty="0">
                <a:sym typeface="Wingdings" panose="05000000000000000000" pitchFamily="2" charset="2"/>
              </a:rPr>
              <a:t>            These attributes are the non-terminals on the </a:t>
            </a:r>
            <a:r>
              <a:rPr lang="en-US" sz="2400" b="1" dirty="0">
                <a:sym typeface="Wingdings" panose="05000000000000000000" pitchFamily="2" charset="2"/>
              </a:rPr>
              <a:t>left-hand side of a production</a:t>
            </a:r>
            <a:r>
              <a:rPr lang="en-US" sz="2400" dirty="0">
                <a:latin typeface="+mj-lt"/>
                <a:sym typeface="Wingdings" panose="05000000000000000000" pitchFamily="2" charset="2"/>
              </a:rPr>
              <a:t>.</a:t>
            </a:r>
            <a:endParaRPr lang="en-US" sz="2400" dirty="0">
              <a:latin typeface="+mj-lt"/>
            </a:endParaRPr>
          </a:p>
          <a:p>
            <a:pPr marL="0" indent="0">
              <a:buNone/>
            </a:pPr>
            <a:r>
              <a:rPr lang="en-US" sz="2400" b="1" dirty="0">
                <a:latin typeface="+mj-lt"/>
              </a:rPr>
              <a:t>     (2) </a:t>
            </a:r>
            <a:r>
              <a:rPr lang="en-US" sz="2400" b="1" dirty="0">
                <a:solidFill>
                  <a:srgbClr val="00B050"/>
                </a:solidFill>
                <a:latin typeface="+mj-lt"/>
              </a:rPr>
              <a:t>Inherited</a:t>
            </a:r>
            <a:r>
              <a:rPr lang="en-US" sz="2400" b="1" dirty="0">
                <a:latin typeface="+mj-lt"/>
              </a:rPr>
              <a:t> </a:t>
            </a:r>
            <a:r>
              <a:rPr lang="en-US" sz="2400" b="1" dirty="0">
                <a:solidFill>
                  <a:srgbClr val="00B050"/>
                </a:solidFill>
                <a:latin typeface="+mj-lt"/>
              </a:rPr>
              <a:t>attributes</a:t>
            </a:r>
          </a:p>
          <a:p>
            <a:pPr marL="0" indent="0">
              <a:buNone/>
            </a:pPr>
            <a:r>
              <a:rPr lang="en-US" sz="2400" dirty="0">
                <a:latin typeface="+mj-lt"/>
              </a:rPr>
              <a:t>           </a:t>
            </a:r>
            <a:r>
              <a:rPr lang="en-US" sz="2400" dirty="0">
                <a:latin typeface="+mj-lt"/>
                <a:sym typeface="Wingdings" panose="05000000000000000000" pitchFamily="2" charset="2"/>
              </a:rPr>
              <a:t> </a:t>
            </a:r>
            <a:r>
              <a:rPr lang="en-US" sz="2400" dirty="0"/>
              <a:t>These</a:t>
            </a:r>
            <a:r>
              <a:rPr lang="en-US" sz="2400" dirty="0">
                <a:sym typeface="Wingdings" panose="05000000000000000000" pitchFamily="2" charset="2"/>
              </a:rPr>
              <a:t> attributes can take values from </a:t>
            </a:r>
            <a:r>
              <a:rPr lang="en-US" sz="2400" b="1" dirty="0">
                <a:sym typeface="Wingdings" panose="05000000000000000000" pitchFamily="2" charset="2"/>
              </a:rPr>
              <a:t>parent and/or siblings</a:t>
            </a:r>
            <a:r>
              <a:rPr lang="en-US" sz="2400" dirty="0">
                <a:sym typeface="Wingdings" panose="05000000000000000000" pitchFamily="2" charset="2"/>
              </a:rPr>
              <a:t>. (variables in the LHS or RHS of the production).</a:t>
            </a:r>
          </a:p>
          <a:p>
            <a:pPr marL="0" indent="0">
              <a:buNone/>
            </a:pPr>
            <a:r>
              <a:rPr lang="en-US" sz="2400" b="1" dirty="0">
                <a:cs typeface="Times" panose="02020603050405020304" pitchFamily="18" charset="0"/>
                <a:sym typeface="Wingdings" panose="05000000000000000000" pitchFamily="2" charset="2"/>
              </a:rPr>
              <a:t>          </a:t>
            </a:r>
            <a:r>
              <a:rPr lang="en-US" sz="2400" dirty="0">
                <a:cs typeface="Times" panose="02020603050405020304" pitchFamily="18" charset="0"/>
                <a:sym typeface="Wingdings" panose="05000000000000000000" pitchFamily="2" charset="2"/>
              </a:rPr>
              <a:t>These attributes are nonterminal on the </a:t>
            </a:r>
            <a:r>
              <a:rPr lang="en-US" sz="2400" b="1" dirty="0">
                <a:cs typeface="Times" panose="02020603050405020304" pitchFamily="18" charset="0"/>
                <a:sym typeface="Wingdings" panose="05000000000000000000" pitchFamily="2" charset="2"/>
              </a:rPr>
              <a:t>right-hand side of a production</a:t>
            </a:r>
            <a:endParaRPr lang="en-US" sz="2400" b="1" dirty="0">
              <a:cs typeface="Times" panose="02020603050405020304" pitchFamily="18" charset="0"/>
            </a:endParaRPr>
          </a:p>
          <a:p>
            <a:pPr marL="0" indent="0">
              <a:buNone/>
            </a:pPr>
            <a:endParaRPr lang="en-US" b="1" dirty="0">
              <a:cs typeface="Times" panose="02020603050405020304" pitchFamily="18" charset="0"/>
            </a:endParaRPr>
          </a:p>
        </p:txBody>
      </p:sp>
    </p:spTree>
    <p:extLst>
      <p:ext uri="{BB962C8B-B14F-4D97-AF65-F5344CB8AC3E}">
        <p14:creationId xmlns:p14="http://schemas.microsoft.com/office/powerpoint/2010/main" val="4249016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Two types of attributes</a:t>
            </a:r>
            <a:endParaRPr lang="en-US" dirty="0"/>
          </a:p>
        </p:txBody>
      </p:sp>
      <p:pic>
        <p:nvPicPr>
          <p:cNvPr id="3" name="Picture 2"/>
          <p:cNvPicPr>
            <a:picLocks noChangeAspect="1"/>
          </p:cNvPicPr>
          <p:nvPr/>
        </p:nvPicPr>
        <p:blipFill>
          <a:blip r:embed="rId3"/>
          <a:stretch>
            <a:fillRect/>
          </a:stretch>
        </p:blipFill>
        <p:spPr>
          <a:xfrm>
            <a:off x="1504336" y="1913142"/>
            <a:ext cx="2970110" cy="3656430"/>
          </a:xfrm>
          <a:prstGeom prst="rect">
            <a:avLst/>
          </a:prstGeom>
        </p:spPr>
      </p:pic>
      <p:pic>
        <p:nvPicPr>
          <p:cNvPr id="4" name="Picture 3"/>
          <p:cNvPicPr>
            <a:picLocks noChangeAspect="1"/>
          </p:cNvPicPr>
          <p:nvPr/>
        </p:nvPicPr>
        <p:blipFill rotWithShape="1">
          <a:blip r:embed="rId4"/>
          <a:srcRect b="29396"/>
          <a:stretch/>
        </p:blipFill>
        <p:spPr>
          <a:xfrm>
            <a:off x="5188753" y="2094555"/>
            <a:ext cx="5116615" cy="831526"/>
          </a:xfrm>
          <a:prstGeom prst="rect">
            <a:avLst/>
          </a:prstGeom>
        </p:spPr>
      </p:pic>
      <p:sp>
        <p:nvSpPr>
          <p:cNvPr id="5" name="TextBox 4"/>
          <p:cNvSpPr txBox="1"/>
          <p:nvPr/>
        </p:nvSpPr>
        <p:spPr>
          <a:xfrm>
            <a:off x="5188753" y="3283276"/>
            <a:ext cx="6237742" cy="2339102"/>
          </a:xfrm>
          <a:prstGeom prst="rect">
            <a:avLst/>
          </a:prstGeom>
          <a:noFill/>
        </p:spPr>
        <p:txBody>
          <a:bodyPr wrap="square" rtlCol="0">
            <a:spAutoFit/>
          </a:bodyPr>
          <a:lstStyle/>
          <a:p>
            <a:r>
              <a:rPr lang="en-US" sz="2400" b="1" i="1" dirty="0"/>
              <a:t>S → ABC</a:t>
            </a:r>
            <a:endParaRPr lang="en-US" dirty="0"/>
          </a:p>
          <a:p>
            <a:r>
              <a:rPr lang="en-US" sz="2000" dirty="0"/>
              <a:t>If S is taking values from its child nodes (A,B,C), then it is said to be a synthesized attribute, as the values of ABC are synthesized to S</a:t>
            </a:r>
            <a:r>
              <a:rPr lang="en-US" dirty="0"/>
              <a:t>.</a:t>
            </a:r>
          </a:p>
          <a:p>
            <a:endParaRPr lang="en-US" dirty="0"/>
          </a:p>
          <a:p>
            <a:r>
              <a:rPr lang="en-US" sz="2400" b="1" i="1" dirty="0"/>
              <a:t>E → E + T </a:t>
            </a:r>
          </a:p>
          <a:p>
            <a:r>
              <a:rPr lang="en-US" sz="2000" dirty="0"/>
              <a:t> The parent node E gets its value from its child node. </a:t>
            </a:r>
          </a:p>
        </p:txBody>
      </p:sp>
    </p:spTree>
    <p:extLst>
      <p:ext uri="{BB962C8B-B14F-4D97-AF65-F5344CB8AC3E}">
        <p14:creationId xmlns:p14="http://schemas.microsoft.com/office/powerpoint/2010/main" val="3814265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Two types of attributes</a:t>
            </a:r>
            <a:endParaRPr lang="en-US" dirty="0"/>
          </a:p>
        </p:txBody>
      </p:sp>
      <p:pic>
        <p:nvPicPr>
          <p:cNvPr id="5" name="Picture 4"/>
          <p:cNvPicPr>
            <a:picLocks noChangeAspect="1"/>
          </p:cNvPicPr>
          <p:nvPr/>
        </p:nvPicPr>
        <p:blipFill>
          <a:blip r:embed="rId3"/>
          <a:stretch>
            <a:fillRect/>
          </a:stretch>
        </p:blipFill>
        <p:spPr>
          <a:xfrm>
            <a:off x="1548580" y="1927073"/>
            <a:ext cx="2829693" cy="3665467"/>
          </a:xfrm>
          <a:prstGeom prst="rect">
            <a:avLst/>
          </a:prstGeom>
        </p:spPr>
      </p:pic>
      <p:pic>
        <p:nvPicPr>
          <p:cNvPr id="7" name="Picture 6"/>
          <p:cNvPicPr>
            <a:picLocks noChangeAspect="1"/>
          </p:cNvPicPr>
          <p:nvPr/>
        </p:nvPicPr>
        <p:blipFill rotWithShape="1">
          <a:blip r:embed="rId4"/>
          <a:srcRect b="25003"/>
          <a:stretch/>
        </p:blipFill>
        <p:spPr>
          <a:xfrm>
            <a:off x="5141301" y="2104257"/>
            <a:ext cx="4902582" cy="1054579"/>
          </a:xfrm>
          <a:prstGeom prst="rect">
            <a:avLst/>
          </a:prstGeom>
        </p:spPr>
      </p:pic>
      <p:sp>
        <p:nvSpPr>
          <p:cNvPr id="3" name="TextBox 2"/>
          <p:cNvSpPr txBox="1"/>
          <p:nvPr/>
        </p:nvSpPr>
        <p:spPr>
          <a:xfrm>
            <a:off x="5292970" y="3516923"/>
            <a:ext cx="6400800" cy="1754326"/>
          </a:xfrm>
          <a:prstGeom prst="rect">
            <a:avLst/>
          </a:prstGeom>
          <a:noFill/>
        </p:spPr>
        <p:txBody>
          <a:bodyPr wrap="square" rtlCol="0">
            <a:spAutoFit/>
          </a:bodyPr>
          <a:lstStyle/>
          <a:p>
            <a:r>
              <a:rPr lang="en-US" sz="2400" b="1" i="1" dirty="0"/>
              <a:t>S → ABC</a:t>
            </a:r>
          </a:p>
          <a:p>
            <a:endParaRPr lang="en-US" dirty="0"/>
          </a:p>
          <a:p>
            <a:r>
              <a:rPr lang="en-US" sz="2200" dirty="0">
                <a:latin typeface="+mj-lt"/>
              </a:rPr>
              <a:t>A can get values from S, B and C. B can take values from S, A, and C.</a:t>
            </a:r>
          </a:p>
          <a:p>
            <a:r>
              <a:rPr lang="en-US" sz="2200" dirty="0">
                <a:latin typeface="+mj-lt"/>
              </a:rPr>
              <a:t>Likewise, C can take values from S, A, and B.</a:t>
            </a:r>
          </a:p>
        </p:txBody>
      </p:sp>
    </p:spTree>
    <p:extLst>
      <p:ext uri="{BB962C8B-B14F-4D97-AF65-F5344CB8AC3E}">
        <p14:creationId xmlns:p14="http://schemas.microsoft.com/office/powerpoint/2010/main" val="4027793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Example</a:t>
            </a:r>
            <a:endParaRPr lang="en-US" dirty="0"/>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4369" y="1990725"/>
            <a:ext cx="4474920" cy="269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36881" y="4829175"/>
            <a:ext cx="5709896" cy="369332"/>
          </a:xfrm>
          <a:prstGeom prst="rect">
            <a:avLst/>
          </a:prstGeom>
          <a:noFill/>
        </p:spPr>
        <p:txBody>
          <a:bodyPr wrap="none" rtlCol="0">
            <a:spAutoFit/>
          </a:bodyPr>
          <a:lstStyle/>
          <a:p>
            <a:r>
              <a:rPr lang="en-US" dirty="0"/>
              <a:t>AN SDD based on a grammar suitable for top-down parsing</a:t>
            </a:r>
          </a:p>
        </p:txBody>
      </p:sp>
      <p:sp>
        <p:nvSpPr>
          <p:cNvPr id="5" name="TextBox 4"/>
          <p:cNvSpPr txBox="1"/>
          <p:nvPr/>
        </p:nvSpPr>
        <p:spPr>
          <a:xfrm>
            <a:off x="7686102" y="5394884"/>
            <a:ext cx="3397853" cy="400110"/>
          </a:xfrm>
          <a:prstGeom prst="rect">
            <a:avLst/>
          </a:prstGeom>
          <a:noFill/>
        </p:spPr>
        <p:txBody>
          <a:bodyPr wrap="none" rtlCol="0">
            <a:spAutoFit/>
          </a:bodyPr>
          <a:lstStyle/>
          <a:p>
            <a:r>
              <a:rPr lang="en-US" sz="2000" b="1" dirty="0"/>
              <a:t>Annotated Parse Tree for 3 * 5</a:t>
            </a:r>
          </a:p>
        </p:txBody>
      </p:sp>
      <p:pic>
        <p:nvPicPr>
          <p:cNvPr id="2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0837" y="2502814"/>
            <a:ext cx="5043488" cy="28407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6996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0837" y="2502814"/>
            <a:ext cx="5043488" cy="28407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cap="small" spc="0" dirty="0">
                <a:solidFill>
                  <a:srgbClr val="575F6D"/>
                </a:solidFill>
                <a:latin typeface="Century Schoolbook"/>
              </a:rPr>
              <a:t>Example</a:t>
            </a:r>
            <a:endParaRPr lang="en-US" dirty="0"/>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4369" y="1990725"/>
            <a:ext cx="4474920" cy="269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36881" y="4829175"/>
            <a:ext cx="5709896" cy="369332"/>
          </a:xfrm>
          <a:prstGeom prst="rect">
            <a:avLst/>
          </a:prstGeom>
          <a:noFill/>
        </p:spPr>
        <p:txBody>
          <a:bodyPr wrap="none" rtlCol="0">
            <a:spAutoFit/>
          </a:bodyPr>
          <a:lstStyle/>
          <a:p>
            <a:r>
              <a:rPr lang="en-US" dirty="0"/>
              <a:t>AN SDD based on a grammar suitable for top-down parsing</a:t>
            </a:r>
          </a:p>
        </p:txBody>
      </p:sp>
      <p:sp>
        <p:nvSpPr>
          <p:cNvPr id="6" name="Oval 5"/>
          <p:cNvSpPr/>
          <p:nvPr/>
        </p:nvSpPr>
        <p:spPr>
          <a:xfrm>
            <a:off x="6829425" y="3338512"/>
            <a:ext cx="1657350" cy="400050"/>
          </a:xfrm>
          <a:prstGeom prst="ellipse">
            <a:avLst/>
          </a:prstGeom>
          <a:noFill/>
          <a:ln>
            <a:solidFill>
              <a:schemeClr val="accent2"/>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0" name="Oval 9"/>
          <p:cNvSpPr/>
          <p:nvPr/>
        </p:nvSpPr>
        <p:spPr>
          <a:xfrm>
            <a:off x="9222581" y="4114800"/>
            <a:ext cx="1250157" cy="400050"/>
          </a:xfrm>
          <a:prstGeom prst="ellipse">
            <a:avLst/>
          </a:prstGeom>
          <a:noFill/>
          <a:ln>
            <a:solidFill>
              <a:schemeClr val="accent2"/>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Oval 10"/>
          <p:cNvSpPr/>
          <p:nvPr/>
        </p:nvSpPr>
        <p:spPr>
          <a:xfrm>
            <a:off x="8331994" y="2517101"/>
            <a:ext cx="1250157" cy="400050"/>
          </a:xfrm>
          <a:prstGeom prst="ellipse">
            <a:avLst/>
          </a:prstGeom>
          <a:noFill/>
          <a:ln>
            <a:solidFill>
              <a:schemeClr val="accent2"/>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 name="Oval 11"/>
          <p:cNvSpPr/>
          <p:nvPr/>
        </p:nvSpPr>
        <p:spPr>
          <a:xfrm>
            <a:off x="9455276" y="3481385"/>
            <a:ext cx="1250157" cy="291077"/>
          </a:xfrm>
          <a:prstGeom prst="ellipse">
            <a:avLst/>
          </a:prstGeom>
          <a:noFill/>
          <a:ln>
            <a:solidFill>
              <a:schemeClr val="accent2"/>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3" name="Oval 12"/>
          <p:cNvSpPr/>
          <p:nvPr/>
        </p:nvSpPr>
        <p:spPr>
          <a:xfrm>
            <a:off x="10494168" y="4310624"/>
            <a:ext cx="1250157" cy="291077"/>
          </a:xfrm>
          <a:prstGeom prst="ellipse">
            <a:avLst/>
          </a:prstGeom>
          <a:noFill/>
          <a:ln>
            <a:solidFill>
              <a:schemeClr val="accent2"/>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7" name="TextBox 6"/>
          <p:cNvSpPr txBox="1"/>
          <p:nvPr/>
        </p:nvSpPr>
        <p:spPr>
          <a:xfrm>
            <a:off x="6655259" y="5431393"/>
            <a:ext cx="2469779" cy="400110"/>
          </a:xfrm>
          <a:prstGeom prst="rect">
            <a:avLst/>
          </a:prstGeom>
          <a:noFill/>
        </p:spPr>
        <p:txBody>
          <a:bodyPr wrap="none" rtlCol="0">
            <a:spAutoFit/>
          </a:bodyPr>
          <a:lstStyle/>
          <a:p>
            <a:r>
              <a:rPr lang="en-US" sz="2000" b="1" dirty="0">
                <a:solidFill>
                  <a:schemeClr val="accent2"/>
                </a:solidFill>
              </a:rPr>
              <a:t>Synthesized Attribute</a:t>
            </a:r>
          </a:p>
        </p:txBody>
      </p:sp>
      <p:cxnSp>
        <p:nvCxnSpPr>
          <p:cNvPr id="9" name="Straight Arrow Connector 8"/>
          <p:cNvCxnSpPr/>
          <p:nvPr/>
        </p:nvCxnSpPr>
        <p:spPr>
          <a:xfrm flipV="1">
            <a:off x="7925305" y="3772463"/>
            <a:ext cx="47120" cy="16589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7925305" y="2917151"/>
            <a:ext cx="1031767" cy="24337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2" idx="3"/>
          </p:cNvCxnSpPr>
          <p:nvPr/>
        </p:nvCxnSpPr>
        <p:spPr>
          <a:xfrm flipV="1">
            <a:off x="7925305" y="3729835"/>
            <a:ext cx="1713052" cy="16210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7925305" y="4514850"/>
            <a:ext cx="1656846" cy="8360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endCxn id="13" idx="3"/>
          </p:cNvCxnSpPr>
          <p:nvPr/>
        </p:nvCxnSpPr>
        <p:spPr>
          <a:xfrm flipV="1">
            <a:off x="7925305" y="4559074"/>
            <a:ext cx="2751944" cy="7918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588559" y="5831443"/>
            <a:ext cx="3072957" cy="369332"/>
          </a:xfrm>
          <a:prstGeom prst="rect">
            <a:avLst/>
          </a:prstGeom>
          <a:noFill/>
        </p:spPr>
        <p:txBody>
          <a:bodyPr wrap="none" rtlCol="0">
            <a:spAutoFit/>
          </a:bodyPr>
          <a:lstStyle/>
          <a:p>
            <a:r>
              <a:rPr lang="en-US" b="1" dirty="0"/>
              <a:t>Annotated Parse Tree for 3 * 5</a:t>
            </a:r>
          </a:p>
        </p:txBody>
      </p:sp>
    </p:spTree>
    <p:extLst>
      <p:ext uri="{BB962C8B-B14F-4D97-AF65-F5344CB8AC3E}">
        <p14:creationId xmlns:p14="http://schemas.microsoft.com/office/powerpoint/2010/main" val="4238642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2261" y="2502814"/>
            <a:ext cx="5043488" cy="28407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cap="small" spc="0" dirty="0">
                <a:solidFill>
                  <a:srgbClr val="575F6D"/>
                </a:solidFill>
                <a:latin typeface="Century Schoolbook"/>
              </a:rPr>
              <a:t>Example</a:t>
            </a:r>
            <a:endParaRPr lang="en-US" dirty="0"/>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4369" y="1990725"/>
            <a:ext cx="4474920" cy="269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36881" y="4829175"/>
            <a:ext cx="5709896" cy="369332"/>
          </a:xfrm>
          <a:prstGeom prst="rect">
            <a:avLst/>
          </a:prstGeom>
          <a:noFill/>
        </p:spPr>
        <p:txBody>
          <a:bodyPr wrap="none" rtlCol="0">
            <a:spAutoFit/>
          </a:bodyPr>
          <a:lstStyle/>
          <a:p>
            <a:r>
              <a:rPr lang="en-US" dirty="0"/>
              <a:t>AN SDD based on a grammar suitable for top-down parsing</a:t>
            </a:r>
          </a:p>
        </p:txBody>
      </p:sp>
      <p:sp>
        <p:nvSpPr>
          <p:cNvPr id="12" name="Oval 11"/>
          <p:cNvSpPr/>
          <p:nvPr/>
        </p:nvSpPr>
        <p:spPr>
          <a:xfrm>
            <a:off x="9455276" y="3273931"/>
            <a:ext cx="1250157" cy="291077"/>
          </a:xfrm>
          <a:prstGeom prst="ellipse">
            <a:avLst/>
          </a:prstGeom>
          <a:noFill/>
          <a:ln>
            <a:solidFill>
              <a:srgbClr val="7030A0"/>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3" name="Oval 12"/>
          <p:cNvSpPr/>
          <p:nvPr/>
        </p:nvSpPr>
        <p:spPr>
          <a:xfrm>
            <a:off x="10408442" y="4032296"/>
            <a:ext cx="1250157" cy="291077"/>
          </a:xfrm>
          <a:prstGeom prst="ellipse">
            <a:avLst/>
          </a:prstGeom>
          <a:noFill/>
          <a:ln>
            <a:solidFill>
              <a:srgbClr val="7030A0"/>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4" name="TextBox 13"/>
          <p:cNvSpPr txBox="1"/>
          <p:nvPr/>
        </p:nvSpPr>
        <p:spPr>
          <a:xfrm>
            <a:off x="6655259" y="5431393"/>
            <a:ext cx="2188869" cy="400110"/>
          </a:xfrm>
          <a:prstGeom prst="rect">
            <a:avLst/>
          </a:prstGeom>
          <a:noFill/>
        </p:spPr>
        <p:txBody>
          <a:bodyPr wrap="none" rtlCol="0">
            <a:spAutoFit/>
          </a:bodyPr>
          <a:lstStyle/>
          <a:p>
            <a:r>
              <a:rPr lang="en-US" sz="2000" b="1" dirty="0">
                <a:solidFill>
                  <a:srgbClr val="7030A0"/>
                </a:solidFill>
              </a:rPr>
              <a:t>Inherited Attribute</a:t>
            </a:r>
          </a:p>
        </p:txBody>
      </p:sp>
      <p:cxnSp>
        <p:nvCxnSpPr>
          <p:cNvPr id="7" name="Straight Arrow Connector 6"/>
          <p:cNvCxnSpPr>
            <a:endCxn id="12" idx="3"/>
          </p:cNvCxnSpPr>
          <p:nvPr/>
        </p:nvCxnSpPr>
        <p:spPr>
          <a:xfrm flipV="1">
            <a:off x="7843838" y="3522381"/>
            <a:ext cx="1794519" cy="1909013"/>
          </a:xfrm>
          <a:prstGeom prst="straightConnector1">
            <a:avLst/>
          </a:prstGeom>
          <a:ln>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13" idx="3"/>
          </p:cNvCxnSpPr>
          <p:nvPr/>
        </p:nvCxnSpPr>
        <p:spPr>
          <a:xfrm flipV="1">
            <a:off x="7843838" y="4280746"/>
            <a:ext cx="2747685" cy="1150647"/>
          </a:xfrm>
          <a:prstGeom prst="straightConnector1">
            <a:avLst/>
          </a:prstGeom>
          <a:ln>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588559" y="5831443"/>
            <a:ext cx="3072957" cy="369332"/>
          </a:xfrm>
          <a:prstGeom prst="rect">
            <a:avLst/>
          </a:prstGeom>
          <a:noFill/>
        </p:spPr>
        <p:txBody>
          <a:bodyPr wrap="none" rtlCol="0">
            <a:spAutoFit/>
          </a:bodyPr>
          <a:lstStyle/>
          <a:p>
            <a:r>
              <a:rPr lang="en-US" b="1" dirty="0"/>
              <a:t>Annotated Parse Tree for 3 * 5</a:t>
            </a:r>
          </a:p>
        </p:txBody>
      </p:sp>
    </p:spTree>
    <p:extLst>
      <p:ext uri="{BB962C8B-B14F-4D97-AF65-F5344CB8AC3E}">
        <p14:creationId xmlns:p14="http://schemas.microsoft.com/office/powerpoint/2010/main" val="2678751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Syntax directed translation</a:t>
            </a:r>
            <a:endParaRPr lang="en-US" dirty="0"/>
          </a:p>
        </p:txBody>
      </p:sp>
      <p:sp>
        <p:nvSpPr>
          <p:cNvPr id="5" name="Rectangle 3"/>
          <p:cNvSpPr>
            <a:spLocks noGrp="1" noChangeArrowheads="1"/>
          </p:cNvSpPr>
          <p:nvPr>
            <p:ph idx="1"/>
          </p:nvPr>
        </p:nvSpPr>
        <p:spPr>
          <a:xfrm>
            <a:off x="1211859" y="1913175"/>
            <a:ext cx="9796110" cy="4288120"/>
          </a:xfrm>
        </p:spPr>
        <p:txBody>
          <a:bodyPr>
            <a:normAutofit/>
          </a:bodyPr>
          <a:lstStyle/>
          <a:p>
            <a:pPr fontAlgn="base"/>
            <a:r>
              <a:rPr lang="en-US" sz="2600" dirty="0">
                <a:latin typeface="Century Schoolbook" panose="02040604050505020304"/>
              </a:rPr>
              <a:t> </a:t>
            </a:r>
            <a:r>
              <a:rPr lang="en-US" sz="2600" b="1" dirty="0"/>
              <a:t>S-attributed SDT :</a:t>
            </a:r>
            <a:endParaRPr lang="en-US" sz="2600" dirty="0"/>
          </a:p>
          <a:p>
            <a:pPr lvl="1" fontAlgn="base"/>
            <a:r>
              <a:rPr lang="en-US" sz="2200" u="sng" dirty="0"/>
              <a:t>If an SDT uses only synthesized attributes, it is called as S-attributed SDT</a:t>
            </a:r>
            <a:r>
              <a:rPr lang="en-US" sz="2200" dirty="0"/>
              <a:t>.</a:t>
            </a:r>
          </a:p>
          <a:p>
            <a:pPr lvl="1" fontAlgn="base"/>
            <a:r>
              <a:rPr lang="en-US" sz="2200" dirty="0"/>
              <a:t>S-attributed SDTs are evaluated in </a:t>
            </a:r>
            <a:r>
              <a:rPr lang="en-US" sz="2200" b="1" dirty="0"/>
              <a:t>bottom-up parsing/ post order traversal, </a:t>
            </a:r>
            <a:r>
              <a:rPr lang="en-US" sz="2200" dirty="0"/>
              <a:t>as the values of the parent nodes depend upon the values of the child nodes.</a:t>
            </a:r>
          </a:p>
          <a:p>
            <a:pPr lvl="1" fontAlgn="base"/>
            <a:r>
              <a:rPr lang="en-US" sz="2200" dirty="0"/>
              <a:t>Semantic actions are placed in rightmost place of RHS.</a:t>
            </a:r>
          </a:p>
          <a:p>
            <a:pPr marL="0" indent="0">
              <a:buNone/>
            </a:pPr>
            <a:endParaRPr lang="en-US" b="1" dirty="0">
              <a:cs typeface="Times" panose="02020603050405020304" pitchFamily="18" charset="0"/>
            </a:endParaRPr>
          </a:p>
        </p:txBody>
      </p:sp>
      <p:pic>
        <p:nvPicPr>
          <p:cNvPr id="4" name="Picture 3"/>
          <p:cNvPicPr>
            <a:picLocks noChangeAspect="1"/>
          </p:cNvPicPr>
          <p:nvPr/>
        </p:nvPicPr>
        <p:blipFill>
          <a:blip r:embed="rId3"/>
          <a:stretch>
            <a:fillRect/>
          </a:stretch>
        </p:blipFill>
        <p:spPr>
          <a:xfrm>
            <a:off x="3997468" y="4057235"/>
            <a:ext cx="2867025" cy="1714500"/>
          </a:xfrm>
          <a:prstGeom prst="rect">
            <a:avLst/>
          </a:prstGeom>
          <a:ln>
            <a:solidFill>
              <a:schemeClr val="tx1"/>
            </a:solidFill>
          </a:ln>
        </p:spPr>
      </p:pic>
    </p:spTree>
    <p:extLst>
      <p:ext uri="{BB962C8B-B14F-4D97-AF65-F5344CB8AC3E}">
        <p14:creationId xmlns:p14="http://schemas.microsoft.com/office/powerpoint/2010/main" val="3275894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Syntax directed translation</a:t>
            </a:r>
            <a:endParaRPr lang="en-US" dirty="0"/>
          </a:p>
        </p:txBody>
      </p:sp>
      <p:sp>
        <p:nvSpPr>
          <p:cNvPr id="5" name="Rectangle 3"/>
          <p:cNvSpPr>
            <a:spLocks noGrp="1" noChangeArrowheads="1"/>
          </p:cNvSpPr>
          <p:nvPr>
            <p:ph idx="1"/>
          </p:nvPr>
        </p:nvSpPr>
        <p:spPr>
          <a:xfrm>
            <a:off x="1228425" y="1737360"/>
            <a:ext cx="9796110" cy="4288120"/>
          </a:xfrm>
        </p:spPr>
        <p:txBody>
          <a:bodyPr>
            <a:normAutofit/>
          </a:bodyPr>
          <a:lstStyle/>
          <a:p>
            <a:pPr fontAlgn="base"/>
            <a:r>
              <a:rPr lang="en-US" sz="2600" b="1" dirty="0"/>
              <a:t>L-attributed SDT:</a:t>
            </a:r>
            <a:endParaRPr lang="en-US" sz="2600" dirty="0"/>
          </a:p>
          <a:p>
            <a:pPr lvl="1" fontAlgn="base"/>
            <a:r>
              <a:rPr lang="en-US" sz="2200" u="sng" dirty="0"/>
              <a:t>If an SDT uses both synthesized attributes and inherited attributes with a restriction that inherited attribute can inherit values from left siblings only, it is called as L-attributed SDT.</a:t>
            </a:r>
          </a:p>
          <a:p>
            <a:pPr lvl="1" fontAlgn="base"/>
            <a:r>
              <a:rPr lang="en-US" sz="2200" dirty="0"/>
              <a:t>Attributes in L-attributed SDTs are evaluated by </a:t>
            </a:r>
            <a:r>
              <a:rPr lang="en-US" sz="2200" b="1" dirty="0"/>
              <a:t>depth-first and left-to-right parsing </a:t>
            </a:r>
            <a:r>
              <a:rPr lang="en-US" sz="2200" dirty="0"/>
              <a:t>manner.</a:t>
            </a:r>
          </a:p>
          <a:p>
            <a:pPr lvl="1" fontAlgn="base"/>
            <a:r>
              <a:rPr lang="en-US" sz="2200" dirty="0"/>
              <a:t>Semantic actions are placed anywhere in RHS.</a:t>
            </a:r>
          </a:p>
          <a:p>
            <a:pPr marL="0" indent="0">
              <a:buNone/>
            </a:pPr>
            <a:endParaRPr lang="en-US" b="1" dirty="0">
              <a:cs typeface="Times" panose="02020603050405020304" pitchFamily="18" charset="0"/>
            </a:endParaRPr>
          </a:p>
        </p:txBody>
      </p:sp>
      <p:sp>
        <p:nvSpPr>
          <p:cNvPr id="7" name="Rectangle 6"/>
          <p:cNvSpPr/>
          <p:nvPr/>
        </p:nvSpPr>
        <p:spPr>
          <a:xfrm>
            <a:off x="1668086" y="4253452"/>
            <a:ext cx="8273935" cy="2000548"/>
          </a:xfrm>
          <a:prstGeom prst="rect">
            <a:avLst/>
          </a:prstGeom>
        </p:spPr>
        <p:txBody>
          <a:bodyPr wrap="square">
            <a:spAutoFit/>
          </a:bodyPr>
          <a:lstStyle/>
          <a:p>
            <a:r>
              <a:rPr lang="en-US" sz="2400" b="1" i="1" dirty="0"/>
              <a:t>S → ABC</a:t>
            </a:r>
            <a:endParaRPr lang="en-US" dirty="0"/>
          </a:p>
          <a:p>
            <a:pPr marL="285750" indent="-285750">
              <a:buFont typeface="Arial" panose="020B0604020202020204" pitchFamily="34" charset="0"/>
              <a:buChar char="•"/>
            </a:pPr>
            <a:r>
              <a:rPr lang="en-US" sz="2000" dirty="0"/>
              <a:t>S can take values from A, B, and C (synthesized). </a:t>
            </a:r>
          </a:p>
          <a:p>
            <a:pPr marL="285750" indent="-285750">
              <a:buFont typeface="Arial" panose="020B0604020202020204" pitchFamily="34" charset="0"/>
              <a:buChar char="•"/>
            </a:pPr>
            <a:r>
              <a:rPr lang="en-US" sz="2000" dirty="0"/>
              <a:t>A can take values from S only. </a:t>
            </a:r>
          </a:p>
          <a:p>
            <a:pPr marL="285750" indent="-285750">
              <a:buFont typeface="Arial" panose="020B0604020202020204" pitchFamily="34" charset="0"/>
              <a:buChar char="•"/>
            </a:pPr>
            <a:r>
              <a:rPr lang="en-US" sz="2000" dirty="0"/>
              <a:t>B can take values from S and A. </a:t>
            </a:r>
          </a:p>
          <a:p>
            <a:pPr marL="285750" indent="-285750">
              <a:buFont typeface="Arial" panose="020B0604020202020204" pitchFamily="34" charset="0"/>
              <a:buChar char="•"/>
            </a:pPr>
            <a:r>
              <a:rPr lang="en-US" sz="2000" dirty="0"/>
              <a:t>C can get values from S, A, and B. </a:t>
            </a:r>
          </a:p>
          <a:p>
            <a:pPr marL="285750" indent="-285750">
              <a:buFont typeface="Arial" panose="020B0604020202020204" pitchFamily="34" charset="0"/>
              <a:buChar char="•"/>
            </a:pPr>
            <a:r>
              <a:rPr lang="en-US" sz="2000" dirty="0"/>
              <a:t>No non-terminal can get values from the sibling to its right.</a:t>
            </a:r>
          </a:p>
        </p:txBody>
      </p:sp>
    </p:spTree>
    <p:extLst>
      <p:ext uri="{BB962C8B-B14F-4D97-AF65-F5344CB8AC3E}">
        <p14:creationId xmlns:p14="http://schemas.microsoft.com/office/powerpoint/2010/main" val="6041895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Syntax directed translation</a:t>
            </a:r>
            <a:endParaRPr lang="en-US" dirty="0"/>
          </a:p>
        </p:txBody>
      </p:sp>
      <p:pic>
        <p:nvPicPr>
          <p:cNvPr id="3" name="Picture 2"/>
          <p:cNvPicPr>
            <a:picLocks noChangeAspect="1"/>
          </p:cNvPicPr>
          <p:nvPr/>
        </p:nvPicPr>
        <p:blipFill rotWithShape="1">
          <a:blip r:embed="rId3"/>
          <a:srcRect t="14157"/>
          <a:stretch/>
        </p:blipFill>
        <p:spPr>
          <a:xfrm>
            <a:off x="1630592" y="2504191"/>
            <a:ext cx="6333000" cy="3430665"/>
          </a:xfrm>
          <a:prstGeom prst="rect">
            <a:avLst/>
          </a:prstGeom>
        </p:spPr>
      </p:pic>
      <p:sp>
        <p:nvSpPr>
          <p:cNvPr id="4" name="TextBox 3"/>
          <p:cNvSpPr txBox="1"/>
          <p:nvPr/>
        </p:nvSpPr>
        <p:spPr>
          <a:xfrm>
            <a:off x="1213658" y="1797610"/>
            <a:ext cx="9461742" cy="769441"/>
          </a:xfrm>
          <a:prstGeom prst="rect">
            <a:avLst/>
          </a:prstGeom>
          <a:noFill/>
        </p:spPr>
        <p:txBody>
          <a:bodyPr wrap="square" rtlCol="0">
            <a:spAutoFit/>
          </a:bodyPr>
          <a:lstStyle/>
          <a:p>
            <a:r>
              <a:rPr lang="en-US" sz="2200" dirty="0">
                <a:solidFill>
                  <a:srgbClr val="000000"/>
                </a:solidFill>
                <a:latin typeface="+mj-lt"/>
              </a:rPr>
              <a:t>We may conclude that if a definition is S-attributed, then it is also L-attributed as L-attributed definition encloses S-attributed definitions.</a:t>
            </a:r>
            <a:endParaRPr lang="en-US" sz="2200" dirty="0">
              <a:latin typeface="+mj-lt"/>
            </a:endParaRPr>
          </a:p>
        </p:txBody>
      </p:sp>
    </p:spTree>
    <p:extLst>
      <p:ext uri="{BB962C8B-B14F-4D97-AF65-F5344CB8AC3E}">
        <p14:creationId xmlns:p14="http://schemas.microsoft.com/office/powerpoint/2010/main" val="1787113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US" sz="6600" dirty="0"/>
              <a:t>Semantic Analysis</a:t>
            </a:r>
          </a:p>
        </p:txBody>
      </p:sp>
      <p:sp>
        <p:nvSpPr>
          <p:cNvPr id="5" name="Subtitle 4"/>
          <p:cNvSpPr>
            <a:spLocks noGrp="1"/>
          </p:cNvSpPr>
          <p:nvPr>
            <p:ph type="subTitle" idx="1"/>
          </p:nvPr>
        </p:nvSpPr>
        <p:spPr/>
        <p:txBody>
          <a:bodyPr/>
          <a:lstStyle/>
          <a:p>
            <a:r>
              <a:rPr lang="en-US" dirty="0"/>
              <a:t>Type Checking and Symbol table</a:t>
            </a:r>
          </a:p>
        </p:txBody>
      </p:sp>
    </p:spTree>
    <p:extLst>
      <p:ext uri="{BB962C8B-B14F-4D97-AF65-F5344CB8AC3E}">
        <p14:creationId xmlns:p14="http://schemas.microsoft.com/office/powerpoint/2010/main" val="2012243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Incorrect Programs</a:t>
            </a:r>
            <a:endParaRPr lang="en-US" sz="4000" dirty="0"/>
          </a:p>
        </p:txBody>
      </p:sp>
      <p:sp>
        <p:nvSpPr>
          <p:cNvPr id="4" name="Content Placeholder 3"/>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1097280" y="1845734"/>
            <a:ext cx="6962775" cy="4391025"/>
          </a:xfrm>
          <a:prstGeom prst="rect">
            <a:avLst/>
          </a:prstGeom>
        </p:spPr>
      </p:pic>
    </p:spTree>
    <p:extLst>
      <p:ext uri="{BB962C8B-B14F-4D97-AF65-F5344CB8AC3E}">
        <p14:creationId xmlns:p14="http://schemas.microsoft.com/office/powerpoint/2010/main" val="2477456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05822" y="1805294"/>
            <a:ext cx="7296150" cy="4486275"/>
          </a:xfrm>
          <a:prstGeom prst="rect">
            <a:avLst/>
          </a:prstGeom>
        </p:spPr>
      </p:pic>
      <p:sp>
        <p:nvSpPr>
          <p:cNvPr id="38" name="Title 1"/>
          <p:cNvSpPr>
            <a:spLocks noGrp="1"/>
          </p:cNvSpPr>
          <p:nvPr>
            <p:ph type="title"/>
          </p:nvPr>
        </p:nvSpPr>
        <p:spPr>
          <a:xfrm>
            <a:off x="1097280" y="286603"/>
            <a:ext cx="10058400" cy="1450757"/>
          </a:xfrm>
        </p:spPr>
        <p:txBody>
          <a:bodyPr>
            <a:normAutofit/>
          </a:bodyPr>
          <a:lstStyle/>
          <a:p>
            <a:r>
              <a:rPr lang="en-US" sz="4000" cap="small" spc="0" dirty="0">
                <a:solidFill>
                  <a:srgbClr val="575F6D"/>
                </a:solidFill>
                <a:latin typeface="Century Schoolbook"/>
              </a:rPr>
              <a:t>Goals of semantic analysis</a:t>
            </a:r>
            <a:endParaRPr lang="en-US" sz="4000" dirty="0"/>
          </a:p>
        </p:txBody>
      </p:sp>
    </p:spTree>
    <p:extLst>
      <p:ext uri="{BB962C8B-B14F-4D97-AF65-F5344CB8AC3E}">
        <p14:creationId xmlns:p14="http://schemas.microsoft.com/office/powerpoint/2010/main" val="3587718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Type Information</a:t>
            </a:r>
            <a:endParaRPr lang="en-US" dirty="0"/>
          </a:p>
        </p:txBody>
      </p:sp>
      <p:pic>
        <p:nvPicPr>
          <p:cNvPr id="3" name="Picture 2"/>
          <p:cNvPicPr>
            <a:picLocks noChangeAspect="1"/>
          </p:cNvPicPr>
          <p:nvPr/>
        </p:nvPicPr>
        <p:blipFill>
          <a:blip r:embed="rId2"/>
          <a:stretch>
            <a:fillRect/>
          </a:stretch>
        </p:blipFill>
        <p:spPr>
          <a:xfrm>
            <a:off x="1261602" y="1923742"/>
            <a:ext cx="7190942" cy="3754387"/>
          </a:xfrm>
          <a:prstGeom prst="rect">
            <a:avLst/>
          </a:prstGeom>
        </p:spPr>
      </p:pic>
    </p:spTree>
    <p:extLst>
      <p:ext uri="{BB962C8B-B14F-4D97-AF65-F5344CB8AC3E}">
        <p14:creationId xmlns:p14="http://schemas.microsoft.com/office/powerpoint/2010/main" val="4115135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Type checking</a:t>
            </a:r>
            <a:endParaRPr lang="en-US" dirty="0"/>
          </a:p>
        </p:txBody>
      </p:sp>
      <p:pic>
        <p:nvPicPr>
          <p:cNvPr id="4" name="Picture 3"/>
          <p:cNvPicPr>
            <a:picLocks noChangeAspect="1"/>
          </p:cNvPicPr>
          <p:nvPr/>
        </p:nvPicPr>
        <p:blipFill>
          <a:blip r:embed="rId2"/>
          <a:stretch>
            <a:fillRect/>
          </a:stretch>
        </p:blipFill>
        <p:spPr>
          <a:xfrm>
            <a:off x="1196410" y="1863425"/>
            <a:ext cx="7535466" cy="3242596"/>
          </a:xfrm>
          <a:prstGeom prst="rect">
            <a:avLst/>
          </a:prstGeom>
        </p:spPr>
      </p:pic>
    </p:spTree>
    <p:extLst>
      <p:ext uri="{BB962C8B-B14F-4D97-AF65-F5344CB8AC3E}">
        <p14:creationId xmlns:p14="http://schemas.microsoft.com/office/powerpoint/2010/main" val="11225684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Type checking</a:t>
            </a:r>
            <a:endParaRPr lang="en-US" dirty="0"/>
          </a:p>
        </p:txBody>
      </p:sp>
      <p:pic>
        <p:nvPicPr>
          <p:cNvPr id="3" name="Picture 2"/>
          <p:cNvPicPr>
            <a:picLocks noChangeAspect="1"/>
          </p:cNvPicPr>
          <p:nvPr/>
        </p:nvPicPr>
        <p:blipFill>
          <a:blip r:embed="rId2"/>
          <a:stretch>
            <a:fillRect/>
          </a:stretch>
        </p:blipFill>
        <p:spPr>
          <a:xfrm>
            <a:off x="1097280" y="1923896"/>
            <a:ext cx="8163405" cy="3827975"/>
          </a:xfrm>
          <a:prstGeom prst="rect">
            <a:avLst/>
          </a:prstGeom>
        </p:spPr>
      </p:pic>
    </p:spTree>
    <p:extLst>
      <p:ext uri="{BB962C8B-B14F-4D97-AF65-F5344CB8AC3E}">
        <p14:creationId xmlns:p14="http://schemas.microsoft.com/office/powerpoint/2010/main" val="38808520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Scope information</a:t>
            </a:r>
            <a:endParaRPr lang="en-US" dirty="0"/>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3"/>
          <a:stretch>
            <a:fillRect/>
          </a:stretch>
        </p:blipFill>
        <p:spPr>
          <a:xfrm>
            <a:off x="1208443" y="1845734"/>
            <a:ext cx="7391400" cy="4333875"/>
          </a:xfrm>
          <a:prstGeom prst="rect">
            <a:avLst/>
          </a:prstGeom>
        </p:spPr>
      </p:pic>
    </p:spTree>
    <p:extLst>
      <p:ext uri="{BB962C8B-B14F-4D97-AF65-F5344CB8AC3E}">
        <p14:creationId xmlns:p14="http://schemas.microsoft.com/office/powerpoint/2010/main" val="8792194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Scope information</a:t>
            </a:r>
            <a:endParaRPr lang="en-US" dirty="0"/>
          </a:p>
        </p:txBody>
      </p:sp>
      <p:pic>
        <p:nvPicPr>
          <p:cNvPr id="3" name="Picture 2"/>
          <p:cNvPicPr>
            <a:picLocks noChangeAspect="1"/>
          </p:cNvPicPr>
          <p:nvPr/>
        </p:nvPicPr>
        <p:blipFill>
          <a:blip r:embed="rId3"/>
          <a:stretch>
            <a:fillRect/>
          </a:stretch>
        </p:blipFill>
        <p:spPr>
          <a:xfrm>
            <a:off x="1097279" y="1922513"/>
            <a:ext cx="7014333" cy="4336496"/>
          </a:xfrm>
          <a:prstGeom prst="rect">
            <a:avLst/>
          </a:prstGeom>
        </p:spPr>
      </p:pic>
    </p:spTree>
    <p:extLst>
      <p:ext uri="{BB962C8B-B14F-4D97-AF65-F5344CB8AC3E}">
        <p14:creationId xmlns:p14="http://schemas.microsoft.com/office/powerpoint/2010/main" val="2940279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Scope information</a:t>
            </a:r>
            <a:endParaRPr lang="en-US" dirty="0"/>
          </a:p>
        </p:txBody>
      </p:sp>
      <p:pic>
        <p:nvPicPr>
          <p:cNvPr id="5" name="Picture 4"/>
          <p:cNvPicPr>
            <a:picLocks noChangeAspect="1"/>
          </p:cNvPicPr>
          <p:nvPr/>
        </p:nvPicPr>
        <p:blipFill>
          <a:blip r:embed="rId3"/>
          <a:stretch>
            <a:fillRect/>
          </a:stretch>
        </p:blipFill>
        <p:spPr>
          <a:xfrm>
            <a:off x="1475453" y="1952010"/>
            <a:ext cx="6709902" cy="4307836"/>
          </a:xfrm>
          <a:prstGeom prst="rect">
            <a:avLst/>
          </a:prstGeom>
        </p:spPr>
      </p:pic>
    </p:spTree>
    <p:extLst>
      <p:ext uri="{BB962C8B-B14F-4D97-AF65-F5344CB8AC3E}">
        <p14:creationId xmlns:p14="http://schemas.microsoft.com/office/powerpoint/2010/main" val="28436616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Scope information</a:t>
            </a:r>
            <a:endParaRPr lang="en-US" dirty="0"/>
          </a:p>
        </p:txBody>
      </p:sp>
      <p:pic>
        <p:nvPicPr>
          <p:cNvPr id="3" name="Picture 2"/>
          <p:cNvPicPr>
            <a:picLocks noChangeAspect="1"/>
          </p:cNvPicPr>
          <p:nvPr/>
        </p:nvPicPr>
        <p:blipFill>
          <a:blip r:embed="rId3"/>
          <a:stretch>
            <a:fillRect/>
          </a:stretch>
        </p:blipFill>
        <p:spPr>
          <a:xfrm>
            <a:off x="1202147" y="1927736"/>
            <a:ext cx="7006746" cy="4237089"/>
          </a:xfrm>
          <a:prstGeom prst="rect">
            <a:avLst/>
          </a:prstGeom>
        </p:spPr>
      </p:pic>
    </p:spTree>
    <p:extLst>
      <p:ext uri="{BB962C8B-B14F-4D97-AF65-F5344CB8AC3E}">
        <p14:creationId xmlns:p14="http://schemas.microsoft.com/office/powerpoint/2010/main" val="14327836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Semantic rules for Scope</a:t>
            </a:r>
            <a:endParaRPr lang="en-US" dirty="0"/>
          </a:p>
        </p:txBody>
      </p:sp>
      <p:pic>
        <p:nvPicPr>
          <p:cNvPr id="4" name="Picture 3"/>
          <p:cNvPicPr>
            <a:picLocks noChangeAspect="1"/>
          </p:cNvPicPr>
          <p:nvPr/>
        </p:nvPicPr>
        <p:blipFill>
          <a:blip r:embed="rId3"/>
          <a:stretch>
            <a:fillRect/>
          </a:stretch>
        </p:blipFill>
        <p:spPr>
          <a:xfrm>
            <a:off x="1097279" y="1977205"/>
            <a:ext cx="7701365" cy="1488666"/>
          </a:xfrm>
          <a:prstGeom prst="rect">
            <a:avLst/>
          </a:prstGeom>
        </p:spPr>
      </p:pic>
    </p:spTree>
    <p:extLst>
      <p:ext uri="{BB962C8B-B14F-4D97-AF65-F5344CB8AC3E}">
        <p14:creationId xmlns:p14="http://schemas.microsoft.com/office/powerpoint/2010/main" val="22395543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Symbol tables</a:t>
            </a:r>
            <a:endParaRPr lang="en-US" dirty="0"/>
          </a:p>
        </p:txBody>
      </p:sp>
      <p:pic>
        <p:nvPicPr>
          <p:cNvPr id="3" name="Picture 2"/>
          <p:cNvPicPr>
            <a:picLocks noChangeAspect="1"/>
          </p:cNvPicPr>
          <p:nvPr/>
        </p:nvPicPr>
        <p:blipFill rotWithShape="1">
          <a:blip r:embed="rId3"/>
          <a:srcRect b="39614"/>
          <a:stretch/>
        </p:blipFill>
        <p:spPr>
          <a:xfrm>
            <a:off x="1097280" y="1880112"/>
            <a:ext cx="7286625" cy="2565279"/>
          </a:xfrm>
          <a:prstGeom prst="rect">
            <a:avLst/>
          </a:prstGeom>
        </p:spPr>
      </p:pic>
      <p:pic>
        <p:nvPicPr>
          <p:cNvPr id="4" name="Picture 3"/>
          <p:cNvPicPr>
            <a:picLocks noChangeAspect="1"/>
          </p:cNvPicPr>
          <p:nvPr/>
        </p:nvPicPr>
        <p:blipFill>
          <a:blip r:embed="rId4"/>
          <a:stretch>
            <a:fillRect/>
          </a:stretch>
        </p:blipFill>
        <p:spPr>
          <a:xfrm>
            <a:off x="2579110" y="4733059"/>
            <a:ext cx="5343525" cy="800100"/>
          </a:xfrm>
          <a:prstGeom prst="rect">
            <a:avLst/>
          </a:prstGeom>
        </p:spPr>
      </p:pic>
    </p:spTree>
    <p:extLst>
      <p:ext uri="{BB962C8B-B14F-4D97-AF65-F5344CB8AC3E}">
        <p14:creationId xmlns:p14="http://schemas.microsoft.com/office/powerpoint/2010/main" val="23254065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Symbol tables</a:t>
            </a:r>
            <a:endParaRPr lang="en-US" dirty="0"/>
          </a:p>
        </p:txBody>
      </p:sp>
      <p:sp>
        <p:nvSpPr>
          <p:cNvPr id="5" name="TextBox 4"/>
          <p:cNvSpPr txBox="1"/>
          <p:nvPr/>
        </p:nvSpPr>
        <p:spPr>
          <a:xfrm>
            <a:off x="1205345" y="1856508"/>
            <a:ext cx="10155382" cy="3816429"/>
          </a:xfrm>
          <a:prstGeom prst="rect">
            <a:avLst/>
          </a:prstGeom>
          <a:noFill/>
        </p:spPr>
        <p:txBody>
          <a:bodyPr wrap="square" rtlCol="0">
            <a:spAutoFit/>
          </a:bodyPr>
          <a:lstStyle/>
          <a:p>
            <a:r>
              <a:rPr lang="en-US" sz="2200" dirty="0"/>
              <a:t>A symbol table is simply a table which can be either linear or a hash table.</a:t>
            </a:r>
          </a:p>
          <a:p>
            <a:r>
              <a:rPr lang="en-US" sz="2200" dirty="0"/>
              <a:t> It maintains an entry for each name in the following format:</a:t>
            </a:r>
          </a:p>
          <a:p>
            <a:endParaRPr lang="en-US" sz="2200" dirty="0"/>
          </a:p>
          <a:p>
            <a:r>
              <a:rPr lang="en-US" sz="2200" dirty="0"/>
              <a:t>&lt;</a:t>
            </a:r>
            <a:r>
              <a:rPr lang="en-US" sz="2200" dirty="0">
                <a:solidFill>
                  <a:srgbClr val="0070C0"/>
                </a:solidFill>
              </a:rPr>
              <a:t>symbol</a:t>
            </a:r>
            <a:r>
              <a:rPr lang="en-US" sz="2200" dirty="0"/>
              <a:t> </a:t>
            </a:r>
            <a:r>
              <a:rPr lang="en-US" sz="2200" dirty="0">
                <a:solidFill>
                  <a:schemeClr val="accent2"/>
                </a:solidFill>
              </a:rPr>
              <a:t>name,  type,  attribute</a:t>
            </a:r>
            <a:r>
              <a:rPr lang="en-US" sz="2200" dirty="0"/>
              <a:t>&gt;</a:t>
            </a:r>
          </a:p>
          <a:p>
            <a:endParaRPr lang="en-US" sz="2200" dirty="0"/>
          </a:p>
          <a:p>
            <a:r>
              <a:rPr lang="en-US" sz="2200" dirty="0"/>
              <a:t>For example, if a symbol table has to store information about the following variable declaration:</a:t>
            </a:r>
          </a:p>
          <a:p>
            <a:r>
              <a:rPr lang="en-US" sz="2200" dirty="0">
                <a:solidFill>
                  <a:srgbClr val="0070C0"/>
                </a:solidFill>
              </a:rPr>
              <a:t>		static </a:t>
            </a:r>
            <a:r>
              <a:rPr lang="en-US" sz="2200" dirty="0" err="1">
                <a:solidFill>
                  <a:srgbClr val="0070C0"/>
                </a:solidFill>
              </a:rPr>
              <a:t>int</a:t>
            </a:r>
            <a:r>
              <a:rPr lang="en-US" sz="2200" dirty="0">
                <a:solidFill>
                  <a:srgbClr val="0070C0"/>
                </a:solidFill>
              </a:rPr>
              <a:t> </a:t>
            </a:r>
            <a:r>
              <a:rPr lang="en-US" sz="2200" dirty="0"/>
              <a:t>interest;</a:t>
            </a:r>
          </a:p>
          <a:p>
            <a:r>
              <a:rPr lang="en-US" sz="2200" dirty="0"/>
              <a:t>then it should store the entry such as:</a:t>
            </a:r>
          </a:p>
          <a:p>
            <a:r>
              <a:rPr lang="en-US" sz="2200" dirty="0"/>
              <a:t>		&lt;</a:t>
            </a:r>
            <a:r>
              <a:rPr lang="en-US" sz="2200" dirty="0">
                <a:solidFill>
                  <a:srgbClr val="0070C0"/>
                </a:solidFill>
              </a:rPr>
              <a:t>interest</a:t>
            </a:r>
            <a:r>
              <a:rPr lang="en-US" sz="2200" dirty="0"/>
              <a:t>, </a:t>
            </a:r>
            <a:r>
              <a:rPr lang="en-US" sz="2200" dirty="0" err="1">
                <a:solidFill>
                  <a:schemeClr val="accent2"/>
                </a:solidFill>
              </a:rPr>
              <a:t>int</a:t>
            </a:r>
            <a:r>
              <a:rPr lang="en-US" sz="2200" dirty="0">
                <a:solidFill>
                  <a:schemeClr val="accent2"/>
                </a:solidFill>
              </a:rPr>
              <a:t>, static</a:t>
            </a:r>
            <a:r>
              <a:rPr lang="en-US" sz="2200" dirty="0"/>
              <a:t>&gt;</a:t>
            </a:r>
          </a:p>
          <a:p>
            <a:r>
              <a:rPr lang="en-US" sz="2200" dirty="0"/>
              <a:t>The attribute clause contains the entries related to the name</a:t>
            </a:r>
          </a:p>
        </p:txBody>
      </p:sp>
    </p:spTree>
    <p:extLst>
      <p:ext uri="{BB962C8B-B14F-4D97-AF65-F5344CB8AC3E}">
        <p14:creationId xmlns:p14="http://schemas.microsoft.com/office/powerpoint/2010/main" val="36483160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Symbol tables</a:t>
            </a:r>
            <a:endParaRPr lang="en-US" dirty="0"/>
          </a:p>
        </p:txBody>
      </p:sp>
      <p:sp>
        <p:nvSpPr>
          <p:cNvPr id="5" name="TextBox 4"/>
          <p:cNvSpPr txBox="1"/>
          <p:nvPr/>
        </p:nvSpPr>
        <p:spPr>
          <a:xfrm>
            <a:off x="1205345" y="1856508"/>
            <a:ext cx="10155382" cy="4431983"/>
          </a:xfrm>
          <a:prstGeom prst="rect">
            <a:avLst/>
          </a:prstGeom>
          <a:noFill/>
        </p:spPr>
        <p:txBody>
          <a:bodyPr wrap="square" rtlCol="0">
            <a:spAutoFit/>
          </a:bodyPr>
          <a:lstStyle/>
          <a:p>
            <a:r>
              <a:rPr lang="en-US" sz="2200" dirty="0"/>
              <a:t>An important data structure created and maintained by the compiler in order to keep track of semantics of variables i.e. it stores information about the scope and binding information about names, information about instances of various entities such as variable and function names, classes, objects, etc.</a:t>
            </a:r>
          </a:p>
          <a:p>
            <a:endParaRPr lang="en-US" sz="2200" dirty="0"/>
          </a:p>
          <a:p>
            <a:r>
              <a:rPr lang="en-US" sz="2200" dirty="0"/>
              <a:t>A symbol table may serve the following purposes depending upon the language in hand:</a:t>
            </a:r>
          </a:p>
          <a:p>
            <a:pPr marL="742950" lvl="1" indent="-285750">
              <a:buFont typeface="Wingdings" panose="05000000000000000000" pitchFamily="2" charset="2"/>
              <a:buChar char="ü"/>
            </a:pPr>
            <a:r>
              <a:rPr lang="en-US" sz="2200" dirty="0"/>
              <a:t>To store the names of all entities in a structured form at one place.</a:t>
            </a:r>
          </a:p>
          <a:p>
            <a:pPr marL="742950" lvl="1" indent="-285750">
              <a:buFont typeface="Wingdings" panose="05000000000000000000" pitchFamily="2" charset="2"/>
              <a:buChar char="ü"/>
            </a:pPr>
            <a:r>
              <a:rPr lang="en-US" sz="2200" dirty="0"/>
              <a:t>To verify if a variable has been declared.</a:t>
            </a:r>
          </a:p>
          <a:p>
            <a:pPr marL="742950" lvl="1" indent="-285750">
              <a:buFont typeface="Wingdings" panose="05000000000000000000" pitchFamily="2" charset="2"/>
              <a:buChar char="ü"/>
            </a:pPr>
            <a:r>
              <a:rPr lang="en-US" sz="2200" dirty="0"/>
              <a:t>To implement type checking, by verifying assignments and expressions in the source code are semantically correct.</a:t>
            </a:r>
          </a:p>
          <a:p>
            <a:pPr marL="742950" lvl="1" indent="-285750">
              <a:buFont typeface="Wingdings" panose="05000000000000000000" pitchFamily="2" charset="2"/>
              <a:buChar char="ü"/>
            </a:pPr>
            <a:r>
              <a:rPr lang="en-US" sz="2200" dirty="0"/>
              <a:t>To determine the scope of a name (scope resolution).</a:t>
            </a:r>
          </a:p>
          <a:p>
            <a:endParaRPr lang="en-US" dirty="0"/>
          </a:p>
        </p:txBody>
      </p:sp>
    </p:spTree>
    <p:extLst>
      <p:ext uri="{BB962C8B-B14F-4D97-AF65-F5344CB8AC3E}">
        <p14:creationId xmlns:p14="http://schemas.microsoft.com/office/powerpoint/2010/main" val="2672416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Symbol tables</a:t>
            </a:r>
            <a:endParaRPr lang="en-US" dirty="0"/>
          </a:p>
        </p:txBody>
      </p:sp>
      <p:sp>
        <p:nvSpPr>
          <p:cNvPr id="5" name="TextBox 4"/>
          <p:cNvSpPr txBox="1"/>
          <p:nvPr/>
        </p:nvSpPr>
        <p:spPr>
          <a:xfrm>
            <a:off x="1097280" y="1737360"/>
            <a:ext cx="9573491" cy="4985980"/>
          </a:xfrm>
          <a:prstGeom prst="rect">
            <a:avLst/>
          </a:prstGeom>
          <a:noFill/>
        </p:spPr>
        <p:txBody>
          <a:bodyPr wrap="square" rtlCol="0">
            <a:spAutoFit/>
          </a:bodyPr>
          <a:lstStyle/>
          <a:p>
            <a:pPr fontAlgn="base"/>
            <a:r>
              <a:rPr lang="en-US" sz="2000" dirty="0">
                <a:solidFill>
                  <a:srgbClr val="273239"/>
                </a:solidFill>
              </a:rPr>
              <a:t>It is used by various phases of the compiler as follows:- </a:t>
            </a:r>
          </a:p>
          <a:p>
            <a:pPr marL="800100" lvl="1" indent="-342900" fontAlgn="base">
              <a:buFont typeface="+mj-lt"/>
              <a:buAutoNum type="arabicPeriod"/>
            </a:pPr>
            <a:r>
              <a:rPr lang="en-US" sz="2000" b="1" dirty="0">
                <a:solidFill>
                  <a:srgbClr val="273239"/>
                </a:solidFill>
              </a:rPr>
              <a:t>Lexical Analysis:</a:t>
            </a:r>
            <a:r>
              <a:rPr lang="en-US" sz="2000" dirty="0">
                <a:solidFill>
                  <a:srgbClr val="273239"/>
                </a:solidFill>
              </a:rPr>
              <a:t> Creates new table entries in the table, for example like entries about tokens.</a:t>
            </a:r>
          </a:p>
          <a:p>
            <a:pPr marL="800100" lvl="1" indent="-342900" fontAlgn="base">
              <a:buFont typeface="+mj-lt"/>
              <a:buAutoNum type="arabicPeriod"/>
            </a:pPr>
            <a:r>
              <a:rPr lang="en-US" sz="2000" b="1" dirty="0">
                <a:solidFill>
                  <a:srgbClr val="273239"/>
                </a:solidFill>
              </a:rPr>
              <a:t>Syntax Analysis:</a:t>
            </a:r>
            <a:r>
              <a:rPr lang="en-US" sz="2000" dirty="0">
                <a:solidFill>
                  <a:srgbClr val="273239"/>
                </a:solidFill>
              </a:rPr>
              <a:t> Adds information regarding attribute type, scope, dimension, line of reference, use, </a:t>
            </a:r>
            <a:r>
              <a:rPr lang="en-US" sz="2000" dirty="0" err="1">
                <a:solidFill>
                  <a:srgbClr val="273239"/>
                </a:solidFill>
              </a:rPr>
              <a:t>etc</a:t>
            </a:r>
            <a:r>
              <a:rPr lang="en-US" sz="2000" dirty="0">
                <a:solidFill>
                  <a:srgbClr val="273239"/>
                </a:solidFill>
              </a:rPr>
              <a:t> in the table.</a:t>
            </a:r>
          </a:p>
          <a:p>
            <a:pPr marL="800100" lvl="1" indent="-342900" fontAlgn="base">
              <a:buFont typeface="+mj-lt"/>
              <a:buAutoNum type="arabicPeriod"/>
            </a:pPr>
            <a:r>
              <a:rPr lang="en-US" sz="2000" b="1" dirty="0">
                <a:solidFill>
                  <a:srgbClr val="273239"/>
                </a:solidFill>
              </a:rPr>
              <a:t>Semantic Analysis:</a:t>
            </a:r>
            <a:r>
              <a:rPr lang="en-US" sz="2000" dirty="0">
                <a:solidFill>
                  <a:srgbClr val="273239"/>
                </a:solidFill>
              </a:rPr>
              <a:t> Uses available information in the table to check for semantics i.e. to verify that expressions and assignments are semantically correct(type checking) and update it accordingly.</a:t>
            </a:r>
          </a:p>
          <a:p>
            <a:pPr marL="800100" lvl="1" indent="-342900" fontAlgn="base">
              <a:buFont typeface="+mj-lt"/>
              <a:buAutoNum type="arabicPeriod"/>
            </a:pPr>
            <a:r>
              <a:rPr lang="en-US" sz="2000" b="1" dirty="0">
                <a:solidFill>
                  <a:srgbClr val="273239"/>
                </a:solidFill>
              </a:rPr>
              <a:t>Intermediate Code generation:</a:t>
            </a:r>
            <a:r>
              <a:rPr lang="en-US" sz="2000" dirty="0">
                <a:solidFill>
                  <a:srgbClr val="273239"/>
                </a:solidFill>
              </a:rPr>
              <a:t> Refers symbol table for knowing how much and what type of run-time is allocated and table helps in adding temporary variable information.</a:t>
            </a:r>
          </a:p>
          <a:p>
            <a:pPr marL="800100" lvl="1" indent="-342900" fontAlgn="base">
              <a:buFont typeface="+mj-lt"/>
              <a:buAutoNum type="arabicPeriod"/>
            </a:pPr>
            <a:r>
              <a:rPr lang="en-US" sz="2000" b="1" dirty="0">
                <a:solidFill>
                  <a:srgbClr val="273239"/>
                </a:solidFill>
              </a:rPr>
              <a:t>Code Optimization:</a:t>
            </a:r>
            <a:r>
              <a:rPr lang="en-US" sz="2000" dirty="0">
                <a:solidFill>
                  <a:srgbClr val="273239"/>
                </a:solidFill>
              </a:rPr>
              <a:t> Uses information present in the symbol table for machine-dependent optimization.</a:t>
            </a:r>
          </a:p>
          <a:p>
            <a:pPr marL="800100" lvl="1" indent="-342900" fontAlgn="base">
              <a:buFont typeface="+mj-lt"/>
              <a:buAutoNum type="arabicPeriod"/>
            </a:pPr>
            <a:r>
              <a:rPr lang="en-US" sz="2000" b="1" dirty="0">
                <a:solidFill>
                  <a:srgbClr val="273239"/>
                </a:solidFill>
              </a:rPr>
              <a:t>Target Code generation:</a:t>
            </a:r>
            <a:r>
              <a:rPr lang="en-US" sz="2000" dirty="0">
                <a:solidFill>
                  <a:srgbClr val="273239"/>
                </a:solidFill>
              </a:rPr>
              <a:t> Generates code by using address information of identifier present in the table.</a:t>
            </a:r>
          </a:p>
          <a:p>
            <a:endParaRPr lang="en-US" dirty="0"/>
          </a:p>
        </p:txBody>
      </p:sp>
    </p:spTree>
    <p:extLst>
      <p:ext uri="{BB962C8B-B14F-4D97-AF65-F5344CB8AC3E}">
        <p14:creationId xmlns:p14="http://schemas.microsoft.com/office/powerpoint/2010/main" val="7811378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Scope Information in symbol table</a:t>
            </a:r>
            <a:endParaRPr lang="en-US" sz="4000" dirty="0"/>
          </a:p>
        </p:txBody>
      </p:sp>
      <p:pic>
        <p:nvPicPr>
          <p:cNvPr id="4" name="Picture 3"/>
          <p:cNvPicPr>
            <a:picLocks noChangeAspect="1"/>
          </p:cNvPicPr>
          <p:nvPr/>
        </p:nvPicPr>
        <p:blipFill>
          <a:blip r:embed="rId3"/>
          <a:stretch>
            <a:fillRect/>
          </a:stretch>
        </p:blipFill>
        <p:spPr>
          <a:xfrm>
            <a:off x="1097280" y="1982122"/>
            <a:ext cx="5940829" cy="3211686"/>
          </a:xfrm>
          <a:prstGeom prst="rect">
            <a:avLst/>
          </a:prstGeom>
        </p:spPr>
      </p:pic>
    </p:spTree>
    <p:extLst>
      <p:ext uri="{BB962C8B-B14F-4D97-AF65-F5344CB8AC3E}">
        <p14:creationId xmlns:p14="http://schemas.microsoft.com/office/powerpoint/2010/main" val="27478153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Scope Information in symbol table</a:t>
            </a:r>
            <a:endParaRPr lang="en-US" sz="4000" dirty="0"/>
          </a:p>
        </p:txBody>
      </p:sp>
      <p:sp>
        <p:nvSpPr>
          <p:cNvPr id="3" name="TextBox 2"/>
          <p:cNvSpPr txBox="1"/>
          <p:nvPr/>
        </p:nvSpPr>
        <p:spPr>
          <a:xfrm>
            <a:off x="1273630" y="1975757"/>
            <a:ext cx="9882050" cy="2123658"/>
          </a:xfrm>
          <a:prstGeom prst="rect">
            <a:avLst/>
          </a:prstGeom>
          <a:noFill/>
        </p:spPr>
        <p:txBody>
          <a:bodyPr wrap="square" rtlCol="0">
            <a:spAutoFit/>
          </a:bodyPr>
          <a:lstStyle/>
          <a:p>
            <a:r>
              <a:rPr lang="en-US" sz="2200" dirty="0"/>
              <a:t>A compiler maintains two types of symbol tables: </a:t>
            </a:r>
          </a:p>
          <a:p>
            <a:r>
              <a:rPr lang="en-US" sz="2200" dirty="0"/>
              <a:t>(1) </a:t>
            </a:r>
            <a:r>
              <a:rPr lang="en-US" sz="2200" b="1" dirty="0"/>
              <a:t>A global symbol table</a:t>
            </a:r>
            <a:r>
              <a:rPr lang="en-US" sz="2200" dirty="0"/>
              <a:t> which can be accessed by all the procedures and </a:t>
            </a:r>
          </a:p>
          <a:p>
            <a:r>
              <a:rPr lang="en-US" sz="2200" dirty="0"/>
              <a:t>(2) </a:t>
            </a:r>
            <a:r>
              <a:rPr lang="en-US" sz="2200" b="1" dirty="0"/>
              <a:t>Scope symbol tables</a:t>
            </a:r>
            <a:r>
              <a:rPr lang="en-US" sz="2200" dirty="0"/>
              <a:t> that are created for each scope in the program.</a:t>
            </a:r>
          </a:p>
          <a:p>
            <a:endParaRPr lang="en-US" sz="2200" dirty="0"/>
          </a:p>
          <a:p>
            <a:r>
              <a:rPr lang="en-US" sz="2200" dirty="0"/>
              <a:t>To determine the scope of a name, symbol tables are arranged in hierarchical structure as shown in the example below:</a:t>
            </a:r>
          </a:p>
        </p:txBody>
      </p:sp>
    </p:spTree>
    <p:extLst>
      <p:ext uri="{BB962C8B-B14F-4D97-AF65-F5344CB8AC3E}">
        <p14:creationId xmlns:p14="http://schemas.microsoft.com/office/powerpoint/2010/main" val="9270036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cap="small" spc="0" dirty="0">
                <a:solidFill>
                  <a:srgbClr val="575F6D"/>
                </a:solidFill>
                <a:latin typeface="Century Schoolbook"/>
              </a:rPr>
              <a:t>Scope Information in symbol table</a:t>
            </a:r>
            <a:endParaRPr lang="en-US" sz="4400" dirty="0"/>
          </a:p>
        </p:txBody>
      </p:sp>
      <p:sp>
        <p:nvSpPr>
          <p:cNvPr id="3" name="TextBox 2"/>
          <p:cNvSpPr txBox="1"/>
          <p:nvPr/>
        </p:nvSpPr>
        <p:spPr>
          <a:xfrm>
            <a:off x="1273630" y="1975757"/>
            <a:ext cx="9882050" cy="369332"/>
          </a:xfrm>
          <a:prstGeom prst="rect">
            <a:avLst/>
          </a:prstGeom>
          <a:noFill/>
        </p:spPr>
        <p:txBody>
          <a:bodyPr wrap="square" rtlCol="0">
            <a:spAutoFit/>
          </a:bodyPr>
          <a:lstStyle/>
          <a:p>
            <a:r>
              <a:rPr lang="en-US" dirty="0"/>
              <a:t>The following is the scope nesting mirrored hierarchy of symbol tables:</a:t>
            </a:r>
            <a:endParaRPr lang="en-US" sz="2200" dirty="0"/>
          </a:p>
        </p:txBody>
      </p:sp>
      <p:pic>
        <p:nvPicPr>
          <p:cNvPr id="4" name="Picture 3"/>
          <p:cNvPicPr>
            <a:picLocks noChangeAspect="1"/>
          </p:cNvPicPr>
          <p:nvPr/>
        </p:nvPicPr>
        <p:blipFill>
          <a:blip r:embed="rId3"/>
          <a:stretch>
            <a:fillRect/>
          </a:stretch>
        </p:blipFill>
        <p:spPr>
          <a:xfrm>
            <a:off x="2325832" y="2469780"/>
            <a:ext cx="5017077" cy="3633335"/>
          </a:xfrm>
          <a:prstGeom prst="rect">
            <a:avLst/>
          </a:prstGeom>
          <a:ln>
            <a:solidFill>
              <a:schemeClr val="tx1"/>
            </a:solidFill>
          </a:ln>
        </p:spPr>
      </p:pic>
    </p:spTree>
    <p:extLst>
      <p:ext uri="{BB962C8B-B14F-4D97-AF65-F5344CB8AC3E}">
        <p14:creationId xmlns:p14="http://schemas.microsoft.com/office/powerpoint/2010/main" val="16119658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Example-1</a:t>
            </a:r>
            <a:endParaRPr lang="en-US" dirty="0"/>
          </a:p>
        </p:txBody>
      </p:sp>
      <p:pic>
        <p:nvPicPr>
          <p:cNvPr id="4" name="Picture 3"/>
          <p:cNvPicPr>
            <a:picLocks noChangeAspect="1"/>
          </p:cNvPicPr>
          <p:nvPr/>
        </p:nvPicPr>
        <p:blipFill rotWithShape="1">
          <a:blip r:embed="rId3"/>
          <a:srcRect b="33068"/>
          <a:stretch/>
        </p:blipFill>
        <p:spPr>
          <a:xfrm>
            <a:off x="2090478" y="1946129"/>
            <a:ext cx="6984249" cy="4259176"/>
          </a:xfrm>
          <a:prstGeom prst="rect">
            <a:avLst/>
          </a:prstGeom>
          <a:ln>
            <a:solidFill>
              <a:schemeClr val="accent2"/>
            </a:solidFill>
          </a:ln>
        </p:spPr>
      </p:pic>
    </p:spTree>
    <p:extLst>
      <p:ext uri="{BB962C8B-B14F-4D97-AF65-F5344CB8AC3E}">
        <p14:creationId xmlns:p14="http://schemas.microsoft.com/office/powerpoint/2010/main" val="14838368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Example-1</a:t>
            </a:r>
            <a:endParaRPr lang="en-US" dirty="0"/>
          </a:p>
        </p:txBody>
      </p:sp>
      <p:pic>
        <p:nvPicPr>
          <p:cNvPr id="9" name="Picture 8"/>
          <p:cNvPicPr>
            <a:picLocks noChangeAspect="1"/>
          </p:cNvPicPr>
          <p:nvPr/>
        </p:nvPicPr>
        <p:blipFill>
          <a:blip r:embed="rId3"/>
          <a:stretch>
            <a:fillRect/>
          </a:stretch>
        </p:blipFill>
        <p:spPr>
          <a:xfrm>
            <a:off x="1402512" y="1965178"/>
            <a:ext cx="9870584" cy="3950711"/>
          </a:xfrm>
          <a:prstGeom prst="rect">
            <a:avLst/>
          </a:prstGeom>
          <a:ln>
            <a:solidFill>
              <a:schemeClr val="tx1"/>
            </a:solidFill>
          </a:ln>
        </p:spPr>
      </p:pic>
    </p:spTree>
    <p:extLst>
      <p:ext uri="{BB962C8B-B14F-4D97-AF65-F5344CB8AC3E}">
        <p14:creationId xmlns:p14="http://schemas.microsoft.com/office/powerpoint/2010/main" val="1844495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Example-2</a:t>
            </a:r>
            <a:endParaRPr lang="en-US" dirty="0"/>
          </a:p>
        </p:txBody>
      </p:sp>
      <p:pic>
        <p:nvPicPr>
          <p:cNvPr id="4" name="Picture 3"/>
          <p:cNvPicPr>
            <a:picLocks noChangeAspect="1"/>
          </p:cNvPicPr>
          <p:nvPr/>
        </p:nvPicPr>
        <p:blipFill>
          <a:blip r:embed="rId3"/>
          <a:stretch>
            <a:fillRect/>
          </a:stretch>
        </p:blipFill>
        <p:spPr>
          <a:xfrm>
            <a:off x="1097280" y="1879599"/>
            <a:ext cx="4094692" cy="4491836"/>
          </a:xfrm>
          <a:prstGeom prst="rect">
            <a:avLst/>
          </a:prstGeom>
          <a:ln>
            <a:solidFill>
              <a:schemeClr val="tx1"/>
            </a:solidFill>
          </a:ln>
        </p:spPr>
      </p:pic>
      <p:sp>
        <p:nvSpPr>
          <p:cNvPr id="5" name="Rectangle 4"/>
          <p:cNvSpPr/>
          <p:nvPr/>
        </p:nvSpPr>
        <p:spPr>
          <a:xfrm>
            <a:off x="5359037" y="2035993"/>
            <a:ext cx="6096000" cy="646331"/>
          </a:xfrm>
          <a:prstGeom prst="rect">
            <a:avLst/>
          </a:prstGeom>
        </p:spPr>
        <p:txBody>
          <a:bodyPr>
            <a:spAutoFit/>
          </a:bodyPr>
          <a:lstStyle/>
          <a:p>
            <a:r>
              <a:rPr lang="en-US" dirty="0">
                <a:solidFill>
                  <a:srgbClr val="000000"/>
                </a:solidFill>
                <a:latin typeface="Arial" panose="020B0604020202020204" pitchFamily="34" charset="0"/>
              </a:rPr>
              <a:t>The above program can be represented in a hierarchical structure of symbol tables:</a:t>
            </a:r>
            <a:endParaRPr lang="en-US" dirty="0"/>
          </a:p>
        </p:txBody>
      </p:sp>
      <p:sp>
        <p:nvSpPr>
          <p:cNvPr id="6" name="Right Arrow 5"/>
          <p:cNvSpPr/>
          <p:nvPr/>
        </p:nvSpPr>
        <p:spPr>
          <a:xfrm>
            <a:off x="5359037" y="3902529"/>
            <a:ext cx="470263" cy="2229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4"/>
          <a:stretch>
            <a:fillRect/>
          </a:stretch>
        </p:blipFill>
        <p:spPr>
          <a:xfrm>
            <a:off x="5829300" y="2833007"/>
            <a:ext cx="6143625" cy="3314700"/>
          </a:xfrm>
          <a:prstGeom prst="rect">
            <a:avLst/>
          </a:prstGeom>
          <a:ln>
            <a:solidFill>
              <a:schemeClr val="tx1"/>
            </a:solidFill>
          </a:ln>
        </p:spPr>
      </p:pic>
    </p:spTree>
    <p:extLst>
      <p:ext uri="{BB962C8B-B14F-4D97-AF65-F5344CB8AC3E}">
        <p14:creationId xmlns:p14="http://schemas.microsoft.com/office/powerpoint/2010/main" val="37113219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Example-2</a:t>
            </a:r>
            <a:endParaRPr lang="en-US" dirty="0"/>
          </a:p>
        </p:txBody>
      </p:sp>
      <p:sp>
        <p:nvSpPr>
          <p:cNvPr id="3" name="TextBox 2"/>
          <p:cNvSpPr txBox="1"/>
          <p:nvPr/>
        </p:nvSpPr>
        <p:spPr>
          <a:xfrm>
            <a:off x="1097280" y="1737360"/>
            <a:ext cx="10678886" cy="4832092"/>
          </a:xfrm>
          <a:prstGeom prst="rect">
            <a:avLst/>
          </a:prstGeom>
          <a:noFill/>
        </p:spPr>
        <p:txBody>
          <a:bodyPr wrap="square" rtlCol="0">
            <a:spAutoFit/>
          </a:bodyPr>
          <a:lstStyle/>
          <a:p>
            <a:pPr marL="342900" indent="-342900">
              <a:buFont typeface="Wingdings" panose="05000000000000000000" pitchFamily="2" charset="2"/>
              <a:buChar char="§"/>
            </a:pPr>
            <a:r>
              <a:rPr lang="en-US" sz="2200" dirty="0"/>
              <a:t>The global symbol table contains names for one global variable (</a:t>
            </a:r>
            <a:r>
              <a:rPr lang="en-US" sz="2200" dirty="0" err="1"/>
              <a:t>int</a:t>
            </a:r>
            <a:r>
              <a:rPr lang="en-US" sz="2200" dirty="0"/>
              <a:t> value) and two procedure names, which should be available to all the child nodes shown above. </a:t>
            </a:r>
          </a:p>
          <a:p>
            <a:pPr marL="342900" indent="-342900">
              <a:buFont typeface="Wingdings" panose="05000000000000000000" pitchFamily="2" charset="2"/>
              <a:buChar char="§"/>
            </a:pPr>
            <a:r>
              <a:rPr lang="en-US" sz="2200" dirty="0"/>
              <a:t>The names mentioned in the </a:t>
            </a:r>
            <a:r>
              <a:rPr lang="en-US" sz="2200" dirty="0" err="1"/>
              <a:t>pro_one</a:t>
            </a:r>
            <a:r>
              <a:rPr lang="en-US" sz="2200" dirty="0"/>
              <a:t> symbol table (and all its child tables) are not available for </a:t>
            </a:r>
            <a:r>
              <a:rPr lang="en-US" sz="2200" dirty="0" err="1"/>
              <a:t>pro_two</a:t>
            </a:r>
            <a:r>
              <a:rPr lang="en-US" sz="2200" dirty="0"/>
              <a:t> symbols and its child tables.</a:t>
            </a:r>
          </a:p>
          <a:p>
            <a:endParaRPr lang="en-US" sz="2200" dirty="0"/>
          </a:p>
          <a:p>
            <a:pPr marL="342900" indent="-342900">
              <a:buFont typeface="Wingdings" panose="05000000000000000000" pitchFamily="2" charset="2"/>
              <a:buChar char="§"/>
            </a:pPr>
            <a:r>
              <a:rPr lang="en-US" sz="2200" dirty="0"/>
              <a:t>This symbol table data structure hierarchy is stored in the semantic analyzer and whenever a name needs to be searched in a symbol table, it is searched using the following algorithm:</a:t>
            </a:r>
          </a:p>
          <a:p>
            <a:endParaRPr lang="en-US" sz="2200" dirty="0"/>
          </a:p>
          <a:p>
            <a:r>
              <a:rPr lang="en-US" sz="2200" dirty="0"/>
              <a:t>(1) First a symbol will be searched in the current scope, i.e. current symbol table.</a:t>
            </a:r>
          </a:p>
          <a:p>
            <a:r>
              <a:rPr lang="en-US" sz="2200" dirty="0"/>
              <a:t>(2) If a name is found, then search is completed, else it will be searched in the parent </a:t>
            </a:r>
          </a:p>
          <a:p>
            <a:r>
              <a:rPr lang="en-US" sz="2200" dirty="0"/>
              <a:t>    symbol table until, either the name is found or global symbol table has been searched </a:t>
            </a:r>
          </a:p>
          <a:p>
            <a:r>
              <a:rPr lang="en-US" sz="2200" dirty="0"/>
              <a:t>   for the name.</a:t>
            </a:r>
          </a:p>
          <a:p>
            <a:endParaRPr lang="en-US" sz="2200" dirty="0"/>
          </a:p>
        </p:txBody>
      </p:sp>
    </p:spTree>
    <p:extLst>
      <p:ext uri="{BB962C8B-B14F-4D97-AF65-F5344CB8AC3E}">
        <p14:creationId xmlns:p14="http://schemas.microsoft.com/office/powerpoint/2010/main" val="25914976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Example-3</a:t>
            </a:r>
            <a:endParaRPr lang="en-US" dirty="0"/>
          </a:p>
        </p:txBody>
      </p:sp>
      <p:pic>
        <p:nvPicPr>
          <p:cNvPr id="3" name="Picture 2"/>
          <p:cNvPicPr>
            <a:picLocks noChangeAspect="1"/>
          </p:cNvPicPr>
          <p:nvPr/>
        </p:nvPicPr>
        <p:blipFill>
          <a:blip r:embed="rId3"/>
          <a:stretch>
            <a:fillRect/>
          </a:stretch>
        </p:blipFill>
        <p:spPr>
          <a:xfrm>
            <a:off x="1230015" y="1870096"/>
            <a:ext cx="7400925" cy="4257675"/>
          </a:xfrm>
          <a:prstGeom prst="rect">
            <a:avLst/>
          </a:prstGeom>
        </p:spPr>
      </p:pic>
    </p:spTree>
    <p:extLst>
      <p:ext uri="{BB962C8B-B14F-4D97-AF65-F5344CB8AC3E}">
        <p14:creationId xmlns:p14="http://schemas.microsoft.com/office/powerpoint/2010/main" val="37440018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Identifiers with same name</a:t>
            </a:r>
            <a:endParaRPr lang="en-US" dirty="0"/>
          </a:p>
        </p:txBody>
      </p:sp>
      <p:pic>
        <p:nvPicPr>
          <p:cNvPr id="4" name="Picture 3"/>
          <p:cNvPicPr>
            <a:picLocks noChangeAspect="1"/>
          </p:cNvPicPr>
          <p:nvPr/>
        </p:nvPicPr>
        <p:blipFill>
          <a:blip r:embed="rId3"/>
          <a:stretch>
            <a:fillRect/>
          </a:stretch>
        </p:blipFill>
        <p:spPr>
          <a:xfrm>
            <a:off x="1406996" y="1943100"/>
            <a:ext cx="6648450" cy="3886200"/>
          </a:xfrm>
          <a:prstGeom prst="rect">
            <a:avLst/>
          </a:prstGeom>
        </p:spPr>
      </p:pic>
    </p:spTree>
    <p:extLst>
      <p:ext uri="{BB962C8B-B14F-4D97-AF65-F5344CB8AC3E}">
        <p14:creationId xmlns:p14="http://schemas.microsoft.com/office/powerpoint/2010/main" val="27741670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Example-3</a:t>
            </a:r>
            <a:endParaRPr lang="en-US" dirty="0"/>
          </a:p>
        </p:txBody>
      </p:sp>
      <p:pic>
        <p:nvPicPr>
          <p:cNvPr id="3" name="Picture 2"/>
          <p:cNvPicPr>
            <a:picLocks noChangeAspect="1"/>
          </p:cNvPicPr>
          <p:nvPr/>
        </p:nvPicPr>
        <p:blipFill>
          <a:blip r:embed="rId3"/>
          <a:stretch>
            <a:fillRect/>
          </a:stretch>
        </p:blipFill>
        <p:spPr>
          <a:xfrm>
            <a:off x="1097280" y="1842012"/>
            <a:ext cx="7334250" cy="4324350"/>
          </a:xfrm>
          <a:prstGeom prst="rect">
            <a:avLst/>
          </a:prstGeom>
        </p:spPr>
      </p:pic>
    </p:spTree>
    <p:extLst>
      <p:ext uri="{BB962C8B-B14F-4D97-AF65-F5344CB8AC3E}">
        <p14:creationId xmlns:p14="http://schemas.microsoft.com/office/powerpoint/2010/main" val="4840576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Catching semantic errors</a:t>
            </a:r>
            <a:endParaRPr lang="en-US" dirty="0"/>
          </a:p>
        </p:txBody>
      </p:sp>
      <p:pic>
        <p:nvPicPr>
          <p:cNvPr id="4" name="Picture 3"/>
          <p:cNvPicPr>
            <a:picLocks noChangeAspect="1"/>
          </p:cNvPicPr>
          <p:nvPr/>
        </p:nvPicPr>
        <p:blipFill>
          <a:blip r:embed="rId3"/>
          <a:stretch>
            <a:fillRect/>
          </a:stretch>
        </p:blipFill>
        <p:spPr>
          <a:xfrm>
            <a:off x="1281419" y="1855347"/>
            <a:ext cx="7210425" cy="4352925"/>
          </a:xfrm>
          <a:prstGeom prst="rect">
            <a:avLst/>
          </a:prstGeom>
        </p:spPr>
      </p:pic>
    </p:spTree>
    <p:extLst>
      <p:ext uri="{BB962C8B-B14F-4D97-AF65-F5344CB8AC3E}">
        <p14:creationId xmlns:p14="http://schemas.microsoft.com/office/powerpoint/2010/main" val="18061668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Symbol table operations</a:t>
            </a:r>
            <a:endParaRPr lang="en-US" dirty="0"/>
          </a:p>
        </p:txBody>
      </p:sp>
      <p:pic>
        <p:nvPicPr>
          <p:cNvPr id="3" name="Picture 2"/>
          <p:cNvPicPr>
            <a:picLocks noChangeAspect="1"/>
          </p:cNvPicPr>
          <p:nvPr/>
        </p:nvPicPr>
        <p:blipFill>
          <a:blip r:embed="rId3"/>
          <a:stretch>
            <a:fillRect/>
          </a:stretch>
        </p:blipFill>
        <p:spPr>
          <a:xfrm>
            <a:off x="1273123" y="2089355"/>
            <a:ext cx="7339935" cy="3842242"/>
          </a:xfrm>
          <a:prstGeom prst="rect">
            <a:avLst/>
          </a:prstGeom>
        </p:spPr>
      </p:pic>
    </p:spTree>
    <p:extLst>
      <p:ext uri="{BB962C8B-B14F-4D97-AF65-F5344CB8AC3E}">
        <p14:creationId xmlns:p14="http://schemas.microsoft.com/office/powerpoint/2010/main" val="34434926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Symbol table Implementation</a:t>
            </a:r>
            <a:endParaRPr lang="en-US" b="1" dirty="0">
              <a:latin typeface="Century Gothic" panose="020B0502020202020204" pitchFamily="34" charset="0"/>
              <a:cs typeface="Arial" panose="020B0604020202020204" pitchFamily="34" charset="0"/>
            </a:endParaRPr>
          </a:p>
        </p:txBody>
      </p:sp>
      <p:sp>
        <p:nvSpPr>
          <p:cNvPr id="4" name="Rectangle 3"/>
          <p:cNvSpPr/>
          <p:nvPr/>
        </p:nvSpPr>
        <p:spPr>
          <a:xfrm>
            <a:off x="1097280" y="1859432"/>
            <a:ext cx="10058400" cy="3323987"/>
          </a:xfrm>
          <a:prstGeom prst="rect">
            <a:avLst/>
          </a:prstGeom>
        </p:spPr>
        <p:txBody>
          <a:bodyPr wrap="square">
            <a:spAutoFit/>
          </a:bodyPr>
          <a:lstStyle/>
          <a:p>
            <a:pPr marL="285750" indent="-285750" algn="just">
              <a:buFont typeface="Wingdings" panose="05000000000000000000" pitchFamily="2" charset="2"/>
              <a:buChar char="§"/>
            </a:pPr>
            <a:r>
              <a:rPr lang="en-US" sz="2400" dirty="0">
                <a:solidFill>
                  <a:srgbClr val="000000"/>
                </a:solidFill>
                <a:cs typeface="Arial" panose="020B0604020202020204" pitchFamily="34" charset="0"/>
              </a:rPr>
              <a:t>If a compiler is to handle a small amount of data, then the symbol table can be implemented as an unordered list, which is easy to code, but it is only suitable for small tables only.</a:t>
            </a:r>
          </a:p>
          <a:p>
            <a:pPr marL="285750" indent="-285750" algn="just">
              <a:buFont typeface="Wingdings" panose="05000000000000000000" pitchFamily="2" charset="2"/>
              <a:buChar char="§"/>
            </a:pPr>
            <a:endParaRPr lang="en-US" sz="2400" dirty="0">
              <a:solidFill>
                <a:srgbClr val="000000"/>
              </a:solidFill>
              <a:cs typeface="Arial" panose="020B0604020202020204" pitchFamily="34" charset="0"/>
            </a:endParaRPr>
          </a:p>
          <a:p>
            <a:pPr marL="285750" indent="-285750" algn="just">
              <a:buFont typeface="Wingdings" panose="05000000000000000000" pitchFamily="2" charset="2"/>
              <a:buChar char="§"/>
            </a:pPr>
            <a:r>
              <a:rPr lang="en-US" sz="2400" dirty="0">
                <a:solidFill>
                  <a:srgbClr val="000000"/>
                </a:solidFill>
                <a:cs typeface="Arial" panose="020B0604020202020204" pitchFamily="34" charset="0"/>
              </a:rPr>
              <a:t> A symbol table can be implemented in one of the following ways:</a:t>
            </a:r>
          </a:p>
          <a:p>
            <a:pPr marL="1657350" lvl="3" indent="-285750">
              <a:buFont typeface="Wingdings" panose="05000000000000000000" pitchFamily="2" charset="2"/>
              <a:buChar char="v"/>
            </a:pPr>
            <a:r>
              <a:rPr lang="en-US" sz="2400" dirty="0">
                <a:cs typeface="Arial" panose="020B0604020202020204" pitchFamily="34" charset="0"/>
              </a:rPr>
              <a:t>Linear (sorted or unsorted) list</a:t>
            </a:r>
          </a:p>
          <a:p>
            <a:pPr marL="1657350" lvl="3" indent="-285750">
              <a:buFont typeface="Wingdings" panose="05000000000000000000" pitchFamily="2" charset="2"/>
              <a:buChar char="v"/>
            </a:pPr>
            <a:r>
              <a:rPr lang="en-US" sz="2400" dirty="0">
                <a:cs typeface="Arial" panose="020B0604020202020204" pitchFamily="34" charset="0"/>
              </a:rPr>
              <a:t>Binary Search Tree</a:t>
            </a:r>
          </a:p>
          <a:p>
            <a:pPr marL="1657350" lvl="3" indent="-285750">
              <a:buFont typeface="Wingdings" panose="05000000000000000000" pitchFamily="2" charset="2"/>
              <a:buChar char="v"/>
            </a:pPr>
            <a:r>
              <a:rPr lang="en-US" sz="2400" dirty="0">
                <a:cs typeface="Arial" panose="020B0604020202020204" pitchFamily="34" charset="0"/>
              </a:rPr>
              <a:t>Hash table</a:t>
            </a:r>
          </a:p>
          <a:p>
            <a:pPr algn="just"/>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10722908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List implementation</a:t>
            </a:r>
            <a:endParaRPr lang="en-US" dirty="0"/>
          </a:p>
        </p:txBody>
      </p:sp>
      <p:pic>
        <p:nvPicPr>
          <p:cNvPr id="5" name="Picture 4"/>
          <p:cNvPicPr>
            <a:picLocks noChangeAspect="1"/>
          </p:cNvPicPr>
          <p:nvPr/>
        </p:nvPicPr>
        <p:blipFill>
          <a:blip r:embed="rId3"/>
          <a:stretch>
            <a:fillRect/>
          </a:stretch>
        </p:blipFill>
        <p:spPr>
          <a:xfrm>
            <a:off x="1097280" y="1766856"/>
            <a:ext cx="6203172" cy="3872552"/>
          </a:xfrm>
          <a:prstGeom prst="rect">
            <a:avLst/>
          </a:prstGeom>
        </p:spPr>
      </p:pic>
    </p:spTree>
    <p:extLst>
      <p:ext uri="{BB962C8B-B14F-4D97-AF65-F5344CB8AC3E}">
        <p14:creationId xmlns:p14="http://schemas.microsoft.com/office/powerpoint/2010/main" val="15962950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List implementation</a:t>
            </a:r>
            <a:endParaRPr lang="en-US" dirty="0"/>
          </a:p>
        </p:txBody>
      </p:sp>
      <p:pic>
        <p:nvPicPr>
          <p:cNvPr id="6" name="Picture 5"/>
          <p:cNvPicPr>
            <a:picLocks noChangeAspect="1"/>
          </p:cNvPicPr>
          <p:nvPr/>
        </p:nvPicPr>
        <p:blipFill>
          <a:blip r:embed="rId3"/>
          <a:stretch>
            <a:fillRect/>
          </a:stretch>
        </p:blipFill>
        <p:spPr>
          <a:xfrm>
            <a:off x="1236886" y="1950247"/>
            <a:ext cx="5097323" cy="431312"/>
          </a:xfrm>
          <a:prstGeom prst="rect">
            <a:avLst/>
          </a:prstGeom>
        </p:spPr>
      </p:pic>
      <p:sp>
        <p:nvSpPr>
          <p:cNvPr id="3" name="TextBox 2"/>
          <p:cNvSpPr txBox="1"/>
          <p:nvPr/>
        </p:nvSpPr>
        <p:spPr>
          <a:xfrm>
            <a:off x="1221975" y="2381559"/>
            <a:ext cx="10291152" cy="4339650"/>
          </a:xfrm>
          <a:prstGeom prst="rect">
            <a:avLst/>
          </a:prstGeom>
          <a:noFill/>
        </p:spPr>
        <p:txBody>
          <a:bodyPr wrap="square" rtlCol="0">
            <a:spAutoFit/>
          </a:bodyPr>
          <a:lstStyle/>
          <a:p>
            <a:r>
              <a:rPr lang="en-US" sz="2000" dirty="0">
                <a:solidFill>
                  <a:srgbClr val="000000"/>
                </a:solidFill>
              </a:rPr>
              <a:t>Symbol tables are mostly implemented as hash tables, where the </a:t>
            </a:r>
            <a:r>
              <a:rPr lang="en-US" sz="2000" b="1" dirty="0">
                <a:solidFill>
                  <a:srgbClr val="000000"/>
                </a:solidFill>
              </a:rPr>
              <a:t>source code symbol itself is treated as a key</a:t>
            </a:r>
            <a:r>
              <a:rPr lang="en-US" sz="2000" dirty="0">
                <a:solidFill>
                  <a:srgbClr val="000000"/>
                </a:solidFill>
              </a:rPr>
              <a:t> for the hash function and </a:t>
            </a:r>
            <a:r>
              <a:rPr lang="en-US" sz="2000" b="1" dirty="0">
                <a:solidFill>
                  <a:srgbClr val="000000"/>
                </a:solidFill>
              </a:rPr>
              <a:t>the return value is the information about the symbol</a:t>
            </a:r>
            <a:r>
              <a:rPr lang="en-US" sz="2000" dirty="0">
                <a:solidFill>
                  <a:srgbClr val="000000"/>
                </a:solidFill>
              </a:rPr>
              <a:t>.</a:t>
            </a:r>
          </a:p>
          <a:p>
            <a:endParaRPr lang="en-US" sz="2000" dirty="0">
              <a:solidFill>
                <a:srgbClr val="000000"/>
              </a:solidFill>
            </a:endParaRPr>
          </a:p>
          <a:p>
            <a:pPr marL="285750" indent="-285750" fontAlgn="base">
              <a:buFont typeface="Wingdings" panose="05000000000000000000" pitchFamily="2" charset="2"/>
              <a:buChar char="§"/>
            </a:pPr>
            <a:r>
              <a:rPr lang="en-US" sz="2000" dirty="0"/>
              <a:t>In hashing scheme, </a:t>
            </a:r>
            <a:r>
              <a:rPr lang="en-US" sz="2000" b="1" dirty="0"/>
              <a:t>two tables </a:t>
            </a:r>
            <a:r>
              <a:rPr lang="en-US" sz="2000" dirty="0"/>
              <a:t>are maintained – a hash table and symbol table and are the most commonly used method to implement symbol tables.</a:t>
            </a:r>
          </a:p>
          <a:p>
            <a:pPr marL="285750" indent="-285750" fontAlgn="base">
              <a:buFont typeface="Wingdings" panose="05000000000000000000" pitchFamily="2" charset="2"/>
              <a:buChar char="§"/>
            </a:pPr>
            <a:r>
              <a:rPr lang="en-US" sz="2000" dirty="0"/>
              <a:t>A hash table is an array with an index range: 0 to table size – 1. These entries are pointers pointing to the names of the symbol table.</a:t>
            </a:r>
          </a:p>
          <a:p>
            <a:pPr marL="285750" indent="-285750" fontAlgn="base">
              <a:buFont typeface="Wingdings" panose="05000000000000000000" pitchFamily="2" charset="2"/>
              <a:buChar char="§"/>
            </a:pPr>
            <a:r>
              <a:rPr lang="en-US" sz="2000" dirty="0"/>
              <a:t>To search for a name </a:t>
            </a:r>
            <a:r>
              <a:rPr lang="en-US" sz="2000" b="1" dirty="0"/>
              <a:t>we use a hash function </a:t>
            </a:r>
            <a:r>
              <a:rPr lang="en-US" sz="2000" dirty="0"/>
              <a:t>that will result in an integer between 0 to table size – 1.</a:t>
            </a:r>
          </a:p>
          <a:p>
            <a:pPr marL="285750" indent="-285750" fontAlgn="base">
              <a:buFont typeface="Wingdings" panose="05000000000000000000" pitchFamily="2" charset="2"/>
              <a:buChar char="§"/>
            </a:pPr>
            <a:r>
              <a:rPr lang="en-US" sz="2000" b="1" dirty="0"/>
              <a:t>Insertion and lookup can be made very fast – O(1).</a:t>
            </a:r>
          </a:p>
          <a:p>
            <a:pPr marL="285750" indent="-285750" fontAlgn="base">
              <a:buFont typeface="Wingdings" panose="05000000000000000000" pitchFamily="2" charset="2"/>
              <a:buChar char="§"/>
            </a:pPr>
            <a:r>
              <a:rPr lang="en-US" sz="2000" b="1" dirty="0"/>
              <a:t>The advantage is quick to search is possible and the disadvantage is that hashing is complicated to implement</a:t>
            </a:r>
            <a:r>
              <a:rPr lang="en-US" sz="2000" dirty="0"/>
              <a:t>.</a:t>
            </a:r>
          </a:p>
          <a:p>
            <a:endParaRPr lang="en-US" dirty="0">
              <a:solidFill>
                <a:srgbClr val="000000"/>
              </a:solidFill>
              <a:latin typeface="Arial" panose="020B0604020202020204" pitchFamily="34" charset="0"/>
            </a:endParaRPr>
          </a:p>
          <a:p>
            <a:endParaRPr lang="en-US" dirty="0"/>
          </a:p>
        </p:txBody>
      </p:sp>
    </p:spTree>
    <p:extLst>
      <p:ext uri="{BB962C8B-B14F-4D97-AF65-F5344CB8AC3E}">
        <p14:creationId xmlns:p14="http://schemas.microsoft.com/office/powerpoint/2010/main" val="11366691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Back to type checking</a:t>
            </a:r>
            <a:endParaRPr lang="en-US" dirty="0"/>
          </a:p>
        </p:txBody>
      </p:sp>
      <p:pic>
        <p:nvPicPr>
          <p:cNvPr id="4" name="Picture 3"/>
          <p:cNvPicPr>
            <a:picLocks noChangeAspect="1"/>
          </p:cNvPicPr>
          <p:nvPr/>
        </p:nvPicPr>
        <p:blipFill>
          <a:blip r:embed="rId3"/>
          <a:stretch>
            <a:fillRect/>
          </a:stretch>
        </p:blipFill>
        <p:spPr>
          <a:xfrm>
            <a:off x="1255764" y="1800534"/>
            <a:ext cx="6142563" cy="3865720"/>
          </a:xfrm>
          <a:prstGeom prst="rect">
            <a:avLst/>
          </a:prstGeom>
        </p:spPr>
      </p:pic>
    </p:spTree>
    <p:extLst>
      <p:ext uri="{BB962C8B-B14F-4D97-AF65-F5344CB8AC3E}">
        <p14:creationId xmlns:p14="http://schemas.microsoft.com/office/powerpoint/2010/main" val="4552561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Ensuring type-safety</a:t>
            </a:r>
            <a:endParaRPr lang="en-US" dirty="0"/>
          </a:p>
        </p:txBody>
      </p:sp>
      <p:pic>
        <p:nvPicPr>
          <p:cNvPr id="3" name="Picture 2"/>
          <p:cNvPicPr>
            <a:picLocks noChangeAspect="1"/>
          </p:cNvPicPr>
          <p:nvPr/>
        </p:nvPicPr>
        <p:blipFill>
          <a:blip r:embed="rId3"/>
          <a:stretch>
            <a:fillRect/>
          </a:stretch>
        </p:blipFill>
        <p:spPr>
          <a:xfrm>
            <a:off x="1235792" y="1967526"/>
            <a:ext cx="6827553" cy="3422905"/>
          </a:xfrm>
          <a:prstGeom prst="rect">
            <a:avLst/>
          </a:prstGeom>
        </p:spPr>
      </p:pic>
    </p:spTree>
    <p:extLst>
      <p:ext uri="{BB962C8B-B14F-4D97-AF65-F5344CB8AC3E}">
        <p14:creationId xmlns:p14="http://schemas.microsoft.com/office/powerpoint/2010/main" val="15781609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4 concepts related to </a:t>
            </a:r>
            <a:br>
              <a:rPr lang="en-US" cap="small" spc="0" dirty="0">
                <a:solidFill>
                  <a:srgbClr val="575F6D"/>
                </a:solidFill>
                <a:latin typeface="Century Schoolbook"/>
              </a:rPr>
            </a:br>
            <a:r>
              <a:rPr lang="en-US" cap="small" spc="0" dirty="0">
                <a:solidFill>
                  <a:srgbClr val="575F6D"/>
                </a:solidFill>
                <a:latin typeface="Century Schoolbook"/>
              </a:rPr>
              <a:t>types/ languages</a:t>
            </a:r>
            <a:endParaRPr lang="en-US" dirty="0"/>
          </a:p>
        </p:txBody>
      </p:sp>
      <p:sp>
        <p:nvSpPr>
          <p:cNvPr id="4" name="TextBox 3"/>
          <p:cNvSpPr txBox="1"/>
          <p:nvPr/>
        </p:nvSpPr>
        <p:spPr>
          <a:xfrm>
            <a:off x="1224117" y="1737360"/>
            <a:ext cx="5631670" cy="4247317"/>
          </a:xfrm>
          <a:prstGeom prst="rect">
            <a:avLst/>
          </a:prstGeom>
          <a:noFill/>
        </p:spPr>
        <p:txBody>
          <a:bodyPr wrap="none" rtlCol="0">
            <a:spAutoFit/>
          </a:bodyPr>
          <a:lstStyle/>
          <a:p>
            <a:pPr marL="342900" indent="-342900">
              <a:lnSpc>
                <a:spcPct val="150000"/>
              </a:lnSpc>
              <a:buFont typeface="+mj-lt"/>
              <a:buAutoNum type="arabicPeriod"/>
            </a:pPr>
            <a:r>
              <a:rPr lang="en-US" sz="2800" dirty="0">
                <a:solidFill>
                  <a:srgbClr val="0070C0"/>
                </a:solidFill>
                <a:latin typeface="Century" panose="02040604050505020304" pitchFamily="18" charset="0"/>
              </a:rPr>
              <a:t>Static vs. Dynamic Checking</a:t>
            </a:r>
          </a:p>
          <a:p>
            <a:pPr marL="800100" lvl="1" indent="-342900">
              <a:lnSpc>
                <a:spcPct val="150000"/>
              </a:lnSpc>
              <a:buFont typeface="Wingdings" panose="05000000000000000000" pitchFamily="2" charset="2"/>
              <a:buChar char="§"/>
            </a:pPr>
            <a:r>
              <a:rPr lang="en-US" sz="2400" dirty="0">
                <a:latin typeface="Century" panose="02040604050505020304" pitchFamily="18" charset="0"/>
              </a:rPr>
              <a:t>When to check types</a:t>
            </a:r>
          </a:p>
          <a:p>
            <a:pPr marL="342900" indent="-342900">
              <a:buFont typeface="+mj-lt"/>
              <a:buAutoNum type="arabicPeriod"/>
            </a:pPr>
            <a:r>
              <a:rPr lang="en-US" sz="2800" dirty="0">
                <a:solidFill>
                  <a:srgbClr val="0070C0"/>
                </a:solidFill>
                <a:latin typeface="Century" panose="02040604050505020304" pitchFamily="18" charset="0"/>
              </a:rPr>
              <a:t>Static vs. Dynamic Typing</a:t>
            </a:r>
          </a:p>
          <a:p>
            <a:pPr marL="800100" lvl="1" indent="-342900">
              <a:lnSpc>
                <a:spcPct val="150000"/>
              </a:lnSpc>
              <a:buFont typeface="Arial" panose="020B0604020202020204" pitchFamily="34" charset="0"/>
              <a:buChar char="•"/>
            </a:pPr>
            <a:r>
              <a:rPr lang="en-US" sz="2400" dirty="0">
                <a:latin typeface="Century" panose="02040604050505020304" pitchFamily="18" charset="0"/>
              </a:rPr>
              <a:t>When to define types</a:t>
            </a:r>
          </a:p>
          <a:p>
            <a:pPr marL="342900" indent="-342900">
              <a:buFont typeface="+mj-lt"/>
              <a:buAutoNum type="arabicPeriod"/>
            </a:pPr>
            <a:r>
              <a:rPr lang="en-US" sz="2800" dirty="0">
                <a:solidFill>
                  <a:srgbClr val="0070C0"/>
                </a:solidFill>
                <a:latin typeface="Century" panose="02040604050505020304" pitchFamily="18" charset="0"/>
              </a:rPr>
              <a:t>Strong vs. Weak Typing</a:t>
            </a:r>
          </a:p>
          <a:p>
            <a:pPr marL="800100" lvl="1" indent="-342900">
              <a:lnSpc>
                <a:spcPct val="150000"/>
              </a:lnSpc>
              <a:buFont typeface="Wingdings" panose="05000000000000000000" pitchFamily="2" charset="2"/>
              <a:buChar char="§"/>
            </a:pPr>
            <a:r>
              <a:rPr lang="en-US" sz="2400" dirty="0">
                <a:latin typeface="Century" panose="02040604050505020304" pitchFamily="18" charset="0"/>
              </a:rPr>
              <a:t>How many Type Errors</a:t>
            </a:r>
          </a:p>
          <a:p>
            <a:pPr marL="342900" indent="-342900">
              <a:buFont typeface="+mj-lt"/>
              <a:buAutoNum type="arabicPeriod"/>
            </a:pPr>
            <a:r>
              <a:rPr lang="en-US" sz="2800" dirty="0">
                <a:solidFill>
                  <a:srgbClr val="0070C0"/>
                </a:solidFill>
                <a:latin typeface="Century" panose="02040604050505020304" pitchFamily="18" charset="0"/>
              </a:rPr>
              <a:t>Sound Type Systems</a:t>
            </a:r>
          </a:p>
          <a:p>
            <a:pPr marL="800100" lvl="1" indent="-342900">
              <a:lnSpc>
                <a:spcPct val="150000"/>
              </a:lnSpc>
              <a:buFont typeface="Wingdings" panose="05000000000000000000" pitchFamily="2" charset="2"/>
              <a:buChar char="§"/>
            </a:pPr>
            <a:r>
              <a:rPr lang="en-US" sz="2400" dirty="0">
                <a:latin typeface="Century" panose="02040604050505020304" pitchFamily="18" charset="0"/>
              </a:rPr>
              <a:t>Statically catch all type of errors</a:t>
            </a:r>
          </a:p>
        </p:txBody>
      </p:sp>
    </p:spTree>
    <p:extLst>
      <p:ext uri="{BB962C8B-B14F-4D97-AF65-F5344CB8AC3E}">
        <p14:creationId xmlns:p14="http://schemas.microsoft.com/office/powerpoint/2010/main" val="19319850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Static vs. dynamic checking</a:t>
            </a:r>
            <a:endParaRPr lang="en-US" dirty="0"/>
          </a:p>
        </p:txBody>
      </p:sp>
      <p:sp>
        <p:nvSpPr>
          <p:cNvPr id="5" name="Rectangle 4"/>
          <p:cNvSpPr/>
          <p:nvPr/>
        </p:nvSpPr>
        <p:spPr>
          <a:xfrm>
            <a:off x="1322438" y="1936266"/>
            <a:ext cx="8264013" cy="2277547"/>
          </a:xfrm>
          <a:prstGeom prst="rect">
            <a:avLst/>
          </a:prstGeom>
        </p:spPr>
        <p:txBody>
          <a:bodyPr wrap="square">
            <a:spAutoFit/>
          </a:bodyPr>
          <a:lstStyle/>
          <a:p>
            <a:pPr marL="457200" indent="-457200">
              <a:lnSpc>
                <a:spcPct val="150000"/>
              </a:lnSpc>
              <a:buFont typeface="Arial" panose="020B0604020202020204" pitchFamily="34" charset="0"/>
              <a:buChar char="•"/>
            </a:pPr>
            <a:r>
              <a:rPr lang="en-US" sz="2800" dirty="0">
                <a:solidFill>
                  <a:srgbClr val="0070C0"/>
                </a:solidFill>
                <a:latin typeface="Century" panose="02040604050505020304" pitchFamily="18" charset="0"/>
              </a:rPr>
              <a:t>Static Type Checking</a:t>
            </a:r>
          </a:p>
          <a:p>
            <a:pPr marL="800100" lvl="1" indent="-342900">
              <a:lnSpc>
                <a:spcPct val="150000"/>
              </a:lnSpc>
              <a:buFont typeface="Wingdings" panose="05000000000000000000" pitchFamily="2" charset="2"/>
              <a:buChar char="§"/>
            </a:pPr>
            <a:r>
              <a:rPr lang="en-US" sz="2400" dirty="0">
                <a:latin typeface="Century" panose="02040604050505020304" pitchFamily="18" charset="0"/>
              </a:rPr>
              <a:t>Checking at compile time</a:t>
            </a:r>
          </a:p>
          <a:p>
            <a:pPr marL="457200" indent="-457200">
              <a:buFont typeface="Arial" panose="020B0604020202020204" pitchFamily="34" charset="0"/>
              <a:buChar char="•"/>
            </a:pPr>
            <a:r>
              <a:rPr lang="en-US" sz="2800" dirty="0">
                <a:solidFill>
                  <a:srgbClr val="0070C0"/>
                </a:solidFill>
                <a:latin typeface="Century" panose="02040604050505020304" pitchFamily="18" charset="0"/>
              </a:rPr>
              <a:t>Dynamic Type Checking</a:t>
            </a:r>
          </a:p>
          <a:p>
            <a:pPr marL="800100" lvl="1" indent="-342900">
              <a:lnSpc>
                <a:spcPct val="150000"/>
              </a:lnSpc>
              <a:buFont typeface="Wingdings" panose="05000000000000000000" pitchFamily="2" charset="2"/>
              <a:buChar char="§"/>
            </a:pPr>
            <a:r>
              <a:rPr lang="en-US" sz="2400" dirty="0">
                <a:latin typeface="Century" panose="02040604050505020304" pitchFamily="18" charset="0"/>
              </a:rPr>
              <a:t>Checking at run time (program execution time)</a:t>
            </a:r>
          </a:p>
        </p:txBody>
      </p:sp>
      <p:sp>
        <p:nvSpPr>
          <p:cNvPr id="6" name="TextBox 5"/>
          <p:cNvSpPr txBox="1"/>
          <p:nvPr/>
        </p:nvSpPr>
        <p:spPr>
          <a:xfrm>
            <a:off x="1322438" y="4408493"/>
            <a:ext cx="10869561" cy="1985159"/>
          </a:xfrm>
          <a:prstGeom prst="rect">
            <a:avLst/>
          </a:prstGeom>
          <a:noFill/>
        </p:spPr>
        <p:txBody>
          <a:bodyPr wrap="square" rtlCol="0">
            <a:spAutoFit/>
          </a:bodyPr>
          <a:lstStyle/>
          <a:p>
            <a:r>
              <a:rPr lang="en-US" sz="2800" dirty="0"/>
              <a:t>Example</a:t>
            </a:r>
          </a:p>
          <a:p>
            <a:pPr>
              <a:lnSpc>
                <a:spcPct val="150000"/>
              </a:lnSpc>
            </a:pPr>
            <a:r>
              <a:rPr lang="en-US" sz="2200" dirty="0">
                <a:solidFill>
                  <a:srgbClr val="0070C0"/>
                </a:solidFill>
                <a:latin typeface="Century" panose="02040604050505020304" pitchFamily="18" charset="0"/>
              </a:rPr>
              <a:t>Static Type Checking: </a:t>
            </a:r>
            <a:r>
              <a:rPr lang="en-US" sz="2200" dirty="0"/>
              <a:t>Type checks, Flow-of-control checks</a:t>
            </a:r>
            <a:endParaRPr lang="en-US" sz="2200" dirty="0">
              <a:solidFill>
                <a:srgbClr val="0070C0"/>
              </a:solidFill>
              <a:latin typeface="Century" panose="02040604050505020304" pitchFamily="18" charset="0"/>
            </a:endParaRPr>
          </a:p>
          <a:p>
            <a:r>
              <a:rPr lang="en-US" sz="2200" dirty="0">
                <a:solidFill>
                  <a:srgbClr val="0070C0"/>
                </a:solidFill>
                <a:latin typeface="Century" panose="02040604050505020304" pitchFamily="18" charset="0"/>
              </a:rPr>
              <a:t>Dynamic Type Checking: </a:t>
            </a:r>
            <a:r>
              <a:rPr lang="en-US" sz="2200" dirty="0">
                <a:latin typeface="Century" panose="02040604050505020304" pitchFamily="18" charset="0"/>
              </a:rPr>
              <a:t>Division by Zero error, Array bounds checking, </a:t>
            </a:r>
          </a:p>
          <a:p>
            <a:r>
              <a:rPr lang="en-US" sz="2200" dirty="0">
                <a:latin typeface="Century" panose="02040604050505020304" pitchFamily="18" charset="0"/>
              </a:rPr>
              <a:t>                                           Null pointer dereferences</a:t>
            </a:r>
          </a:p>
          <a:p>
            <a:endParaRPr lang="en-US" dirty="0"/>
          </a:p>
        </p:txBody>
      </p:sp>
    </p:spTree>
    <p:extLst>
      <p:ext uri="{BB962C8B-B14F-4D97-AF65-F5344CB8AC3E}">
        <p14:creationId xmlns:p14="http://schemas.microsoft.com/office/powerpoint/2010/main" val="9945191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Static vs. dynamic typing</a:t>
            </a:r>
            <a:endParaRPr lang="en-US" dirty="0"/>
          </a:p>
        </p:txBody>
      </p:sp>
      <p:pic>
        <p:nvPicPr>
          <p:cNvPr id="4" name="Picture 3"/>
          <p:cNvPicPr>
            <a:picLocks noChangeAspect="1"/>
          </p:cNvPicPr>
          <p:nvPr/>
        </p:nvPicPr>
        <p:blipFill>
          <a:blip r:embed="rId3"/>
          <a:stretch>
            <a:fillRect/>
          </a:stretch>
        </p:blipFill>
        <p:spPr>
          <a:xfrm>
            <a:off x="1230015" y="1980739"/>
            <a:ext cx="6480519" cy="3519516"/>
          </a:xfrm>
          <a:prstGeom prst="rect">
            <a:avLst/>
          </a:prstGeom>
        </p:spPr>
      </p:pic>
    </p:spTree>
    <p:extLst>
      <p:ext uri="{BB962C8B-B14F-4D97-AF65-F5344CB8AC3E}">
        <p14:creationId xmlns:p14="http://schemas.microsoft.com/office/powerpoint/2010/main" val="17837939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Strong vs. weak typing</a:t>
            </a:r>
            <a:endParaRPr lang="en-US" dirty="0"/>
          </a:p>
        </p:txBody>
      </p:sp>
      <p:pic>
        <p:nvPicPr>
          <p:cNvPr id="3" name="Picture 2"/>
          <p:cNvPicPr>
            <a:picLocks noChangeAspect="1"/>
          </p:cNvPicPr>
          <p:nvPr/>
        </p:nvPicPr>
        <p:blipFill>
          <a:blip r:embed="rId3"/>
          <a:stretch>
            <a:fillRect/>
          </a:stretch>
        </p:blipFill>
        <p:spPr>
          <a:xfrm>
            <a:off x="1291866" y="1921437"/>
            <a:ext cx="6037189" cy="2879763"/>
          </a:xfrm>
          <a:prstGeom prst="rect">
            <a:avLst/>
          </a:prstGeom>
        </p:spPr>
      </p:pic>
    </p:spTree>
    <p:extLst>
      <p:ext uri="{BB962C8B-B14F-4D97-AF65-F5344CB8AC3E}">
        <p14:creationId xmlns:p14="http://schemas.microsoft.com/office/powerpoint/2010/main" val="27982971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soundness</a:t>
            </a:r>
            <a:endParaRPr lang="en-US" dirty="0"/>
          </a:p>
        </p:txBody>
      </p:sp>
      <p:pic>
        <p:nvPicPr>
          <p:cNvPr id="4" name="Picture 3"/>
          <p:cNvPicPr>
            <a:picLocks noChangeAspect="1"/>
          </p:cNvPicPr>
          <p:nvPr/>
        </p:nvPicPr>
        <p:blipFill>
          <a:blip r:embed="rId3"/>
          <a:stretch>
            <a:fillRect/>
          </a:stretch>
        </p:blipFill>
        <p:spPr>
          <a:xfrm>
            <a:off x="1287257" y="1913757"/>
            <a:ext cx="6255729" cy="3226279"/>
          </a:xfrm>
          <a:prstGeom prst="rect">
            <a:avLst/>
          </a:prstGeom>
        </p:spPr>
      </p:pic>
    </p:spTree>
    <p:extLst>
      <p:ext uri="{BB962C8B-B14F-4D97-AF65-F5344CB8AC3E}">
        <p14:creationId xmlns:p14="http://schemas.microsoft.com/office/powerpoint/2010/main" val="42857832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Classification</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0265" y="2033589"/>
            <a:ext cx="5782971" cy="3417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19812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Why static checking ?</a:t>
            </a:r>
            <a:endParaRPr lang="en-US" dirty="0"/>
          </a:p>
        </p:txBody>
      </p:sp>
      <p:pic>
        <p:nvPicPr>
          <p:cNvPr id="3" name="Picture 2"/>
          <p:cNvPicPr>
            <a:picLocks noChangeAspect="1"/>
          </p:cNvPicPr>
          <p:nvPr/>
        </p:nvPicPr>
        <p:blipFill>
          <a:blip r:embed="rId3"/>
          <a:stretch>
            <a:fillRect/>
          </a:stretch>
        </p:blipFill>
        <p:spPr>
          <a:xfrm>
            <a:off x="1259451" y="1892933"/>
            <a:ext cx="6263568" cy="3107506"/>
          </a:xfrm>
          <a:prstGeom prst="rect">
            <a:avLst/>
          </a:prstGeom>
        </p:spPr>
      </p:pic>
    </p:spTree>
    <p:extLst>
      <p:ext uri="{BB962C8B-B14F-4D97-AF65-F5344CB8AC3E}">
        <p14:creationId xmlns:p14="http://schemas.microsoft.com/office/powerpoint/2010/main" val="31137996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Summary: semantic analysis</a:t>
            </a:r>
            <a:endParaRPr lang="en-US" dirty="0"/>
          </a:p>
        </p:txBody>
      </p:sp>
      <p:pic>
        <p:nvPicPr>
          <p:cNvPr id="4" name="Picture 3"/>
          <p:cNvPicPr>
            <a:picLocks noChangeAspect="1"/>
          </p:cNvPicPr>
          <p:nvPr/>
        </p:nvPicPr>
        <p:blipFill>
          <a:blip r:embed="rId3"/>
          <a:stretch>
            <a:fillRect/>
          </a:stretch>
        </p:blipFill>
        <p:spPr>
          <a:xfrm>
            <a:off x="1224424" y="1967988"/>
            <a:ext cx="7032886" cy="3089212"/>
          </a:xfrm>
          <a:prstGeom prst="rect">
            <a:avLst/>
          </a:prstGeom>
        </p:spPr>
      </p:pic>
    </p:spTree>
    <p:extLst>
      <p:ext uri="{BB962C8B-B14F-4D97-AF65-F5344CB8AC3E}">
        <p14:creationId xmlns:p14="http://schemas.microsoft.com/office/powerpoint/2010/main" val="40669402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we are………</a:t>
            </a:r>
          </a:p>
        </p:txBody>
      </p:sp>
      <p:pic>
        <p:nvPicPr>
          <p:cNvPr id="3" name="Picture 2"/>
          <p:cNvPicPr>
            <a:picLocks noChangeAspect="1"/>
          </p:cNvPicPr>
          <p:nvPr/>
        </p:nvPicPr>
        <p:blipFill rotWithShape="1">
          <a:blip r:embed="rId3"/>
          <a:srcRect t="1640"/>
          <a:stretch/>
        </p:blipFill>
        <p:spPr>
          <a:xfrm>
            <a:off x="1942486" y="2035276"/>
            <a:ext cx="7348998" cy="4216609"/>
          </a:xfrm>
          <a:prstGeom prst="rect">
            <a:avLst/>
          </a:prstGeom>
        </p:spPr>
      </p:pic>
    </p:spTree>
    <p:extLst>
      <p:ext uri="{BB962C8B-B14F-4D97-AF65-F5344CB8AC3E}">
        <p14:creationId xmlns:p14="http://schemas.microsoft.com/office/powerpoint/2010/main" val="30818043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Lecture Materials</a:t>
            </a:r>
            <a:endParaRPr lang="en-US" dirty="0"/>
          </a:p>
        </p:txBody>
      </p:sp>
      <p:sp>
        <p:nvSpPr>
          <p:cNvPr id="3" name="TextBox 2"/>
          <p:cNvSpPr txBox="1"/>
          <p:nvPr/>
        </p:nvSpPr>
        <p:spPr>
          <a:xfrm>
            <a:off x="1289956" y="2073729"/>
            <a:ext cx="10403279" cy="1938992"/>
          </a:xfrm>
          <a:prstGeom prst="rect">
            <a:avLst/>
          </a:prstGeom>
          <a:noFill/>
        </p:spPr>
        <p:txBody>
          <a:bodyPr wrap="square" rtlCol="0">
            <a:spAutoFit/>
          </a:bodyPr>
          <a:lstStyle/>
          <a:p>
            <a:pPr marL="342900" indent="-342900">
              <a:buFont typeface="Wingdings" panose="05000000000000000000" pitchFamily="2" charset="2"/>
              <a:buChar char="§"/>
            </a:pPr>
            <a:r>
              <a:rPr lang="en-US" sz="2000" dirty="0">
                <a:latin typeface="Century" panose="02040604050505020304" pitchFamily="18" charset="0"/>
              </a:rPr>
              <a:t>Reference Book: Compilers ( Principles, Techniques and Tools) Second Edition</a:t>
            </a:r>
          </a:p>
          <a:p>
            <a:pPr marL="800100" lvl="1" indent="-342900">
              <a:buFont typeface="Wingdings" panose="05000000000000000000" pitchFamily="2" charset="2"/>
              <a:buChar char="§"/>
            </a:pPr>
            <a:r>
              <a:rPr lang="en-US" sz="2000" dirty="0">
                <a:latin typeface="Century" panose="02040604050505020304" pitchFamily="18" charset="0"/>
              </a:rPr>
              <a:t>Chapter-5:Syntax-Directed Translation</a:t>
            </a:r>
          </a:p>
          <a:p>
            <a:pPr marL="800100" lvl="1" indent="-342900">
              <a:buFont typeface="Wingdings" panose="05000000000000000000" pitchFamily="2" charset="2"/>
              <a:buChar char="§"/>
            </a:pPr>
            <a:endParaRPr lang="en-US" sz="2000" dirty="0">
              <a:latin typeface="Century" panose="02040604050505020304" pitchFamily="18" charset="0"/>
            </a:endParaRPr>
          </a:p>
          <a:p>
            <a:pPr marL="342900" indent="-342900">
              <a:buFont typeface="Wingdings" panose="05000000000000000000" pitchFamily="2" charset="2"/>
              <a:buChar char="§"/>
            </a:pPr>
            <a:r>
              <a:rPr lang="en-US" sz="2000" dirty="0">
                <a:latin typeface="Century" panose="02040604050505020304" pitchFamily="18" charset="0"/>
              </a:rPr>
              <a:t>Web Tutorials:</a:t>
            </a:r>
          </a:p>
          <a:p>
            <a:pPr marL="800100" lvl="1" indent="-342900">
              <a:buFont typeface="Wingdings" panose="05000000000000000000" pitchFamily="2" charset="2"/>
              <a:buChar char="§"/>
            </a:pPr>
            <a:r>
              <a:rPr lang="en-US" sz="2000" dirty="0">
                <a:hlinkClick r:id="rId3"/>
              </a:rPr>
              <a:t>https://www.tutorialspoint.com/compiler_design/compiler_design_semantic_analysis.htm</a:t>
            </a:r>
            <a:r>
              <a:rPr lang="en-US" sz="2000" dirty="0"/>
              <a:t> </a:t>
            </a:r>
          </a:p>
          <a:p>
            <a:pPr marL="742950" lvl="1" indent="-285750">
              <a:buFont typeface="Wingdings" panose="05000000000000000000" pitchFamily="2" charset="2"/>
              <a:buChar char="§"/>
            </a:pPr>
            <a:r>
              <a:rPr lang="en-US" sz="2000" dirty="0">
                <a:hlinkClick r:id="rId4"/>
              </a:rPr>
              <a:t>https://www.geeksforgeeks.org/syntax-directed-translation-in-compiler-design/</a:t>
            </a:r>
            <a:r>
              <a:rPr lang="en-US" sz="2000" dirty="0"/>
              <a:t>  </a:t>
            </a:r>
          </a:p>
        </p:txBody>
      </p:sp>
    </p:spTree>
    <p:extLst>
      <p:ext uri="{BB962C8B-B14F-4D97-AF65-F5344CB8AC3E}">
        <p14:creationId xmlns:p14="http://schemas.microsoft.com/office/powerpoint/2010/main" val="12281128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US" sz="4800" cap="small" spc="0" dirty="0">
                <a:solidFill>
                  <a:srgbClr val="575F6D"/>
                </a:solidFill>
                <a:latin typeface="Century Schoolbook"/>
              </a:rPr>
              <a:t>The End</a:t>
            </a:r>
            <a:endParaRPr lang="en-US" sz="4800"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7606779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1593</TotalTime>
  <Words>3138</Words>
  <Application>Microsoft Office PowerPoint</Application>
  <PresentationFormat>Widescreen</PresentationFormat>
  <Paragraphs>371</Paragraphs>
  <Slides>69</Slides>
  <Notes>60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Angsana New</vt:lpstr>
      <vt:lpstr>Arial</vt:lpstr>
      <vt:lpstr>Calibri</vt:lpstr>
      <vt:lpstr>Calibri Light</vt:lpstr>
      <vt:lpstr>Century</vt:lpstr>
      <vt:lpstr>Century Gothic</vt:lpstr>
      <vt:lpstr>Century Schoolbook</vt:lpstr>
      <vt:lpstr>Tahoma</vt:lpstr>
      <vt:lpstr>Times</vt:lpstr>
      <vt:lpstr>Wingdings</vt:lpstr>
      <vt:lpstr>Retrospect</vt:lpstr>
      <vt:lpstr>Semantic Analysis</vt:lpstr>
      <vt:lpstr>Semantic Analysis</vt:lpstr>
      <vt:lpstr>PowerPoint Presentation</vt:lpstr>
      <vt:lpstr>Semantic Analysis</vt:lpstr>
      <vt:lpstr>Semantic Analysis</vt:lpstr>
      <vt:lpstr>Semantic Analysis</vt:lpstr>
      <vt:lpstr>Semantic Analysis</vt:lpstr>
      <vt:lpstr>Semantic Analysis</vt:lpstr>
      <vt:lpstr>Semantic Analysis</vt:lpstr>
      <vt:lpstr>Syntax-Directed Translation</vt:lpstr>
      <vt:lpstr>Syntax-Directed Translation</vt:lpstr>
      <vt:lpstr>Syntax-Directed Translation</vt:lpstr>
      <vt:lpstr>Syntax-Directed Definition</vt:lpstr>
      <vt:lpstr>Syntax-Directed Definition</vt:lpstr>
      <vt:lpstr>Syntax-Directed Definition</vt:lpstr>
      <vt:lpstr>Attribute Grammar</vt:lpstr>
      <vt:lpstr>Attribute Grammar</vt:lpstr>
      <vt:lpstr>Two Types of Attributes</vt:lpstr>
      <vt:lpstr>Two types of attributes</vt:lpstr>
      <vt:lpstr>Two types of attributes</vt:lpstr>
      <vt:lpstr>Example</vt:lpstr>
      <vt:lpstr>Example</vt:lpstr>
      <vt:lpstr>Example</vt:lpstr>
      <vt:lpstr>Syntax directed translation</vt:lpstr>
      <vt:lpstr>Syntax directed translation</vt:lpstr>
      <vt:lpstr>Syntax directed translation</vt:lpstr>
      <vt:lpstr>Semantic Analysis</vt:lpstr>
      <vt:lpstr>Incorrect Programs</vt:lpstr>
      <vt:lpstr>Goals of semantic analysis</vt:lpstr>
      <vt:lpstr>Type Information</vt:lpstr>
      <vt:lpstr>Type checking</vt:lpstr>
      <vt:lpstr>Type checking</vt:lpstr>
      <vt:lpstr>Scope information</vt:lpstr>
      <vt:lpstr>Scope information</vt:lpstr>
      <vt:lpstr>Scope information</vt:lpstr>
      <vt:lpstr>Scope information</vt:lpstr>
      <vt:lpstr>Semantic rules for Scope</vt:lpstr>
      <vt:lpstr>Symbol tables</vt:lpstr>
      <vt:lpstr>Symbol tables</vt:lpstr>
      <vt:lpstr>Symbol tables</vt:lpstr>
      <vt:lpstr>Symbol tables</vt:lpstr>
      <vt:lpstr>Scope Information in symbol table</vt:lpstr>
      <vt:lpstr>Scope Information in symbol table</vt:lpstr>
      <vt:lpstr>Scope Information in symbol table</vt:lpstr>
      <vt:lpstr>Example-1</vt:lpstr>
      <vt:lpstr>Example-1</vt:lpstr>
      <vt:lpstr>Example-2</vt:lpstr>
      <vt:lpstr>Example-2</vt:lpstr>
      <vt:lpstr>Example-3</vt:lpstr>
      <vt:lpstr>Identifiers with same name</vt:lpstr>
      <vt:lpstr>Example-3</vt:lpstr>
      <vt:lpstr>Catching semantic errors</vt:lpstr>
      <vt:lpstr>Symbol table operations</vt:lpstr>
      <vt:lpstr>Symbol table Implementation</vt:lpstr>
      <vt:lpstr>List implementation</vt:lpstr>
      <vt:lpstr>List implementation</vt:lpstr>
      <vt:lpstr>Back to type checking</vt:lpstr>
      <vt:lpstr>Ensuring type-safety</vt:lpstr>
      <vt:lpstr>4 concepts related to  types/ languages</vt:lpstr>
      <vt:lpstr>Static vs. dynamic checking</vt:lpstr>
      <vt:lpstr>Static vs. dynamic typing</vt:lpstr>
      <vt:lpstr>Strong vs. weak typing</vt:lpstr>
      <vt:lpstr>soundness</vt:lpstr>
      <vt:lpstr>Classification</vt:lpstr>
      <vt:lpstr>Why static checking ?</vt:lpstr>
      <vt:lpstr>Summary: semantic analysis</vt:lpstr>
      <vt:lpstr>Where we are………</vt:lpstr>
      <vt:lpstr>Lecture Materials</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CSE-361:Compiler Design</dc:title>
  <dc:creator>Windows User</dc:creator>
  <cp:lastModifiedBy>shiplu shiplu</cp:lastModifiedBy>
  <cp:revision>359</cp:revision>
  <dcterms:created xsi:type="dcterms:W3CDTF">2015-02-21T15:44:08Z</dcterms:created>
  <dcterms:modified xsi:type="dcterms:W3CDTF">2025-10-07T15:19:37Z</dcterms:modified>
</cp:coreProperties>
</file>