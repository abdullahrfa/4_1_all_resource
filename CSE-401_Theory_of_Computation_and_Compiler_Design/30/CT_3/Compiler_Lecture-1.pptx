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8"/>
  </p:notesMasterIdLst>
  <p:sldIdLst>
    <p:sldId id="256" r:id="rId2"/>
    <p:sldId id="303" r:id="rId3"/>
    <p:sldId id="318" r:id="rId4"/>
    <p:sldId id="311" r:id="rId5"/>
    <p:sldId id="310" r:id="rId6"/>
    <p:sldId id="309" r:id="rId7"/>
    <p:sldId id="312" r:id="rId8"/>
    <p:sldId id="313" r:id="rId9"/>
    <p:sldId id="319" r:id="rId10"/>
    <p:sldId id="314" r:id="rId11"/>
    <p:sldId id="269" r:id="rId12"/>
    <p:sldId id="305" r:id="rId13"/>
    <p:sldId id="306" r:id="rId14"/>
    <p:sldId id="307" r:id="rId15"/>
    <p:sldId id="308" r:id="rId16"/>
    <p:sldId id="275" r:id="rId17"/>
    <p:sldId id="276" r:id="rId18"/>
    <p:sldId id="277" r:id="rId19"/>
    <p:sldId id="278" r:id="rId20"/>
    <p:sldId id="262" r:id="rId21"/>
    <p:sldId id="298" r:id="rId22"/>
    <p:sldId id="279" r:id="rId23"/>
    <p:sldId id="280" r:id="rId24"/>
    <p:sldId id="281" r:id="rId25"/>
    <p:sldId id="282" r:id="rId26"/>
    <p:sldId id="283" r:id="rId27"/>
    <p:sldId id="299" r:id="rId28"/>
    <p:sldId id="284" r:id="rId29"/>
    <p:sldId id="300" r:id="rId30"/>
    <p:sldId id="285" r:id="rId31"/>
    <p:sldId id="301" r:id="rId32"/>
    <p:sldId id="286" r:id="rId33"/>
    <p:sldId id="302" r:id="rId34"/>
    <p:sldId id="287" r:id="rId35"/>
    <p:sldId id="320" r:id="rId36"/>
    <p:sldId id="322" r:id="rId37"/>
    <p:sldId id="321" r:id="rId38"/>
    <p:sldId id="288" r:id="rId39"/>
    <p:sldId id="324" r:id="rId40"/>
    <p:sldId id="325" r:id="rId41"/>
    <p:sldId id="289" r:id="rId42"/>
    <p:sldId id="290" r:id="rId43"/>
    <p:sldId id="316" r:id="rId44"/>
    <p:sldId id="317" r:id="rId45"/>
    <p:sldId id="326" r:id="rId46"/>
    <p:sldId id="258"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5838" autoAdjust="0"/>
  </p:normalViewPr>
  <p:slideViewPr>
    <p:cSldViewPr snapToGrid="0">
      <p:cViewPr varScale="1">
        <p:scale>
          <a:sx n="61" d="100"/>
          <a:sy n="61" d="100"/>
        </p:scale>
        <p:origin x="1522"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F31913-0FC3-4CF4-BADB-BE39A6CFBD86}" type="datetimeFigureOut">
              <a:rPr lang="en-US" smtClean="0"/>
              <a:t>9/7/2025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7829CF-F3B1-402F-BC88-89CA5E9C5F3F}" type="slidenum">
              <a:rPr lang="en-US" smtClean="0"/>
              <a:t>‹#›</a:t>
            </a:fld>
            <a:endParaRPr lang="en-US"/>
          </a:p>
        </p:txBody>
      </p:sp>
    </p:spTree>
    <p:extLst>
      <p:ext uri="{BB962C8B-B14F-4D97-AF65-F5344CB8AC3E}">
        <p14:creationId xmlns:p14="http://schemas.microsoft.com/office/powerpoint/2010/main" val="2097864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dirty="0"/>
              <a:t>Programming problems are easier to solve in high-level languages</a:t>
            </a:r>
          </a:p>
          <a:p>
            <a:r>
              <a:rPr lang="en-US" sz="1200" b="0" i="0" u="none" strike="noStrike" kern="1200" baseline="0" dirty="0">
                <a:solidFill>
                  <a:schemeClr val="tx1"/>
                </a:solidFill>
                <a:latin typeface="+mn-lt"/>
                <a:ea typeface="+mn-ea"/>
                <a:cs typeface="+mn-cs"/>
              </a:rPr>
              <a:t>An important role of the compiler</a:t>
            </a:r>
          </a:p>
          <a:p>
            <a:r>
              <a:rPr lang="en-US" sz="1200" b="0" i="0" u="none" strike="noStrike" kern="1200" baseline="0" dirty="0">
                <a:solidFill>
                  <a:schemeClr val="tx1"/>
                </a:solidFill>
                <a:latin typeface="+mn-lt"/>
                <a:ea typeface="+mn-ea"/>
                <a:cs typeface="+mn-cs"/>
              </a:rPr>
              <a:t>is to report any errors in the</a:t>
            </a:r>
          </a:p>
          <a:p>
            <a:r>
              <a:rPr lang="en-US" sz="1200" b="0" i="0" u="none" strike="noStrike" kern="1200" baseline="0" dirty="0">
                <a:solidFill>
                  <a:schemeClr val="tx1"/>
                </a:solidFill>
                <a:latin typeface="+mn-lt"/>
                <a:ea typeface="+mn-ea"/>
                <a:cs typeface="+mn-cs"/>
              </a:rPr>
              <a:t>source program that it detects</a:t>
            </a:r>
          </a:p>
          <a:p>
            <a:r>
              <a:rPr lang="en-US" sz="1200" b="0" i="0" u="none" strike="noStrike" kern="1200" baseline="0" dirty="0">
                <a:solidFill>
                  <a:schemeClr val="tx1"/>
                </a:solidFill>
                <a:latin typeface="+mn-lt"/>
                <a:ea typeface="+mn-ea"/>
                <a:cs typeface="+mn-cs"/>
              </a:rPr>
              <a:t>during the translation process.</a:t>
            </a:r>
            <a:endParaRPr lang="en-US" sz="2200" dirty="0"/>
          </a:p>
          <a:p>
            <a:pPr lvl="1" eaLnBrk="1" hangingPunct="1"/>
            <a:r>
              <a:rPr lang="en-US" sz="2000" dirty="0"/>
              <a:t>Languages closer to the level of the problem domain, e.g.,</a:t>
            </a:r>
          </a:p>
          <a:p>
            <a:pPr lvl="2" eaLnBrk="1" hangingPunct="1"/>
            <a:r>
              <a:rPr lang="en-US" sz="2000" dirty="0" err="1"/>
              <a:t>SmallTalk</a:t>
            </a:r>
            <a:r>
              <a:rPr lang="en-US" sz="2000" dirty="0"/>
              <a:t>: OO programming</a:t>
            </a:r>
          </a:p>
          <a:p>
            <a:pPr lvl="2" eaLnBrk="1" hangingPunct="1"/>
            <a:r>
              <a:rPr lang="en-US" sz="2000" dirty="0"/>
              <a:t>JavaScript: Web pages</a:t>
            </a:r>
          </a:p>
          <a:p>
            <a:pPr lvl="2" eaLnBrk="1" hangingPunct="1"/>
            <a:endParaRPr lang="en-US" sz="2000" dirty="0"/>
          </a:p>
          <a:p>
            <a:pPr eaLnBrk="1" hangingPunct="1"/>
            <a:r>
              <a:rPr lang="en-US" sz="2200" dirty="0"/>
              <a:t>Solutions are usually more efficient (faster, smaller) when written in machine language</a:t>
            </a:r>
          </a:p>
          <a:p>
            <a:pPr lvl="1" eaLnBrk="1" hangingPunct="1"/>
            <a:r>
              <a:rPr lang="en-US" sz="2000" dirty="0"/>
              <a:t>Language that reflects to the cycle-by-cycle working of a processor</a:t>
            </a:r>
          </a:p>
          <a:p>
            <a:pPr eaLnBrk="1" hangingPunct="1"/>
            <a:endParaRPr lang="en-US" sz="2200" dirty="0"/>
          </a:p>
          <a:p>
            <a:pPr eaLnBrk="1" hangingPunct="1"/>
            <a:r>
              <a:rPr lang="en-US" sz="2200" dirty="0"/>
              <a:t>Compilers are the bridges:</a:t>
            </a:r>
          </a:p>
          <a:p>
            <a:pPr lvl="1" eaLnBrk="1" hangingPunct="1"/>
            <a:r>
              <a:rPr lang="en-US" sz="2000" dirty="0"/>
              <a:t>Tools to translate programs written in high-level languages to efficient executable code</a:t>
            </a:r>
          </a:p>
          <a:p>
            <a:endParaRPr lang="en-US" dirty="0"/>
          </a:p>
          <a:p>
            <a:pPr eaLnBrk="1" hangingPunct="1"/>
            <a:r>
              <a:rPr lang="en-US" dirty="0"/>
              <a:t>A program that reads a program written in one language and translates it into another language.</a:t>
            </a:r>
          </a:p>
          <a:p>
            <a:pPr eaLnBrk="1" hangingPunct="1"/>
            <a:r>
              <a:rPr lang="en-US" dirty="0"/>
              <a:t>As an important part of this translation process, the compiler reports to its user the presence of errors in the source program.</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Traditionally, compilers go from high-level languages to low-level languages.</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a:t>
            </a:fld>
            <a:endParaRPr lang="en-US"/>
          </a:p>
        </p:txBody>
      </p:sp>
    </p:spTree>
    <p:extLst>
      <p:ext uri="{BB962C8B-B14F-4D97-AF65-F5344CB8AC3E}">
        <p14:creationId xmlns:p14="http://schemas.microsoft.com/office/powerpoint/2010/main" val="3528419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5</a:t>
            </a:fld>
            <a:endParaRPr lang="en-US"/>
          </a:p>
        </p:txBody>
      </p:sp>
    </p:spTree>
    <p:extLst>
      <p:ext uri="{BB962C8B-B14F-4D97-AF65-F5344CB8AC3E}">
        <p14:creationId xmlns:p14="http://schemas.microsoft.com/office/powerpoint/2010/main" val="3528419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Translation mechanism</a:t>
            </a:r>
          </a:p>
          <a:p>
            <a:r>
              <a:rPr lang="en-GB" sz="1200" b="0" i="0" kern="1200" dirty="0">
                <a:solidFill>
                  <a:schemeClr val="tx1"/>
                </a:solidFill>
                <a:effectLst/>
                <a:latin typeface="+mn-lt"/>
                <a:ea typeface="+mn-ea"/>
                <a:cs typeface="+mn-cs"/>
              </a:rPr>
              <a:t>Compiler reads entire source code and translates to machine language at once. If any error is generated during compilation, it terminates the entire process without executing single instruction.</a:t>
            </a:r>
          </a:p>
          <a:p>
            <a:r>
              <a:rPr lang="en-GB" sz="1200" b="0" i="0" kern="1200" dirty="0">
                <a:solidFill>
                  <a:schemeClr val="tx1"/>
                </a:solidFill>
                <a:effectLst/>
                <a:latin typeface="+mn-lt"/>
                <a:ea typeface="+mn-ea"/>
                <a:cs typeface="+mn-cs"/>
              </a:rPr>
              <a:t>Whereas interpreters translate instruction-by-instruction. It reads single instruction at a time. Translates it to machine language and executes it. This process continues till the last instruction. If any error is generated during the interpretation, it terminates the execution of further instructions.</a:t>
            </a:r>
          </a:p>
          <a:p>
            <a:r>
              <a:rPr lang="en-GB" sz="1200" b="1" i="0" kern="1200" dirty="0">
                <a:solidFill>
                  <a:schemeClr val="tx1"/>
                </a:solidFill>
                <a:effectLst/>
                <a:latin typeface="+mn-lt"/>
                <a:ea typeface="+mn-ea"/>
                <a:cs typeface="+mn-cs"/>
              </a:rPr>
              <a:t>Translation time</a:t>
            </a:r>
          </a:p>
          <a:p>
            <a:r>
              <a:rPr lang="en-GB" sz="1200" b="0" i="0" kern="1200" dirty="0">
                <a:solidFill>
                  <a:schemeClr val="tx1"/>
                </a:solidFill>
                <a:effectLst/>
                <a:latin typeface="+mn-lt"/>
                <a:ea typeface="+mn-ea"/>
                <a:cs typeface="+mn-cs"/>
              </a:rPr>
              <a:t>Compilers reads entire source code at once. It pre-processes, parses, analyses the source code and translates it to machine code at once. Hence, it requires more translation time than interpreters.</a:t>
            </a:r>
          </a:p>
          <a:p>
            <a:r>
              <a:rPr lang="en-GB" sz="1200" b="0" i="0" kern="1200" dirty="0">
                <a:solidFill>
                  <a:schemeClr val="tx1"/>
                </a:solidFill>
                <a:effectLst/>
                <a:latin typeface="+mn-lt"/>
                <a:ea typeface="+mn-ea"/>
                <a:cs typeface="+mn-cs"/>
              </a:rPr>
              <a:t>Interpreters reads single instruction of source code at a time. Unlike compilers, it doesn’t translate entire source code to machine code at once. Rather it translates the source code, instruction by instruction. Hence, requires less translation time.</a:t>
            </a:r>
          </a:p>
          <a:p>
            <a:r>
              <a:rPr lang="en-GB" sz="1200" b="1" i="0" kern="1200" dirty="0">
                <a:solidFill>
                  <a:schemeClr val="tx1"/>
                </a:solidFill>
                <a:effectLst/>
                <a:latin typeface="+mn-lt"/>
                <a:ea typeface="+mn-ea"/>
                <a:cs typeface="+mn-cs"/>
              </a:rPr>
              <a:t>Program speed</a:t>
            </a:r>
          </a:p>
          <a:p>
            <a:r>
              <a:rPr lang="en-GB" sz="1200" b="0" i="0" kern="1200" dirty="0">
                <a:solidFill>
                  <a:schemeClr val="tx1"/>
                </a:solidFill>
                <a:effectLst/>
                <a:latin typeface="+mn-lt"/>
                <a:ea typeface="+mn-ea"/>
                <a:cs typeface="+mn-cs"/>
              </a:rPr>
              <a:t>Compilers translate entire source code at once. After the compilation process, it generates an executable file containing complete instruction set of the program in binary language. Hence, it doesn’t require any further translation which enhances the program execution speed.</a:t>
            </a:r>
          </a:p>
          <a:p>
            <a:r>
              <a:rPr lang="en-GB" sz="1200" b="0" i="0" kern="1200" dirty="0">
                <a:solidFill>
                  <a:schemeClr val="tx1"/>
                </a:solidFill>
                <a:effectLst/>
                <a:latin typeface="+mn-lt"/>
                <a:ea typeface="+mn-ea"/>
                <a:cs typeface="+mn-cs"/>
              </a:rPr>
              <a:t>Interpreters translate the source code instruction by instruction. It translates single instruction then executes it. Each time before executing an instruction, it must first translate it to machine language. Which increases the overhead of interpretation, hence decreases the program execution speed.</a:t>
            </a:r>
          </a:p>
          <a:p>
            <a:r>
              <a:rPr lang="en-GB" sz="1200" b="1" i="0" kern="1200" dirty="0">
                <a:solidFill>
                  <a:schemeClr val="tx1"/>
                </a:solidFill>
                <a:effectLst/>
                <a:latin typeface="+mn-lt"/>
                <a:ea typeface="+mn-ea"/>
                <a:cs typeface="+mn-cs"/>
              </a:rPr>
              <a:t>Memory consumption</a:t>
            </a:r>
          </a:p>
          <a:p>
            <a:r>
              <a:rPr lang="en-GB" sz="1200" b="0" i="0" kern="1200" dirty="0">
                <a:solidFill>
                  <a:schemeClr val="tx1"/>
                </a:solidFill>
                <a:effectLst/>
                <a:latin typeface="+mn-lt"/>
                <a:ea typeface="+mn-ea"/>
                <a:cs typeface="+mn-cs"/>
              </a:rPr>
              <a:t>Compilers usually generate an intermediate code called object code, during the compilation process. Hence it requires more memory than interpreters.</a:t>
            </a:r>
          </a:p>
          <a:p>
            <a:r>
              <a:rPr lang="en-GB" sz="1200" b="0" i="0" kern="1200" dirty="0">
                <a:solidFill>
                  <a:schemeClr val="tx1"/>
                </a:solidFill>
                <a:effectLst/>
                <a:latin typeface="+mn-lt"/>
                <a:ea typeface="+mn-ea"/>
                <a:cs typeface="+mn-cs"/>
              </a:rPr>
              <a:t>Unlike compilers, interpreters do not generate any intermediate code, during the interpretation process. Thus, interpreters are memory efficient.</a:t>
            </a:r>
          </a:p>
          <a:p>
            <a:r>
              <a:rPr lang="en-GB" sz="1200" b="1" i="0" kern="1200" dirty="0">
                <a:solidFill>
                  <a:schemeClr val="tx1"/>
                </a:solidFill>
                <a:effectLst/>
                <a:latin typeface="+mn-lt"/>
                <a:ea typeface="+mn-ea"/>
                <a:cs typeface="+mn-cs"/>
              </a:rPr>
              <a:t>Debugging</a:t>
            </a:r>
          </a:p>
          <a:p>
            <a:r>
              <a:rPr lang="en-GB" sz="1200" b="0" i="0" kern="1200" dirty="0">
                <a:solidFill>
                  <a:schemeClr val="tx1"/>
                </a:solidFill>
                <a:effectLst/>
                <a:latin typeface="+mn-lt"/>
                <a:ea typeface="+mn-ea"/>
                <a:cs typeface="+mn-cs"/>
              </a:rPr>
              <a:t>Compilers continues to process entire source code also if it contains errors. It generates list of all error messages (if any) at the end of the compilation process. Which makes debugging a little difficult.</a:t>
            </a:r>
          </a:p>
          <a:p>
            <a:r>
              <a:rPr lang="en-GB" sz="1200" b="0" i="0" kern="1200" dirty="0">
                <a:solidFill>
                  <a:schemeClr val="tx1"/>
                </a:solidFill>
                <a:effectLst/>
                <a:latin typeface="+mn-lt"/>
                <a:ea typeface="+mn-ea"/>
                <a:cs typeface="+mn-cs"/>
              </a:rPr>
              <a:t>Interpreters stops the interpretation process if an error is encountered. It generates the error message as the error is met during the interpretation process.</a:t>
            </a:r>
          </a:p>
          <a:p>
            <a:r>
              <a:rPr lang="en-GB" sz="1200" b="1" i="0" kern="1200" dirty="0">
                <a:solidFill>
                  <a:schemeClr val="tx1"/>
                </a:solidFill>
                <a:effectLst/>
                <a:latin typeface="+mn-lt"/>
                <a:ea typeface="+mn-ea"/>
                <a:cs typeface="+mn-cs"/>
              </a:rPr>
              <a:t>Deployment</a:t>
            </a:r>
          </a:p>
          <a:p>
            <a:r>
              <a:rPr lang="en-GB" sz="1200" b="0" i="0" kern="1200" dirty="0">
                <a:solidFill>
                  <a:schemeClr val="tx1"/>
                </a:solidFill>
                <a:effectLst/>
                <a:latin typeface="+mn-lt"/>
                <a:ea typeface="+mn-ea"/>
                <a:cs typeface="+mn-cs"/>
              </a:rPr>
              <a:t>Compilers generate an executable file of the source code. This executable file is deployed instead of source code. Which increases the security, by hiding the source code from others.</a:t>
            </a:r>
          </a:p>
          <a:p>
            <a:r>
              <a:rPr lang="en-GB" sz="1200" b="0" i="0" kern="1200" dirty="0">
                <a:solidFill>
                  <a:schemeClr val="tx1"/>
                </a:solidFill>
                <a:effectLst/>
                <a:latin typeface="+mn-lt"/>
                <a:ea typeface="+mn-ea"/>
                <a:cs typeface="+mn-cs"/>
              </a:rPr>
              <a:t>Interpreters do not generate any executable file of the source code. Therefore, in the case of interpreter’s entire source code needs to be deployed. Causing a security concern as the source code is visible to everyone.</a:t>
            </a:r>
          </a:p>
          <a:p>
            <a:br>
              <a:rPr lang="en-GB" dirty="0"/>
            </a:br>
            <a:endParaRPr lang="en-GB" dirty="0"/>
          </a:p>
        </p:txBody>
      </p:sp>
      <p:sp>
        <p:nvSpPr>
          <p:cNvPr id="4" name="Slide Number Placeholder 3"/>
          <p:cNvSpPr>
            <a:spLocks noGrp="1"/>
          </p:cNvSpPr>
          <p:nvPr>
            <p:ph type="sldNum" sz="quarter" idx="10"/>
          </p:nvPr>
        </p:nvSpPr>
        <p:spPr/>
        <p:txBody>
          <a:bodyPr/>
          <a:lstStyle/>
          <a:p>
            <a:fld id="{387829CF-F3B1-402F-BC88-89CA5E9C5F3F}" type="slidenum">
              <a:rPr lang="en-US" smtClean="0"/>
              <a:t>6</a:t>
            </a:fld>
            <a:endParaRPr lang="en-US"/>
          </a:p>
        </p:txBody>
      </p:sp>
    </p:spTree>
    <p:extLst>
      <p:ext uri="{BB962C8B-B14F-4D97-AF65-F5344CB8AC3E}">
        <p14:creationId xmlns:p14="http://schemas.microsoft.com/office/powerpoint/2010/main" val="1519472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9</a:t>
            </a:fld>
            <a:endParaRPr lang="en-US"/>
          </a:p>
        </p:txBody>
      </p:sp>
    </p:spTree>
    <p:extLst>
      <p:ext uri="{BB962C8B-B14F-4D97-AF65-F5344CB8AC3E}">
        <p14:creationId xmlns:p14="http://schemas.microsoft.com/office/powerpoint/2010/main" val="3872921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10</a:t>
            </a:fld>
            <a:endParaRPr lang="en-US"/>
          </a:p>
        </p:txBody>
      </p:sp>
    </p:spTree>
    <p:extLst>
      <p:ext uri="{BB962C8B-B14F-4D97-AF65-F5344CB8AC3E}">
        <p14:creationId xmlns:p14="http://schemas.microsoft.com/office/powerpoint/2010/main" val="3528419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12</a:t>
            </a:fld>
            <a:endParaRPr lang="en-US"/>
          </a:p>
        </p:txBody>
      </p:sp>
    </p:spTree>
    <p:extLst>
      <p:ext uri="{BB962C8B-B14F-4D97-AF65-F5344CB8AC3E}">
        <p14:creationId xmlns:p14="http://schemas.microsoft.com/office/powerpoint/2010/main" val="1823772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dirty="0"/>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Compilers are important</a:t>
            </a:r>
          </a:p>
          <a:p>
            <a:pPr lvl="1">
              <a:lnSpc>
                <a:spcPct val="100000"/>
              </a:lnSpc>
              <a:spcBef>
                <a:spcPts val="600"/>
              </a:spcBef>
              <a:spcAft>
                <a:spcPts val="0"/>
              </a:spcAft>
              <a:buClr>
                <a:srgbClr val="FE8637"/>
              </a:buClr>
              <a:buSzPct val="70000"/>
            </a:pPr>
            <a:r>
              <a:rPr lang="en-US" sz="2200" dirty="0">
                <a:solidFill>
                  <a:prstClr val="black"/>
                </a:solidFill>
                <a:latin typeface="Century Schoolbook"/>
              </a:rPr>
              <a:t>Responsible for many aspects of system performance</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a:solidFill>
                  <a:prstClr val="black"/>
                </a:solidFill>
                <a:latin typeface="Century Schoolbook"/>
              </a:rPr>
              <a:t>Attaining performance has become more difficult over time</a:t>
            </a:r>
          </a:p>
          <a:p>
            <a:pPr marL="274320" lvl="0" indent="-274320">
              <a:lnSpc>
                <a:spcPct val="100000"/>
              </a:lnSpc>
              <a:spcBef>
                <a:spcPts val="600"/>
              </a:spcBef>
              <a:spcAft>
                <a:spcPts val="0"/>
              </a:spcAft>
              <a:buClr>
                <a:srgbClr val="FE8637"/>
              </a:buClr>
              <a:buSzPct val="70000"/>
              <a:buFont typeface="Wingdings"/>
              <a:buChar char=""/>
            </a:pPr>
            <a:endParaRPr lang="en-US" sz="2400" dirty="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Compilers are interesting</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a:solidFill>
                  <a:prstClr val="black"/>
                </a:solidFill>
                <a:latin typeface="Century Schoolbook"/>
              </a:rPr>
              <a:t>Compilers include many applications of theory to practice</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a:solidFill>
                  <a:prstClr val="black"/>
                </a:solidFill>
                <a:latin typeface="Century Schoolbook"/>
              </a:rPr>
              <a:t>Writing a compiler exposes algorithmic &amp; engineering issues</a:t>
            </a:r>
          </a:p>
          <a:p>
            <a:pPr lvl="0">
              <a:lnSpc>
                <a:spcPct val="100000"/>
              </a:lnSpc>
              <a:spcBef>
                <a:spcPts val="600"/>
              </a:spcBef>
              <a:spcAft>
                <a:spcPts val="0"/>
              </a:spcAft>
              <a:buClr>
                <a:srgbClr val="FE8637"/>
              </a:buClr>
              <a:buSzPct val="70000"/>
              <a:buFont typeface="Arial" panose="020B0604020202020204" pitchFamily="34" charset="0"/>
              <a:buChar char="•"/>
            </a:pPr>
            <a:endParaRPr lang="en-US" sz="2400" dirty="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Compilers are everywhere</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a:solidFill>
                  <a:prstClr val="black"/>
                </a:solidFill>
                <a:latin typeface="Century Schoolbook"/>
              </a:rPr>
              <a:t>Many practical applications have embedded languages Commands, macros, formatting tags</a:t>
            </a:r>
          </a:p>
          <a:p>
            <a:pPr lvl="1"/>
            <a:endParaRPr lang="en-US" dirty="0"/>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13</a:t>
            </a:fld>
            <a:endParaRPr lang="en-US"/>
          </a:p>
        </p:txBody>
      </p:sp>
    </p:spTree>
    <p:extLst>
      <p:ext uri="{BB962C8B-B14F-4D97-AF65-F5344CB8AC3E}">
        <p14:creationId xmlns:p14="http://schemas.microsoft.com/office/powerpoint/2010/main" val="3971181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14</a:t>
            </a:fld>
            <a:endParaRPr lang="en-US"/>
          </a:p>
        </p:txBody>
      </p:sp>
    </p:spTree>
    <p:extLst>
      <p:ext uri="{BB962C8B-B14F-4D97-AF65-F5344CB8AC3E}">
        <p14:creationId xmlns:p14="http://schemas.microsoft.com/office/powerpoint/2010/main" val="3408881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15</a:t>
            </a:fld>
            <a:endParaRPr lang="en-US"/>
          </a:p>
        </p:txBody>
      </p:sp>
    </p:spTree>
    <p:extLst>
      <p:ext uri="{BB962C8B-B14F-4D97-AF65-F5344CB8AC3E}">
        <p14:creationId xmlns:p14="http://schemas.microsoft.com/office/powerpoint/2010/main" val="580883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eaLnBrk="1" hangingPunct="1"/>
            <a:r>
              <a:rPr lang="en-US" sz="2000" b="1" dirty="0"/>
              <a:t>Analysis</a:t>
            </a:r>
          </a:p>
          <a:p>
            <a:pPr lvl="2" eaLnBrk="1" hangingPunct="1"/>
            <a:r>
              <a:rPr lang="en-US" sz="2000" dirty="0"/>
              <a:t>Breaks up the source program into constituents and creates an intermediate representation of the source program</a:t>
            </a:r>
          </a:p>
          <a:p>
            <a:pPr lvl="1" eaLnBrk="1" hangingPunct="1"/>
            <a:r>
              <a:rPr lang="en-US" sz="2000" b="1" dirty="0"/>
              <a:t>Synthesis</a:t>
            </a:r>
          </a:p>
          <a:p>
            <a:pPr lvl="2" eaLnBrk="1" hangingPunct="1"/>
            <a:r>
              <a:rPr lang="en-US" sz="2000" dirty="0"/>
              <a:t>Constructs the target program from the intermediate representation</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17</a:t>
            </a:fld>
            <a:endParaRPr lang="en-US"/>
          </a:p>
        </p:txBody>
      </p:sp>
    </p:spTree>
    <p:extLst>
      <p:ext uri="{BB962C8B-B14F-4D97-AF65-F5344CB8AC3E}">
        <p14:creationId xmlns:p14="http://schemas.microsoft.com/office/powerpoint/2010/main" val="1791228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20</a:t>
            </a:fld>
            <a:endParaRPr lang="en-US"/>
          </a:p>
        </p:txBody>
      </p:sp>
    </p:spTree>
    <p:extLst>
      <p:ext uri="{BB962C8B-B14F-4D97-AF65-F5344CB8AC3E}">
        <p14:creationId xmlns:p14="http://schemas.microsoft.com/office/powerpoint/2010/main" val="18237729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21</a:t>
            </a:fld>
            <a:endParaRPr lang="en-US"/>
          </a:p>
        </p:txBody>
      </p:sp>
    </p:spTree>
    <p:extLst>
      <p:ext uri="{BB962C8B-B14F-4D97-AF65-F5344CB8AC3E}">
        <p14:creationId xmlns:p14="http://schemas.microsoft.com/office/powerpoint/2010/main" val="3740106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22</a:t>
            </a:fld>
            <a:endParaRPr lang="en-US"/>
          </a:p>
        </p:txBody>
      </p:sp>
    </p:spTree>
    <p:extLst>
      <p:ext uri="{BB962C8B-B14F-4D97-AF65-F5344CB8AC3E}">
        <p14:creationId xmlns:p14="http://schemas.microsoft.com/office/powerpoint/2010/main" val="32287454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 the phrase “x = +y", which is recognized as four tokens, representing “x", “=“ and “+" and “y", has the structure </a:t>
            </a:r>
            <a:r>
              <a:rPr lang="en-US" sz="1200" b="1" dirty="0"/>
              <a:t>=(x,+(y))</a:t>
            </a:r>
            <a:r>
              <a:rPr lang="en-US" sz="1200" dirty="0"/>
              <a:t>, i.e., an assignment expression, that operates on “x" and the expression “+(y)".</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23</a:t>
            </a:fld>
            <a:endParaRPr lang="en-US"/>
          </a:p>
        </p:txBody>
      </p:sp>
    </p:spTree>
    <p:extLst>
      <p:ext uri="{BB962C8B-B14F-4D97-AF65-F5344CB8AC3E}">
        <p14:creationId xmlns:p14="http://schemas.microsoft.com/office/powerpoint/2010/main" val="1859034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 the phrase “x = +y", which is recognized as four tokens, representing “x", “=“ and “+" and “y", has the structure </a:t>
            </a:r>
            <a:r>
              <a:rPr lang="en-US" sz="1200" b="1" dirty="0"/>
              <a:t>=(x,+(y))</a:t>
            </a:r>
            <a:r>
              <a:rPr lang="en-US" sz="1200" dirty="0"/>
              <a:t>, i.e., an assignment expression, that operates on “x" and the expression “+(y)".</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24</a:t>
            </a:fld>
            <a:endParaRPr lang="en-US"/>
          </a:p>
        </p:txBody>
      </p:sp>
    </p:spTree>
    <p:extLst>
      <p:ext uri="{BB962C8B-B14F-4D97-AF65-F5344CB8AC3E}">
        <p14:creationId xmlns:p14="http://schemas.microsoft.com/office/powerpoint/2010/main" val="12088619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 the phrase “x = +y", which is recognized as four tokens, representing “x", “=“ and “+" and “y", has the structure </a:t>
            </a:r>
            <a:r>
              <a:rPr lang="en-US" sz="1200" b="1" dirty="0"/>
              <a:t>=(x,+(y))</a:t>
            </a:r>
            <a:r>
              <a:rPr lang="en-US" sz="1200" dirty="0"/>
              <a:t>, i.e., an assignment expression, that operates on “x" and the expression “+(y)".</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25</a:t>
            </a:fld>
            <a:endParaRPr lang="en-US"/>
          </a:p>
        </p:txBody>
      </p:sp>
    </p:spTree>
    <p:extLst>
      <p:ext uri="{BB962C8B-B14F-4D97-AF65-F5344CB8AC3E}">
        <p14:creationId xmlns:p14="http://schemas.microsoft.com/office/powerpoint/2010/main" val="10833139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26</a:t>
            </a:fld>
            <a:endParaRPr lang="en-US"/>
          </a:p>
        </p:txBody>
      </p:sp>
    </p:spTree>
    <p:extLst>
      <p:ext uri="{BB962C8B-B14F-4D97-AF65-F5344CB8AC3E}">
        <p14:creationId xmlns:p14="http://schemas.microsoft.com/office/powerpoint/2010/main" val="27846083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dirty="0">
              <a:solidFill>
                <a:prstClr val="black"/>
              </a:solidFill>
              <a:latin typeface="Century Schoolbook"/>
            </a:endParaRPr>
          </a:p>
        </p:txBody>
      </p:sp>
      <p:sp>
        <p:nvSpPr>
          <p:cNvPr id="4" name="Slide Number Placeholder 3"/>
          <p:cNvSpPr>
            <a:spLocks noGrp="1"/>
          </p:cNvSpPr>
          <p:nvPr>
            <p:ph type="sldNum" sz="quarter" idx="10"/>
          </p:nvPr>
        </p:nvSpPr>
        <p:spPr/>
        <p:txBody>
          <a:bodyPr/>
          <a:lstStyle/>
          <a:p>
            <a:fld id="{387829CF-F3B1-402F-BC88-89CA5E9C5F3F}" type="slidenum">
              <a:rPr lang="en-US" smtClean="0"/>
              <a:t>27</a:t>
            </a:fld>
            <a:endParaRPr lang="en-US"/>
          </a:p>
        </p:txBody>
      </p:sp>
    </p:spTree>
    <p:extLst>
      <p:ext uri="{BB962C8B-B14F-4D97-AF65-F5344CB8AC3E}">
        <p14:creationId xmlns:p14="http://schemas.microsoft.com/office/powerpoint/2010/main" val="19836302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28</a:t>
            </a:fld>
            <a:endParaRPr lang="en-US"/>
          </a:p>
        </p:txBody>
      </p:sp>
    </p:spTree>
    <p:extLst>
      <p:ext uri="{BB962C8B-B14F-4D97-AF65-F5344CB8AC3E}">
        <p14:creationId xmlns:p14="http://schemas.microsoft.com/office/powerpoint/2010/main" val="18488288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29</a:t>
            </a:fld>
            <a:endParaRPr lang="en-US"/>
          </a:p>
        </p:txBody>
      </p:sp>
    </p:spTree>
    <p:extLst>
      <p:ext uri="{BB962C8B-B14F-4D97-AF65-F5344CB8AC3E}">
        <p14:creationId xmlns:p14="http://schemas.microsoft.com/office/powerpoint/2010/main" val="38455568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30</a:t>
            </a:fld>
            <a:endParaRPr lang="en-US"/>
          </a:p>
        </p:txBody>
      </p:sp>
    </p:spTree>
    <p:extLst>
      <p:ext uri="{BB962C8B-B14F-4D97-AF65-F5344CB8AC3E}">
        <p14:creationId xmlns:p14="http://schemas.microsoft.com/office/powerpoint/2010/main" val="28022790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31</a:t>
            </a:fld>
            <a:endParaRPr lang="en-US"/>
          </a:p>
        </p:txBody>
      </p:sp>
    </p:spTree>
    <p:extLst>
      <p:ext uri="{BB962C8B-B14F-4D97-AF65-F5344CB8AC3E}">
        <p14:creationId xmlns:p14="http://schemas.microsoft.com/office/powerpoint/2010/main" val="3860293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32</a:t>
            </a:fld>
            <a:endParaRPr lang="en-US"/>
          </a:p>
        </p:txBody>
      </p:sp>
    </p:spTree>
    <p:extLst>
      <p:ext uri="{BB962C8B-B14F-4D97-AF65-F5344CB8AC3E}">
        <p14:creationId xmlns:p14="http://schemas.microsoft.com/office/powerpoint/2010/main" val="12352431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33</a:t>
            </a:fld>
            <a:endParaRPr lang="en-US"/>
          </a:p>
        </p:txBody>
      </p:sp>
    </p:spTree>
    <p:extLst>
      <p:ext uri="{BB962C8B-B14F-4D97-AF65-F5344CB8AC3E}">
        <p14:creationId xmlns:p14="http://schemas.microsoft.com/office/powerpoint/2010/main" val="33469773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34</a:t>
            </a:fld>
            <a:endParaRPr lang="en-US"/>
          </a:p>
        </p:txBody>
      </p:sp>
    </p:spTree>
    <p:extLst>
      <p:ext uri="{BB962C8B-B14F-4D97-AF65-F5344CB8AC3E}">
        <p14:creationId xmlns:p14="http://schemas.microsoft.com/office/powerpoint/2010/main" val="39210034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35</a:t>
            </a:fld>
            <a:endParaRPr lang="en-US"/>
          </a:p>
        </p:txBody>
      </p:sp>
    </p:spTree>
    <p:extLst>
      <p:ext uri="{BB962C8B-B14F-4D97-AF65-F5344CB8AC3E}">
        <p14:creationId xmlns:p14="http://schemas.microsoft.com/office/powerpoint/2010/main" val="15026344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36</a:t>
            </a:fld>
            <a:endParaRPr lang="en-US"/>
          </a:p>
        </p:txBody>
      </p:sp>
    </p:spTree>
    <p:extLst>
      <p:ext uri="{BB962C8B-B14F-4D97-AF65-F5344CB8AC3E}">
        <p14:creationId xmlns:p14="http://schemas.microsoft.com/office/powerpoint/2010/main" val="36815538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37</a:t>
            </a:fld>
            <a:endParaRPr lang="en-US"/>
          </a:p>
        </p:txBody>
      </p:sp>
    </p:spTree>
    <p:extLst>
      <p:ext uri="{BB962C8B-B14F-4D97-AF65-F5344CB8AC3E}">
        <p14:creationId xmlns:p14="http://schemas.microsoft.com/office/powerpoint/2010/main" val="34002565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38</a:t>
            </a:fld>
            <a:endParaRPr lang="en-US"/>
          </a:p>
        </p:txBody>
      </p:sp>
    </p:spTree>
    <p:extLst>
      <p:ext uri="{BB962C8B-B14F-4D97-AF65-F5344CB8AC3E}">
        <p14:creationId xmlns:p14="http://schemas.microsoft.com/office/powerpoint/2010/main" val="39950557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39</a:t>
            </a:fld>
            <a:endParaRPr lang="en-US"/>
          </a:p>
        </p:txBody>
      </p:sp>
    </p:spTree>
    <p:extLst>
      <p:ext uri="{BB962C8B-B14F-4D97-AF65-F5344CB8AC3E}">
        <p14:creationId xmlns:p14="http://schemas.microsoft.com/office/powerpoint/2010/main" val="18065345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40</a:t>
            </a:fld>
            <a:endParaRPr lang="en-US"/>
          </a:p>
        </p:txBody>
      </p:sp>
    </p:spTree>
    <p:extLst>
      <p:ext uri="{BB962C8B-B14F-4D97-AF65-F5344CB8AC3E}">
        <p14:creationId xmlns:p14="http://schemas.microsoft.com/office/powerpoint/2010/main" val="10196961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41</a:t>
            </a:fld>
            <a:endParaRPr lang="en-US"/>
          </a:p>
        </p:txBody>
      </p:sp>
    </p:spTree>
    <p:extLst>
      <p:ext uri="{BB962C8B-B14F-4D97-AF65-F5344CB8AC3E}">
        <p14:creationId xmlns:p14="http://schemas.microsoft.com/office/powerpoint/2010/main" val="28873681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42</a:t>
            </a:fld>
            <a:endParaRPr lang="en-US"/>
          </a:p>
        </p:txBody>
      </p:sp>
    </p:spTree>
    <p:extLst>
      <p:ext uri="{BB962C8B-B14F-4D97-AF65-F5344CB8AC3E}">
        <p14:creationId xmlns:p14="http://schemas.microsoft.com/office/powerpoint/2010/main" val="38470492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43</a:t>
            </a:fld>
            <a:endParaRPr lang="en-US"/>
          </a:p>
        </p:txBody>
      </p:sp>
    </p:spTree>
    <p:extLst>
      <p:ext uri="{BB962C8B-B14F-4D97-AF65-F5344CB8AC3E}">
        <p14:creationId xmlns:p14="http://schemas.microsoft.com/office/powerpoint/2010/main" val="40824296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44</a:t>
            </a:fld>
            <a:endParaRPr lang="en-US"/>
          </a:p>
        </p:txBody>
      </p:sp>
    </p:spTree>
    <p:extLst>
      <p:ext uri="{BB962C8B-B14F-4D97-AF65-F5344CB8AC3E}">
        <p14:creationId xmlns:p14="http://schemas.microsoft.com/office/powerpoint/2010/main" val="3693610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9/7/2025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9/7/2025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9/7/2025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9/7/2025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9/7/2025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ww.geeksforgeeks.org/compiler-design-tutorials/"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7200" b="1" dirty="0">
                <a:solidFill>
                  <a:srgbClr val="CC3300"/>
                </a:solidFill>
                <a:latin typeface="Angsana New" panose="02020603050405020304" pitchFamily="18" charset="-34"/>
                <a:cs typeface="Angsana New" panose="02020603050405020304" pitchFamily="18" charset="-34"/>
              </a:rPr>
              <a:t>CSE-361:Compiler Design</a:t>
            </a:r>
            <a:endParaRPr lang="en-US" sz="7200" dirty="0">
              <a:latin typeface="Angsana New" panose="02020603050405020304" pitchFamily="18" charset="-34"/>
              <a:cs typeface="Angsana New" panose="02020603050405020304" pitchFamily="18" charset="-34"/>
            </a:endParaRPr>
          </a:p>
        </p:txBody>
      </p:sp>
      <p:sp>
        <p:nvSpPr>
          <p:cNvPr id="3" name="Subtitle 2"/>
          <p:cNvSpPr>
            <a:spLocks noGrp="1"/>
          </p:cNvSpPr>
          <p:nvPr>
            <p:ph type="subTitle" idx="1"/>
          </p:nvPr>
        </p:nvSpPr>
        <p:spPr/>
        <p:txBody>
          <a:bodyPr>
            <a:normAutofit/>
          </a:bodyPr>
          <a:lstStyle/>
          <a:p>
            <a:endParaRPr lang="en-US" b="1" dirty="0"/>
          </a:p>
        </p:txBody>
      </p:sp>
    </p:spTree>
    <p:extLst>
      <p:ext uri="{BB962C8B-B14F-4D97-AF65-F5344CB8AC3E}">
        <p14:creationId xmlns:p14="http://schemas.microsoft.com/office/powerpoint/2010/main" val="117988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Textbook</a:t>
            </a:r>
            <a:endParaRPr lang="en-US" sz="4000" dirty="0"/>
          </a:p>
        </p:txBody>
      </p:sp>
      <p:sp>
        <p:nvSpPr>
          <p:cNvPr id="3" name="Content Placeholder 2"/>
          <p:cNvSpPr>
            <a:spLocks noGrp="1"/>
          </p:cNvSpPr>
          <p:nvPr>
            <p:ph idx="1"/>
          </p:nvPr>
        </p:nvSpPr>
        <p:spPr/>
        <p:txBody>
          <a:bodyPr/>
          <a:lstStyle/>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Compilers: Principles, Techniques, and Tools </a:t>
            </a:r>
          </a:p>
          <a:p>
            <a:pPr marL="640080" lvl="1" indent="-274320">
              <a:lnSpc>
                <a:spcPct val="100000"/>
              </a:lnSpc>
              <a:spcBef>
                <a:spcPct val="20000"/>
              </a:spcBef>
              <a:spcAft>
                <a:spcPts val="0"/>
              </a:spcAft>
              <a:buClr>
                <a:srgbClr val="FE8637"/>
              </a:buClr>
              <a:buSzPct val="80000"/>
              <a:buFont typeface="Wingdings 2"/>
              <a:buChar char=""/>
            </a:pPr>
            <a:r>
              <a:rPr lang="en-US" sz="2400" dirty="0" err="1">
                <a:solidFill>
                  <a:prstClr val="black"/>
                </a:solidFill>
                <a:latin typeface="Century Schoolbook"/>
              </a:rPr>
              <a:t>Aho</a:t>
            </a:r>
            <a:r>
              <a:rPr lang="en-US" sz="2400" dirty="0">
                <a:solidFill>
                  <a:prstClr val="black"/>
                </a:solidFill>
                <a:latin typeface="Century Schoolbook"/>
              </a:rPr>
              <a:t>, Lam, </a:t>
            </a:r>
            <a:r>
              <a:rPr lang="en-US" sz="2400" dirty="0" err="1">
                <a:solidFill>
                  <a:prstClr val="black"/>
                </a:solidFill>
                <a:latin typeface="Century Schoolbook"/>
              </a:rPr>
              <a:t>Sethi</a:t>
            </a:r>
            <a:r>
              <a:rPr lang="en-US" sz="2400" dirty="0">
                <a:solidFill>
                  <a:prstClr val="black"/>
                </a:solidFill>
                <a:latin typeface="Century Schoolbook"/>
              </a:rPr>
              <a:t>, Ullman</a:t>
            </a: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Modern Compiler Implementation  in C (The Tiger Book).</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Andrew W. </a:t>
            </a:r>
            <a:r>
              <a:rPr lang="en-US" sz="2200" dirty="0" err="1">
                <a:solidFill>
                  <a:prstClr val="black"/>
                </a:solidFill>
                <a:latin typeface="Century Schoolbook"/>
              </a:rPr>
              <a:t>Appel</a:t>
            </a:r>
            <a:r>
              <a:rPr lang="en-US" sz="2200" dirty="0">
                <a:solidFill>
                  <a:prstClr val="black"/>
                </a:solidFill>
                <a:latin typeface="Century Schoolbook"/>
              </a:rPr>
              <a:t> </a:t>
            </a:r>
          </a:p>
          <a:p>
            <a:pPr marL="365760" lvl="1" indent="0">
              <a:lnSpc>
                <a:spcPct val="100000"/>
              </a:lnSpc>
              <a:spcBef>
                <a:spcPct val="20000"/>
              </a:spcBef>
              <a:spcAft>
                <a:spcPts val="0"/>
              </a:spcAft>
              <a:buClr>
                <a:srgbClr val="FE8637"/>
              </a:buClr>
              <a:buSzPct val="80000"/>
              <a:buNone/>
            </a:pPr>
            <a:endParaRPr lang="en-US" sz="2400" dirty="0">
              <a:solidFill>
                <a:prstClr val="black"/>
              </a:solidFill>
              <a:latin typeface="Century Schoolbook"/>
            </a:endParaRPr>
          </a:p>
          <a:p>
            <a:endParaRPr lang="en-US" dirty="0"/>
          </a:p>
        </p:txBody>
      </p:sp>
    </p:spTree>
    <p:extLst>
      <p:ext uri="{BB962C8B-B14F-4D97-AF65-F5344CB8AC3E}">
        <p14:creationId xmlns:p14="http://schemas.microsoft.com/office/powerpoint/2010/main" val="2525041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Language Processor</a:t>
            </a:r>
            <a:endParaRPr lang="en-GB" dirty="0"/>
          </a:p>
        </p:txBody>
      </p:sp>
      <p:sp>
        <p:nvSpPr>
          <p:cNvPr id="3" name="Content Placeholder 2"/>
          <p:cNvSpPr>
            <a:spLocks noGrp="1"/>
          </p:cNvSpPr>
          <p:nvPr>
            <p:ph idx="1"/>
          </p:nvPr>
        </p:nvSpPr>
        <p:spPr>
          <a:xfrm>
            <a:off x="1097280" y="1845733"/>
            <a:ext cx="10058400" cy="4394645"/>
          </a:xfrm>
        </p:spPr>
        <p:txBody>
          <a:bodyPr>
            <a:normAutofit fontScale="92500" lnSpcReduction="20000"/>
          </a:bodyPr>
          <a:lstStyle/>
          <a:p>
            <a:pPr fontAlgn="base">
              <a:lnSpc>
                <a:spcPct val="110000"/>
              </a:lnSpc>
              <a:buFont typeface="Wingdings" panose="05000000000000000000" pitchFamily="2" charset="2"/>
              <a:buChar char="v"/>
            </a:pPr>
            <a:r>
              <a:rPr lang="en-GB" sz="2200" dirty="0">
                <a:latin typeface="Century Schoolbook" panose="02040604050505020304" pitchFamily="18" charset="0"/>
              </a:rPr>
              <a:t> A computer understands instructions in machine code, i.e. in the form of 0s and 1s. It is a tedious task to write a computer program directly in machine code. </a:t>
            </a:r>
          </a:p>
          <a:p>
            <a:pPr fontAlgn="base">
              <a:lnSpc>
                <a:spcPct val="110000"/>
              </a:lnSpc>
              <a:buFont typeface="Wingdings" panose="05000000000000000000" pitchFamily="2" charset="2"/>
              <a:buChar char="v"/>
            </a:pPr>
            <a:r>
              <a:rPr lang="en-GB" sz="2200" dirty="0">
                <a:latin typeface="Century Schoolbook" panose="02040604050505020304" pitchFamily="18" charset="0"/>
              </a:rPr>
              <a:t> The programs are written mostly in high level languages like Java, C++, Python etc. and are called </a:t>
            </a:r>
            <a:r>
              <a:rPr lang="en-GB" sz="2200" b="1" dirty="0">
                <a:latin typeface="Century Schoolbook" panose="02040604050505020304" pitchFamily="18" charset="0"/>
              </a:rPr>
              <a:t>source code</a:t>
            </a:r>
            <a:r>
              <a:rPr lang="en-GB" sz="2200" dirty="0">
                <a:latin typeface="Century Schoolbook" panose="02040604050505020304" pitchFamily="18" charset="0"/>
              </a:rPr>
              <a:t>. These source code cannot be executed directly by the computer and must be converted into machine language to be executed. </a:t>
            </a:r>
          </a:p>
          <a:p>
            <a:pPr fontAlgn="base">
              <a:lnSpc>
                <a:spcPct val="120000"/>
              </a:lnSpc>
              <a:buFont typeface="Wingdings" panose="05000000000000000000" pitchFamily="2" charset="2"/>
              <a:buChar char="v"/>
            </a:pPr>
            <a:r>
              <a:rPr lang="en-GB" sz="2200" dirty="0">
                <a:latin typeface="Century Schoolbook" panose="02040604050505020304" pitchFamily="18" charset="0"/>
              </a:rPr>
              <a:t> Hence, a special translator system software is used to translate the program written in high-level language into machine code is called </a:t>
            </a:r>
            <a:r>
              <a:rPr lang="en-GB" sz="2200" b="1" dirty="0">
                <a:latin typeface="Century Schoolbook" panose="02040604050505020304" pitchFamily="18" charset="0"/>
              </a:rPr>
              <a:t>Language Processor</a:t>
            </a:r>
            <a:r>
              <a:rPr lang="en-GB" sz="2200" dirty="0">
                <a:latin typeface="Century Schoolbook" panose="02040604050505020304" pitchFamily="18" charset="0"/>
              </a:rPr>
              <a:t> and the program after translated into machine code (object program / object code).</a:t>
            </a:r>
          </a:p>
          <a:p>
            <a:pPr fontAlgn="base">
              <a:buFont typeface="Wingdings" panose="05000000000000000000" pitchFamily="2" charset="2"/>
              <a:buChar char="v"/>
            </a:pPr>
            <a:r>
              <a:rPr lang="en-GB" sz="2200" dirty="0">
                <a:latin typeface="Century Schoolbook" panose="02040604050505020304" pitchFamily="18" charset="0"/>
              </a:rPr>
              <a:t>The language processors can be any of the following three types:</a:t>
            </a:r>
          </a:p>
          <a:p>
            <a:pPr marL="475488" lvl="2" indent="0" fontAlgn="base">
              <a:buNone/>
            </a:pPr>
            <a:r>
              <a:rPr lang="en-GB" sz="2200" dirty="0">
                <a:latin typeface="Century Schoolbook" panose="02040604050505020304" pitchFamily="18" charset="0"/>
              </a:rPr>
              <a:t>1. Compiler</a:t>
            </a:r>
          </a:p>
          <a:p>
            <a:pPr marL="475488" lvl="2" indent="0" fontAlgn="base">
              <a:buNone/>
            </a:pPr>
            <a:r>
              <a:rPr lang="en-GB" sz="2200" dirty="0">
                <a:latin typeface="Century Schoolbook" panose="02040604050505020304" pitchFamily="18" charset="0"/>
              </a:rPr>
              <a:t>2. Interpreter</a:t>
            </a:r>
          </a:p>
          <a:p>
            <a:pPr marL="475488" lvl="2" indent="0" fontAlgn="base">
              <a:buNone/>
            </a:pPr>
            <a:r>
              <a:rPr lang="en-GB" sz="2200" dirty="0">
                <a:latin typeface="Century Schoolbook" panose="02040604050505020304" pitchFamily="18" charset="0"/>
              </a:rPr>
              <a:t>3. Assembler</a:t>
            </a:r>
          </a:p>
        </p:txBody>
      </p:sp>
    </p:spTree>
    <p:extLst>
      <p:ext uri="{BB962C8B-B14F-4D97-AF65-F5344CB8AC3E}">
        <p14:creationId xmlns:p14="http://schemas.microsoft.com/office/powerpoint/2010/main" val="1761223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Language Processor: Compiler </a:t>
            </a:r>
            <a:endParaRPr lang="en-US" sz="4000" dirty="0"/>
          </a:p>
        </p:txBody>
      </p:sp>
      <p:sp>
        <p:nvSpPr>
          <p:cNvPr id="3" name="Content Placeholder 2"/>
          <p:cNvSpPr>
            <a:spLocks noGrp="1"/>
          </p:cNvSpPr>
          <p:nvPr>
            <p:ph idx="1"/>
          </p:nvPr>
        </p:nvSpPr>
        <p:spPr>
          <a:xfrm>
            <a:off x="1097280" y="1845734"/>
            <a:ext cx="10058400" cy="3183466"/>
          </a:xfrm>
        </p:spPr>
        <p:txBody>
          <a:bodyPr/>
          <a:lstStyle/>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A compiler is a program that reads the whole program written in a </a:t>
            </a:r>
            <a:r>
              <a:rPr lang="en-US" sz="2400" b="1" i="1" dirty="0">
                <a:solidFill>
                  <a:prstClr val="black"/>
                </a:solidFill>
                <a:latin typeface="Century Schoolbook"/>
              </a:rPr>
              <a:t>source language/high level language as a whole in one go </a:t>
            </a:r>
            <a:r>
              <a:rPr lang="en-US" sz="2400" dirty="0">
                <a:solidFill>
                  <a:prstClr val="black"/>
                </a:solidFill>
                <a:latin typeface="Century Schoolbook"/>
              </a:rPr>
              <a:t>and translates it into an equivalent program in a </a:t>
            </a:r>
            <a:r>
              <a:rPr lang="en-US" sz="2400" b="1" i="1" dirty="0">
                <a:solidFill>
                  <a:prstClr val="black"/>
                </a:solidFill>
                <a:latin typeface="Century Schoolbook"/>
              </a:rPr>
              <a:t>target language.</a:t>
            </a:r>
            <a:endParaRPr lang="en-US" dirty="0"/>
          </a:p>
          <a:p>
            <a:endParaRPr lang="en-US" dirty="0"/>
          </a:p>
          <a:p>
            <a:endParaRPr lang="en-US" dirty="0"/>
          </a:p>
          <a:p>
            <a:endParaRPr lang="en-US" dirty="0"/>
          </a:p>
          <a:p>
            <a:endParaRPr lang="en-US"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976" y="5137574"/>
            <a:ext cx="5316704" cy="844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4829" y="3523828"/>
            <a:ext cx="6430297" cy="171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6995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Language Processor: Interpreter </a:t>
            </a:r>
            <a:endParaRPr lang="en-US" sz="4000" dirty="0"/>
          </a:p>
        </p:txBody>
      </p:sp>
      <p:sp>
        <p:nvSpPr>
          <p:cNvPr id="3" name="Content Placeholder 2"/>
          <p:cNvSpPr>
            <a:spLocks noGrp="1"/>
          </p:cNvSpPr>
          <p:nvPr>
            <p:ph idx="1"/>
          </p:nvPr>
        </p:nvSpPr>
        <p:spPr/>
        <p:txBody>
          <a:bodyPr/>
          <a:lstStyle/>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An interpreter is another common kind of language processor.</a:t>
            </a: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Instead of producing a target program as a translation, an interpreter appears to directly execute the operations specified in the source program on inputs supplied by the user.</a:t>
            </a:r>
          </a:p>
        </p:txBody>
      </p:sp>
      <p:sp>
        <p:nvSpPr>
          <p:cNvPr id="4" name="Rectangle 4"/>
          <p:cNvSpPr>
            <a:spLocks noChangeArrowheads="1"/>
          </p:cNvSpPr>
          <p:nvPr/>
        </p:nvSpPr>
        <p:spPr bwMode="auto">
          <a:xfrm>
            <a:off x="4499171" y="3987800"/>
            <a:ext cx="1828800" cy="838200"/>
          </a:xfrm>
          <a:prstGeom prst="rect">
            <a:avLst/>
          </a:prstGeom>
          <a:ln w="12700">
            <a:headEnd/>
            <a:tailEnd/>
          </a:ln>
        </p:spPr>
        <p:style>
          <a:lnRef idx="2">
            <a:schemeClr val="accent2"/>
          </a:lnRef>
          <a:fillRef idx="1">
            <a:schemeClr val="lt1"/>
          </a:fillRef>
          <a:effectRef idx="0">
            <a:schemeClr val="accent2"/>
          </a:effectRef>
          <a:fontRef idx="minor">
            <a:schemeClr val="dk1"/>
          </a:fontRef>
        </p:style>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sz="2000" b="1" dirty="0">
                <a:solidFill>
                  <a:prstClr val="black"/>
                </a:solidFill>
                <a:latin typeface="Century Schoolbook"/>
              </a:rPr>
              <a:t> Interpreter</a:t>
            </a:r>
            <a:endParaRPr lang="en-US" sz="2000" b="1" dirty="0"/>
          </a:p>
        </p:txBody>
      </p:sp>
      <p:sp>
        <p:nvSpPr>
          <p:cNvPr id="5" name="Line 5"/>
          <p:cNvSpPr>
            <a:spLocks noChangeShapeType="1"/>
          </p:cNvSpPr>
          <p:nvPr/>
        </p:nvSpPr>
        <p:spPr bwMode="auto">
          <a:xfrm>
            <a:off x="4158127" y="4212714"/>
            <a:ext cx="304800" cy="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Line 6"/>
          <p:cNvSpPr>
            <a:spLocks noChangeShapeType="1"/>
          </p:cNvSpPr>
          <p:nvPr/>
        </p:nvSpPr>
        <p:spPr bwMode="auto">
          <a:xfrm>
            <a:off x="6410679" y="4443547"/>
            <a:ext cx="304800" cy="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7" name="Rectangle 6"/>
          <p:cNvSpPr/>
          <p:nvPr/>
        </p:nvSpPr>
        <p:spPr>
          <a:xfrm>
            <a:off x="2004973" y="3945235"/>
            <a:ext cx="2153154" cy="461665"/>
          </a:xfrm>
          <a:prstGeom prst="rect">
            <a:avLst/>
          </a:prstGeom>
        </p:spPr>
        <p:txBody>
          <a:bodyPr wrap="none">
            <a:spAutoFit/>
          </a:bodyPr>
          <a:lstStyle/>
          <a:p>
            <a:r>
              <a:rPr lang="en-US" sz="2400" dirty="0">
                <a:solidFill>
                  <a:schemeClr val="tx2">
                    <a:lumMod val="50000"/>
                  </a:schemeClr>
                </a:solidFill>
                <a:latin typeface="Adobe Caslon Pro" panose="0205050205050A020403" pitchFamily="18" charset="0"/>
              </a:rPr>
              <a:t>Source program</a:t>
            </a:r>
            <a:endParaRPr lang="en-US" sz="2400" dirty="0">
              <a:latin typeface="Adobe Caslon Pro" panose="0205050205050A020403" pitchFamily="18" charset="0"/>
            </a:endParaRPr>
          </a:p>
        </p:txBody>
      </p:sp>
      <p:sp>
        <p:nvSpPr>
          <p:cNvPr id="8" name="Rectangle 7"/>
          <p:cNvSpPr/>
          <p:nvPr/>
        </p:nvSpPr>
        <p:spPr>
          <a:xfrm>
            <a:off x="6736406" y="4212714"/>
            <a:ext cx="1039067" cy="461665"/>
          </a:xfrm>
          <a:prstGeom prst="rect">
            <a:avLst/>
          </a:prstGeom>
        </p:spPr>
        <p:txBody>
          <a:bodyPr wrap="none">
            <a:spAutoFit/>
          </a:bodyPr>
          <a:lstStyle/>
          <a:p>
            <a:r>
              <a:rPr lang="en-US" sz="2400" dirty="0">
                <a:solidFill>
                  <a:schemeClr val="tx2">
                    <a:lumMod val="50000"/>
                  </a:schemeClr>
                </a:solidFill>
                <a:latin typeface="Adobe Caslon Pro" panose="0205050205050A020403" pitchFamily="18" charset="0"/>
              </a:rPr>
              <a:t>Output</a:t>
            </a:r>
            <a:endParaRPr lang="en-US" sz="2400" dirty="0">
              <a:latin typeface="Adobe Caslon Pro" panose="0205050205050A020403" pitchFamily="18" charset="0"/>
            </a:endParaRPr>
          </a:p>
        </p:txBody>
      </p:sp>
      <p:sp>
        <p:nvSpPr>
          <p:cNvPr id="9" name="Line 9"/>
          <p:cNvSpPr>
            <a:spLocks noChangeShapeType="1"/>
          </p:cNvSpPr>
          <p:nvPr/>
        </p:nvSpPr>
        <p:spPr bwMode="auto">
          <a:xfrm>
            <a:off x="5354914" y="4826000"/>
            <a:ext cx="8967" cy="45720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0" name="Rectangle 9"/>
          <p:cNvSpPr/>
          <p:nvPr/>
        </p:nvSpPr>
        <p:spPr>
          <a:xfrm>
            <a:off x="4462927" y="5364680"/>
            <a:ext cx="2055563" cy="461665"/>
          </a:xfrm>
          <a:prstGeom prst="rect">
            <a:avLst/>
          </a:prstGeom>
        </p:spPr>
        <p:txBody>
          <a:bodyPr wrap="none">
            <a:spAutoFit/>
          </a:bodyPr>
          <a:lstStyle/>
          <a:p>
            <a:r>
              <a:rPr lang="en-US" sz="2400" dirty="0">
                <a:solidFill>
                  <a:schemeClr val="tx2">
                    <a:lumMod val="50000"/>
                  </a:schemeClr>
                </a:solidFill>
                <a:latin typeface="Adobe Caslon Pro" panose="0205050205050A020403" pitchFamily="18" charset="0"/>
              </a:rPr>
              <a:t>Error messages</a:t>
            </a:r>
            <a:endParaRPr lang="en-US" sz="2400" dirty="0">
              <a:latin typeface="Adobe Caslon Pro" panose="0205050205050A020403" pitchFamily="18" charset="0"/>
            </a:endParaRPr>
          </a:p>
        </p:txBody>
      </p:sp>
      <p:sp>
        <p:nvSpPr>
          <p:cNvPr id="11" name="Rectangle 10"/>
          <p:cNvSpPr/>
          <p:nvPr/>
        </p:nvSpPr>
        <p:spPr>
          <a:xfrm>
            <a:off x="3206036" y="4364335"/>
            <a:ext cx="833883" cy="461665"/>
          </a:xfrm>
          <a:prstGeom prst="rect">
            <a:avLst/>
          </a:prstGeom>
        </p:spPr>
        <p:txBody>
          <a:bodyPr wrap="none">
            <a:spAutoFit/>
          </a:bodyPr>
          <a:lstStyle/>
          <a:p>
            <a:r>
              <a:rPr lang="en-US" sz="2400" dirty="0">
                <a:solidFill>
                  <a:schemeClr val="tx2">
                    <a:lumMod val="50000"/>
                  </a:schemeClr>
                </a:solidFill>
                <a:latin typeface="Adobe Caslon Pro" panose="0205050205050A020403" pitchFamily="18" charset="0"/>
              </a:rPr>
              <a:t>Input</a:t>
            </a:r>
            <a:endParaRPr lang="en-US" sz="2400" dirty="0">
              <a:latin typeface="Adobe Caslon Pro" panose="0205050205050A020403" pitchFamily="18" charset="0"/>
            </a:endParaRPr>
          </a:p>
        </p:txBody>
      </p:sp>
      <p:sp>
        <p:nvSpPr>
          <p:cNvPr id="12" name="Line 5"/>
          <p:cNvSpPr>
            <a:spLocks noChangeShapeType="1"/>
          </p:cNvSpPr>
          <p:nvPr/>
        </p:nvSpPr>
        <p:spPr bwMode="auto">
          <a:xfrm>
            <a:off x="4104770" y="4595167"/>
            <a:ext cx="304800" cy="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en-US"/>
          </a:p>
        </p:txBody>
      </p:sp>
    </p:spTree>
    <p:extLst>
      <p:ext uri="{BB962C8B-B14F-4D97-AF65-F5344CB8AC3E}">
        <p14:creationId xmlns:p14="http://schemas.microsoft.com/office/powerpoint/2010/main" val="330894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Compiler vs. Interpreter</a:t>
            </a:r>
            <a:endParaRPr lang="en-US" dirty="0"/>
          </a:p>
        </p:txBody>
      </p:sp>
      <p:sp>
        <p:nvSpPr>
          <p:cNvPr id="4" name="Content Placeholder 3"/>
          <p:cNvSpPr>
            <a:spLocks noGrp="1"/>
          </p:cNvSpPr>
          <p:nvPr>
            <p:ph idx="1"/>
          </p:nvPr>
        </p:nvSpPr>
        <p:spPr/>
        <p:txBody>
          <a:bodyPr/>
          <a:lstStyle/>
          <a:p>
            <a:endParaRPr lang="en-GB"/>
          </a:p>
        </p:txBody>
      </p:sp>
      <p:pic>
        <p:nvPicPr>
          <p:cNvPr id="5" name="Picture 4"/>
          <p:cNvPicPr>
            <a:picLocks noChangeAspect="1"/>
          </p:cNvPicPr>
          <p:nvPr/>
        </p:nvPicPr>
        <p:blipFill>
          <a:blip r:embed="rId3"/>
          <a:stretch>
            <a:fillRect/>
          </a:stretch>
        </p:blipFill>
        <p:spPr>
          <a:xfrm>
            <a:off x="1540543" y="1845734"/>
            <a:ext cx="8325351" cy="4629082"/>
          </a:xfrm>
          <a:prstGeom prst="rect">
            <a:avLst/>
          </a:prstGeom>
          <a:ln>
            <a:solidFill>
              <a:schemeClr val="accent1"/>
            </a:solidFill>
          </a:ln>
        </p:spPr>
      </p:pic>
      <p:cxnSp>
        <p:nvCxnSpPr>
          <p:cNvPr id="7" name="Straight Connector 6"/>
          <p:cNvCxnSpPr/>
          <p:nvPr/>
        </p:nvCxnSpPr>
        <p:spPr>
          <a:xfrm>
            <a:off x="6256421" y="1845734"/>
            <a:ext cx="0" cy="468340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6903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Hybrid Compiler</a:t>
            </a:r>
            <a:endParaRPr lang="en-US" dirty="0"/>
          </a:p>
        </p:txBody>
      </p:sp>
      <p:sp>
        <p:nvSpPr>
          <p:cNvPr id="3" name="Content Placeholder 2"/>
          <p:cNvSpPr>
            <a:spLocks noGrp="1"/>
          </p:cNvSpPr>
          <p:nvPr>
            <p:ph idx="1"/>
          </p:nvPr>
        </p:nvSpPr>
        <p:spPr/>
        <p:txBody>
          <a:bodyPr/>
          <a:lstStyle/>
          <a:p>
            <a:pPr marL="274320" lvl="0" indent="-274320">
              <a:lnSpc>
                <a:spcPct val="100000"/>
              </a:lnSpc>
              <a:spcBef>
                <a:spcPts val="600"/>
              </a:spcBef>
              <a:spcAft>
                <a:spcPts val="0"/>
              </a:spcAft>
              <a:buClr>
                <a:srgbClr val="FE8637"/>
              </a:buClr>
              <a:buSzPct val="70000"/>
              <a:buFont typeface="Wingdings"/>
              <a:buChar char=""/>
            </a:pPr>
            <a:r>
              <a:rPr lang="en-US" dirty="0">
                <a:solidFill>
                  <a:prstClr val="black"/>
                </a:solidFill>
                <a:latin typeface="Century Schoolbook"/>
              </a:rPr>
              <a:t>Java language processors combine compilation and interpretation.</a:t>
            </a:r>
          </a:p>
          <a:p>
            <a:pPr marL="274320" lvl="0" indent="-274320">
              <a:lnSpc>
                <a:spcPct val="100000"/>
              </a:lnSpc>
              <a:spcBef>
                <a:spcPts val="600"/>
              </a:spcBef>
              <a:spcAft>
                <a:spcPts val="0"/>
              </a:spcAft>
              <a:buClr>
                <a:srgbClr val="FE8637"/>
              </a:buClr>
              <a:buSzPct val="70000"/>
              <a:buFont typeface="Wingdings"/>
              <a:buChar char=""/>
            </a:pP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4438" y="2446696"/>
            <a:ext cx="6400800" cy="340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3528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Hybrid Compiler</a:t>
            </a:r>
            <a:endParaRPr lang="en-US" dirty="0"/>
          </a:p>
        </p:txBody>
      </p:sp>
      <p:sp>
        <p:nvSpPr>
          <p:cNvPr id="3" name="Content Placeholder 2"/>
          <p:cNvSpPr>
            <a:spLocks noGrp="1"/>
          </p:cNvSpPr>
          <p:nvPr>
            <p:ph idx="1"/>
          </p:nvPr>
        </p:nvSpPr>
        <p:spPr/>
        <p:txBody>
          <a:bodyPr>
            <a:normAutofit fontScale="92500" lnSpcReduction="20000"/>
          </a:bodyPr>
          <a:lstStyle/>
          <a:p>
            <a:pPr marL="274320" lvl="0" indent="-274320">
              <a:lnSpc>
                <a:spcPct val="100000"/>
              </a:lnSpc>
              <a:spcBef>
                <a:spcPts val="600"/>
              </a:spcBef>
              <a:spcAft>
                <a:spcPts val="0"/>
              </a:spcAft>
              <a:buClr>
                <a:srgbClr val="FE8637"/>
              </a:buClr>
              <a:buSzPct val="70000"/>
              <a:buFont typeface="Wingdings"/>
              <a:buChar char=""/>
            </a:pPr>
            <a:r>
              <a:rPr lang="en-US" dirty="0">
                <a:solidFill>
                  <a:prstClr val="black"/>
                </a:solidFill>
                <a:latin typeface="Century Schoolbook"/>
              </a:rPr>
              <a:t>A Java source program may first be compiled into an intermediate </a:t>
            </a:r>
          </a:p>
          <a:p>
            <a:pPr marL="0" lvl="0" indent="0">
              <a:lnSpc>
                <a:spcPct val="100000"/>
              </a:lnSpc>
              <a:spcBef>
                <a:spcPts val="600"/>
              </a:spcBef>
              <a:spcAft>
                <a:spcPts val="0"/>
              </a:spcAft>
              <a:buClr>
                <a:srgbClr val="FE8637"/>
              </a:buClr>
              <a:buSzPct val="70000"/>
              <a:buNone/>
            </a:pPr>
            <a:r>
              <a:rPr lang="en-US" dirty="0">
                <a:solidFill>
                  <a:prstClr val="black"/>
                </a:solidFill>
                <a:latin typeface="Century Schoolbook"/>
              </a:rPr>
              <a:t>    form called </a:t>
            </a:r>
            <a:r>
              <a:rPr lang="en-US" b="1" dirty="0" err="1">
                <a:solidFill>
                  <a:prstClr val="black"/>
                </a:solidFill>
                <a:latin typeface="Century Schoolbook"/>
              </a:rPr>
              <a:t>bytecodes</a:t>
            </a:r>
            <a:r>
              <a:rPr lang="en-US" dirty="0">
                <a:solidFill>
                  <a:prstClr val="black"/>
                </a:solidFill>
                <a:latin typeface="Century Schoolbook"/>
              </a:rPr>
              <a:t>.</a:t>
            </a:r>
          </a:p>
          <a:p>
            <a:pPr marL="274320" lvl="0" indent="-274320">
              <a:lnSpc>
                <a:spcPct val="100000"/>
              </a:lnSpc>
              <a:spcBef>
                <a:spcPts val="600"/>
              </a:spcBef>
              <a:spcAft>
                <a:spcPts val="0"/>
              </a:spcAft>
              <a:buClr>
                <a:srgbClr val="FE8637"/>
              </a:buClr>
              <a:buSzPct val="70000"/>
              <a:buFont typeface="Wingdings"/>
              <a:buChar char=""/>
            </a:pPr>
            <a:r>
              <a:rPr lang="en-US" dirty="0">
                <a:solidFill>
                  <a:prstClr val="black"/>
                </a:solidFill>
                <a:latin typeface="Century Schoolbook"/>
              </a:rPr>
              <a:t>The </a:t>
            </a:r>
            <a:r>
              <a:rPr lang="en-US" b="1" dirty="0" err="1">
                <a:solidFill>
                  <a:prstClr val="black"/>
                </a:solidFill>
                <a:latin typeface="Century Schoolbook"/>
              </a:rPr>
              <a:t>bytecodes</a:t>
            </a:r>
            <a:r>
              <a:rPr lang="en-US" dirty="0">
                <a:solidFill>
                  <a:prstClr val="black"/>
                </a:solidFill>
                <a:latin typeface="Century Schoolbook"/>
              </a:rPr>
              <a:t> are then interpreted by a virtual machine.</a:t>
            </a:r>
          </a:p>
          <a:p>
            <a:pPr marL="274320" lvl="0" indent="-274320">
              <a:lnSpc>
                <a:spcPct val="100000"/>
              </a:lnSpc>
              <a:spcBef>
                <a:spcPts val="600"/>
              </a:spcBef>
              <a:spcAft>
                <a:spcPts val="0"/>
              </a:spcAft>
              <a:buClr>
                <a:srgbClr val="FE8637"/>
              </a:buClr>
              <a:buSzPct val="70000"/>
              <a:buFont typeface="Wingdings"/>
              <a:buChar char=""/>
            </a:pPr>
            <a:endParaRPr lang="en-US" dirty="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r>
              <a:rPr lang="en-US" dirty="0">
                <a:solidFill>
                  <a:prstClr val="black"/>
                </a:solidFill>
                <a:latin typeface="Century Schoolbook"/>
              </a:rPr>
              <a:t>A benefit of this arrangement is that </a:t>
            </a:r>
            <a:r>
              <a:rPr lang="en-US" dirty="0" err="1">
                <a:solidFill>
                  <a:prstClr val="black"/>
                </a:solidFill>
                <a:latin typeface="Century Schoolbook"/>
              </a:rPr>
              <a:t>bytecodes</a:t>
            </a:r>
            <a:r>
              <a:rPr lang="en-US" dirty="0">
                <a:solidFill>
                  <a:prstClr val="black"/>
                </a:solidFill>
                <a:latin typeface="Century Schoolbook"/>
              </a:rPr>
              <a:t> compiled</a:t>
            </a:r>
          </a:p>
          <a:p>
            <a:pPr marL="0" lvl="0" indent="0">
              <a:lnSpc>
                <a:spcPct val="100000"/>
              </a:lnSpc>
              <a:spcBef>
                <a:spcPts val="600"/>
              </a:spcBef>
              <a:spcAft>
                <a:spcPts val="0"/>
              </a:spcAft>
              <a:buClr>
                <a:srgbClr val="FE8637"/>
              </a:buClr>
              <a:buSzPct val="70000"/>
              <a:buNone/>
            </a:pPr>
            <a:r>
              <a:rPr lang="en-US" dirty="0">
                <a:solidFill>
                  <a:prstClr val="black"/>
                </a:solidFill>
                <a:latin typeface="Century Schoolbook"/>
              </a:rPr>
              <a:t>    on one machine can be interpreted on another machine, </a:t>
            </a:r>
          </a:p>
          <a:p>
            <a:pPr marL="0" lvl="0" indent="0">
              <a:lnSpc>
                <a:spcPct val="100000"/>
              </a:lnSpc>
              <a:spcBef>
                <a:spcPts val="600"/>
              </a:spcBef>
              <a:spcAft>
                <a:spcPts val="0"/>
              </a:spcAft>
              <a:buClr>
                <a:srgbClr val="FE8637"/>
              </a:buClr>
              <a:buSzPct val="70000"/>
              <a:buNone/>
            </a:pPr>
            <a:r>
              <a:rPr lang="en-US" dirty="0">
                <a:solidFill>
                  <a:prstClr val="black"/>
                </a:solidFill>
                <a:latin typeface="Century Schoolbook"/>
              </a:rPr>
              <a:t>    perhaps across a network.</a:t>
            </a:r>
          </a:p>
          <a:p>
            <a:pPr marL="274320" lvl="0" indent="-274320">
              <a:lnSpc>
                <a:spcPct val="100000"/>
              </a:lnSpc>
              <a:spcBef>
                <a:spcPts val="600"/>
              </a:spcBef>
              <a:spcAft>
                <a:spcPts val="0"/>
              </a:spcAft>
              <a:buClr>
                <a:srgbClr val="FE8637"/>
              </a:buClr>
              <a:buSzPct val="70000"/>
              <a:buFont typeface="Wingdings"/>
              <a:buChar char=""/>
            </a:pPr>
            <a:endParaRPr lang="en-US" dirty="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r>
              <a:rPr lang="en-US" dirty="0">
                <a:solidFill>
                  <a:prstClr val="black"/>
                </a:solidFill>
                <a:latin typeface="Century Schoolbook"/>
              </a:rPr>
              <a:t>In order to achieve faster processing of inputs to outputs,</a:t>
            </a:r>
          </a:p>
          <a:p>
            <a:pPr marL="0" lvl="0" indent="0">
              <a:lnSpc>
                <a:spcPct val="100000"/>
              </a:lnSpc>
              <a:spcBef>
                <a:spcPts val="600"/>
              </a:spcBef>
              <a:spcAft>
                <a:spcPts val="0"/>
              </a:spcAft>
              <a:buClr>
                <a:srgbClr val="FE8637"/>
              </a:buClr>
              <a:buSzPct val="70000"/>
              <a:buNone/>
            </a:pPr>
            <a:r>
              <a:rPr lang="en-US" dirty="0">
                <a:solidFill>
                  <a:prstClr val="black"/>
                </a:solidFill>
                <a:latin typeface="Century Schoolbook"/>
              </a:rPr>
              <a:t>    some Java compilers, called </a:t>
            </a:r>
            <a:r>
              <a:rPr lang="en-US" b="1" dirty="0">
                <a:solidFill>
                  <a:prstClr val="black"/>
                </a:solidFill>
                <a:latin typeface="Century Schoolbook"/>
              </a:rPr>
              <a:t>just-in-time compilers,</a:t>
            </a:r>
          </a:p>
          <a:p>
            <a:pPr marL="0" lvl="0" indent="0">
              <a:lnSpc>
                <a:spcPct val="100000"/>
              </a:lnSpc>
              <a:spcBef>
                <a:spcPts val="600"/>
              </a:spcBef>
              <a:spcAft>
                <a:spcPts val="0"/>
              </a:spcAft>
              <a:buClr>
                <a:srgbClr val="FE8637"/>
              </a:buClr>
              <a:buSzPct val="70000"/>
              <a:buNone/>
            </a:pPr>
            <a:r>
              <a:rPr lang="en-US" dirty="0">
                <a:solidFill>
                  <a:prstClr val="black"/>
                </a:solidFill>
                <a:latin typeface="Century Schoolbook"/>
              </a:rPr>
              <a:t>    translate the </a:t>
            </a:r>
            <a:r>
              <a:rPr lang="en-US" dirty="0" err="1">
                <a:solidFill>
                  <a:prstClr val="black"/>
                </a:solidFill>
                <a:latin typeface="Century Schoolbook"/>
              </a:rPr>
              <a:t>bytecodes</a:t>
            </a:r>
            <a:r>
              <a:rPr lang="en-US" dirty="0">
                <a:solidFill>
                  <a:prstClr val="black"/>
                </a:solidFill>
                <a:latin typeface="Century Schoolbook"/>
              </a:rPr>
              <a:t> into machine language</a:t>
            </a:r>
          </a:p>
          <a:p>
            <a:pPr marL="0" lvl="0" indent="0">
              <a:lnSpc>
                <a:spcPct val="100000"/>
              </a:lnSpc>
              <a:spcBef>
                <a:spcPts val="600"/>
              </a:spcBef>
              <a:spcAft>
                <a:spcPts val="0"/>
              </a:spcAft>
              <a:buClr>
                <a:srgbClr val="FE8637"/>
              </a:buClr>
              <a:buSzPct val="70000"/>
              <a:buNone/>
            </a:pPr>
            <a:r>
              <a:rPr lang="en-US" dirty="0">
                <a:solidFill>
                  <a:prstClr val="black"/>
                </a:solidFill>
                <a:latin typeface="Century Schoolbook"/>
              </a:rPr>
              <a:t>    immediately before they run the intermediate program to</a:t>
            </a:r>
          </a:p>
          <a:p>
            <a:pPr marL="0" lvl="0" indent="0">
              <a:lnSpc>
                <a:spcPct val="100000"/>
              </a:lnSpc>
              <a:spcBef>
                <a:spcPts val="600"/>
              </a:spcBef>
              <a:spcAft>
                <a:spcPts val="0"/>
              </a:spcAft>
              <a:buClr>
                <a:srgbClr val="FE8637"/>
              </a:buClr>
              <a:buSzPct val="70000"/>
              <a:buNone/>
            </a:pPr>
            <a:r>
              <a:rPr lang="en-US" dirty="0">
                <a:solidFill>
                  <a:prstClr val="black"/>
                </a:solidFill>
                <a:latin typeface="Century Schoolbook"/>
              </a:rPr>
              <a:t>    process the input.</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7691" y="2212258"/>
            <a:ext cx="3983753" cy="4122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4682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Language Processor: Assembler</a:t>
            </a:r>
            <a:endParaRPr lang="en-US" sz="4000" dirty="0"/>
          </a:p>
        </p:txBody>
      </p:sp>
      <p:sp>
        <p:nvSpPr>
          <p:cNvPr id="3" name="Content Placeholder 2"/>
          <p:cNvSpPr>
            <a:spLocks noGrp="1"/>
          </p:cNvSpPr>
          <p:nvPr>
            <p:ph idx="1"/>
          </p:nvPr>
        </p:nvSpPr>
        <p:spPr>
          <a:xfrm>
            <a:off x="1097280" y="1845734"/>
            <a:ext cx="10485120" cy="4023360"/>
          </a:xfrm>
        </p:spPr>
        <p:txBody>
          <a:bodyPr/>
          <a:lstStyle/>
          <a:p>
            <a:pPr marL="274320" lvl="0" indent="-274320">
              <a:lnSpc>
                <a:spcPct val="100000"/>
              </a:lnSpc>
              <a:spcBef>
                <a:spcPts val="600"/>
              </a:spcBef>
              <a:spcAft>
                <a:spcPts val="0"/>
              </a:spcAft>
              <a:buClr>
                <a:srgbClr val="FE8637"/>
              </a:buClr>
              <a:buSzPct val="70000"/>
              <a:buFont typeface="Wingdings"/>
              <a:buChar char=""/>
            </a:pPr>
            <a:r>
              <a:rPr lang="en-GB" sz="2400" dirty="0">
                <a:solidFill>
                  <a:prstClr val="black"/>
                </a:solidFill>
                <a:latin typeface="Century Schoolbook"/>
              </a:rPr>
              <a:t>The Assembler is used to translate the program written in Assembly language into machine code. Assembly language is machine dependent yet mnemonics that are being used to represent instructions in it are not directly understandable by machine and high level language is machine independent.</a:t>
            </a:r>
            <a:endParaRPr lang="en-US" sz="2400" dirty="0">
              <a:solidFill>
                <a:prstClr val="black"/>
              </a:solidFill>
              <a:latin typeface="Century Schoolbook"/>
            </a:endParaRPr>
          </a:p>
        </p:txBody>
      </p:sp>
      <p:pic>
        <p:nvPicPr>
          <p:cNvPr id="1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1427" y="5458416"/>
            <a:ext cx="5316704" cy="844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7280" y="3844670"/>
            <a:ext cx="6430297" cy="171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ectangle 14"/>
          <p:cNvSpPr/>
          <p:nvPr/>
        </p:nvSpPr>
        <p:spPr>
          <a:xfrm>
            <a:off x="3545305" y="4042611"/>
            <a:ext cx="1576021" cy="4010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Assembler</a:t>
            </a:r>
            <a:endParaRPr lang="en-GB" sz="2000" b="1" dirty="0">
              <a:solidFill>
                <a:schemeClr val="tx1"/>
              </a:solidFill>
            </a:endParaRPr>
          </a:p>
        </p:txBody>
      </p:sp>
    </p:spTree>
    <p:extLst>
      <p:ext uri="{BB962C8B-B14F-4D97-AF65-F5344CB8AC3E}">
        <p14:creationId xmlns:p14="http://schemas.microsoft.com/office/powerpoint/2010/main" val="2619253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Other Language Processors: </a:t>
            </a:r>
            <a:endParaRPr lang="en-US" sz="4000"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3858" y="1848619"/>
            <a:ext cx="3834581" cy="4925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6336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Compilation task is full of variety ?? </a:t>
            </a:r>
            <a:endParaRPr lang="en-US" sz="4000" dirty="0"/>
          </a:p>
        </p:txBody>
      </p:sp>
      <p:sp>
        <p:nvSpPr>
          <p:cNvPr id="3" name="Content Placeholder 2"/>
          <p:cNvSpPr>
            <a:spLocks noGrp="1"/>
          </p:cNvSpPr>
          <p:nvPr>
            <p:ph idx="1"/>
          </p:nvPr>
        </p:nvSpPr>
        <p:spPr>
          <a:xfrm>
            <a:off x="1097280" y="1845733"/>
            <a:ext cx="10058400" cy="4387115"/>
          </a:xfrm>
        </p:spPr>
        <p:txBody>
          <a:bodyPr>
            <a:normAutofit fontScale="92500" lnSpcReduction="10000"/>
          </a:bodyPr>
          <a:lstStyle/>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Thousands of source languages</a:t>
            </a:r>
          </a:p>
          <a:p>
            <a:pPr marL="635508" lvl="1" indent="-342900">
              <a:lnSpc>
                <a:spcPct val="100000"/>
              </a:lnSpc>
              <a:spcBef>
                <a:spcPts val="600"/>
              </a:spcBef>
              <a:spcAft>
                <a:spcPts val="0"/>
              </a:spcAft>
              <a:buClr>
                <a:srgbClr val="FE8637"/>
              </a:buClr>
              <a:buSzPct val="70000"/>
              <a:buFont typeface="Arial" panose="020B0604020202020204" pitchFamily="34" charset="0"/>
              <a:buChar char="•"/>
            </a:pPr>
            <a:r>
              <a:rPr lang="en-US" sz="2200" dirty="0">
                <a:solidFill>
                  <a:prstClr val="black"/>
                </a:solidFill>
                <a:latin typeface="Century Schoolbook"/>
              </a:rPr>
              <a:t>Fortran, Pascal, C, C++, Java, ……</a:t>
            </a: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Thousands of target languages</a:t>
            </a:r>
          </a:p>
          <a:p>
            <a:pPr marL="635508" lvl="1" indent="-342900">
              <a:lnSpc>
                <a:spcPct val="100000"/>
              </a:lnSpc>
              <a:spcBef>
                <a:spcPts val="600"/>
              </a:spcBef>
              <a:spcAft>
                <a:spcPts val="0"/>
              </a:spcAft>
              <a:buClr>
                <a:srgbClr val="FE8637"/>
              </a:buClr>
              <a:buSzPct val="70000"/>
              <a:buFont typeface="Arial" panose="020B0604020202020204" pitchFamily="34" charset="0"/>
              <a:buChar char="•"/>
            </a:pPr>
            <a:r>
              <a:rPr lang="en-US" sz="2200" dirty="0">
                <a:solidFill>
                  <a:prstClr val="black"/>
                </a:solidFill>
                <a:latin typeface="Century Schoolbook"/>
              </a:rPr>
              <a:t>Some other lower level language (assembly language), machine language</a:t>
            </a: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Compilation process has similar variety</a:t>
            </a:r>
          </a:p>
          <a:p>
            <a:pPr marL="635508" lvl="1" indent="-342900">
              <a:lnSpc>
                <a:spcPct val="100000"/>
              </a:lnSpc>
              <a:spcBef>
                <a:spcPts val="600"/>
              </a:spcBef>
              <a:spcAft>
                <a:spcPts val="0"/>
              </a:spcAft>
              <a:buClr>
                <a:srgbClr val="FE8637"/>
              </a:buClr>
              <a:buSzPct val="70000"/>
              <a:buFont typeface="Arial" panose="020B0604020202020204" pitchFamily="34" charset="0"/>
              <a:buChar char="•"/>
            </a:pPr>
            <a:r>
              <a:rPr lang="en-US" sz="2200" dirty="0">
                <a:solidFill>
                  <a:prstClr val="black"/>
                </a:solidFill>
                <a:latin typeface="Century Schoolbook"/>
              </a:rPr>
              <a:t>Single pass, multi-pass, load-and-go, debugging, optimizing….</a:t>
            </a: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Variety is overwhelming……</a:t>
            </a:r>
          </a:p>
          <a:p>
            <a:pPr marL="0" lvl="0" indent="0">
              <a:lnSpc>
                <a:spcPct val="100000"/>
              </a:lnSpc>
              <a:spcBef>
                <a:spcPts val="600"/>
              </a:spcBef>
              <a:spcAft>
                <a:spcPts val="0"/>
              </a:spcAft>
              <a:buClr>
                <a:srgbClr val="FE8637"/>
              </a:buClr>
              <a:buSzPct val="70000"/>
              <a:buNone/>
            </a:pPr>
            <a:endParaRPr lang="en-US" sz="2400" b="1" dirty="0">
              <a:solidFill>
                <a:prstClr val="black"/>
              </a:solidFill>
              <a:latin typeface="Century Schoolbook"/>
            </a:endParaRPr>
          </a:p>
          <a:p>
            <a:pPr marL="0" lvl="0" indent="0">
              <a:lnSpc>
                <a:spcPct val="100000"/>
              </a:lnSpc>
              <a:spcBef>
                <a:spcPts val="600"/>
              </a:spcBef>
              <a:spcAft>
                <a:spcPts val="0"/>
              </a:spcAft>
              <a:buClr>
                <a:srgbClr val="FE8637"/>
              </a:buClr>
              <a:buSzPct val="70000"/>
              <a:buNone/>
            </a:pPr>
            <a:r>
              <a:rPr lang="en-US" sz="2400" b="1" dirty="0">
                <a:solidFill>
                  <a:prstClr val="black"/>
                </a:solidFill>
                <a:latin typeface="Century Schoolbook"/>
              </a:rPr>
              <a:t>Good news is: </a:t>
            </a:r>
          </a:p>
          <a:p>
            <a:pPr marL="635508" lvl="1" indent="-342900">
              <a:lnSpc>
                <a:spcPct val="100000"/>
              </a:lnSpc>
              <a:spcBef>
                <a:spcPts val="600"/>
              </a:spcBef>
              <a:spcAft>
                <a:spcPts val="0"/>
              </a:spcAft>
              <a:buClr>
                <a:srgbClr val="FE8637"/>
              </a:buClr>
              <a:buSzPct val="70000"/>
              <a:buFont typeface="Wingdings" panose="05000000000000000000" pitchFamily="2" charset="2"/>
              <a:buChar char="§"/>
            </a:pPr>
            <a:r>
              <a:rPr lang="en-US" sz="2200" dirty="0">
                <a:solidFill>
                  <a:prstClr val="black"/>
                </a:solidFill>
                <a:latin typeface="Century Schoolbook"/>
              </a:rPr>
              <a:t>Few basic techniques is sufficient to cover all variety</a:t>
            </a:r>
          </a:p>
          <a:p>
            <a:pPr marL="635508" lvl="1" indent="-342900">
              <a:lnSpc>
                <a:spcPct val="100000"/>
              </a:lnSpc>
              <a:spcBef>
                <a:spcPts val="600"/>
              </a:spcBef>
              <a:spcAft>
                <a:spcPts val="0"/>
              </a:spcAft>
              <a:buClr>
                <a:srgbClr val="FE8637"/>
              </a:buClr>
              <a:buSzPct val="70000"/>
              <a:buFont typeface="Wingdings" panose="05000000000000000000" pitchFamily="2" charset="2"/>
              <a:buChar char="§"/>
            </a:pPr>
            <a:r>
              <a:rPr lang="en-US" sz="2200" dirty="0">
                <a:solidFill>
                  <a:prstClr val="black"/>
                </a:solidFill>
                <a:latin typeface="Century Schoolbook"/>
              </a:rPr>
              <a:t>Many efficient tools are available</a:t>
            </a:r>
          </a:p>
          <a:p>
            <a:pPr marL="274320" lvl="0" indent="-274320">
              <a:lnSpc>
                <a:spcPct val="100000"/>
              </a:lnSpc>
              <a:spcBef>
                <a:spcPts val="600"/>
              </a:spcBef>
              <a:spcAft>
                <a:spcPts val="0"/>
              </a:spcAft>
              <a:buClr>
                <a:srgbClr val="FE8637"/>
              </a:buClr>
              <a:buSzPct val="70000"/>
              <a:buFont typeface="Wingdings"/>
              <a:buChar char=""/>
            </a:pPr>
            <a:endParaRPr lang="en-US" sz="2400" dirty="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endParaRPr lang="en-US" dirty="0"/>
          </a:p>
        </p:txBody>
      </p:sp>
    </p:spTree>
    <p:extLst>
      <p:ext uri="{BB962C8B-B14F-4D97-AF65-F5344CB8AC3E}">
        <p14:creationId xmlns:p14="http://schemas.microsoft.com/office/powerpoint/2010/main" val="1122568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Job of Compiler</a:t>
            </a:r>
            <a:endParaRPr lang="en-US" dirty="0"/>
          </a:p>
        </p:txBody>
      </p:sp>
      <p:sp>
        <p:nvSpPr>
          <p:cNvPr id="3" name="Content Placeholder 2"/>
          <p:cNvSpPr>
            <a:spLocks noGrp="1"/>
          </p:cNvSpPr>
          <p:nvPr>
            <p:ph idx="1"/>
          </p:nvPr>
        </p:nvSpPr>
        <p:spPr/>
        <p:txBody>
          <a:bodyPr/>
          <a:lstStyle/>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We will study compilers that take as input programs in a high-level programming language and give as output programs in a low-level assembly language.</a:t>
            </a:r>
          </a:p>
          <a:p>
            <a:pPr marL="274320" lvl="0" indent="-274320">
              <a:lnSpc>
                <a:spcPct val="150000"/>
              </a:lnSpc>
              <a:spcBef>
                <a:spcPts val="600"/>
              </a:spcBef>
              <a:spcAft>
                <a:spcPts val="0"/>
              </a:spcAft>
              <a:buClr>
                <a:srgbClr val="FE8637"/>
              </a:buClr>
              <a:buSzPct val="70000"/>
              <a:buFont typeface="Wingdings"/>
              <a:buChar char=""/>
            </a:pPr>
            <a:r>
              <a:rPr lang="en-US" sz="2400" dirty="0">
                <a:solidFill>
                  <a:prstClr val="black"/>
                </a:solidFill>
                <a:latin typeface="Century Schoolbook"/>
              </a:rPr>
              <a:t>Such compilers have 3 jobs:</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TRANSLATION</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VALIDATION</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OPTIMIZATION</a:t>
            </a:r>
          </a:p>
        </p:txBody>
      </p:sp>
    </p:spTree>
    <p:extLst>
      <p:ext uri="{BB962C8B-B14F-4D97-AF65-F5344CB8AC3E}">
        <p14:creationId xmlns:p14="http://schemas.microsoft.com/office/powerpoint/2010/main" val="1655601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Why Study Compiler?</a:t>
            </a:r>
            <a:endParaRPr lang="en-US" dirty="0"/>
          </a:p>
        </p:txBody>
      </p:sp>
      <p:sp>
        <p:nvSpPr>
          <p:cNvPr id="3" name="Content Placeholder 2"/>
          <p:cNvSpPr>
            <a:spLocks noGrp="1"/>
          </p:cNvSpPr>
          <p:nvPr>
            <p:ph idx="1"/>
          </p:nvPr>
        </p:nvSpPr>
        <p:spPr/>
        <p:txBody>
          <a:bodyPr/>
          <a:lstStyle/>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To be more effective users of compilers ... instead of treating a compiler as a “black box”.</a:t>
            </a: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To apply compiler techniques to typical SE tasks that require reading input and taking action.</a:t>
            </a: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To see how your core CS courses fit together, giving you the knowledge to construct a compiler.</a:t>
            </a: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To participate in R&amp;D of high-level programming languages and optimizing compilers.</a:t>
            </a:r>
          </a:p>
        </p:txBody>
      </p:sp>
    </p:spTree>
    <p:extLst>
      <p:ext uri="{BB962C8B-B14F-4D97-AF65-F5344CB8AC3E}">
        <p14:creationId xmlns:p14="http://schemas.microsoft.com/office/powerpoint/2010/main" val="3226857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Challenges of Compiler Construction</a:t>
            </a:r>
            <a:endParaRPr lang="en-US" dirty="0"/>
          </a:p>
        </p:txBody>
      </p:sp>
      <p:sp>
        <p:nvSpPr>
          <p:cNvPr id="4" name="Content Placeholder 3"/>
          <p:cNvSpPr>
            <a:spLocks noGrp="1"/>
          </p:cNvSpPr>
          <p:nvPr>
            <p:ph idx="1"/>
          </p:nvPr>
        </p:nvSpPr>
        <p:spPr>
          <a:xfrm>
            <a:off x="1097280" y="1845734"/>
            <a:ext cx="10058400" cy="4314434"/>
          </a:xfrm>
        </p:spPr>
        <p:txBody>
          <a:bodyPr>
            <a:normAutofit fontScale="92500" lnSpcReduction="10000"/>
          </a:bodyPr>
          <a:lstStyle/>
          <a:p>
            <a:pPr marL="0" lvl="0" indent="0">
              <a:lnSpc>
                <a:spcPct val="100000"/>
              </a:lnSpc>
              <a:spcBef>
                <a:spcPts val="600"/>
              </a:spcBef>
              <a:spcAft>
                <a:spcPts val="0"/>
              </a:spcAft>
              <a:buClr>
                <a:srgbClr val="FE8637"/>
              </a:buClr>
              <a:buSzPct val="70000"/>
              <a:buNone/>
            </a:pPr>
            <a:r>
              <a:rPr lang="en-US" sz="2400" dirty="0">
                <a:solidFill>
                  <a:prstClr val="black"/>
                </a:solidFill>
                <a:latin typeface="Century Schoolbook"/>
              </a:rPr>
              <a:t>Compiler construction poses challenging and interesting problems:</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Compilers must process large inputs, perform complex algorithms, but also run quickly</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Compilers have primary responsibility for run-time performance</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Compilers are responsible for making it acceptable to use the full power of the programming language</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Computer architects perpetually create new challenges for the compiler by building more complex machine</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Compilers must hide that complexity from the programmer</a:t>
            </a:r>
          </a:p>
          <a:p>
            <a:pPr marL="274320" lvl="0" indent="-274320">
              <a:lnSpc>
                <a:spcPct val="100000"/>
              </a:lnSpc>
              <a:spcBef>
                <a:spcPts val="600"/>
              </a:spcBef>
              <a:spcAft>
                <a:spcPts val="0"/>
              </a:spcAft>
              <a:buClr>
                <a:srgbClr val="FE8637"/>
              </a:buClr>
              <a:buSzPct val="70000"/>
              <a:buFont typeface="Wingdings"/>
              <a:buChar char=""/>
            </a:pPr>
            <a:endParaRPr lang="en-US" sz="2400" dirty="0">
              <a:solidFill>
                <a:prstClr val="black"/>
              </a:solidFill>
              <a:latin typeface="Century Schoolbook"/>
            </a:endParaRPr>
          </a:p>
          <a:p>
            <a:pPr marL="0" lvl="0" indent="0">
              <a:lnSpc>
                <a:spcPct val="100000"/>
              </a:lnSpc>
              <a:spcBef>
                <a:spcPts val="600"/>
              </a:spcBef>
              <a:spcAft>
                <a:spcPts val="0"/>
              </a:spcAft>
              <a:buClr>
                <a:srgbClr val="FE8637"/>
              </a:buClr>
              <a:buSzPct val="70000"/>
              <a:buNone/>
            </a:pPr>
            <a:r>
              <a:rPr lang="en-US" sz="2400" dirty="0">
                <a:solidFill>
                  <a:prstClr val="black"/>
                </a:solidFill>
                <a:latin typeface="Century Schoolbook"/>
              </a:rPr>
              <a:t>A successful compiler requires mastery of the many complex interactions between its constituent parts</a:t>
            </a:r>
          </a:p>
        </p:txBody>
      </p:sp>
    </p:spTree>
    <p:extLst>
      <p:ext uri="{BB962C8B-B14F-4D97-AF65-F5344CB8AC3E}">
        <p14:creationId xmlns:p14="http://schemas.microsoft.com/office/powerpoint/2010/main" val="2447841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Compiler and other areas</a:t>
            </a:r>
            <a:endParaRPr lang="en-US" dirty="0"/>
          </a:p>
        </p:txBody>
      </p:sp>
      <p:sp>
        <p:nvSpPr>
          <p:cNvPr id="4" name="Content Placeholder 3"/>
          <p:cNvSpPr>
            <a:spLocks noGrp="1"/>
          </p:cNvSpPr>
          <p:nvPr>
            <p:ph idx="1"/>
          </p:nvPr>
        </p:nvSpPr>
        <p:spPr>
          <a:xfrm>
            <a:off x="1097280" y="1845734"/>
            <a:ext cx="10058400" cy="4314434"/>
          </a:xfrm>
        </p:spPr>
        <p:txBody>
          <a:bodyPr>
            <a:normAutofit/>
          </a:bodyPr>
          <a:lstStyle/>
          <a:p>
            <a:pPr marL="0" lvl="0" indent="0">
              <a:lnSpc>
                <a:spcPct val="100000"/>
              </a:lnSpc>
              <a:spcBef>
                <a:spcPts val="600"/>
              </a:spcBef>
              <a:spcAft>
                <a:spcPts val="0"/>
              </a:spcAft>
              <a:buClr>
                <a:srgbClr val="FE8637"/>
              </a:buClr>
              <a:buSzPct val="70000"/>
              <a:buNone/>
            </a:pPr>
            <a:r>
              <a:rPr lang="en-US" sz="2400" dirty="0">
                <a:solidFill>
                  <a:prstClr val="black"/>
                </a:solidFill>
                <a:latin typeface="Century Schoolbook"/>
              </a:rPr>
              <a:t>Compiler construction involves ideas from different parts of computer science</a:t>
            </a:r>
          </a:p>
          <a:p>
            <a:pPr marL="566928" lvl="1"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Artificial intelligence</a:t>
            </a:r>
            <a:r>
              <a:rPr lang="en-US" sz="2200" dirty="0">
                <a:solidFill>
                  <a:prstClr val="black"/>
                </a:solidFill>
                <a:latin typeface="Century Schoolbook"/>
              </a:rPr>
              <a:t>: Greedy algorithms, Heuristic search techniques</a:t>
            </a:r>
          </a:p>
          <a:p>
            <a:pPr marL="566928" lvl="1"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Algorithms:</a:t>
            </a:r>
            <a:r>
              <a:rPr lang="en-US" sz="2200" dirty="0">
                <a:solidFill>
                  <a:prstClr val="black"/>
                </a:solidFill>
                <a:latin typeface="Century Schoolbook"/>
              </a:rPr>
              <a:t> Graph algorithms, Dynamic programming</a:t>
            </a:r>
          </a:p>
          <a:p>
            <a:pPr marL="566928" lvl="1"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Theory of Automata</a:t>
            </a:r>
            <a:r>
              <a:rPr lang="en-US" sz="2200" dirty="0">
                <a:solidFill>
                  <a:prstClr val="black"/>
                </a:solidFill>
                <a:latin typeface="Century Schoolbook"/>
              </a:rPr>
              <a:t>: DFAs &amp; PDAs, pattern matching, regular expressions</a:t>
            </a:r>
          </a:p>
          <a:p>
            <a:pPr marL="566928" lvl="1"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Architecture:</a:t>
            </a:r>
            <a:r>
              <a:rPr lang="en-US" sz="2200" dirty="0">
                <a:solidFill>
                  <a:prstClr val="black"/>
                </a:solidFill>
                <a:latin typeface="Century Schoolbook"/>
              </a:rPr>
              <a:t> Pipelining and Instruction set use</a:t>
            </a:r>
          </a:p>
        </p:txBody>
      </p:sp>
    </p:spTree>
    <p:extLst>
      <p:ext uri="{BB962C8B-B14F-4D97-AF65-F5344CB8AC3E}">
        <p14:creationId xmlns:p14="http://schemas.microsoft.com/office/powerpoint/2010/main" val="1559019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Requirement</a:t>
            </a:r>
            <a:endParaRPr lang="en-US" sz="4000" dirty="0"/>
          </a:p>
        </p:txBody>
      </p:sp>
      <p:sp>
        <p:nvSpPr>
          <p:cNvPr id="3" name="Content Placeholder 2"/>
          <p:cNvSpPr>
            <a:spLocks noGrp="1"/>
          </p:cNvSpPr>
          <p:nvPr>
            <p:ph idx="1"/>
          </p:nvPr>
        </p:nvSpPr>
        <p:spPr>
          <a:xfrm>
            <a:off x="1097280" y="1845733"/>
            <a:ext cx="10058400" cy="4368455"/>
          </a:xfrm>
        </p:spPr>
        <p:txBody>
          <a:bodyPr>
            <a:normAutofit/>
          </a:bodyPr>
          <a:lstStyle/>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In order to translate statements in a language, one needs to understand both</a:t>
            </a:r>
          </a:p>
          <a:p>
            <a:pPr marL="635508" lvl="1" indent="-342900">
              <a:lnSpc>
                <a:spcPct val="100000"/>
              </a:lnSpc>
              <a:spcBef>
                <a:spcPts val="600"/>
              </a:spcBef>
              <a:spcAft>
                <a:spcPts val="0"/>
              </a:spcAft>
              <a:buClr>
                <a:srgbClr val="FE8637"/>
              </a:buClr>
              <a:buSzPct val="70000"/>
              <a:buFont typeface="Arial" panose="020B0604020202020204" pitchFamily="34" charset="0"/>
              <a:buChar char="•"/>
            </a:pPr>
            <a:r>
              <a:rPr lang="en-US" sz="2200" b="1" dirty="0">
                <a:solidFill>
                  <a:prstClr val="black"/>
                </a:solidFill>
                <a:latin typeface="Century Schoolbook"/>
              </a:rPr>
              <a:t>Structure of the language</a:t>
            </a:r>
            <a:r>
              <a:rPr lang="en-US" sz="2200" dirty="0">
                <a:solidFill>
                  <a:prstClr val="black"/>
                </a:solidFill>
                <a:latin typeface="Century Schoolbook"/>
              </a:rPr>
              <a:t>: the way “sentences" are constructed in the language</a:t>
            </a:r>
          </a:p>
          <a:p>
            <a:pPr marL="635508" lvl="1" indent="-342900">
              <a:lnSpc>
                <a:spcPct val="100000"/>
              </a:lnSpc>
              <a:spcBef>
                <a:spcPts val="600"/>
              </a:spcBef>
              <a:spcAft>
                <a:spcPts val="0"/>
              </a:spcAft>
              <a:buClr>
                <a:srgbClr val="FE8637"/>
              </a:buClr>
              <a:buSzPct val="70000"/>
              <a:buFont typeface="Arial" panose="020B0604020202020204" pitchFamily="34" charset="0"/>
              <a:buChar char="•"/>
            </a:pPr>
            <a:r>
              <a:rPr lang="en-US" sz="2200" b="1" dirty="0">
                <a:solidFill>
                  <a:prstClr val="black"/>
                </a:solidFill>
                <a:latin typeface="Century Schoolbook"/>
              </a:rPr>
              <a:t>Meaning of the language</a:t>
            </a:r>
            <a:r>
              <a:rPr lang="en-US" sz="2200" dirty="0">
                <a:solidFill>
                  <a:prstClr val="black"/>
                </a:solidFill>
                <a:latin typeface="Century Schoolbook"/>
              </a:rPr>
              <a:t>: what each “sentence" stands for.</a:t>
            </a:r>
          </a:p>
          <a:p>
            <a:pPr marL="292608" lvl="1" indent="0">
              <a:lnSpc>
                <a:spcPct val="100000"/>
              </a:lnSpc>
              <a:spcBef>
                <a:spcPts val="600"/>
              </a:spcBef>
              <a:spcAft>
                <a:spcPts val="0"/>
              </a:spcAft>
              <a:buClr>
                <a:srgbClr val="FE8637"/>
              </a:buClr>
              <a:buSzPct val="70000"/>
              <a:buNone/>
            </a:pPr>
            <a:endParaRPr lang="en-US" sz="2200" dirty="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Terminology:</a:t>
            </a:r>
          </a:p>
          <a:p>
            <a:pPr marL="635508" lvl="1" indent="-342900">
              <a:lnSpc>
                <a:spcPct val="100000"/>
              </a:lnSpc>
              <a:spcBef>
                <a:spcPts val="600"/>
              </a:spcBef>
              <a:spcAft>
                <a:spcPts val="0"/>
              </a:spcAft>
              <a:buClr>
                <a:srgbClr val="FE8637"/>
              </a:buClr>
              <a:buSzPct val="70000"/>
              <a:buFont typeface="Wingdings" panose="05000000000000000000" pitchFamily="2" charset="2"/>
              <a:buChar char="§"/>
            </a:pPr>
            <a:r>
              <a:rPr lang="en-US" sz="2200" dirty="0">
                <a:solidFill>
                  <a:prstClr val="black"/>
                </a:solidFill>
                <a:latin typeface="Century Schoolbook"/>
              </a:rPr>
              <a:t>Structure ≡ Syntax</a:t>
            </a:r>
          </a:p>
          <a:p>
            <a:pPr marL="635508" lvl="1" indent="-342900">
              <a:lnSpc>
                <a:spcPct val="100000"/>
              </a:lnSpc>
              <a:spcBef>
                <a:spcPts val="600"/>
              </a:spcBef>
              <a:spcAft>
                <a:spcPts val="0"/>
              </a:spcAft>
              <a:buClr>
                <a:srgbClr val="FE8637"/>
              </a:buClr>
              <a:buSzPct val="70000"/>
              <a:buFont typeface="Wingdings" panose="05000000000000000000" pitchFamily="2" charset="2"/>
              <a:buChar char="§"/>
            </a:pPr>
            <a:r>
              <a:rPr lang="en-US" sz="2200" dirty="0">
                <a:solidFill>
                  <a:prstClr val="black"/>
                </a:solidFill>
                <a:latin typeface="Century Schoolbook"/>
              </a:rPr>
              <a:t>Meaning ≡ Semantics</a:t>
            </a:r>
          </a:p>
        </p:txBody>
      </p:sp>
    </p:spTree>
    <p:extLst>
      <p:ext uri="{BB962C8B-B14F-4D97-AF65-F5344CB8AC3E}">
        <p14:creationId xmlns:p14="http://schemas.microsoft.com/office/powerpoint/2010/main" val="940698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Analysis-Synthesis model of compilation</a:t>
            </a:r>
            <a:endParaRPr lang="en-US" sz="4000" dirty="0"/>
          </a:p>
        </p:txBody>
      </p:sp>
      <p:sp>
        <p:nvSpPr>
          <p:cNvPr id="3" name="Content Placeholder 2"/>
          <p:cNvSpPr>
            <a:spLocks noGrp="1"/>
          </p:cNvSpPr>
          <p:nvPr>
            <p:ph idx="1"/>
          </p:nvPr>
        </p:nvSpPr>
        <p:spPr/>
        <p:txBody>
          <a:bodyPr/>
          <a:lstStyle/>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Two major parts --</a:t>
            </a:r>
            <a:endParaRPr lang="en-US" sz="2400" b="1" dirty="0">
              <a:solidFill>
                <a:prstClr val="black"/>
              </a:solidFill>
              <a:latin typeface="Century Schoolbook"/>
            </a:endParaRPr>
          </a:p>
          <a:p>
            <a:pPr marL="640080" lvl="1" indent="-274320">
              <a:lnSpc>
                <a:spcPct val="100000"/>
              </a:lnSpc>
              <a:spcBef>
                <a:spcPct val="20000"/>
              </a:spcBef>
              <a:spcAft>
                <a:spcPts val="0"/>
              </a:spcAft>
              <a:buClr>
                <a:srgbClr val="FE8637"/>
              </a:buClr>
              <a:buSzPct val="80000"/>
              <a:buFont typeface="Wingdings 2"/>
              <a:buChar char=""/>
            </a:pPr>
            <a:r>
              <a:rPr lang="en-US" sz="2400" b="1" dirty="0">
                <a:solidFill>
                  <a:prstClr val="black"/>
                </a:solidFill>
                <a:latin typeface="Century Schoolbook"/>
              </a:rPr>
              <a:t>Analysis</a:t>
            </a:r>
            <a:r>
              <a:rPr lang="en-US" sz="2400" dirty="0">
                <a:solidFill>
                  <a:prstClr val="black"/>
                </a:solidFill>
                <a:latin typeface="Century Schoolbook"/>
              </a:rPr>
              <a:t>: an intermediate representation is created from the given source program. </a:t>
            </a:r>
          </a:p>
          <a:p>
            <a:pPr marL="365760" lvl="1" indent="0">
              <a:lnSpc>
                <a:spcPct val="100000"/>
              </a:lnSpc>
              <a:spcBef>
                <a:spcPct val="20000"/>
              </a:spcBef>
              <a:spcAft>
                <a:spcPts val="0"/>
              </a:spcAft>
              <a:buClr>
                <a:srgbClr val="FE8637"/>
              </a:buClr>
              <a:buSzPct val="80000"/>
              <a:buNone/>
            </a:pPr>
            <a:r>
              <a:rPr lang="en-US" sz="2400" i="1" dirty="0">
                <a:solidFill>
                  <a:srgbClr val="FE8637">
                    <a:lumMod val="75000"/>
                  </a:srgbClr>
                </a:solidFill>
                <a:latin typeface="Century Schoolbook"/>
                <a:ea typeface="ＭＳ Ｐゴシック" panose="020B0600070205080204" pitchFamily="34" charset="-128"/>
              </a:rPr>
              <a:t>   Lexical Analyzer, Syntax Analyzer and Semantic Analyzer </a:t>
            </a:r>
            <a:endParaRPr lang="en-US" sz="2400" dirty="0">
              <a:solidFill>
                <a:prstClr val="black"/>
              </a:solidFill>
              <a:latin typeface="Century Schoolbook"/>
            </a:endParaRPr>
          </a:p>
          <a:p>
            <a:pPr marL="640080" lvl="1" indent="-274320">
              <a:lnSpc>
                <a:spcPct val="100000"/>
              </a:lnSpc>
              <a:spcBef>
                <a:spcPct val="20000"/>
              </a:spcBef>
              <a:spcAft>
                <a:spcPts val="0"/>
              </a:spcAft>
              <a:buClr>
                <a:srgbClr val="FE8637"/>
              </a:buClr>
              <a:buSzPct val="80000"/>
              <a:buFont typeface="Wingdings 2"/>
              <a:buChar char=""/>
            </a:pPr>
            <a:r>
              <a:rPr lang="en-US" sz="2400" b="1" dirty="0">
                <a:solidFill>
                  <a:prstClr val="black"/>
                </a:solidFill>
                <a:latin typeface="Century Schoolbook"/>
              </a:rPr>
              <a:t>Synthesis</a:t>
            </a:r>
            <a:r>
              <a:rPr lang="en-US" sz="2400" dirty="0">
                <a:solidFill>
                  <a:prstClr val="black"/>
                </a:solidFill>
                <a:latin typeface="Century Schoolbook"/>
              </a:rPr>
              <a:t>: the equivalent target program is created from this intermediate representation</a:t>
            </a:r>
          </a:p>
          <a:p>
            <a:pPr marL="365760" lvl="1" indent="0">
              <a:lnSpc>
                <a:spcPct val="100000"/>
              </a:lnSpc>
              <a:spcBef>
                <a:spcPct val="20000"/>
              </a:spcBef>
              <a:spcAft>
                <a:spcPts val="0"/>
              </a:spcAft>
              <a:buClr>
                <a:srgbClr val="FE8637"/>
              </a:buClr>
              <a:buSzPct val="80000"/>
              <a:buNone/>
            </a:pPr>
            <a:r>
              <a:rPr lang="en-US" sz="2400" i="1" dirty="0">
                <a:solidFill>
                  <a:srgbClr val="FE8637">
                    <a:lumMod val="75000"/>
                  </a:srgbClr>
                </a:solidFill>
                <a:latin typeface="Century Schoolbook"/>
                <a:ea typeface="ＭＳ Ｐゴシック" panose="020B0600070205080204" pitchFamily="34" charset="-128"/>
              </a:rPr>
              <a:t>   Intermediate Code Generator, Code Optimizer, and Code Generator</a:t>
            </a:r>
            <a:endParaRPr lang="en-US" sz="2400" dirty="0">
              <a:solidFill>
                <a:prstClr val="black"/>
              </a:solidFill>
              <a:latin typeface="Century Schoolbook"/>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3987" y="4883780"/>
            <a:ext cx="6725265" cy="1432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1576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Phases of Compiler </a:t>
            </a:r>
            <a:endParaRPr lang="en-US" sz="40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4598" y="1780173"/>
            <a:ext cx="5067973" cy="4603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1980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Compilation Steps/Phases</a:t>
            </a:r>
            <a:endParaRPr lang="en-US" sz="4000" dirty="0"/>
          </a:p>
        </p:txBody>
      </p:sp>
      <p:sp>
        <p:nvSpPr>
          <p:cNvPr id="3" name="Content Placeholder 2"/>
          <p:cNvSpPr>
            <a:spLocks noGrp="1"/>
          </p:cNvSpPr>
          <p:nvPr>
            <p:ph idx="1"/>
          </p:nvPr>
        </p:nvSpPr>
        <p:spPr>
          <a:xfrm>
            <a:off x="1097280" y="1845733"/>
            <a:ext cx="10058400" cy="4387115"/>
          </a:xfrm>
        </p:spPr>
        <p:txBody>
          <a:bodyPr>
            <a:normAutofit/>
          </a:bodyPr>
          <a:lstStyle/>
          <a:p>
            <a:pPr marL="274320" lvl="0"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Lexical Analysis</a:t>
            </a:r>
            <a:r>
              <a:rPr lang="en-US" sz="2200" dirty="0">
                <a:solidFill>
                  <a:prstClr val="black"/>
                </a:solidFill>
                <a:latin typeface="Century Schoolbook"/>
              </a:rPr>
              <a:t>: Generates the “tokens” in the source program</a:t>
            </a:r>
          </a:p>
          <a:p>
            <a:pPr marL="274320" lvl="0"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Syntax Analysis</a:t>
            </a:r>
            <a:r>
              <a:rPr lang="en-US" sz="2200" dirty="0">
                <a:solidFill>
                  <a:prstClr val="black"/>
                </a:solidFill>
                <a:latin typeface="Century Schoolbook"/>
              </a:rPr>
              <a:t>: Recognizes “sentences" in the program using the syntax of the language</a:t>
            </a:r>
          </a:p>
          <a:p>
            <a:pPr marL="274320" lvl="0"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Semantic Analysis</a:t>
            </a:r>
            <a:r>
              <a:rPr lang="en-US" sz="2200" dirty="0">
                <a:solidFill>
                  <a:prstClr val="black"/>
                </a:solidFill>
                <a:latin typeface="Century Schoolbook"/>
              </a:rPr>
              <a:t>: Infers information about the program using the semantics of the language</a:t>
            </a:r>
          </a:p>
          <a:p>
            <a:pPr marL="274320" lvl="0"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Intermediate Code Generation</a:t>
            </a:r>
            <a:r>
              <a:rPr lang="en-US" sz="2200" dirty="0">
                <a:solidFill>
                  <a:prstClr val="black"/>
                </a:solidFill>
                <a:latin typeface="Century Schoolbook"/>
              </a:rPr>
              <a:t>: Generates “abstract” code based on the syntactic structure of the program and the semantic information</a:t>
            </a:r>
          </a:p>
          <a:p>
            <a:pPr marL="274320" lvl="0"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Optimization</a:t>
            </a:r>
            <a:r>
              <a:rPr lang="en-US" sz="2200" dirty="0">
                <a:solidFill>
                  <a:prstClr val="black"/>
                </a:solidFill>
                <a:latin typeface="Century Schoolbook"/>
              </a:rPr>
              <a:t>: Refines the generated code using a series of optimizing transformations</a:t>
            </a:r>
          </a:p>
          <a:p>
            <a:pPr marL="274320" lvl="0"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Final Code Generation</a:t>
            </a:r>
            <a:r>
              <a:rPr lang="en-US" sz="2200" dirty="0">
                <a:solidFill>
                  <a:prstClr val="black"/>
                </a:solidFill>
                <a:latin typeface="Century Schoolbook"/>
              </a:rPr>
              <a:t>: Translates the abstract intermediate code into specific machine instructions</a:t>
            </a:r>
            <a:endParaRPr lang="en-US" sz="2200" b="1" dirty="0">
              <a:solidFill>
                <a:prstClr val="black"/>
              </a:solidFill>
              <a:latin typeface="Century Schoolbook"/>
            </a:endParaRPr>
          </a:p>
          <a:p>
            <a:pPr marL="0" lvl="0" indent="0">
              <a:lnSpc>
                <a:spcPct val="100000"/>
              </a:lnSpc>
              <a:spcBef>
                <a:spcPts val="600"/>
              </a:spcBef>
              <a:spcAft>
                <a:spcPts val="0"/>
              </a:spcAft>
              <a:buClr>
                <a:srgbClr val="FE8637"/>
              </a:buClr>
              <a:buSzPct val="70000"/>
              <a:buNone/>
            </a:pPr>
            <a:endParaRPr lang="en-US" sz="2400" b="1" dirty="0">
              <a:solidFill>
                <a:prstClr val="black"/>
              </a:solidFill>
              <a:latin typeface="Century Schoolbook"/>
            </a:endParaRPr>
          </a:p>
          <a:p>
            <a:pPr marL="0" lvl="0" indent="0">
              <a:lnSpc>
                <a:spcPct val="100000"/>
              </a:lnSpc>
              <a:spcBef>
                <a:spcPts val="600"/>
              </a:spcBef>
              <a:spcAft>
                <a:spcPts val="0"/>
              </a:spcAft>
              <a:buClr>
                <a:srgbClr val="FE8637"/>
              </a:buClr>
              <a:buSzPct val="70000"/>
              <a:buNone/>
            </a:pPr>
            <a:endParaRPr lang="en-US" sz="2400" dirty="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endParaRPr lang="en-US" dirty="0"/>
          </a:p>
        </p:txBody>
      </p:sp>
    </p:spTree>
    <p:extLst>
      <p:ext uri="{BB962C8B-B14F-4D97-AF65-F5344CB8AC3E}">
        <p14:creationId xmlns:p14="http://schemas.microsoft.com/office/powerpoint/2010/main" val="591606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Lexical Analysis</a:t>
            </a:r>
            <a:endParaRPr lang="en-US" sz="4000" dirty="0"/>
          </a:p>
        </p:txBody>
      </p:sp>
      <p:sp>
        <p:nvSpPr>
          <p:cNvPr id="3" name="Content Placeholder 2"/>
          <p:cNvSpPr>
            <a:spLocks noGrp="1"/>
          </p:cNvSpPr>
          <p:nvPr>
            <p:ph idx="1"/>
          </p:nvPr>
        </p:nvSpPr>
        <p:spPr>
          <a:xfrm>
            <a:off x="1097280" y="1845734"/>
            <a:ext cx="10058400" cy="4319092"/>
          </a:xfrm>
        </p:spPr>
        <p:txBody>
          <a:bodyPr>
            <a:normAutofit fontScale="77500" lnSpcReduction="20000"/>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Convert the stream of characters representing input program into a meaningful sequences called </a:t>
            </a:r>
            <a:r>
              <a:rPr lang="en-US" sz="2400" dirty="0">
                <a:solidFill>
                  <a:srgbClr val="0070C0"/>
                </a:solidFill>
                <a:latin typeface="Century Schoolbook"/>
              </a:rPr>
              <a:t>lexemes</a:t>
            </a:r>
            <a:r>
              <a:rPr lang="en-US" sz="2400" dirty="0">
                <a:solidFill>
                  <a:prstClr val="black"/>
                </a:solidFill>
                <a:latin typeface="Century Schoolbook"/>
              </a:rPr>
              <a:t>.</a:t>
            </a:r>
          </a:p>
          <a:p>
            <a:pPr marL="274320" lvl="0" indent="-274320">
              <a:lnSpc>
                <a:spcPct val="120000"/>
              </a:lnSpc>
              <a:spcBef>
                <a:spcPts val="600"/>
              </a:spcBef>
              <a:spcAft>
                <a:spcPts val="0"/>
              </a:spcAft>
              <a:buClr>
                <a:srgbClr val="FE8637"/>
              </a:buClr>
              <a:buSzPct val="70000"/>
              <a:buFont typeface="Wingdings"/>
              <a:buChar char=""/>
            </a:pPr>
            <a:r>
              <a:rPr lang="en-GB" sz="2400" dirty="0">
                <a:solidFill>
                  <a:prstClr val="black"/>
                </a:solidFill>
                <a:latin typeface="Century Schoolbook"/>
              </a:rPr>
              <a:t>For each lexeme, the lexical </a:t>
            </a:r>
            <a:r>
              <a:rPr lang="en-GB" sz="2400" dirty="0" err="1">
                <a:solidFill>
                  <a:prstClr val="black"/>
                </a:solidFill>
                <a:latin typeface="Century Schoolbook"/>
              </a:rPr>
              <a:t>analyzer</a:t>
            </a:r>
            <a:r>
              <a:rPr lang="en-GB" sz="2400" dirty="0">
                <a:solidFill>
                  <a:prstClr val="black"/>
                </a:solidFill>
                <a:latin typeface="Century Schoolbook"/>
              </a:rPr>
              <a:t> produces as output </a:t>
            </a:r>
          </a:p>
          <a:p>
            <a:pPr marL="0" lvl="0" indent="0">
              <a:lnSpc>
                <a:spcPct val="120000"/>
              </a:lnSpc>
              <a:spcBef>
                <a:spcPts val="600"/>
              </a:spcBef>
              <a:spcAft>
                <a:spcPts val="0"/>
              </a:spcAft>
              <a:buClr>
                <a:srgbClr val="FE8637"/>
              </a:buClr>
              <a:buSzPct val="70000"/>
              <a:buNone/>
            </a:pPr>
            <a:r>
              <a:rPr lang="en-GB" sz="2400" dirty="0">
                <a:solidFill>
                  <a:prstClr val="black"/>
                </a:solidFill>
                <a:latin typeface="Century Schoolbook"/>
              </a:rPr>
              <a:t>   A token of the form:</a:t>
            </a:r>
          </a:p>
          <a:p>
            <a:pPr marL="0" lvl="0" indent="0">
              <a:lnSpc>
                <a:spcPct val="120000"/>
              </a:lnSpc>
              <a:spcBef>
                <a:spcPts val="600"/>
              </a:spcBef>
              <a:spcAft>
                <a:spcPts val="0"/>
              </a:spcAft>
              <a:buClr>
                <a:srgbClr val="FE8637"/>
              </a:buClr>
              <a:buSzPct val="70000"/>
              <a:buNone/>
            </a:pPr>
            <a:r>
              <a:rPr lang="en-US" sz="2400" dirty="0">
                <a:solidFill>
                  <a:prstClr val="black"/>
                </a:solidFill>
                <a:latin typeface="Century Schoolbook"/>
              </a:rPr>
              <a:t>                        &lt; </a:t>
            </a:r>
            <a:r>
              <a:rPr lang="en-US" sz="2400" b="1" dirty="0">
                <a:solidFill>
                  <a:prstClr val="black"/>
                </a:solidFill>
                <a:latin typeface="Century Schoolbook"/>
              </a:rPr>
              <a:t>token-name, attribute-value</a:t>
            </a:r>
            <a:r>
              <a:rPr lang="en-US" sz="2400" dirty="0">
                <a:solidFill>
                  <a:prstClr val="black"/>
                </a:solidFill>
                <a:latin typeface="Century Schoolbook"/>
              </a:rPr>
              <a:t> &gt;</a:t>
            </a:r>
          </a:p>
          <a:p>
            <a:pPr lvl="0">
              <a:lnSpc>
                <a:spcPct val="120000"/>
              </a:lnSpc>
              <a:spcBef>
                <a:spcPts val="600"/>
              </a:spcBef>
              <a:spcAft>
                <a:spcPts val="0"/>
              </a:spcAft>
              <a:buClr>
                <a:srgbClr val="FE8637"/>
              </a:buClr>
              <a:buSzPct val="70000"/>
            </a:pPr>
            <a:r>
              <a:rPr lang="en-US" sz="2400" b="1" dirty="0">
                <a:solidFill>
                  <a:prstClr val="black"/>
                </a:solidFill>
                <a:latin typeface="Century Schoolbook"/>
              </a:rPr>
              <a:t>token-name </a:t>
            </a:r>
            <a:r>
              <a:rPr lang="en-US" sz="2400" b="1" dirty="0">
                <a:solidFill>
                  <a:prstClr val="black"/>
                </a:solidFill>
                <a:latin typeface="Century Schoolbook"/>
                <a:sym typeface="Wingdings" panose="05000000000000000000" pitchFamily="2" charset="2"/>
              </a:rPr>
              <a:t> </a:t>
            </a:r>
            <a:r>
              <a:rPr lang="en-GB" sz="2400" dirty="0">
                <a:solidFill>
                  <a:prstClr val="black"/>
                </a:solidFill>
                <a:latin typeface="Century Schoolbook"/>
                <a:sym typeface="Wingdings" panose="05000000000000000000" pitchFamily="2" charset="2"/>
              </a:rPr>
              <a:t>an abstract symbol that is used during syntax analysis</a:t>
            </a:r>
            <a:endParaRPr lang="en-US" sz="2400" dirty="0">
              <a:solidFill>
                <a:prstClr val="black"/>
              </a:solidFill>
              <a:latin typeface="Century Schoolbook"/>
              <a:sym typeface="Wingdings" panose="05000000000000000000" pitchFamily="2" charset="2"/>
            </a:endParaRPr>
          </a:p>
          <a:p>
            <a:pPr lvl="0">
              <a:lnSpc>
                <a:spcPct val="120000"/>
              </a:lnSpc>
              <a:spcBef>
                <a:spcPts val="600"/>
              </a:spcBef>
              <a:spcAft>
                <a:spcPts val="0"/>
              </a:spcAft>
              <a:buClr>
                <a:srgbClr val="FE8637"/>
              </a:buClr>
              <a:buSzPct val="70000"/>
            </a:pPr>
            <a:r>
              <a:rPr lang="en-US" sz="2400" b="1" dirty="0">
                <a:solidFill>
                  <a:prstClr val="black"/>
                </a:solidFill>
                <a:latin typeface="Century Schoolbook"/>
              </a:rPr>
              <a:t>attribute-value</a:t>
            </a:r>
            <a:r>
              <a:rPr lang="en-US" sz="2400" b="1" dirty="0">
                <a:solidFill>
                  <a:prstClr val="black"/>
                </a:solidFill>
                <a:latin typeface="Century Schoolbook"/>
                <a:sym typeface="Wingdings" panose="05000000000000000000" pitchFamily="2" charset="2"/>
              </a:rPr>
              <a:t> </a:t>
            </a:r>
            <a:r>
              <a:rPr lang="en-GB" sz="2400" dirty="0">
                <a:solidFill>
                  <a:prstClr val="black"/>
                </a:solidFill>
                <a:latin typeface="Century Schoolbook"/>
                <a:sym typeface="Wingdings" panose="05000000000000000000" pitchFamily="2" charset="2"/>
              </a:rPr>
              <a:t>points to an entry in the symbol table for this token</a:t>
            </a:r>
            <a:endParaRPr lang="en-US" sz="2400" dirty="0">
              <a:solidFill>
                <a:prstClr val="black"/>
              </a:solidFill>
              <a:latin typeface="Century Schoolbook"/>
            </a:endParaRPr>
          </a:p>
          <a:p>
            <a:pPr marL="274320" lvl="0" indent="-274320">
              <a:lnSpc>
                <a:spcPct val="150000"/>
              </a:lnSpc>
              <a:spcBef>
                <a:spcPts val="600"/>
              </a:spcBef>
              <a:spcAft>
                <a:spcPts val="0"/>
              </a:spcAft>
              <a:buClr>
                <a:srgbClr val="FE8637"/>
              </a:buClr>
              <a:buSzPct val="70000"/>
              <a:buFont typeface="Wingdings"/>
              <a:buChar char=""/>
            </a:pPr>
            <a:r>
              <a:rPr lang="en-US" sz="2400" b="1" dirty="0">
                <a:solidFill>
                  <a:prstClr val="black"/>
                </a:solidFill>
                <a:latin typeface="Century Schoolbook"/>
              </a:rPr>
              <a:t>Example</a:t>
            </a:r>
            <a:r>
              <a:rPr lang="en-US" sz="2400" dirty="0">
                <a:solidFill>
                  <a:prstClr val="black"/>
                </a:solidFill>
                <a:latin typeface="Century Schoolbook"/>
              </a:rPr>
              <a:t>:</a:t>
            </a:r>
          </a:p>
          <a:p>
            <a:pPr marL="365760" lvl="1" indent="0">
              <a:lnSpc>
                <a:spcPct val="110000"/>
              </a:lnSpc>
              <a:spcBef>
                <a:spcPct val="20000"/>
              </a:spcBef>
              <a:spcAft>
                <a:spcPts val="0"/>
              </a:spcAft>
              <a:buClr>
                <a:srgbClr val="FE8637"/>
              </a:buClr>
              <a:buSzPct val="80000"/>
              <a:buNone/>
            </a:pPr>
            <a:r>
              <a:rPr lang="en-US" sz="2400" i="1" dirty="0">
                <a:solidFill>
                  <a:srgbClr val="FE8637">
                    <a:lumMod val="75000"/>
                  </a:srgbClr>
                </a:solidFill>
                <a:latin typeface="Century Schoolbook"/>
                <a:ea typeface="ＭＳ Ｐゴシック" panose="020B0600070205080204" pitchFamily="34" charset="-128"/>
              </a:rPr>
              <a:t>	Input: “*x++"               Output: three tokens </a:t>
            </a:r>
            <a:r>
              <a:rPr lang="en-US" sz="2400" i="1" dirty="0">
                <a:solidFill>
                  <a:srgbClr val="FE8637">
                    <a:lumMod val="75000"/>
                  </a:srgbClr>
                </a:solidFill>
                <a:latin typeface="Century Schoolbook"/>
                <a:ea typeface="ＭＳ Ｐゴシック" panose="020B0600070205080204" pitchFamily="34" charset="-128"/>
                <a:sym typeface="Wingdings" panose="05000000000000000000" pitchFamily="2" charset="2"/>
              </a:rPr>
              <a:t> </a:t>
            </a:r>
            <a:r>
              <a:rPr lang="en-US" sz="2400" i="1" dirty="0">
                <a:solidFill>
                  <a:srgbClr val="FE8637">
                    <a:lumMod val="75000"/>
                  </a:srgbClr>
                </a:solidFill>
                <a:latin typeface="Century Schoolbook"/>
                <a:ea typeface="ＭＳ Ｐゴシック" panose="020B0600070205080204" pitchFamily="34" charset="-128"/>
              </a:rPr>
              <a:t>“*", “x", “++" 	</a:t>
            </a:r>
          </a:p>
          <a:p>
            <a:pPr marL="365760" lvl="1" indent="0">
              <a:lnSpc>
                <a:spcPct val="110000"/>
              </a:lnSpc>
              <a:spcBef>
                <a:spcPct val="20000"/>
              </a:spcBef>
              <a:spcAft>
                <a:spcPts val="0"/>
              </a:spcAft>
              <a:buClr>
                <a:srgbClr val="FE8637"/>
              </a:buClr>
              <a:buSzPct val="80000"/>
              <a:buNone/>
            </a:pPr>
            <a:r>
              <a:rPr lang="en-US" sz="2400" i="1" dirty="0">
                <a:solidFill>
                  <a:srgbClr val="FE8637">
                    <a:lumMod val="75000"/>
                  </a:srgbClr>
                </a:solidFill>
                <a:latin typeface="Century Schoolbook"/>
                <a:ea typeface="ＭＳ Ｐゴシック" panose="020B0600070205080204" pitchFamily="34" charset="-128"/>
              </a:rPr>
              <a:t>	Input: “static </a:t>
            </a:r>
            <a:r>
              <a:rPr lang="en-US" sz="2400" i="1" dirty="0" err="1">
                <a:solidFill>
                  <a:srgbClr val="FE8637">
                    <a:lumMod val="75000"/>
                  </a:srgbClr>
                </a:solidFill>
                <a:latin typeface="Century Schoolbook"/>
                <a:ea typeface="ＭＳ Ｐゴシック" panose="020B0600070205080204" pitchFamily="34" charset="-128"/>
              </a:rPr>
              <a:t>int</a:t>
            </a:r>
            <a:r>
              <a:rPr lang="en-US" sz="2400" i="1" dirty="0">
                <a:solidFill>
                  <a:srgbClr val="FE8637">
                    <a:lumMod val="75000"/>
                  </a:srgbClr>
                </a:solidFill>
                <a:latin typeface="Century Schoolbook"/>
                <a:ea typeface="ＭＳ Ｐゴシック" panose="020B0600070205080204" pitchFamily="34" charset="-128"/>
              </a:rPr>
              <a:t>"        Output: two tokens: </a:t>
            </a:r>
            <a:r>
              <a:rPr lang="en-US" sz="2400" i="1" dirty="0">
                <a:solidFill>
                  <a:srgbClr val="FE8637">
                    <a:lumMod val="75000"/>
                  </a:srgbClr>
                </a:solidFill>
                <a:latin typeface="Century Schoolbook"/>
                <a:ea typeface="ＭＳ Ｐゴシック" panose="020B0600070205080204" pitchFamily="34" charset="-128"/>
                <a:sym typeface="Wingdings" panose="05000000000000000000" pitchFamily="2" charset="2"/>
              </a:rPr>
              <a:t> </a:t>
            </a:r>
            <a:r>
              <a:rPr lang="en-US" sz="2400" i="1" dirty="0">
                <a:solidFill>
                  <a:srgbClr val="FE8637">
                    <a:lumMod val="75000"/>
                  </a:srgbClr>
                </a:solidFill>
                <a:latin typeface="Century Schoolbook"/>
                <a:ea typeface="ＭＳ Ｐゴシック" panose="020B0600070205080204" pitchFamily="34" charset="-128"/>
              </a:rPr>
              <a:t>“static" , “</a:t>
            </a:r>
            <a:r>
              <a:rPr lang="en-US" sz="2400" i="1" dirty="0" err="1">
                <a:solidFill>
                  <a:srgbClr val="FE8637">
                    <a:lumMod val="75000"/>
                  </a:srgbClr>
                </a:solidFill>
                <a:latin typeface="Century Schoolbook"/>
                <a:ea typeface="ＭＳ Ｐゴシック" panose="020B0600070205080204" pitchFamily="34" charset="-128"/>
              </a:rPr>
              <a:t>int</a:t>
            </a:r>
            <a:r>
              <a:rPr lang="en-US" sz="2400" i="1" dirty="0">
                <a:solidFill>
                  <a:srgbClr val="FE8637">
                    <a:lumMod val="75000"/>
                  </a:srgbClr>
                </a:solidFill>
                <a:latin typeface="Century Schoolbook"/>
                <a:ea typeface="ＭＳ Ｐゴシック" panose="020B0600070205080204" pitchFamily="34" charset="-128"/>
              </a:rPr>
              <a:t>"</a:t>
            </a:r>
          </a:p>
          <a:p>
            <a:pPr marL="365760" lvl="1" indent="0">
              <a:lnSpc>
                <a:spcPct val="110000"/>
              </a:lnSpc>
              <a:spcBef>
                <a:spcPct val="20000"/>
              </a:spcBef>
              <a:spcAft>
                <a:spcPts val="0"/>
              </a:spcAft>
              <a:buClr>
                <a:srgbClr val="FE8637"/>
              </a:buClr>
              <a:buSzPct val="80000"/>
              <a:buNone/>
            </a:pPr>
            <a:endParaRPr lang="en-US" sz="2400" i="1" dirty="0">
              <a:solidFill>
                <a:srgbClr val="FE8637">
                  <a:lumMod val="75000"/>
                </a:srgbClr>
              </a:solidFill>
              <a:latin typeface="Century Schoolbook"/>
              <a:ea typeface="ＭＳ Ｐゴシック" panose="020B0600070205080204" pitchFamily="34" charset="-128"/>
            </a:endParaRPr>
          </a:p>
          <a:p>
            <a:pPr marL="640080" lvl="1" indent="-274320">
              <a:lnSpc>
                <a:spcPct val="80000"/>
              </a:lnSpc>
              <a:spcBef>
                <a:spcPct val="20000"/>
              </a:spcBef>
              <a:spcAft>
                <a:spcPts val="0"/>
              </a:spcAft>
              <a:buClr>
                <a:srgbClr val="FE8637"/>
              </a:buClr>
              <a:buSzPct val="80000"/>
              <a:buFont typeface="Wingdings 2"/>
              <a:buChar char=""/>
            </a:pPr>
            <a:r>
              <a:rPr lang="en-US" sz="2400" dirty="0">
                <a:solidFill>
                  <a:prstClr val="black"/>
                </a:solidFill>
                <a:latin typeface="Century Schoolbook"/>
              </a:rPr>
              <a:t>Removes the white spaces, comments</a:t>
            </a:r>
          </a:p>
          <a:p>
            <a:pPr marL="365760" lvl="1" indent="0">
              <a:lnSpc>
                <a:spcPct val="80000"/>
              </a:lnSpc>
              <a:spcBef>
                <a:spcPct val="20000"/>
              </a:spcBef>
              <a:spcAft>
                <a:spcPts val="0"/>
              </a:spcAft>
              <a:buClr>
                <a:srgbClr val="FE8637"/>
              </a:buClr>
              <a:buSzPct val="80000"/>
              <a:buNone/>
            </a:pPr>
            <a:endParaRPr lang="en-US" sz="2800" i="1" dirty="0">
              <a:solidFill>
                <a:prstClr val="black"/>
              </a:solidFill>
              <a:latin typeface="Century Schoolbook"/>
              <a:ea typeface="ＭＳ Ｐゴシック" panose="020B0600070205080204" pitchFamily="34" charset="-128"/>
            </a:endParaRP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345096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Lexical Analysis</a:t>
            </a:r>
            <a:endParaRPr lang="en-US" sz="4000" dirty="0"/>
          </a:p>
        </p:txBody>
      </p:sp>
      <p:sp>
        <p:nvSpPr>
          <p:cNvPr id="3" name="Content Placeholder 2"/>
          <p:cNvSpPr>
            <a:spLocks noGrp="1"/>
          </p:cNvSpPr>
          <p:nvPr>
            <p:ph idx="1"/>
          </p:nvPr>
        </p:nvSpPr>
        <p:spPr>
          <a:xfrm>
            <a:off x="1097280" y="1845734"/>
            <a:ext cx="10058400"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Input: result = a + b * 10</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Tokens :</a:t>
            </a:r>
          </a:p>
          <a:p>
            <a:pPr marL="0" lvl="0" indent="0">
              <a:lnSpc>
                <a:spcPct val="120000"/>
              </a:lnSpc>
              <a:spcBef>
                <a:spcPts val="600"/>
              </a:spcBef>
              <a:spcAft>
                <a:spcPts val="0"/>
              </a:spcAft>
              <a:buClr>
                <a:srgbClr val="FE8637"/>
              </a:buClr>
              <a:buSzPct val="70000"/>
              <a:buNone/>
            </a:pPr>
            <a:r>
              <a:rPr lang="en-US" sz="2800" dirty="0"/>
              <a:t>		‘result’,  ‘=‘, ‘a’, ‘+’, ‘b’, ‘*’, ‘10’</a:t>
            </a:r>
            <a:endParaRPr lang="en-US" sz="2800" i="1" dirty="0">
              <a:solidFill>
                <a:prstClr val="black"/>
              </a:solidFill>
              <a:latin typeface="Century Schoolbook"/>
              <a:ea typeface="ＭＳ Ｐゴシック" panose="020B0600070205080204" pitchFamily="34" charset="-128"/>
            </a:endParaRP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grpSp>
        <p:nvGrpSpPr>
          <p:cNvPr id="19" name="Group 70"/>
          <p:cNvGrpSpPr>
            <a:grpSpLocks/>
          </p:cNvGrpSpPr>
          <p:nvPr/>
        </p:nvGrpSpPr>
        <p:grpSpPr bwMode="auto">
          <a:xfrm>
            <a:off x="3363295" y="3397250"/>
            <a:ext cx="3703638" cy="1555750"/>
            <a:chOff x="1171" y="2140"/>
            <a:chExt cx="2333" cy="980"/>
          </a:xfrm>
        </p:grpSpPr>
        <p:sp>
          <p:nvSpPr>
            <p:cNvPr id="24" name="Line 56"/>
            <p:cNvSpPr>
              <a:spLocks noChangeShapeType="1"/>
            </p:cNvSpPr>
            <p:nvPr/>
          </p:nvSpPr>
          <p:spPr bwMode="auto">
            <a:xfrm flipH="1" flipV="1">
              <a:off x="1824" y="2208"/>
              <a:ext cx="1680" cy="912"/>
            </a:xfrm>
            <a:prstGeom prst="line">
              <a:avLst/>
            </a:prstGeom>
            <a:noFill/>
            <a:ln w="952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5" name="Line 57"/>
            <p:cNvSpPr>
              <a:spLocks noChangeShapeType="1"/>
            </p:cNvSpPr>
            <p:nvPr/>
          </p:nvSpPr>
          <p:spPr bwMode="auto">
            <a:xfrm flipH="1" flipV="1">
              <a:off x="3024" y="2140"/>
              <a:ext cx="480" cy="980"/>
            </a:xfrm>
            <a:prstGeom prst="line">
              <a:avLst/>
            </a:prstGeom>
            <a:noFill/>
            <a:ln w="952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 name="Line 60"/>
            <p:cNvSpPr>
              <a:spLocks noChangeShapeType="1"/>
            </p:cNvSpPr>
            <p:nvPr/>
          </p:nvSpPr>
          <p:spPr bwMode="auto">
            <a:xfrm flipH="1" flipV="1">
              <a:off x="1171" y="2160"/>
              <a:ext cx="509" cy="943"/>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 name="Line 61"/>
            <p:cNvSpPr>
              <a:spLocks noChangeShapeType="1"/>
            </p:cNvSpPr>
            <p:nvPr/>
          </p:nvSpPr>
          <p:spPr bwMode="auto">
            <a:xfrm flipV="1">
              <a:off x="1872" y="2140"/>
              <a:ext cx="192" cy="963"/>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 name="Line 62"/>
            <p:cNvSpPr>
              <a:spLocks noChangeShapeType="1"/>
            </p:cNvSpPr>
            <p:nvPr/>
          </p:nvSpPr>
          <p:spPr bwMode="auto">
            <a:xfrm flipV="1">
              <a:off x="1968" y="2157"/>
              <a:ext cx="672" cy="946"/>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 name="Line 63"/>
            <p:cNvSpPr>
              <a:spLocks noChangeShapeType="1"/>
            </p:cNvSpPr>
            <p:nvPr/>
          </p:nvSpPr>
          <p:spPr bwMode="auto">
            <a:xfrm flipV="1">
              <a:off x="2064" y="2140"/>
              <a:ext cx="1248" cy="963"/>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1" name="Line 65"/>
            <p:cNvSpPr>
              <a:spLocks noChangeShapeType="1"/>
            </p:cNvSpPr>
            <p:nvPr/>
          </p:nvSpPr>
          <p:spPr bwMode="auto">
            <a:xfrm flipH="1" flipV="1">
              <a:off x="1824" y="2208"/>
              <a:ext cx="1680" cy="912"/>
            </a:xfrm>
            <a:prstGeom prst="line">
              <a:avLst/>
            </a:prstGeom>
            <a:noFill/>
            <a:ln w="952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 name="Line 66"/>
            <p:cNvSpPr>
              <a:spLocks noChangeShapeType="1"/>
            </p:cNvSpPr>
            <p:nvPr/>
          </p:nvSpPr>
          <p:spPr bwMode="auto">
            <a:xfrm flipH="1" flipV="1">
              <a:off x="2352" y="2157"/>
              <a:ext cx="1152" cy="963"/>
            </a:xfrm>
            <a:prstGeom prst="line">
              <a:avLst/>
            </a:prstGeom>
            <a:noFill/>
            <a:ln w="952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4" name="TextBox 33"/>
          <p:cNvSpPr txBox="1"/>
          <p:nvPr/>
        </p:nvSpPr>
        <p:spPr>
          <a:xfrm>
            <a:off x="6146170" y="5061374"/>
            <a:ext cx="1841525" cy="395173"/>
          </a:xfrm>
          <a:prstGeom prst="rect">
            <a:avLst/>
          </a:prstGeom>
          <a:noFill/>
        </p:spPr>
        <p:txBody>
          <a:bodyPr wrap="square" rtlCol="0">
            <a:spAutoFit/>
          </a:bodyPr>
          <a:lstStyle/>
          <a:p>
            <a:pPr marL="365760" lvl="1" indent="0">
              <a:lnSpc>
                <a:spcPct val="80000"/>
              </a:lnSpc>
              <a:spcBef>
                <a:spcPct val="20000"/>
              </a:spcBef>
              <a:spcAft>
                <a:spcPts val="0"/>
              </a:spcAft>
              <a:buClr>
                <a:srgbClr val="FE8637"/>
              </a:buClr>
              <a:buSzPct val="80000"/>
              <a:buNone/>
            </a:pPr>
            <a:r>
              <a:rPr lang="en-US" sz="2400"/>
              <a:t>operators</a:t>
            </a:r>
            <a:endParaRPr lang="en-US" sz="2400" dirty="0"/>
          </a:p>
        </p:txBody>
      </p:sp>
      <p:sp>
        <p:nvSpPr>
          <p:cNvPr id="35" name="TextBox 34"/>
          <p:cNvSpPr txBox="1"/>
          <p:nvPr/>
        </p:nvSpPr>
        <p:spPr>
          <a:xfrm>
            <a:off x="3396608" y="5034335"/>
            <a:ext cx="1841525" cy="395173"/>
          </a:xfrm>
          <a:prstGeom prst="rect">
            <a:avLst/>
          </a:prstGeom>
          <a:noFill/>
        </p:spPr>
        <p:txBody>
          <a:bodyPr wrap="square" rtlCol="0">
            <a:spAutoFit/>
          </a:bodyPr>
          <a:lstStyle/>
          <a:p>
            <a:pPr marL="365760" lvl="1" indent="0">
              <a:lnSpc>
                <a:spcPct val="80000"/>
              </a:lnSpc>
              <a:spcBef>
                <a:spcPct val="20000"/>
              </a:spcBef>
              <a:spcAft>
                <a:spcPts val="0"/>
              </a:spcAft>
              <a:buClr>
                <a:srgbClr val="FE8637"/>
              </a:buClr>
              <a:buSzPct val="80000"/>
              <a:buNone/>
            </a:pPr>
            <a:r>
              <a:rPr lang="en-US" sz="2400" dirty="0"/>
              <a:t>identifiers</a:t>
            </a:r>
          </a:p>
        </p:txBody>
      </p:sp>
    </p:spTree>
    <p:extLst>
      <p:ext uri="{BB962C8B-B14F-4D97-AF65-F5344CB8AC3E}">
        <p14:creationId xmlns:p14="http://schemas.microsoft.com/office/powerpoint/2010/main" val="488025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Lexical Analysis</a:t>
            </a:r>
            <a:endParaRPr lang="en-US" sz="4000" dirty="0"/>
          </a:p>
        </p:txBody>
      </p:sp>
      <p:sp>
        <p:nvSpPr>
          <p:cNvPr id="3" name="Content Placeholder 2"/>
          <p:cNvSpPr>
            <a:spLocks noGrp="1"/>
          </p:cNvSpPr>
          <p:nvPr>
            <p:ph idx="1"/>
          </p:nvPr>
        </p:nvSpPr>
        <p:spPr>
          <a:xfrm>
            <a:off x="1097280" y="1845734"/>
            <a:ext cx="10058400"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Input: </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Output: Sequence of tokens </a:t>
            </a:r>
          </a:p>
          <a:p>
            <a:pPr marL="0" lvl="0" indent="0">
              <a:lnSpc>
                <a:spcPct val="120000"/>
              </a:lnSpc>
              <a:spcBef>
                <a:spcPts val="600"/>
              </a:spcBef>
              <a:spcAft>
                <a:spcPts val="0"/>
              </a:spcAft>
              <a:buClr>
                <a:srgbClr val="FE8637"/>
              </a:buClr>
              <a:buSzPct val="70000"/>
              <a:buNone/>
            </a:pPr>
            <a:r>
              <a:rPr lang="en-US" sz="2800" dirty="0"/>
              <a:t>		</a:t>
            </a:r>
            <a:endParaRPr lang="en-US" sz="2400" dirty="0">
              <a:solidFill>
                <a:srgbClr val="FE8637">
                  <a:lumMod val="75000"/>
                </a:srgbClr>
              </a:solidFill>
              <a:latin typeface="Century Schoolbook"/>
              <a:ea typeface="ＭＳ Ｐゴシック" panose="020B0600070205080204" pitchFamily="34" charset="-128"/>
            </a:endParaRPr>
          </a:p>
        </p:txBody>
      </p:sp>
      <p:pic>
        <p:nvPicPr>
          <p:cNvPr id="4" name="Picture 3"/>
          <p:cNvPicPr>
            <a:picLocks noChangeAspect="1"/>
          </p:cNvPicPr>
          <p:nvPr/>
        </p:nvPicPr>
        <p:blipFill>
          <a:blip r:embed="rId3"/>
          <a:stretch>
            <a:fillRect/>
          </a:stretch>
        </p:blipFill>
        <p:spPr>
          <a:xfrm>
            <a:off x="2326246" y="1934244"/>
            <a:ext cx="4909374" cy="422182"/>
          </a:xfrm>
          <a:prstGeom prst="rect">
            <a:avLst/>
          </a:prstGeom>
        </p:spPr>
      </p:pic>
      <p:pic>
        <p:nvPicPr>
          <p:cNvPr id="5" name="Picture 4"/>
          <p:cNvPicPr>
            <a:picLocks noChangeAspect="1"/>
          </p:cNvPicPr>
          <p:nvPr/>
        </p:nvPicPr>
        <p:blipFill>
          <a:blip r:embed="rId4"/>
          <a:stretch>
            <a:fillRect/>
          </a:stretch>
        </p:blipFill>
        <p:spPr>
          <a:xfrm>
            <a:off x="2656387" y="3005977"/>
            <a:ext cx="4876767" cy="490257"/>
          </a:xfrm>
          <a:prstGeom prst="rect">
            <a:avLst/>
          </a:prstGeom>
        </p:spPr>
      </p:pic>
      <p:sp>
        <p:nvSpPr>
          <p:cNvPr id="7" name="Rectangle 6"/>
          <p:cNvSpPr/>
          <p:nvPr/>
        </p:nvSpPr>
        <p:spPr>
          <a:xfrm>
            <a:off x="1097280" y="3937460"/>
            <a:ext cx="10177912" cy="830997"/>
          </a:xfrm>
          <a:prstGeom prst="rect">
            <a:avLst/>
          </a:prstGeom>
        </p:spPr>
        <p:txBody>
          <a:bodyPr wrap="square">
            <a:spAutoFit/>
          </a:bodyPr>
          <a:lstStyle/>
          <a:p>
            <a:pPr marL="285750" indent="-285750">
              <a:buFont typeface="Arial" panose="020B0604020202020204" pitchFamily="34" charset="0"/>
              <a:buChar char="•"/>
            </a:pPr>
            <a:r>
              <a:rPr lang="en-GB" sz="2400" dirty="0"/>
              <a:t>In this representation, the token names </a:t>
            </a:r>
            <a:r>
              <a:rPr lang="en-GB" sz="2400" dirty="0">
                <a:solidFill>
                  <a:srgbClr val="0070C0"/>
                </a:solidFill>
              </a:rPr>
              <a:t>=</a:t>
            </a:r>
            <a:r>
              <a:rPr lang="en-GB" sz="2400" dirty="0"/>
              <a:t>, </a:t>
            </a:r>
            <a:r>
              <a:rPr lang="en-GB" sz="2400" dirty="0">
                <a:solidFill>
                  <a:srgbClr val="0070C0"/>
                </a:solidFill>
              </a:rPr>
              <a:t>+</a:t>
            </a:r>
            <a:r>
              <a:rPr lang="en-GB" sz="2400" dirty="0"/>
              <a:t>, and </a:t>
            </a:r>
            <a:r>
              <a:rPr lang="en-GB" sz="2400" dirty="0">
                <a:solidFill>
                  <a:srgbClr val="0070C0"/>
                </a:solidFill>
              </a:rPr>
              <a:t>*</a:t>
            </a:r>
            <a:r>
              <a:rPr lang="en-GB" sz="2400" dirty="0"/>
              <a:t> are abstract symbols for the </a:t>
            </a:r>
            <a:r>
              <a:rPr lang="en-GB" sz="2400" b="1" dirty="0"/>
              <a:t>assignment</a:t>
            </a:r>
            <a:r>
              <a:rPr lang="en-GB" sz="2400" dirty="0"/>
              <a:t>, </a:t>
            </a:r>
            <a:r>
              <a:rPr lang="en-GB" sz="2400" b="1" dirty="0"/>
              <a:t>addition</a:t>
            </a:r>
            <a:r>
              <a:rPr lang="en-GB" sz="2400" dirty="0"/>
              <a:t>, and </a:t>
            </a:r>
            <a:r>
              <a:rPr lang="en-GB" sz="2400" b="1" dirty="0"/>
              <a:t>multiplication</a:t>
            </a:r>
            <a:r>
              <a:rPr lang="en-GB" sz="2400" dirty="0"/>
              <a:t> operators, respectively.</a:t>
            </a:r>
          </a:p>
        </p:txBody>
      </p:sp>
      <p:pic>
        <p:nvPicPr>
          <p:cNvPr id="8" name="Picture 7"/>
          <p:cNvPicPr>
            <a:picLocks noChangeAspect="1"/>
          </p:cNvPicPr>
          <p:nvPr/>
        </p:nvPicPr>
        <p:blipFill>
          <a:blip r:embed="rId5"/>
          <a:stretch>
            <a:fillRect/>
          </a:stretch>
        </p:blipFill>
        <p:spPr>
          <a:xfrm>
            <a:off x="8033246" y="2300473"/>
            <a:ext cx="1923796" cy="1692941"/>
          </a:xfrm>
          <a:prstGeom prst="rect">
            <a:avLst/>
          </a:prstGeom>
        </p:spPr>
      </p:pic>
    </p:spTree>
    <p:extLst>
      <p:ext uri="{BB962C8B-B14F-4D97-AF65-F5344CB8AC3E}">
        <p14:creationId xmlns:p14="http://schemas.microsoft.com/office/powerpoint/2010/main" val="1299286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Syntax Analysis (Parsing)</a:t>
            </a:r>
            <a:endParaRPr lang="en-US" sz="4000" dirty="0"/>
          </a:p>
        </p:txBody>
      </p:sp>
      <p:sp>
        <p:nvSpPr>
          <p:cNvPr id="3" name="Content Placeholder 2"/>
          <p:cNvSpPr>
            <a:spLocks noGrp="1"/>
          </p:cNvSpPr>
          <p:nvPr>
            <p:ph idx="1"/>
          </p:nvPr>
        </p:nvSpPr>
        <p:spPr>
          <a:xfrm>
            <a:off x="1097280" y="1845734"/>
            <a:ext cx="10615108" cy="4319092"/>
          </a:xfrm>
        </p:spPr>
        <p:txBody>
          <a:bodyPr>
            <a:normAutofit/>
          </a:bodyPr>
          <a:lstStyle/>
          <a:p>
            <a:pPr marL="27432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Build a tree called a parse tree that reflects the structure of the input sentence.</a:t>
            </a:r>
          </a:p>
          <a:p>
            <a:pPr marL="274320" indent="-274320">
              <a:lnSpc>
                <a:spcPct val="120000"/>
              </a:lnSpc>
              <a:spcBef>
                <a:spcPts val="600"/>
              </a:spcBef>
              <a:spcAft>
                <a:spcPts val="0"/>
              </a:spcAft>
              <a:buClr>
                <a:srgbClr val="FE8637"/>
              </a:buClr>
              <a:buSzPct val="70000"/>
              <a:buFont typeface="Wingdings"/>
              <a:buChar char=""/>
            </a:pPr>
            <a:r>
              <a:rPr lang="en-GB" sz="2400" dirty="0">
                <a:solidFill>
                  <a:prstClr val="black"/>
                </a:solidFill>
                <a:latin typeface="Century Schoolbook"/>
              </a:rPr>
              <a:t>A syntax tree in which each interior node represents an operation and the children of the node represent the arguments of the operation.</a:t>
            </a:r>
          </a:p>
          <a:p>
            <a:pPr marL="0" indent="0">
              <a:lnSpc>
                <a:spcPct val="120000"/>
              </a:lnSpc>
              <a:spcBef>
                <a:spcPts val="600"/>
              </a:spcBef>
              <a:spcAft>
                <a:spcPts val="0"/>
              </a:spcAft>
              <a:buClr>
                <a:srgbClr val="FE8637"/>
              </a:buClr>
              <a:buSzPct val="70000"/>
              <a:buNone/>
            </a:pPr>
            <a:r>
              <a:rPr lang="en-US" sz="2400" b="1" dirty="0">
                <a:solidFill>
                  <a:prstClr val="black"/>
                </a:solidFill>
                <a:latin typeface="Century Schoolbook"/>
              </a:rPr>
              <a:t>Example</a:t>
            </a:r>
            <a:r>
              <a:rPr lang="en-US" sz="2400" dirty="0">
                <a:solidFill>
                  <a:prstClr val="black"/>
                </a:solidFill>
                <a:latin typeface="Century Schoolbook"/>
              </a:rPr>
              <a:t>:</a:t>
            </a:r>
          </a:p>
          <a:p>
            <a:pPr marL="635508" lvl="1" indent="-342900">
              <a:lnSpc>
                <a:spcPct val="110000"/>
              </a:lnSpc>
              <a:spcBef>
                <a:spcPts val="600"/>
              </a:spcBef>
              <a:spcAft>
                <a:spcPts val="0"/>
              </a:spcAft>
              <a:buClr>
                <a:srgbClr val="FE8637"/>
              </a:buClr>
              <a:buSzPct val="70000"/>
              <a:buFont typeface="Wingdings" panose="05000000000000000000" pitchFamily="2" charset="2"/>
              <a:buChar char="§"/>
            </a:pPr>
            <a:r>
              <a:rPr lang="en-US" sz="2400" dirty="0"/>
              <a:t>The Phrase : x = +y</a:t>
            </a:r>
          </a:p>
          <a:p>
            <a:pPr marL="635508" lvl="1" indent="-342900">
              <a:lnSpc>
                <a:spcPct val="110000"/>
              </a:lnSpc>
              <a:spcBef>
                <a:spcPts val="600"/>
              </a:spcBef>
              <a:spcAft>
                <a:spcPts val="0"/>
              </a:spcAft>
              <a:buClr>
                <a:srgbClr val="FE8637"/>
              </a:buClr>
              <a:buSzPct val="70000"/>
              <a:buFont typeface="Wingdings" panose="05000000000000000000" pitchFamily="2" charset="2"/>
              <a:buChar char="§"/>
            </a:pPr>
            <a:r>
              <a:rPr lang="en-US" sz="2400" dirty="0"/>
              <a:t>Four Tokens </a:t>
            </a:r>
            <a:r>
              <a:rPr lang="en-US" sz="2400" dirty="0">
                <a:sym typeface="Wingdings" panose="05000000000000000000" pitchFamily="2" charset="2"/>
              </a:rPr>
              <a:t> </a:t>
            </a:r>
            <a:r>
              <a:rPr lang="en-US" sz="2400" dirty="0"/>
              <a:t>“x", “=“ ,“+" and “y“</a:t>
            </a:r>
          </a:p>
          <a:p>
            <a:pPr marL="635508" lvl="1" indent="-342900">
              <a:lnSpc>
                <a:spcPct val="110000"/>
              </a:lnSpc>
              <a:spcBef>
                <a:spcPts val="600"/>
              </a:spcBef>
              <a:spcAft>
                <a:spcPts val="0"/>
              </a:spcAft>
              <a:buClr>
                <a:srgbClr val="FE8637"/>
              </a:buClr>
              <a:buSzPct val="70000"/>
              <a:buFont typeface="Wingdings" panose="05000000000000000000" pitchFamily="2" charset="2"/>
              <a:buChar char="§"/>
            </a:pPr>
            <a:r>
              <a:rPr lang="en-US" sz="2400" dirty="0"/>
              <a:t>Structure x = (x+(y)) i.e., an assignment expression </a:t>
            </a:r>
          </a:p>
          <a:p>
            <a:pPr marL="365760" lvl="1" indent="0">
              <a:lnSpc>
                <a:spcPct val="110000"/>
              </a:lnSpc>
              <a:spcBef>
                <a:spcPct val="20000"/>
              </a:spcBef>
              <a:spcAft>
                <a:spcPts val="0"/>
              </a:spcAft>
              <a:buClr>
                <a:srgbClr val="FE8637"/>
              </a:buClr>
              <a:buSzPct val="80000"/>
              <a:buNone/>
            </a:pPr>
            <a:endParaRPr lang="en-US" sz="2800" i="1" dirty="0">
              <a:solidFill>
                <a:prstClr val="black"/>
              </a:solidFill>
              <a:latin typeface="Century Schoolbook"/>
              <a:ea typeface="ＭＳ Ｐゴシック" panose="020B0600070205080204" pitchFamily="34" charset="-128"/>
            </a:endParaRP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1952227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Syntax Analysis: Grammars</a:t>
            </a:r>
            <a:endParaRPr lang="en-US" sz="4000" dirty="0"/>
          </a:p>
        </p:txBody>
      </p:sp>
      <p:sp>
        <p:nvSpPr>
          <p:cNvPr id="3" name="Content Placeholder 2"/>
          <p:cNvSpPr>
            <a:spLocks noGrp="1"/>
          </p:cNvSpPr>
          <p:nvPr>
            <p:ph idx="1"/>
          </p:nvPr>
        </p:nvSpPr>
        <p:spPr>
          <a:xfrm>
            <a:off x="1097280" y="1845734"/>
            <a:ext cx="9846023"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Expression grammar</a:t>
            </a:r>
          </a:p>
          <a:p>
            <a:pPr marL="0" lvl="0" indent="0">
              <a:lnSpc>
                <a:spcPct val="120000"/>
              </a:lnSpc>
              <a:spcBef>
                <a:spcPts val="600"/>
              </a:spcBef>
              <a:spcAft>
                <a:spcPts val="0"/>
              </a:spcAft>
              <a:buClr>
                <a:srgbClr val="FE8637"/>
              </a:buClr>
              <a:buSzPct val="70000"/>
              <a:buNone/>
            </a:pPr>
            <a:r>
              <a:rPr lang="en-US" sz="2400" dirty="0">
                <a:solidFill>
                  <a:prstClr val="black"/>
                </a:solidFill>
                <a:latin typeface="Century Schoolbook"/>
              </a:rPr>
              <a:t>	</a:t>
            </a:r>
            <a:r>
              <a:rPr lang="en-US" sz="2400" dirty="0" err="1">
                <a:solidFill>
                  <a:prstClr val="black"/>
                </a:solidFill>
                <a:latin typeface="Century Schoolbook"/>
              </a:rPr>
              <a:t>Exp</a:t>
            </a:r>
            <a:r>
              <a:rPr lang="en-US" sz="2400" dirty="0">
                <a:solidFill>
                  <a:prstClr val="black"/>
                </a:solidFill>
                <a:latin typeface="Century Schoolbook"/>
              </a:rPr>
              <a:t>           </a:t>
            </a:r>
            <a:r>
              <a:rPr lang="en-US" sz="2400" dirty="0" err="1">
                <a:solidFill>
                  <a:prstClr val="black"/>
                </a:solidFill>
                <a:latin typeface="Century Schoolbook"/>
              </a:rPr>
              <a:t>Exp</a:t>
            </a:r>
            <a:r>
              <a:rPr lang="en-US" sz="2400" dirty="0">
                <a:solidFill>
                  <a:prstClr val="black"/>
                </a:solidFill>
                <a:latin typeface="Century Schoolbook"/>
              </a:rPr>
              <a:t> ‘+’ </a:t>
            </a:r>
            <a:r>
              <a:rPr lang="en-US" sz="2400" dirty="0" err="1">
                <a:solidFill>
                  <a:prstClr val="black"/>
                </a:solidFill>
                <a:latin typeface="Century Schoolbook"/>
              </a:rPr>
              <a:t>Exp</a:t>
            </a:r>
            <a:endParaRPr lang="en-US" sz="2400" dirty="0">
              <a:solidFill>
                <a:prstClr val="black"/>
              </a:solidFill>
              <a:latin typeface="Century Schoolbook"/>
            </a:endParaRPr>
          </a:p>
          <a:p>
            <a:pPr marL="0" lvl="0" indent="0">
              <a:lnSpc>
                <a:spcPct val="120000"/>
              </a:lnSpc>
              <a:spcBef>
                <a:spcPts val="600"/>
              </a:spcBef>
              <a:spcAft>
                <a:spcPts val="0"/>
              </a:spcAft>
              <a:buClr>
                <a:srgbClr val="FE8637"/>
              </a:buClr>
              <a:buSzPct val="70000"/>
              <a:buNone/>
            </a:pPr>
            <a:r>
              <a:rPr lang="en-US" sz="2400" dirty="0">
                <a:solidFill>
                  <a:prstClr val="black"/>
                </a:solidFill>
                <a:latin typeface="Century Schoolbook"/>
              </a:rPr>
              <a:t>      		|     </a:t>
            </a:r>
            <a:r>
              <a:rPr lang="en-US" sz="2400" dirty="0" err="1">
                <a:solidFill>
                  <a:prstClr val="black"/>
                </a:solidFill>
                <a:latin typeface="Century Schoolbook"/>
              </a:rPr>
              <a:t>Exp</a:t>
            </a:r>
            <a:r>
              <a:rPr lang="en-US" sz="2400" dirty="0">
                <a:solidFill>
                  <a:prstClr val="black"/>
                </a:solidFill>
                <a:latin typeface="Century Schoolbook"/>
              </a:rPr>
              <a:t> ‘*’ </a:t>
            </a:r>
            <a:r>
              <a:rPr lang="en-US" sz="2400" dirty="0" err="1">
                <a:solidFill>
                  <a:prstClr val="black"/>
                </a:solidFill>
                <a:latin typeface="Century Schoolbook"/>
              </a:rPr>
              <a:t>Exp</a:t>
            </a:r>
            <a:endParaRPr lang="en-US" sz="2400" dirty="0">
              <a:solidFill>
                <a:prstClr val="black"/>
              </a:solidFill>
              <a:latin typeface="Century Schoolbook"/>
            </a:endParaRPr>
          </a:p>
          <a:p>
            <a:pPr marL="0" lvl="0" indent="0">
              <a:lnSpc>
                <a:spcPct val="120000"/>
              </a:lnSpc>
              <a:spcBef>
                <a:spcPts val="600"/>
              </a:spcBef>
              <a:spcAft>
                <a:spcPts val="0"/>
              </a:spcAft>
              <a:buClr>
                <a:srgbClr val="FE8637"/>
              </a:buClr>
              <a:buSzPct val="70000"/>
              <a:buNone/>
            </a:pPr>
            <a:r>
              <a:rPr lang="en-US" sz="2400" dirty="0">
                <a:solidFill>
                  <a:prstClr val="black"/>
                </a:solidFill>
                <a:latin typeface="Century Schoolbook"/>
              </a:rPr>
              <a:t>              	|     ID</a:t>
            </a:r>
          </a:p>
          <a:p>
            <a:pPr marL="0" lvl="0" indent="0">
              <a:lnSpc>
                <a:spcPct val="120000"/>
              </a:lnSpc>
              <a:spcBef>
                <a:spcPts val="600"/>
              </a:spcBef>
              <a:spcAft>
                <a:spcPts val="0"/>
              </a:spcAft>
              <a:buClr>
                <a:srgbClr val="FE8637"/>
              </a:buClr>
              <a:buSzPct val="70000"/>
              <a:buNone/>
            </a:pPr>
            <a:r>
              <a:rPr lang="en-US" sz="2400" dirty="0">
                <a:solidFill>
                  <a:prstClr val="black"/>
                </a:solidFill>
                <a:latin typeface="Century Schoolbook"/>
              </a:rPr>
              <a:t>              	|     NUMBER</a:t>
            </a:r>
          </a:p>
          <a:p>
            <a:pPr marL="365760" lvl="1" indent="0">
              <a:lnSpc>
                <a:spcPct val="110000"/>
              </a:lnSpc>
              <a:spcBef>
                <a:spcPct val="20000"/>
              </a:spcBef>
              <a:spcAft>
                <a:spcPts val="0"/>
              </a:spcAft>
              <a:buClr>
                <a:srgbClr val="FE8637"/>
              </a:buClr>
              <a:buSzPct val="80000"/>
              <a:buNone/>
            </a:pPr>
            <a:endParaRPr lang="en-US" sz="2800" i="1" dirty="0">
              <a:solidFill>
                <a:prstClr val="black"/>
              </a:solidFill>
              <a:latin typeface="Century Schoolbook"/>
              <a:ea typeface="ＭＳ Ｐゴシック" panose="020B0600070205080204" pitchFamily="34" charset="-128"/>
            </a:endParaRP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
        <p:nvSpPr>
          <p:cNvPr id="4" name="Line 4"/>
          <p:cNvSpPr>
            <a:spLocks noChangeShapeType="1"/>
          </p:cNvSpPr>
          <p:nvPr/>
        </p:nvSpPr>
        <p:spPr bwMode="auto">
          <a:xfrm>
            <a:off x="2877671" y="2631140"/>
            <a:ext cx="385482" cy="448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Tree>
    <p:extLst>
      <p:ext uri="{BB962C8B-B14F-4D97-AF65-F5344CB8AC3E}">
        <p14:creationId xmlns:p14="http://schemas.microsoft.com/office/powerpoint/2010/main" val="616028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Syntax Analysis: Syntax Tree</a:t>
            </a:r>
            <a:endParaRPr lang="en-US" sz="4000" dirty="0"/>
          </a:p>
        </p:txBody>
      </p:sp>
      <p:sp>
        <p:nvSpPr>
          <p:cNvPr id="3" name="Content Placeholder 2"/>
          <p:cNvSpPr>
            <a:spLocks noGrp="1"/>
          </p:cNvSpPr>
          <p:nvPr>
            <p:ph idx="1"/>
          </p:nvPr>
        </p:nvSpPr>
        <p:spPr>
          <a:xfrm>
            <a:off x="1097280" y="1845734"/>
            <a:ext cx="9846023"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US" sz="2400" b="1" dirty="0">
                <a:solidFill>
                  <a:prstClr val="black"/>
                </a:solidFill>
                <a:latin typeface="Century Schoolbook"/>
              </a:rPr>
              <a:t>Input</a:t>
            </a:r>
            <a:r>
              <a:rPr lang="en-US" sz="2400" dirty="0">
                <a:solidFill>
                  <a:prstClr val="black"/>
                </a:solidFill>
                <a:latin typeface="Century Schoolbook"/>
              </a:rPr>
              <a:t>: result = a + b * 10</a:t>
            </a:r>
          </a:p>
          <a:p>
            <a:pPr marL="0" lvl="0" indent="0">
              <a:lnSpc>
                <a:spcPct val="120000"/>
              </a:lnSpc>
              <a:spcBef>
                <a:spcPts val="600"/>
              </a:spcBef>
              <a:spcAft>
                <a:spcPts val="0"/>
              </a:spcAft>
              <a:buClr>
                <a:srgbClr val="FE8637"/>
              </a:buClr>
              <a:buSzPct val="70000"/>
              <a:buNone/>
            </a:pPr>
            <a:r>
              <a:rPr lang="en-US" sz="2400" dirty="0">
                <a:solidFill>
                  <a:prstClr val="black"/>
                </a:solidFill>
                <a:latin typeface="Century Schoolbook"/>
              </a:rPr>
              <a:t>	</a:t>
            </a:r>
            <a:endParaRPr lang="en-US" sz="2800" i="1" dirty="0">
              <a:solidFill>
                <a:prstClr val="black"/>
              </a:solidFill>
              <a:latin typeface="Century Schoolbook"/>
              <a:ea typeface="ＭＳ Ｐゴシック" panose="020B0600070205080204" pitchFamily="34" charset="-128"/>
            </a:endParaRP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pic>
        <p:nvPicPr>
          <p:cNvPr id="25" name="Picture 24"/>
          <p:cNvPicPr>
            <a:picLocks noChangeAspect="1"/>
          </p:cNvPicPr>
          <p:nvPr/>
        </p:nvPicPr>
        <p:blipFill>
          <a:blip r:embed="rId3"/>
          <a:stretch>
            <a:fillRect/>
          </a:stretch>
        </p:blipFill>
        <p:spPr>
          <a:xfrm>
            <a:off x="2707341" y="2637745"/>
            <a:ext cx="4351436" cy="3093660"/>
          </a:xfrm>
          <a:prstGeom prst="rect">
            <a:avLst/>
          </a:prstGeom>
        </p:spPr>
      </p:pic>
    </p:spTree>
    <p:extLst>
      <p:ext uri="{BB962C8B-B14F-4D97-AF65-F5344CB8AC3E}">
        <p14:creationId xmlns:p14="http://schemas.microsoft.com/office/powerpoint/2010/main" val="36168115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Semantic Analysis</a:t>
            </a:r>
            <a:endParaRPr lang="en-US" sz="4000" dirty="0"/>
          </a:p>
        </p:txBody>
      </p:sp>
      <p:sp>
        <p:nvSpPr>
          <p:cNvPr id="3" name="Content Placeholder 2"/>
          <p:cNvSpPr>
            <a:spLocks noGrp="1"/>
          </p:cNvSpPr>
          <p:nvPr>
            <p:ph idx="1"/>
          </p:nvPr>
        </p:nvSpPr>
        <p:spPr>
          <a:xfrm>
            <a:off x="1097280" y="1845734"/>
            <a:ext cx="10058400"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Check the source program for semantic errors</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It uses the hierarchical structure determined by the syntax-analysis phase to identify the operators and operands of expressions and statements</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Performs type checking</a:t>
            </a:r>
          </a:p>
          <a:p>
            <a:pPr marL="635508" lvl="1" indent="-342900">
              <a:lnSpc>
                <a:spcPct val="120000"/>
              </a:lnSpc>
              <a:spcBef>
                <a:spcPts val="600"/>
              </a:spcBef>
              <a:spcAft>
                <a:spcPts val="0"/>
              </a:spcAft>
              <a:buClr>
                <a:srgbClr val="FE8637"/>
              </a:buClr>
              <a:buSzPct val="70000"/>
              <a:buFont typeface="Wingdings" panose="05000000000000000000" pitchFamily="2" charset="2"/>
              <a:buChar char="§"/>
            </a:pPr>
            <a:r>
              <a:rPr lang="en-US" sz="2200" dirty="0">
                <a:solidFill>
                  <a:prstClr val="black"/>
                </a:solidFill>
                <a:latin typeface="Century Schoolbook"/>
              </a:rPr>
              <a:t>Operator operand compatibility</a:t>
            </a:r>
            <a:endParaRPr lang="en-US" sz="2400" dirty="0">
              <a:solidFill>
                <a:prstClr val="black"/>
              </a:solidFill>
              <a:latin typeface="Century Schoolbook"/>
            </a:endParaRPr>
          </a:p>
          <a:p>
            <a:pPr marL="292608" lvl="1" indent="0">
              <a:lnSpc>
                <a:spcPct val="120000"/>
              </a:lnSpc>
              <a:spcBef>
                <a:spcPts val="600"/>
              </a:spcBef>
              <a:spcAft>
                <a:spcPts val="0"/>
              </a:spcAft>
              <a:buClr>
                <a:srgbClr val="FE8637"/>
              </a:buClr>
              <a:buSzPct val="70000"/>
              <a:buNone/>
            </a:pPr>
            <a:r>
              <a:rPr lang="en-US" sz="2400" b="1" dirty="0">
                <a:solidFill>
                  <a:schemeClr val="tx1"/>
                </a:solidFill>
                <a:latin typeface="Century Schoolbook"/>
                <a:ea typeface="ＭＳ Ｐゴシック" panose="020B0600070205080204" pitchFamily="34" charset="-128"/>
              </a:rPr>
              <a:t>Example:</a:t>
            </a:r>
          </a:p>
          <a:p>
            <a:pPr marL="365760" lvl="1" indent="0">
              <a:lnSpc>
                <a:spcPct val="80000"/>
              </a:lnSpc>
              <a:spcBef>
                <a:spcPct val="20000"/>
              </a:spcBef>
              <a:spcAft>
                <a:spcPts val="0"/>
              </a:spcAft>
              <a:buClr>
                <a:srgbClr val="FE8637"/>
              </a:buClr>
              <a:buSzPct val="80000"/>
              <a:buNone/>
            </a:pPr>
            <a:r>
              <a:rPr lang="en-GB" sz="2200" dirty="0">
                <a:solidFill>
                  <a:schemeClr val="tx1"/>
                </a:solidFill>
                <a:latin typeface="Century Schoolbook"/>
                <a:ea typeface="ＭＳ Ｐゴシック" panose="020B0600070205080204" pitchFamily="34" charset="-128"/>
              </a:rPr>
              <a:t>The compiler must report an error if a floating-point number is used to index an array.</a:t>
            </a:r>
            <a:endParaRPr lang="en-US" sz="2200" dirty="0">
              <a:solidFill>
                <a:schemeClr val="tx1"/>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36337269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Semantic Analysis</a:t>
            </a:r>
            <a:endParaRPr lang="en-US" sz="4000" dirty="0"/>
          </a:p>
        </p:txBody>
      </p:sp>
      <p:sp>
        <p:nvSpPr>
          <p:cNvPr id="3" name="Content Placeholder 2"/>
          <p:cNvSpPr>
            <a:spLocks noGrp="1"/>
          </p:cNvSpPr>
          <p:nvPr>
            <p:ph idx="1"/>
          </p:nvPr>
        </p:nvSpPr>
        <p:spPr>
          <a:xfrm>
            <a:off x="1097280" y="1845734"/>
            <a:ext cx="11094720"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GB" sz="2400" dirty="0">
                <a:solidFill>
                  <a:prstClr val="black"/>
                </a:solidFill>
                <a:latin typeface="Century Schoolbook"/>
              </a:rPr>
              <a:t>The language specification may permit some type conversions </a:t>
            </a:r>
          </a:p>
          <a:p>
            <a:pPr marL="0" lvl="0" indent="0">
              <a:lnSpc>
                <a:spcPct val="120000"/>
              </a:lnSpc>
              <a:spcBef>
                <a:spcPts val="600"/>
              </a:spcBef>
              <a:spcAft>
                <a:spcPts val="0"/>
              </a:spcAft>
              <a:buClr>
                <a:srgbClr val="FE8637"/>
              </a:buClr>
              <a:buSzPct val="70000"/>
              <a:buNone/>
            </a:pPr>
            <a:r>
              <a:rPr lang="en-GB" sz="2400" dirty="0">
                <a:solidFill>
                  <a:prstClr val="black"/>
                </a:solidFill>
                <a:latin typeface="Century Schoolbook"/>
              </a:rPr>
              <a:t>   called </a:t>
            </a:r>
            <a:r>
              <a:rPr lang="en-GB" sz="2400" b="1" dirty="0">
                <a:solidFill>
                  <a:prstClr val="black"/>
                </a:solidFill>
                <a:latin typeface="Century Schoolbook"/>
              </a:rPr>
              <a:t>coercions</a:t>
            </a:r>
            <a:r>
              <a:rPr lang="en-GB" sz="2400" dirty="0">
                <a:solidFill>
                  <a:prstClr val="black"/>
                </a:solidFill>
                <a:latin typeface="Century Schoolbook"/>
              </a:rPr>
              <a:t>.</a:t>
            </a:r>
          </a:p>
          <a:p>
            <a:pPr marL="274320" indent="-274320">
              <a:lnSpc>
                <a:spcPct val="120000"/>
              </a:lnSpc>
              <a:spcBef>
                <a:spcPts val="600"/>
              </a:spcBef>
              <a:spcAft>
                <a:spcPts val="0"/>
              </a:spcAft>
              <a:buClr>
                <a:srgbClr val="FE8637"/>
              </a:buClr>
              <a:buSzPct val="70000"/>
              <a:buFont typeface="Wingdings"/>
              <a:buChar char=""/>
            </a:pPr>
            <a:r>
              <a:rPr lang="en-US" sz="2400" b="1" dirty="0">
                <a:solidFill>
                  <a:schemeClr val="tx1"/>
                </a:solidFill>
                <a:latin typeface="Century Schoolbook"/>
                <a:ea typeface="ＭＳ Ｐゴシック" panose="020B0600070205080204" pitchFamily="34" charset="-128"/>
              </a:rPr>
              <a:t>Example:</a:t>
            </a:r>
            <a:endParaRPr lang="en-GB" sz="2400" dirty="0">
              <a:solidFill>
                <a:prstClr val="black"/>
              </a:solidFill>
              <a:latin typeface="Century Schoolbook"/>
            </a:endParaRPr>
          </a:p>
          <a:p>
            <a:pPr marL="0" lvl="0" indent="0">
              <a:lnSpc>
                <a:spcPct val="120000"/>
              </a:lnSpc>
              <a:spcBef>
                <a:spcPts val="600"/>
              </a:spcBef>
              <a:spcAft>
                <a:spcPts val="0"/>
              </a:spcAft>
              <a:buClr>
                <a:srgbClr val="FE8637"/>
              </a:buClr>
              <a:buSzPct val="70000"/>
              <a:buNone/>
            </a:pPr>
            <a:r>
              <a:rPr lang="en-GB" sz="2400" dirty="0">
                <a:solidFill>
                  <a:prstClr val="black"/>
                </a:solidFill>
                <a:latin typeface="Century Schoolbook"/>
              </a:rPr>
              <a:t>   The compiler may </a:t>
            </a:r>
            <a:r>
              <a:rPr lang="en-GB" sz="2400" b="1" dirty="0">
                <a:solidFill>
                  <a:prstClr val="black"/>
                </a:solidFill>
                <a:latin typeface="Century Schoolbook"/>
              </a:rPr>
              <a:t>convert or coerce </a:t>
            </a:r>
          </a:p>
          <a:p>
            <a:pPr marL="0" lvl="0" indent="0">
              <a:lnSpc>
                <a:spcPct val="120000"/>
              </a:lnSpc>
              <a:spcBef>
                <a:spcPts val="600"/>
              </a:spcBef>
              <a:spcAft>
                <a:spcPts val="0"/>
              </a:spcAft>
              <a:buClr>
                <a:srgbClr val="FE8637"/>
              </a:buClr>
              <a:buSzPct val="70000"/>
              <a:buNone/>
            </a:pPr>
            <a:r>
              <a:rPr lang="en-GB" sz="2400" b="1" dirty="0">
                <a:solidFill>
                  <a:prstClr val="black"/>
                </a:solidFill>
                <a:latin typeface="Century Schoolbook"/>
              </a:rPr>
              <a:t>   </a:t>
            </a:r>
            <a:r>
              <a:rPr lang="en-GB" sz="2400" dirty="0">
                <a:solidFill>
                  <a:prstClr val="black"/>
                </a:solidFill>
                <a:latin typeface="Century Schoolbook"/>
              </a:rPr>
              <a:t>the integer into a floating-point  number.</a:t>
            </a:r>
          </a:p>
          <a:p>
            <a:pPr marL="0" lvl="0" indent="0">
              <a:lnSpc>
                <a:spcPct val="120000"/>
              </a:lnSpc>
              <a:spcBef>
                <a:spcPts val="600"/>
              </a:spcBef>
              <a:spcAft>
                <a:spcPts val="0"/>
              </a:spcAft>
              <a:buClr>
                <a:srgbClr val="FE8637"/>
              </a:buClr>
              <a:buSzPct val="70000"/>
              <a:buNone/>
            </a:pPr>
            <a:endParaRPr lang="en-US" sz="2400" dirty="0">
              <a:solidFill>
                <a:prstClr val="black"/>
              </a:solidFill>
              <a:latin typeface="Century Schoolbook"/>
            </a:endParaRPr>
          </a:p>
        </p:txBody>
      </p:sp>
      <p:pic>
        <p:nvPicPr>
          <p:cNvPr id="5" name="Picture 4"/>
          <p:cNvPicPr>
            <a:picLocks noChangeAspect="1"/>
          </p:cNvPicPr>
          <p:nvPr/>
        </p:nvPicPr>
        <p:blipFill>
          <a:blip r:embed="rId3"/>
          <a:stretch>
            <a:fillRect/>
          </a:stretch>
        </p:blipFill>
        <p:spPr>
          <a:xfrm>
            <a:off x="7630989" y="2645458"/>
            <a:ext cx="4002945" cy="3519368"/>
          </a:xfrm>
          <a:prstGeom prst="rect">
            <a:avLst/>
          </a:prstGeom>
        </p:spPr>
      </p:pic>
    </p:spTree>
    <p:extLst>
      <p:ext uri="{BB962C8B-B14F-4D97-AF65-F5344CB8AC3E}">
        <p14:creationId xmlns:p14="http://schemas.microsoft.com/office/powerpoint/2010/main" val="4920263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Intermediate Code Generation</a:t>
            </a:r>
            <a:endParaRPr lang="en-US" sz="4000" dirty="0"/>
          </a:p>
        </p:txBody>
      </p:sp>
      <p:sp>
        <p:nvSpPr>
          <p:cNvPr id="3" name="Content Placeholder 2"/>
          <p:cNvSpPr>
            <a:spLocks noGrp="1"/>
          </p:cNvSpPr>
          <p:nvPr>
            <p:ph idx="1"/>
          </p:nvPr>
        </p:nvSpPr>
        <p:spPr>
          <a:xfrm>
            <a:off x="1097280" y="1845734"/>
            <a:ext cx="10058400" cy="4319092"/>
          </a:xfrm>
        </p:spPr>
        <p:txBody>
          <a:bodyPr>
            <a:normAutofit fontScale="92500" lnSpcReduction="10000"/>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Translate each hierarchical structure decorated as tree into intermediate code</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A program translated for an abstract machine</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Properties of intermediate codes</a:t>
            </a:r>
          </a:p>
          <a:p>
            <a:pPr marL="635508" lvl="1" indent="-342900">
              <a:lnSpc>
                <a:spcPct val="120000"/>
              </a:lnSpc>
              <a:spcBef>
                <a:spcPts val="600"/>
              </a:spcBef>
              <a:spcAft>
                <a:spcPts val="0"/>
              </a:spcAft>
              <a:buClr>
                <a:srgbClr val="FE8637"/>
              </a:buClr>
              <a:buSzPct val="70000"/>
              <a:buFont typeface="Wingdings" panose="05000000000000000000" pitchFamily="2" charset="2"/>
              <a:buChar char="§"/>
            </a:pPr>
            <a:r>
              <a:rPr lang="en-US" sz="2200" dirty="0">
                <a:solidFill>
                  <a:prstClr val="black"/>
                </a:solidFill>
                <a:latin typeface="Century Schoolbook"/>
              </a:rPr>
              <a:t>Should be easy to produce</a:t>
            </a:r>
          </a:p>
          <a:p>
            <a:pPr marL="635508" lvl="1" indent="-342900">
              <a:lnSpc>
                <a:spcPct val="120000"/>
              </a:lnSpc>
              <a:spcBef>
                <a:spcPts val="600"/>
              </a:spcBef>
              <a:spcAft>
                <a:spcPts val="0"/>
              </a:spcAft>
              <a:buClr>
                <a:srgbClr val="FE8637"/>
              </a:buClr>
              <a:buSzPct val="70000"/>
              <a:buFont typeface="Wingdings" panose="05000000000000000000" pitchFamily="2" charset="2"/>
              <a:buChar char="§"/>
            </a:pPr>
            <a:r>
              <a:rPr lang="en-US" sz="2200" dirty="0">
                <a:solidFill>
                  <a:prstClr val="black"/>
                </a:solidFill>
                <a:latin typeface="Century Schoolbook"/>
              </a:rPr>
              <a:t>Should be easy to translate into the target program</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Intermediate code hides many machine-level details, but has instruction-level mapping to many assembly languages</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Main motivation: </a:t>
            </a:r>
            <a:r>
              <a:rPr lang="en-US" sz="2400" b="1" dirty="0">
                <a:solidFill>
                  <a:prstClr val="black"/>
                </a:solidFill>
                <a:latin typeface="Century Schoolbook"/>
              </a:rPr>
              <a:t>portability</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One commonly used form is </a:t>
            </a:r>
            <a:r>
              <a:rPr lang="en-US" sz="2400" b="1" dirty="0">
                <a:solidFill>
                  <a:prstClr val="black"/>
                </a:solidFill>
                <a:latin typeface="Century Schoolbook"/>
              </a:rPr>
              <a:t>“Three-address Code”</a:t>
            </a: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2608141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Intermediate Code Generation</a:t>
            </a:r>
            <a:endParaRPr lang="en-US" sz="4000" dirty="0"/>
          </a:p>
        </p:txBody>
      </p:sp>
      <p:sp>
        <p:nvSpPr>
          <p:cNvPr id="3" name="Content Placeholder 2"/>
          <p:cNvSpPr>
            <a:spLocks noGrp="1"/>
          </p:cNvSpPr>
          <p:nvPr>
            <p:ph idx="1"/>
          </p:nvPr>
        </p:nvSpPr>
        <p:spPr>
          <a:xfrm>
            <a:off x="1097280" y="1845734"/>
            <a:ext cx="10058400"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GB" sz="2400" dirty="0">
                <a:solidFill>
                  <a:prstClr val="black"/>
                </a:solidFill>
                <a:latin typeface="Century Schoolbook"/>
              </a:rPr>
              <a:t>We consider an intermediate form called “three-address code”.</a:t>
            </a:r>
          </a:p>
          <a:p>
            <a:pPr marL="274320" lvl="0" indent="-274320">
              <a:lnSpc>
                <a:spcPct val="120000"/>
              </a:lnSpc>
              <a:spcBef>
                <a:spcPts val="600"/>
              </a:spcBef>
              <a:spcAft>
                <a:spcPts val="0"/>
              </a:spcAft>
              <a:buClr>
                <a:srgbClr val="FE8637"/>
              </a:buClr>
              <a:buSzPct val="70000"/>
              <a:buFont typeface="Wingdings"/>
              <a:buChar char=""/>
            </a:pPr>
            <a:r>
              <a:rPr lang="en-GB" sz="2400" dirty="0">
                <a:solidFill>
                  <a:prstClr val="black"/>
                </a:solidFill>
                <a:latin typeface="Century Schoolbook"/>
              </a:rPr>
              <a:t>Like the assembly language for a machine in which every memory</a:t>
            </a:r>
          </a:p>
          <a:p>
            <a:pPr marL="0" lvl="0" indent="0">
              <a:lnSpc>
                <a:spcPct val="120000"/>
              </a:lnSpc>
              <a:spcBef>
                <a:spcPts val="600"/>
              </a:spcBef>
              <a:spcAft>
                <a:spcPts val="0"/>
              </a:spcAft>
              <a:buClr>
                <a:srgbClr val="FE8637"/>
              </a:buClr>
              <a:buSzPct val="70000"/>
              <a:buNone/>
            </a:pPr>
            <a:r>
              <a:rPr lang="en-GB" sz="2400" dirty="0">
                <a:solidFill>
                  <a:prstClr val="black"/>
                </a:solidFill>
                <a:latin typeface="Century Schoolbook"/>
              </a:rPr>
              <a:t>    location can act like a register.</a:t>
            </a:r>
            <a:endParaRPr lang="en-US" sz="2400" dirty="0">
              <a:solidFill>
                <a:prstClr val="black"/>
              </a:solidFill>
              <a:latin typeface="Century Schoolbook"/>
            </a:endParaRPr>
          </a:p>
          <a:p>
            <a:pPr marL="274320" lvl="0" indent="-274320">
              <a:lnSpc>
                <a:spcPct val="120000"/>
              </a:lnSpc>
              <a:spcBef>
                <a:spcPts val="600"/>
              </a:spcBef>
              <a:spcAft>
                <a:spcPts val="0"/>
              </a:spcAft>
              <a:buClr>
                <a:srgbClr val="FE8637"/>
              </a:buClr>
              <a:buSzPct val="70000"/>
              <a:buFont typeface="Wingdings"/>
              <a:buChar char=""/>
            </a:pPr>
            <a:r>
              <a:rPr lang="en-GB" sz="2400" b="1" dirty="0">
                <a:solidFill>
                  <a:prstClr val="black"/>
                </a:solidFill>
                <a:latin typeface="Century Schoolbook"/>
              </a:rPr>
              <a:t>Three-address code </a:t>
            </a:r>
            <a:r>
              <a:rPr lang="en-GB" sz="2400" dirty="0">
                <a:solidFill>
                  <a:prstClr val="black"/>
                </a:solidFill>
                <a:latin typeface="Century Schoolbook"/>
              </a:rPr>
              <a:t>consists of a </a:t>
            </a:r>
          </a:p>
          <a:p>
            <a:pPr marL="0" lvl="0" indent="0">
              <a:lnSpc>
                <a:spcPct val="120000"/>
              </a:lnSpc>
              <a:spcBef>
                <a:spcPts val="600"/>
              </a:spcBef>
              <a:spcAft>
                <a:spcPts val="0"/>
              </a:spcAft>
              <a:buClr>
                <a:srgbClr val="FE8637"/>
              </a:buClr>
              <a:buSzPct val="70000"/>
              <a:buNone/>
            </a:pPr>
            <a:r>
              <a:rPr lang="en-GB" sz="2400" dirty="0">
                <a:solidFill>
                  <a:prstClr val="black"/>
                </a:solidFill>
                <a:latin typeface="Century Schoolbook"/>
              </a:rPr>
              <a:t>    sequence of instructions, </a:t>
            </a:r>
          </a:p>
          <a:p>
            <a:pPr marL="0" lvl="0" indent="0">
              <a:lnSpc>
                <a:spcPct val="120000"/>
              </a:lnSpc>
              <a:spcBef>
                <a:spcPts val="600"/>
              </a:spcBef>
              <a:spcAft>
                <a:spcPts val="0"/>
              </a:spcAft>
              <a:buClr>
                <a:srgbClr val="FE8637"/>
              </a:buClr>
              <a:buSzPct val="70000"/>
              <a:buNone/>
            </a:pPr>
            <a:r>
              <a:rPr lang="en-GB" sz="2400" dirty="0">
                <a:solidFill>
                  <a:prstClr val="black"/>
                </a:solidFill>
                <a:latin typeface="Century Schoolbook"/>
              </a:rPr>
              <a:t>    each of which has at most three operands.</a:t>
            </a: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pic>
        <p:nvPicPr>
          <p:cNvPr id="4" name="Picture 3"/>
          <p:cNvPicPr>
            <a:picLocks noChangeAspect="1"/>
          </p:cNvPicPr>
          <p:nvPr/>
        </p:nvPicPr>
        <p:blipFill>
          <a:blip r:embed="rId3"/>
          <a:stretch>
            <a:fillRect/>
          </a:stretch>
        </p:blipFill>
        <p:spPr>
          <a:xfrm>
            <a:off x="7504160" y="2859584"/>
            <a:ext cx="3749994" cy="3413616"/>
          </a:xfrm>
          <a:prstGeom prst="rect">
            <a:avLst/>
          </a:prstGeom>
        </p:spPr>
      </p:pic>
    </p:spTree>
    <p:extLst>
      <p:ext uri="{BB962C8B-B14F-4D97-AF65-F5344CB8AC3E}">
        <p14:creationId xmlns:p14="http://schemas.microsoft.com/office/powerpoint/2010/main" val="23150845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Code Optimization</a:t>
            </a:r>
            <a:endParaRPr lang="en-US" sz="4000" dirty="0"/>
          </a:p>
        </p:txBody>
      </p:sp>
      <p:sp>
        <p:nvSpPr>
          <p:cNvPr id="3" name="Content Placeholder 2"/>
          <p:cNvSpPr>
            <a:spLocks noGrp="1"/>
          </p:cNvSpPr>
          <p:nvPr>
            <p:ph idx="1"/>
          </p:nvPr>
        </p:nvSpPr>
        <p:spPr>
          <a:xfrm>
            <a:off x="1097280" y="1845734"/>
            <a:ext cx="10058400" cy="4319092"/>
          </a:xfrm>
        </p:spPr>
        <p:txBody>
          <a:bodyPr>
            <a:normAutofit lnSpcReduction="10000"/>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Apply a series of transformations </a:t>
            </a:r>
            <a:r>
              <a:rPr lang="en-US" sz="2400" b="1" dirty="0">
                <a:solidFill>
                  <a:prstClr val="black"/>
                </a:solidFill>
                <a:latin typeface="Century Schoolbook"/>
              </a:rPr>
              <a:t>to improve the time and space efficiency of the generated code.</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Peephole optimizations: generate new instructions by combining/expanding on a small number of consecutive instructions.</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Global optimizations: reorder, remove or add instructions to change the structure of generated code</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Consumes a significant fraction of the compilation time</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Optimization capability varies widely</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Simple optimization techniques can be vary valuable</a:t>
            </a: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21992157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Code Optimization</a:t>
            </a:r>
            <a:endParaRPr lang="en-US" sz="4000" dirty="0"/>
          </a:p>
        </p:txBody>
      </p:sp>
      <p:pic>
        <p:nvPicPr>
          <p:cNvPr id="4" name="Picture 3"/>
          <p:cNvPicPr>
            <a:picLocks noChangeAspect="1"/>
          </p:cNvPicPr>
          <p:nvPr/>
        </p:nvPicPr>
        <p:blipFill>
          <a:blip r:embed="rId3"/>
          <a:stretch>
            <a:fillRect/>
          </a:stretch>
        </p:blipFill>
        <p:spPr>
          <a:xfrm>
            <a:off x="3376246" y="2116966"/>
            <a:ext cx="3713003" cy="3280944"/>
          </a:xfrm>
          <a:prstGeom prst="rect">
            <a:avLst/>
          </a:prstGeom>
        </p:spPr>
      </p:pic>
    </p:spTree>
    <p:extLst>
      <p:ext uri="{BB962C8B-B14F-4D97-AF65-F5344CB8AC3E}">
        <p14:creationId xmlns:p14="http://schemas.microsoft.com/office/powerpoint/2010/main" val="9760141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Code Generation</a:t>
            </a:r>
            <a:endParaRPr lang="en-US" sz="4000" dirty="0"/>
          </a:p>
        </p:txBody>
      </p:sp>
      <p:sp>
        <p:nvSpPr>
          <p:cNvPr id="3" name="Content Placeholder 2"/>
          <p:cNvSpPr>
            <a:spLocks noGrp="1"/>
          </p:cNvSpPr>
          <p:nvPr>
            <p:ph idx="1"/>
          </p:nvPr>
        </p:nvSpPr>
        <p:spPr>
          <a:xfrm>
            <a:off x="1097280" y="1845734"/>
            <a:ext cx="10058400"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Map instructions in the intermediate code to specific machine instructions.</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Memory management, register allocation, instruction selection, instruction scheduling, …</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Generates sufficient information to enable symbolic debugging.</a:t>
            </a: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46221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Code Generation</a:t>
            </a:r>
            <a:endParaRPr lang="en-US" sz="4000" dirty="0"/>
          </a:p>
        </p:txBody>
      </p:sp>
      <p:sp>
        <p:nvSpPr>
          <p:cNvPr id="3" name="Content Placeholder 2"/>
          <p:cNvSpPr>
            <a:spLocks noGrp="1"/>
          </p:cNvSpPr>
          <p:nvPr>
            <p:ph idx="1"/>
          </p:nvPr>
        </p:nvSpPr>
        <p:spPr>
          <a:xfrm>
            <a:off x="1097280" y="1845734"/>
            <a:ext cx="10058400" cy="4319092"/>
          </a:xfrm>
        </p:spPr>
        <p:txBody>
          <a:bodyPr>
            <a:normAutofit/>
          </a:bodyPr>
          <a:lstStyle/>
          <a:p>
            <a:pPr marL="365760" lvl="1" indent="0">
              <a:lnSpc>
                <a:spcPct val="80000"/>
              </a:lnSpc>
              <a:spcBef>
                <a:spcPct val="20000"/>
              </a:spcBef>
              <a:spcAft>
                <a:spcPts val="0"/>
              </a:spcAft>
              <a:buClr>
                <a:srgbClr val="FE8637"/>
              </a:buClr>
              <a:buSzPct val="80000"/>
              <a:buNone/>
            </a:pPr>
            <a:r>
              <a:rPr lang="en-GB" sz="2400" dirty="0">
                <a:solidFill>
                  <a:schemeClr val="tx1"/>
                </a:solidFill>
                <a:latin typeface="Century Schoolbook"/>
                <a:ea typeface="ＭＳ Ｐゴシック" panose="020B0600070205080204" pitchFamily="34" charset="-128"/>
              </a:rPr>
              <a:t>For example, using registers R1 and R2, the intermediate code might get translated into the machine code</a:t>
            </a:r>
            <a:endParaRPr lang="en-US" sz="2400" dirty="0">
              <a:solidFill>
                <a:schemeClr val="tx1"/>
              </a:solidFill>
              <a:latin typeface="Century Schoolbook"/>
              <a:ea typeface="ＭＳ Ｐゴシック" panose="020B0600070205080204" pitchFamily="34" charset="-128"/>
            </a:endParaRPr>
          </a:p>
        </p:txBody>
      </p:sp>
      <p:pic>
        <p:nvPicPr>
          <p:cNvPr id="4" name="Picture 3"/>
          <p:cNvPicPr>
            <a:picLocks noChangeAspect="1"/>
          </p:cNvPicPr>
          <p:nvPr/>
        </p:nvPicPr>
        <p:blipFill>
          <a:blip r:embed="rId3"/>
          <a:stretch>
            <a:fillRect/>
          </a:stretch>
        </p:blipFill>
        <p:spPr>
          <a:xfrm>
            <a:off x="3634887" y="2609065"/>
            <a:ext cx="4130480" cy="3664135"/>
          </a:xfrm>
          <a:prstGeom prst="rect">
            <a:avLst/>
          </a:prstGeom>
        </p:spPr>
      </p:pic>
    </p:spTree>
    <p:extLst>
      <p:ext uri="{BB962C8B-B14F-4D97-AF65-F5344CB8AC3E}">
        <p14:creationId xmlns:p14="http://schemas.microsoft.com/office/powerpoint/2010/main" val="6224591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Symbol Table</a:t>
            </a:r>
            <a:endParaRPr lang="en-US" sz="4000" dirty="0"/>
          </a:p>
        </p:txBody>
      </p:sp>
      <p:sp>
        <p:nvSpPr>
          <p:cNvPr id="3" name="Content Placeholder 2"/>
          <p:cNvSpPr>
            <a:spLocks noGrp="1"/>
          </p:cNvSpPr>
          <p:nvPr>
            <p:ph idx="1"/>
          </p:nvPr>
        </p:nvSpPr>
        <p:spPr>
          <a:xfrm>
            <a:off x="1097280" y="1845734"/>
            <a:ext cx="10058400"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Records the identifiers used in the source program</a:t>
            </a:r>
          </a:p>
          <a:p>
            <a:pPr marL="566928" lvl="1" indent="-274320">
              <a:lnSpc>
                <a:spcPct val="120000"/>
              </a:lnSpc>
              <a:spcBef>
                <a:spcPts val="600"/>
              </a:spcBef>
              <a:spcAft>
                <a:spcPts val="0"/>
              </a:spcAft>
              <a:buClr>
                <a:srgbClr val="FE8637"/>
              </a:buClr>
              <a:buSzPct val="70000"/>
              <a:buFont typeface="Wingdings"/>
              <a:buChar char=""/>
            </a:pPr>
            <a:r>
              <a:rPr lang="en-US" sz="2200" dirty="0">
                <a:solidFill>
                  <a:prstClr val="black"/>
                </a:solidFill>
                <a:latin typeface="Century Schoolbook"/>
              </a:rPr>
              <a:t>Collect information about various attributes of each identifier</a:t>
            </a:r>
          </a:p>
          <a:p>
            <a:pPr marL="761238" lvl="2" indent="-285750">
              <a:lnSpc>
                <a:spcPct val="120000"/>
              </a:lnSpc>
              <a:spcBef>
                <a:spcPts val="600"/>
              </a:spcBef>
              <a:spcAft>
                <a:spcPts val="0"/>
              </a:spcAft>
              <a:buClr>
                <a:srgbClr val="FE8637"/>
              </a:buClr>
              <a:buSzPct val="70000"/>
              <a:buFont typeface="Wingdings" panose="05000000000000000000" pitchFamily="2" charset="2"/>
              <a:buChar char="§"/>
            </a:pPr>
            <a:r>
              <a:rPr lang="en-US" sz="2000" b="1" dirty="0">
                <a:solidFill>
                  <a:prstClr val="black"/>
                </a:solidFill>
                <a:latin typeface="Century Schoolbook"/>
              </a:rPr>
              <a:t>Variables</a:t>
            </a:r>
            <a:r>
              <a:rPr lang="en-US" sz="2000" dirty="0">
                <a:solidFill>
                  <a:prstClr val="black"/>
                </a:solidFill>
                <a:latin typeface="Century Schoolbook"/>
              </a:rPr>
              <a:t>: type, scope, storage allocation</a:t>
            </a:r>
          </a:p>
          <a:p>
            <a:pPr marL="761238" lvl="2" indent="-285750">
              <a:lnSpc>
                <a:spcPct val="120000"/>
              </a:lnSpc>
              <a:spcBef>
                <a:spcPts val="600"/>
              </a:spcBef>
              <a:spcAft>
                <a:spcPts val="0"/>
              </a:spcAft>
              <a:buClr>
                <a:srgbClr val="FE8637"/>
              </a:buClr>
              <a:buSzPct val="70000"/>
              <a:buFont typeface="Wingdings" panose="05000000000000000000" pitchFamily="2" charset="2"/>
              <a:buChar char="§"/>
            </a:pPr>
            <a:r>
              <a:rPr lang="en-US" sz="2000" b="1" dirty="0">
                <a:solidFill>
                  <a:prstClr val="black"/>
                </a:solidFill>
                <a:latin typeface="Century Schoolbook"/>
              </a:rPr>
              <a:t>Procedure</a:t>
            </a:r>
            <a:r>
              <a:rPr lang="en-US" sz="2000" dirty="0">
                <a:solidFill>
                  <a:prstClr val="black"/>
                </a:solidFill>
                <a:latin typeface="Century Schoolbook"/>
              </a:rPr>
              <a:t>: number and types of arguments, method of argument passing</a:t>
            </a:r>
          </a:p>
          <a:p>
            <a:pPr marL="274320" lvl="0" indent="-274320">
              <a:lnSpc>
                <a:spcPct val="120000"/>
              </a:lnSpc>
              <a:spcBef>
                <a:spcPts val="600"/>
              </a:spcBef>
              <a:spcAft>
                <a:spcPts val="0"/>
              </a:spcAft>
              <a:buClr>
                <a:srgbClr val="FE8637"/>
              </a:buClr>
              <a:buSzPct val="70000"/>
              <a:buFont typeface="Wingdings"/>
              <a:buChar char=""/>
            </a:pPr>
            <a:r>
              <a:rPr lang="en-US" sz="2400" b="1" dirty="0">
                <a:solidFill>
                  <a:prstClr val="black"/>
                </a:solidFill>
                <a:latin typeface="Century Schoolbook"/>
              </a:rPr>
              <a:t>It’s a data structure containing a record for each identifier</a:t>
            </a:r>
          </a:p>
          <a:p>
            <a:pPr marL="566928" lvl="1" indent="-274320">
              <a:lnSpc>
                <a:spcPct val="120000"/>
              </a:lnSpc>
              <a:spcBef>
                <a:spcPts val="600"/>
              </a:spcBef>
              <a:spcAft>
                <a:spcPts val="0"/>
              </a:spcAft>
              <a:buClr>
                <a:srgbClr val="FE8637"/>
              </a:buClr>
              <a:buSzPct val="70000"/>
              <a:buFont typeface="Wingdings"/>
              <a:buChar char=""/>
            </a:pPr>
            <a:r>
              <a:rPr lang="en-US" sz="2200" dirty="0">
                <a:solidFill>
                  <a:prstClr val="black"/>
                </a:solidFill>
                <a:latin typeface="Century Schoolbook"/>
              </a:rPr>
              <a:t>Different fields are collected and used at different phases of compilation </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When an identifier in the source program is detected by the lexical analyzer, the identifier is entered into the symbol table</a:t>
            </a: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24769085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Symbol Table</a:t>
            </a:r>
            <a:endParaRPr lang="en-US" sz="4000" dirty="0"/>
          </a:p>
        </p:txBody>
      </p:sp>
      <p:sp>
        <p:nvSpPr>
          <p:cNvPr id="3" name="Content Placeholder 2"/>
          <p:cNvSpPr>
            <a:spLocks noGrp="1"/>
          </p:cNvSpPr>
          <p:nvPr>
            <p:ph idx="1"/>
          </p:nvPr>
        </p:nvSpPr>
        <p:spPr>
          <a:xfrm>
            <a:off x="1097280" y="1845734"/>
            <a:ext cx="10058400" cy="4319092"/>
          </a:xfrm>
        </p:spPr>
        <p:txBody>
          <a:bodyPr>
            <a:noAutofit/>
          </a:bodyPr>
          <a:lstStyle/>
          <a:p>
            <a:pPr marL="274320" indent="-274320">
              <a:lnSpc>
                <a:spcPct val="120000"/>
              </a:lnSpc>
              <a:spcBef>
                <a:spcPts val="600"/>
              </a:spcBef>
              <a:spcAft>
                <a:spcPts val="0"/>
              </a:spcAft>
              <a:buClr>
                <a:srgbClr val="FE8637"/>
              </a:buClr>
              <a:buSzPct val="70000"/>
              <a:buFont typeface="Wingdings"/>
              <a:buChar char=""/>
            </a:pPr>
            <a:r>
              <a:rPr lang="en-GB" dirty="0">
                <a:solidFill>
                  <a:prstClr val="black"/>
                </a:solidFill>
                <a:latin typeface="Century Schoolbook"/>
              </a:rPr>
              <a:t>It is built in lexical and syntax analysis phases and It is used by compiler to achieve compile time efficiency.</a:t>
            </a:r>
          </a:p>
          <a:p>
            <a:pPr marL="274320" lvl="0" indent="-274320">
              <a:lnSpc>
                <a:spcPct val="120000"/>
              </a:lnSpc>
              <a:spcBef>
                <a:spcPts val="600"/>
              </a:spcBef>
              <a:spcAft>
                <a:spcPts val="0"/>
              </a:spcAft>
              <a:buClr>
                <a:srgbClr val="FE8637"/>
              </a:buClr>
              <a:buSzPct val="70000"/>
              <a:buFont typeface="Wingdings"/>
              <a:buChar char=""/>
            </a:pPr>
            <a:r>
              <a:rPr lang="en-GB" dirty="0">
                <a:solidFill>
                  <a:prstClr val="black"/>
                </a:solidFill>
                <a:latin typeface="Century Schoolbook"/>
              </a:rPr>
              <a:t>The information is collected by the analysis phases of compiler and is used by synthesis phases of compiler to generate code.</a:t>
            </a:r>
          </a:p>
          <a:p>
            <a:pPr marL="0" lvl="0" indent="0">
              <a:lnSpc>
                <a:spcPct val="150000"/>
              </a:lnSpc>
              <a:spcBef>
                <a:spcPts val="600"/>
              </a:spcBef>
              <a:spcAft>
                <a:spcPts val="0"/>
              </a:spcAft>
              <a:buClr>
                <a:srgbClr val="FE8637"/>
              </a:buClr>
              <a:buSzPct val="70000"/>
              <a:buNone/>
            </a:pPr>
            <a:r>
              <a:rPr lang="en-GB" b="1" dirty="0">
                <a:solidFill>
                  <a:prstClr val="black"/>
                </a:solidFill>
                <a:latin typeface="Century Schoolbook"/>
              </a:rPr>
              <a:t>Items stored in Symbol table:</a:t>
            </a:r>
          </a:p>
          <a:p>
            <a:pPr marL="566928" lvl="1" indent="-274320">
              <a:lnSpc>
                <a:spcPct val="100000"/>
              </a:lnSpc>
              <a:spcBef>
                <a:spcPts val="600"/>
              </a:spcBef>
              <a:spcAft>
                <a:spcPts val="0"/>
              </a:spcAft>
              <a:buClr>
                <a:srgbClr val="FE8637"/>
              </a:buClr>
              <a:buSzPct val="70000"/>
              <a:buFont typeface="Wingdings"/>
              <a:buChar char=""/>
            </a:pPr>
            <a:r>
              <a:rPr lang="en-GB" dirty="0">
                <a:solidFill>
                  <a:prstClr val="black"/>
                </a:solidFill>
                <a:latin typeface="Century Schoolbook"/>
              </a:rPr>
              <a:t>Variable names and constants</a:t>
            </a:r>
          </a:p>
          <a:p>
            <a:pPr marL="566928" lvl="1" indent="-274320">
              <a:lnSpc>
                <a:spcPct val="100000"/>
              </a:lnSpc>
              <a:spcBef>
                <a:spcPts val="600"/>
              </a:spcBef>
              <a:spcAft>
                <a:spcPts val="0"/>
              </a:spcAft>
              <a:buClr>
                <a:srgbClr val="FE8637"/>
              </a:buClr>
              <a:buSzPct val="70000"/>
              <a:buFont typeface="Wingdings"/>
              <a:buChar char=""/>
            </a:pPr>
            <a:r>
              <a:rPr lang="en-GB" dirty="0">
                <a:solidFill>
                  <a:prstClr val="black"/>
                </a:solidFill>
                <a:latin typeface="Century Schoolbook"/>
              </a:rPr>
              <a:t>Procedure and function names</a:t>
            </a:r>
          </a:p>
          <a:p>
            <a:pPr marL="566928" lvl="1" indent="-274320">
              <a:lnSpc>
                <a:spcPct val="100000"/>
              </a:lnSpc>
              <a:spcBef>
                <a:spcPts val="600"/>
              </a:spcBef>
              <a:spcAft>
                <a:spcPts val="0"/>
              </a:spcAft>
              <a:buClr>
                <a:srgbClr val="FE8637"/>
              </a:buClr>
              <a:buSzPct val="70000"/>
              <a:buFont typeface="Wingdings"/>
              <a:buChar char=""/>
            </a:pPr>
            <a:r>
              <a:rPr lang="en-GB" dirty="0">
                <a:solidFill>
                  <a:prstClr val="black"/>
                </a:solidFill>
                <a:latin typeface="Century Schoolbook"/>
              </a:rPr>
              <a:t>Literal constants and strings</a:t>
            </a:r>
          </a:p>
          <a:p>
            <a:pPr marL="566928" lvl="1" indent="-274320">
              <a:lnSpc>
                <a:spcPct val="100000"/>
              </a:lnSpc>
              <a:spcBef>
                <a:spcPts val="600"/>
              </a:spcBef>
              <a:spcAft>
                <a:spcPts val="0"/>
              </a:spcAft>
              <a:buClr>
                <a:srgbClr val="FE8637"/>
              </a:buClr>
              <a:buSzPct val="70000"/>
              <a:buFont typeface="Wingdings"/>
              <a:buChar char=""/>
            </a:pPr>
            <a:r>
              <a:rPr lang="en-GB" dirty="0">
                <a:solidFill>
                  <a:prstClr val="black"/>
                </a:solidFill>
                <a:latin typeface="Century Schoolbook"/>
              </a:rPr>
              <a:t>Compiler generated temporaries</a:t>
            </a:r>
          </a:p>
          <a:p>
            <a:pPr marL="566928" lvl="1" indent="-274320">
              <a:lnSpc>
                <a:spcPct val="100000"/>
              </a:lnSpc>
              <a:spcBef>
                <a:spcPts val="600"/>
              </a:spcBef>
              <a:spcAft>
                <a:spcPts val="0"/>
              </a:spcAft>
              <a:buClr>
                <a:srgbClr val="FE8637"/>
              </a:buClr>
              <a:buSzPct val="70000"/>
              <a:buFont typeface="Wingdings"/>
              <a:buChar char=""/>
            </a:pPr>
            <a:r>
              <a:rPr lang="en-GB" dirty="0">
                <a:solidFill>
                  <a:prstClr val="black"/>
                </a:solidFill>
                <a:latin typeface="Century Schoolbook"/>
              </a:rPr>
              <a:t>Labels in source languages</a:t>
            </a:r>
          </a:p>
        </p:txBody>
      </p:sp>
    </p:spTree>
    <p:extLst>
      <p:ext uri="{BB962C8B-B14F-4D97-AF65-F5344CB8AC3E}">
        <p14:creationId xmlns:p14="http://schemas.microsoft.com/office/powerpoint/2010/main" val="1322260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Symbol Table</a:t>
            </a:r>
            <a:endParaRPr lang="en-US" sz="4000" dirty="0"/>
          </a:p>
        </p:txBody>
      </p:sp>
      <p:sp>
        <p:nvSpPr>
          <p:cNvPr id="3" name="Content Placeholder 2"/>
          <p:cNvSpPr>
            <a:spLocks noGrp="1"/>
          </p:cNvSpPr>
          <p:nvPr>
            <p:ph idx="1"/>
          </p:nvPr>
        </p:nvSpPr>
        <p:spPr>
          <a:xfrm>
            <a:off x="1097280" y="1845734"/>
            <a:ext cx="10058400" cy="4319092"/>
          </a:xfrm>
        </p:spPr>
        <p:txBody>
          <a:bodyPr>
            <a:noAutofit/>
          </a:bodyPr>
          <a:lstStyle/>
          <a:p>
            <a:pPr marL="0" indent="0">
              <a:lnSpc>
                <a:spcPct val="120000"/>
              </a:lnSpc>
              <a:spcBef>
                <a:spcPts val="600"/>
              </a:spcBef>
              <a:spcAft>
                <a:spcPts val="0"/>
              </a:spcAft>
              <a:buClr>
                <a:srgbClr val="FE8637"/>
              </a:buClr>
              <a:buSzPct val="70000"/>
              <a:buNone/>
            </a:pPr>
            <a:r>
              <a:rPr lang="en-GB" dirty="0">
                <a:solidFill>
                  <a:prstClr val="black"/>
                </a:solidFill>
                <a:latin typeface="Century Schoolbook"/>
              </a:rPr>
              <a:t>  </a:t>
            </a:r>
            <a:r>
              <a:rPr lang="en-GB" b="1" dirty="0">
                <a:solidFill>
                  <a:prstClr val="black"/>
                </a:solidFill>
                <a:latin typeface="Century Schoolbook"/>
              </a:rPr>
              <a:t>Information used by compiler from Symbol table:</a:t>
            </a:r>
          </a:p>
          <a:p>
            <a:pPr marL="566928" lvl="1" indent="-274320">
              <a:lnSpc>
                <a:spcPct val="120000"/>
              </a:lnSpc>
              <a:spcBef>
                <a:spcPts val="600"/>
              </a:spcBef>
              <a:spcAft>
                <a:spcPts val="0"/>
              </a:spcAft>
              <a:buClr>
                <a:srgbClr val="FE8637"/>
              </a:buClr>
              <a:buSzPct val="70000"/>
              <a:buFont typeface="Wingdings"/>
              <a:buChar char=""/>
            </a:pPr>
            <a:r>
              <a:rPr lang="en-GB" sz="2000" dirty="0">
                <a:solidFill>
                  <a:prstClr val="black"/>
                </a:solidFill>
                <a:latin typeface="Century Schoolbook"/>
              </a:rPr>
              <a:t>Data type and name</a:t>
            </a:r>
          </a:p>
          <a:p>
            <a:pPr marL="566928" lvl="1" indent="-274320">
              <a:lnSpc>
                <a:spcPct val="120000"/>
              </a:lnSpc>
              <a:spcBef>
                <a:spcPts val="600"/>
              </a:spcBef>
              <a:spcAft>
                <a:spcPts val="0"/>
              </a:spcAft>
              <a:buClr>
                <a:srgbClr val="FE8637"/>
              </a:buClr>
              <a:buSzPct val="70000"/>
              <a:buFont typeface="Wingdings"/>
              <a:buChar char=""/>
            </a:pPr>
            <a:r>
              <a:rPr lang="en-GB" sz="2000" dirty="0">
                <a:solidFill>
                  <a:prstClr val="black"/>
                </a:solidFill>
                <a:latin typeface="Century Schoolbook"/>
              </a:rPr>
              <a:t>Declaring procedures</a:t>
            </a:r>
          </a:p>
          <a:p>
            <a:pPr marL="566928" lvl="1" indent="-274320">
              <a:lnSpc>
                <a:spcPct val="120000"/>
              </a:lnSpc>
              <a:spcBef>
                <a:spcPts val="600"/>
              </a:spcBef>
              <a:spcAft>
                <a:spcPts val="0"/>
              </a:spcAft>
              <a:buClr>
                <a:srgbClr val="FE8637"/>
              </a:buClr>
              <a:buSzPct val="70000"/>
              <a:buFont typeface="Wingdings"/>
              <a:buChar char=""/>
            </a:pPr>
            <a:r>
              <a:rPr lang="en-GB" sz="2000" dirty="0">
                <a:solidFill>
                  <a:prstClr val="black"/>
                </a:solidFill>
                <a:latin typeface="Century Schoolbook"/>
              </a:rPr>
              <a:t>Offset in storage</a:t>
            </a:r>
          </a:p>
          <a:p>
            <a:pPr marL="566928" lvl="1" indent="-274320">
              <a:lnSpc>
                <a:spcPct val="120000"/>
              </a:lnSpc>
              <a:spcBef>
                <a:spcPts val="600"/>
              </a:spcBef>
              <a:spcAft>
                <a:spcPts val="0"/>
              </a:spcAft>
              <a:buClr>
                <a:srgbClr val="FE8637"/>
              </a:buClr>
              <a:buSzPct val="70000"/>
              <a:buFont typeface="Wingdings"/>
              <a:buChar char=""/>
            </a:pPr>
            <a:r>
              <a:rPr lang="en-GB" sz="2000" dirty="0">
                <a:solidFill>
                  <a:prstClr val="black"/>
                </a:solidFill>
                <a:latin typeface="Century Schoolbook"/>
              </a:rPr>
              <a:t>If structure or record then, pointer to structure table.</a:t>
            </a:r>
          </a:p>
          <a:p>
            <a:pPr marL="566928" lvl="1" indent="-274320">
              <a:lnSpc>
                <a:spcPct val="120000"/>
              </a:lnSpc>
              <a:spcBef>
                <a:spcPts val="600"/>
              </a:spcBef>
              <a:spcAft>
                <a:spcPts val="0"/>
              </a:spcAft>
              <a:buClr>
                <a:srgbClr val="FE8637"/>
              </a:buClr>
              <a:buSzPct val="70000"/>
              <a:buFont typeface="Wingdings"/>
              <a:buChar char=""/>
            </a:pPr>
            <a:r>
              <a:rPr lang="en-GB" sz="2000" dirty="0">
                <a:solidFill>
                  <a:prstClr val="black"/>
                </a:solidFill>
                <a:latin typeface="Century Schoolbook"/>
              </a:rPr>
              <a:t>For parameters, whether parameter passing by value or by reference</a:t>
            </a:r>
          </a:p>
          <a:p>
            <a:pPr marL="566928" lvl="1" indent="-274320">
              <a:lnSpc>
                <a:spcPct val="120000"/>
              </a:lnSpc>
              <a:spcBef>
                <a:spcPts val="600"/>
              </a:spcBef>
              <a:spcAft>
                <a:spcPts val="0"/>
              </a:spcAft>
              <a:buClr>
                <a:srgbClr val="FE8637"/>
              </a:buClr>
              <a:buSzPct val="70000"/>
              <a:buFont typeface="Wingdings"/>
              <a:buChar char=""/>
            </a:pPr>
            <a:r>
              <a:rPr lang="en-GB" sz="2000" dirty="0">
                <a:solidFill>
                  <a:prstClr val="black"/>
                </a:solidFill>
                <a:latin typeface="Century Schoolbook"/>
              </a:rPr>
              <a:t>Number and type of arguments passed to function</a:t>
            </a:r>
          </a:p>
          <a:p>
            <a:pPr marL="566928" lvl="1" indent="-274320">
              <a:lnSpc>
                <a:spcPct val="120000"/>
              </a:lnSpc>
              <a:spcBef>
                <a:spcPts val="600"/>
              </a:spcBef>
              <a:spcAft>
                <a:spcPts val="0"/>
              </a:spcAft>
              <a:buClr>
                <a:srgbClr val="FE8637"/>
              </a:buClr>
              <a:buSzPct val="70000"/>
              <a:buFont typeface="Wingdings"/>
              <a:buChar char=""/>
            </a:pPr>
            <a:r>
              <a:rPr lang="en-GB" sz="2000" dirty="0">
                <a:solidFill>
                  <a:prstClr val="black"/>
                </a:solidFill>
                <a:latin typeface="Century Schoolbook"/>
              </a:rPr>
              <a:t>Base Address</a:t>
            </a:r>
          </a:p>
        </p:txBody>
      </p:sp>
    </p:spTree>
    <p:extLst>
      <p:ext uri="{BB962C8B-B14F-4D97-AF65-F5344CB8AC3E}">
        <p14:creationId xmlns:p14="http://schemas.microsoft.com/office/powerpoint/2010/main" val="33368525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Symbol Table</a:t>
            </a:r>
            <a:endParaRPr lang="en-US" sz="4000" dirty="0"/>
          </a:p>
        </p:txBody>
      </p:sp>
      <p:sp>
        <p:nvSpPr>
          <p:cNvPr id="3" name="Content Placeholder 2"/>
          <p:cNvSpPr>
            <a:spLocks noGrp="1"/>
          </p:cNvSpPr>
          <p:nvPr>
            <p:ph idx="1"/>
          </p:nvPr>
        </p:nvSpPr>
        <p:spPr>
          <a:xfrm>
            <a:off x="1097280" y="1737360"/>
            <a:ext cx="10453036" cy="4711566"/>
          </a:xfrm>
        </p:spPr>
        <p:txBody>
          <a:bodyPr>
            <a:normAutofit fontScale="77500" lnSpcReduction="20000"/>
          </a:bodyPr>
          <a:lstStyle/>
          <a:p>
            <a:pPr marL="0" lvl="0" indent="0">
              <a:lnSpc>
                <a:spcPct val="120000"/>
              </a:lnSpc>
              <a:spcBef>
                <a:spcPts val="600"/>
              </a:spcBef>
              <a:spcAft>
                <a:spcPts val="0"/>
              </a:spcAft>
              <a:buClr>
                <a:srgbClr val="FE8637"/>
              </a:buClr>
              <a:buSzPct val="70000"/>
              <a:buNone/>
            </a:pPr>
            <a:r>
              <a:rPr lang="en-GB" sz="2400" dirty="0">
                <a:solidFill>
                  <a:prstClr val="black"/>
                </a:solidFill>
                <a:latin typeface="Century Schoolbook"/>
              </a:rPr>
              <a:t>It is used by various phases of compiler as follows :-</a:t>
            </a:r>
          </a:p>
          <a:p>
            <a:pPr marL="274320" lvl="0" indent="-274320">
              <a:lnSpc>
                <a:spcPct val="120000"/>
              </a:lnSpc>
              <a:spcBef>
                <a:spcPts val="600"/>
              </a:spcBef>
              <a:spcAft>
                <a:spcPts val="0"/>
              </a:spcAft>
              <a:buClr>
                <a:srgbClr val="FE8637"/>
              </a:buClr>
              <a:buSzPct val="70000"/>
              <a:buFont typeface="Wingdings"/>
              <a:buChar char=""/>
            </a:pPr>
            <a:r>
              <a:rPr lang="en-GB" sz="2400" b="1" dirty="0">
                <a:solidFill>
                  <a:prstClr val="black"/>
                </a:solidFill>
                <a:latin typeface="Century Schoolbook"/>
              </a:rPr>
              <a:t>Lexical Analysis</a:t>
            </a:r>
            <a:r>
              <a:rPr lang="en-GB" sz="2400" dirty="0">
                <a:solidFill>
                  <a:prstClr val="black"/>
                </a:solidFill>
                <a:latin typeface="Century Schoolbook"/>
              </a:rPr>
              <a:t>: Creates new table entries in the table, example like entries about token.</a:t>
            </a:r>
          </a:p>
          <a:p>
            <a:pPr marL="274320" lvl="0" indent="-274320">
              <a:lnSpc>
                <a:spcPct val="120000"/>
              </a:lnSpc>
              <a:spcBef>
                <a:spcPts val="600"/>
              </a:spcBef>
              <a:spcAft>
                <a:spcPts val="0"/>
              </a:spcAft>
              <a:buClr>
                <a:srgbClr val="FE8637"/>
              </a:buClr>
              <a:buSzPct val="70000"/>
              <a:buFont typeface="Wingdings"/>
              <a:buChar char=""/>
            </a:pPr>
            <a:r>
              <a:rPr lang="en-GB" sz="2400" b="1" dirty="0">
                <a:solidFill>
                  <a:prstClr val="black"/>
                </a:solidFill>
                <a:latin typeface="Century Schoolbook"/>
              </a:rPr>
              <a:t>Syntax Analysis</a:t>
            </a:r>
            <a:r>
              <a:rPr lang="en-GB" sz="2400" dirty="0">
                <a:solidFill>
                  <a:prstClr val="black"/>
                </a:solidFill>
                <a:latin typeface="Century Schoolbook"/>
              </a:rPr>
              <a:t>: Adds information regarding attribute type, scope, dimension, line of reference, use, </a:t>
            </a:r>
            <a:r>
              <a:rPr lang="en-GB" sz="2400" dirty="0" err="1">
                <a:solidFill>
                  <a:prstClr val="black"/>
                </a:solidFill>
                <a:latin typeface="Century Schoolbook"/>
              </a:rPr>
              <a:t>etc</a:t>
            </a:r>
            <a:r>
              <a:rPr lang="en-GB" sz="2400" dirty="0">
                <a:solidFill>
                  <a:prstClr val="black"/>
                </a:solidFill>
                <a:latin typeface="Century Schoolbook"/>
              </a:rPr>
              <a:t> in the table.</a:t>
            </a:r>
          </a:p>
          <a:p>
            <a:pPr marL="274320" lvl="0" indent="-274320">
              <a:lnSpc>
                <a:spcPct val="120000"/>
              </a:lnSpc>
              <a:spcBef>
                <a:spcPts val="600"/>
              </a:spcBef>
              <a:spcAft>
                <a:spcPts val="0"/>
              </a:spcAft>
              <a:buClr>
                <a:srgbClr val="FE8637"/>
              </a:buClr>
              <a:buSzPct val="70000"/>
              <a:buFont typeface="Wingdings"/>
              <a:buChar char=""/>
            </a:pPr>
            <a:r>
              <a:rPr lang="en-GB" sz="2400" b="1" dirty="0">
                <a:solidFill>
                  <a:prstClr val="black"/>
                </a:solidFill>
                <a:latin typeface="Century Schoolbook"/>
              </a:rPr>
              <a:t>Semantic Analysis</a:t>
            </a:r>
            <a:r>
              <a:rPr lang="en-GB" sz="2400" dirty="0">
                <a:solidFill>
                  <a:prstClr val="black"/>
                </a:solidFill>
                <a:latin typeface="Century Schoolbook"/>
              </a:rPr>
              <a:t>: Uses available information in the table to check for semantics i.e. to verify that expressions and assignments are semantically correct(type checking) and update it accordingly.</a:t>
            </a:r>
          </a:p>
          <a:p>
            <a:pPr marL="274320" lvl="0" indent="-274320">
              <a:lnSpc>
                <a:spcPct val="120000"/>
              </a:lnSpc>
              <a:spcBef>
                <a:spcPts val="600"/>
              </a:spcBef>
              <a:spcAft>
                <a:spcPts val="0"/>
              </a:spcAft>
              <a:buClr>
                <a:srgbClr val="FE8637"/>
              </a:buClr>
              <a:buSzPct val="70000"/>
              <a:buFont typeface="Wingdings"/>
              <a:buChar char=""/>
            </a:pPr>
            <a:r>
              <a:rPr lang="en-GB" sz="2400" b="1" dirty="0">
                <a:solidFill>
                  <a:prstClr val="black"/>
                </a:solidFill>
                <a:latin typeface="Century Schoolbook"/>
              </a:rPr>
              <a:t>Intermediate Code generation</a:t>
            </a:r>
            <a:r>
              <a:rPr lang="en-GB" sz="2400" dirty="0">
                <a:solidFill>
                  <a:prstClr val="black"/>
                </a:solidFill>
                <a:latin typeface="Century Schoolbook"/>
              </a:rPr>
              <a:t>: Refers symbol table for knowing how much and what type of run-time is allocated and table helps in adding temporary variable information.</a:t>
            </a:r>
          </a:p>
          <a:p>
            <a:pPr marL="274320" lvl="0" indent="-274320">
              <a:lnSpc>
                <a:spcPct val="120000"/>
              </a:lnSpc>
              <a:spcBef>
                <a:spcPts val="600"/>
              </a:spcBef>
              <a:spcAft>
                <a:spcPts val="0"/>
              </a:spcAft>
              <a:buClr>
                <a:srgbClr val="FE8637"/>
              </a:buClr>
              <a:buSzPct val="70000"/>
              <a:buFont typeface="Wingdings"/>
              <a:buChar char=""/>
            </a:pPr>
            <a:r>
              <a:rPr lang="en-GB" sz="2400" b="1" dirty="0">
                <a:solidFill>
                  <a:prstClr val="black"/>
                </a:solidFill>
                <a:latin typeface="Century Schoolbook"/>
              </a:rPr>
              <a:t>Code Optimization</a:t>
            </a:r>
            <a:r>
              <a:rPr lang="en-GB" sz="2400" dirty="0">
                <a:solidFill>
                  <a:prstClr val="black"/>
                </a:solidFill>
                <a:latin typeface="Century Schoolbook"/>
              </a:rPr>
              <a:t>: Uses information present in symbol table for machine dependent optimization.</a:t>
            </a:r>
          </a:p>
          <a:p>
            <a:pPr marL="274320" lvl="0" indent="-274320">
              <a:lnSpc>
                <a:spcPct val="120000"/>
              </a:lnSpc>
              <a:spcBef>
                <a:spcPts val="600"/>
              </a:spcBef>
              <a:spcAft>
                <a:spcPts val="0"/>
              </a:spcAft>
              <a:buClr>
                <a:srgbClr val="FE8637"/>
              </a:buClr>
              <a:buSzPct val="70000"/>
              <a:buFont typeface="Wingdings"/>
              <a:buChar char=""/>
            </a:pPr>
            <a:r>
              <a:rPr lang="en-GB" sz="2400" b="1" dirty="0">
                <a:solidFill>
                  <a:prstClr val="black"/>
                </a:solidFill>
                <a:latin typeface="Century Schoolbook"/>
              </a:rPr>
              <a:t>Target Code generation</a:t>
            </a:r>
            <a:r>
              <a:rPr lang="en-GB" sz="2400" dirty="0">
                <a:solidFill>
                  <a:prstClr val="black"/>
                </a:solidFill>
                <a:latin typeface="Century Schoolbook"/>
              </a:rPr>
              <a:t>: Generates code by using address information of identifier present in the table.</a:t>
            </a: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3633267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small" spc="0" dirty="0">
                <a:solidFill>
                  <a:srgbClr val="575F6D"/>
                </a:solidFill>
                <a:latin typeface="Century Schoolbook"/>
              </a:rPr>
              <a:t>Error Detection, Recovery and Reporting</a:t>
            </a:r>
            <a:endParaRPr lang="en-US" sz="3600" dirty="0"/>
          </a:p>
        </p:txBody>
      </p:sp>
      <p:sp>
        <p:nvSpPr>
          <p:cNvPr id="3" name="Content Placeholder 2"/>
          <p:cNvSpPr>
            <a:spLocks noGrp="1"/>
          </p:cNvSpPr>
          <p:nvPr>
            <p:ph idx="1"/>
          </p:nvPr>
        </p:nvSpPr>
        <p:spPr>
          <a:xfrm>
            <a:off x="1097280" y="1845734"/>
            <a:ext cx="10058400" cy="4319092"/>
          </a:xfrm>
        </p:spPr>
        <p:txBody>
          <a:bodyPr>
            <a:normAutofit fontScale="92500" lnSpcReduction="20000"/>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panose="02040604050505020304" pitchFamily="18" charset="0"/>
              </a:rPr>
              <a:t>Each phase can encounter error. </a:t>
            </a:r>
          </a:p>
          <a:p>
            <a:pPr marL="274320" lvl="0" indent="-274320">
              <a:lnSpc>
                <a:spcPct val="120000"/>
              </a:lnSpc>
              <a:spcBef>
                <a:spcPts val="600"/>
              </a:spcBef>
              <a:spcAft>
                <a:spcPts val="0"/>
              </a:spcAft>
              <a:buClr>
                <a:srgbClr val="FE8637"/>
              </a:buClr>
              <a:buSzPct val="70000"/>
              <a:buFont typeface="Wingdings"/>
              <a:buChar char=""/>
            </a:pPr>
            <a:r>
              <a:rPr lang="en-GB" sz="2400" dirty="0">
                <a:latin typeface="Century Schoolbook" panose="02040604050505020304" pitchFamily="18" charset="0"/>
              </a:rPr>
              <a:t>The tasks of the </a:t>
            </a:r>
            <a:r>
              <a:rPr lang="en-GB" sz="2400" b="1" dirty="0">
                <a:latin typeface="Century Schoolbook" panose="02040604050505020304" pitchFamily="18" charset="0"/>
              </a:rPr>
              <a:t>Error Handling</a:t>
            </a:r>
            <a:r>
              <a:rPr lang="en-GB" sz="2400" dirty="0">
                <a:latin typeface="Century Schoolbook" panose="02040604050505020304" pitchFamily="18" charset="0"/>
              </a:rPr>
              <a:t> process are to detect each error, report it to the user, and then make some recover strategy and implement them to handle error. </a:t>
            </a:r>
            <a:endParaRPr lang="en-US" sz="2400" dirty="0">
              <a:solidFill>
                <a:prstClr val="black"/>
              </a:solidFill>
              <a:latin typeface="Century Schoolbook" panose="02040604050505020304" pitchFamily="18" charset="0"/>
            </a:endParaRP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Specific types of error can be detected by specific phases</a:t>
            </a:r>
          </a:p>
          <a:p>
            <a:pPr marL="635508" lvl="1" indent="-342900">
              <a:lnSpc>
                <a:spcPct val="120000"/>
              </a:lnSpc>
              <a:spcBef>
                <a:spcPts val="600"/>
              </a:spcBef>
              <a:spcAft>
                <a:spcPts val="0"/>
              </a:spcAft>
              <a:buClr>
                <a:srgbClr val="FE8637"/>
              </a:buClr>
              <a:buSzPct val="70000"/>
              <a:buFont typeface="Wingdings" panose="05000000000000000000" pitchFamily="2" charset="2"/>
              <a:buChar char="§"/>
            </a:pPr>
            <a:r>
              <a:rPr lang="en-US" sz="2000" b="1" dirty="0">
                <a:solidFill>
                  <a:prstClr val="black"/>
                </a:solidFill>
                <a:latin typeface="Century Schoolbook"/>
              </a:rPr>
              <a:t>Lexical Error </a:t>
            </a:r>
            <a:r>
              <a:rPr lang="en-US" sz="2000" dirty="0">
                <a:solidFill>
                  <a:prstClr val="black"/>
                </a:solidFill>
                <a:latin typeface="Century Schoolbook"/>
              </a:rPr>
              <a:t>:</a:t>
            </a:r>
            <a:r>
              <a:rPr lang="en-US" sz="2000" i="1" dirty="0">
                <a:solidFill>
                  <a:srgbClr val="FE8637">
                    <a:lumMod val="75000"/>
                  </a:srgbClr>
                </a:solidFill>
                <a:latin typeface="Century Schoolbook"/>
                <a:ea typeface="ＭＳ Ｐゴシック" panose="020B0600070205080204" pitchFamily="34" charset="-128"/>
              </a:rPr>
              <a:t>  </a:t>
            </a:r>
            <a:r>
              <a:rPr lang="en-US" sz="2000" i="1" dirty="0" err="1">
                <a:solidFill>
                  <a:srgbClr val="FE8637">
                    <a:lumMod val="75000"/>
                  </a:srgbClr>
                </a:solidFill>
                <a:latin typeface="Century Schoolbook"/>
                <a:ea typeface="ＭＳ Ｐゴシック" panose="020B0600070205080204" pitchFamily="34" charset="-128"/>
              </a:rPr>
              <a:t>int</a:t>
            </a:r>
            <a:r>
              <a:rPr lang="en-US" sz="2000" i="1" dirty="0">
                <a:solidFill>
                  <a:srgbClr val="FE8637">
                    <a:lumMod val="75000"/>
                  </a:srgbClr>
                </a:solidFill>
                <a:latin typeface="Century Schoolbook"/>
                <a:ea typeface="ＭＳ Ｐゴシック" panose="020B0600070205080204" pitchFamily="34" charset="-128"/>
              </a:rPr>
              <a:t> </a:t>
            </a:r>
            <a:r>
              <a:rPr lang="en-US" sz="2000" i="1" dirty="0" err="1">
                <a:solidFill>
                  <a:srgbClr val="FE8637">
                    <a:lumMod val="75000"/>
                  </a:srgbClr>
                </a:solidFill>
                <a:latin typeface="Century Schoolbook"/>
                <a:ea typeface="ＭＳ Ｐゴシック" panose="020B0600070205080204" pitchFamily="34" charset="-128"/>
              </a:rPr>
              <a:t>abc</a:t>
            </a:r>
            <a:r>
              <a:rPr lang="en-US" sz="2000" i="1" dirty="0">
                <a:solidFill>
                  <a:srgbClr val="FE8637">
                    <a:lumMod val="75000"/>
                  </a:srgbClr>
                </a:solidFill>
                <a:latin typeface="Century Schoolbook"/>
                <a:ea typeface="ＭＳ Ｐゴシック" panose="020B0600070205080204" pitchFamily="34" charset="-128"/>
              </a:rPr>
              <a:t>, 1num ; </a:t>
            </a:r>
          </a:p>
          <a:p>
            <a:pPr marL="635508" lvl="1" indent="-342900">
              <a:lnSpc>
                <a:spcPct val="120000"/>
              </a:lnSpc>
              <a:spcBef>
                <a:spcPts val="600"/>
              </a:spcBef>
              <a:spcAft>
                <a:spcPts val="0"/>
              </a:spcAft>
              <a:buClr>
                <a:srgbClr val="FE8637"/>
              </a:buClr>
              <a:buSzPct val="70000"/>
              <a:buFont typeface="Wingdings" panose="05000000000000000000" pitchFamily="2" charset="2"/>
              <a:buChar char="§"/>
            </a:pPr>
            <a:r>
              <a:rPr lang="en-US" sz="2000" b="1" dirty="0">
                <a:solidFill>
                  <a:prstClr val="black"/>
                </a:solidFill>
                <a:latin typeface="Century Schoolbook"/>
              </a:rPr>
              <a:t>Syntax Error</a:t>
            </a:r>
            <a:r>
              <a:rPr lang="en-US" sz="2000" dirty="0">
                <a:solidFill>
                  <a:prstClr val="black"/>
                </a:solidFill>
                <a:latin typeface="Century Schoolbook"/>
              </a:rPr>
              <a:t>:   </a:t>
            </a:r>
            <a:r>
              <a:rPr lang="en-US" sz="2000" i="1" dirty="0">
                <a:solidFill>
                  <a:srgbClr val="FE8637">
                    <a:lumMod val="75000"/>
                  </a:srgbClr>
                </a:solidFill>
                <a:latin typeface="Century Schoolbook"/>
                <a:ea typeface="ＭＳ Ｐゴシック" panose="020B0600070205080204" pitchFamily="34" charset="-128"/>
              </a:rPr>
              <a:t>total = capital + rate   year; </a:t>
            </a:r>
            <a:endParaRPr lang="en-US" sz="2000" dirty="0">
              <a:solidFill>
                <a:prstClr val="black"/>
              </a:solidFill>
              <a:latin typeface="Century Schoolbook"/>
            </a:endParaRPr>
          </a:p>
          <a:p>
            <a:pPr marL="635508" lvl="1" indent="-342900">
              <a:lnSpc>
                <a:spcPct val="120000"/>
              </a:lnSpc>
              <a:spcBef>
                <a:spcPts val="600"/>
              </a:spcBef>
              <a:spcAft>
                <a:spcPts val="0"/>
              </a:spcAft>
              <a:buClr>
                <a:srgbClr val="FE8637"/>
              </a:buClr>
              <a:buSzPct val="70000"/>
              <a:buFont typeface="Wingdings" panose="05000000000000000000" pitchFamily="2" charset="2"/>
              <a:buChar char="§"/>
            </a:pPr>
            <a:r>
              <a:rPr lang="en-US" sz="2000" b="1" dirty="0">
                <a:solidFill>
                  <a:prstClr val="black"/>
                </a:solidFill>
                <a:latin typeface="Century Schoolbook"/>
              </a:rPr>
              <a:t>Semantic Error</a:t>
            </a:r>
            <a:r>
              <a:rPr lang="en-US" sz="2000" dirty="0">
                <a:solidFill>
                  <a:prstClr val="black"/>
                </a:solidFill>
                <a:latin typeface="Century Schoolbook"/>
              </a:rPr>
              <a:t>:  </a:t>
            </a:r>
            <a:r>
              <a:rPr lang="en-US" sz="2000" i="1" dirty="0">
                <a:solidFill>
                  <a:srgbClr val="FE8637">
                    <a:lumMod val="75000"/>
                  </a:srgbClr>
                </a:solidFill>
                <a:latin typeface="Century Schoolbook"/>
                <a:ea typeface="ＭＳ Ｐゴシック" panose="020B0600070205080204" pitchFamily="34" charset="-128"/>
              </a:rPr>
              <a:t>value = </a:t>
            </a:r>
            <a:r>
              <a:rPr lang="en-US" sz="2000" i="1" dirty="0" err="1">
                <a:solidFill>
                  <a:srgbClr val="FE8637">
                    <a:lumMod val="75000"/>
                  </a:srgbClr>
                </a:solidFill>
                <a:latin typeface="Century Schoolbook"/>
                <a:ea typeface="ＭＳ Ｐゴシック" panose="020B0600070205080204" pitchFamily="34" charset="-128"/>
              </a:rPr>
              <a:t>myarray</a:t>
            </a:r>
            <a:r>
              <a:rPr lang="en-US" sz="2000" i="1" dirty="0">
                <a:solidFill>
                  <a:srgbClr val="FE8637">
                    <a:lumMod val="75000"/>
                  </a:srgbClr>
                </a:solidFill>
                <a:latin typeface="Century Schoolbook"/>
                <a:ea typeface="ＭＳ Ｐゴシック" panose="020B0600070205080204" pitchFamily="34" charset="-128"/>
              </a:rPr>
              <a:t> [</a:t>
            </a:r>
            <a:r>
              <a:rPr lang="en-US" sz="2000" i="1" dirty="0" err="1">
                <a:solidFill>
                  <a:srgbClr val="FE8637">
                    <a:lumMod val="75000"/>
                  </a:srgbClr>
                </a:solidFill>
                <a:latin typeface="Century Schoolbook"/>
                <a:ea typeface="ＭＳ Ｐゴシック" panose="020B0600070205080204" pitchFamily="34" charset="-128"/>
              </a:rPr>
              <a:t>realIndex</a:t>
            </a:r>
            <a:r>
              <a:rPr lang="en-US" sz="2000" i="1" dirty="0">
                <a:solidFill>
                  <a:srgbClr val="FE8637">
                    <a:lumMod val="75000"/>
                  </a:srgbClr>
                </a:solidFill>
                <a:latin typeface="Century Schoolbook"/>
                <a:ea typeface="ＭＳ Ｐゴシック" panose="020B0600070205080204" pitchFamily="34" charset="-128"/>
              </a:rPr>
              <a:t>];</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Should be able to proceed and process the rest of the program after an error detected</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Should be able to link the error with the source program</a:t>
            </a: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12149579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small" spc="0" dirty="0">
                <a:solidFill>
                  <a:srgbClr val="575F6D"/>
                </a:solidFill>
                <a:latin typeface="Century Schoolbook"/>
              </a:rPr>
              <a:t>Error Detection, Recovery and Reporting</a:t>
            </a:r>
            <a:endParaRPr lang="en-US" sz="3600" dirty="0"/>
          </a:p>
        </p:txBody>
      </p:sp>
      <p:sp>
        <p:nvSpPr>
          <p:cNvPr id="3" name="Content Placeholder 2"/>
          <p:cNvSpPr>
            <a:spLocks noGrp="1"/>
          </p:cNvSpPr>
          <p:nvPr>
            <p:ph idx="1"/>
          </p:nvPr>
        </p:nvSpPr>
        <p:spPr>
          <a:xfrm>
            <a:off x="1097280" y="1845734"/>
            <a:ext cx="10058400" cy="4319092"/>
          </a:xfrm>
        </p:spPr>
        <p:txBody>
          <a:bodyPr>
            <a:noAutofit/>
          </a:bodyPr>
          <a:lstStyle/>
          <a:p>
            <a:pPr marL="0" lvl="0" indent="0">
              <a:lnSpc>
                <a:spcPct val="120000"/>
              </a:lnSpc>
              <a:spcBef>
                <a:spcPts val="600"/>
              </a:spcBef>
              <a:spcAft>
                <a:spcPts val="0"/>
              </a:spcAft>
              <a:buClr>
                <a:srgbClr val="FE8637"/>
              </a:buClr>
              <a:buSzPct val="70000"/>
              <a:buNone/>
            </a:pPr>
            <a:r>
              <a:rPr lang="en-GB" sz="2200" dirty="0">
                <a:solidFill>
                  <a:prstClr val="black"/>
                </a:solidFill>
                <a:latin typeface="Century Schoolbook"/>
              </a:rPr>
              <a:t>Types or Sources of Error – </a:t>
            </a:r>
          </a:p>
          <a:p>
            <a:pPr marL="0" lvl="0" indent="0">
              <a:lnSpc>
                <a:spcPct val="120000"/>
              </a:lnSpc>
              <a:spcBef>
                <a:spcPts val="600"/>
              </a:spcBef>
              <a:spcAft>
                <a:spcPts val="0"/>
              </a:spcAft>
              <a:buClr>
                <a:srgbClr val="FE8637"/>
              </a:buClr>
              <a:buSzPct val="70000"/>
              <a:buNone/>
            </a:pPr>
            <a:r>
              <a:rPr lang="en-GB" sz="2200" dirty="0">
                <a:solidFill>
                  <a:prstClr val="black"/>
                </a:solidFill>
                <a:latin typeface="Century Schoolbook"/>
              </a:rPr>
              <a:t>There are two types of error: Run-time and Compile-time error:</a:t>
            </a:r>
          </a:p>
          <a:p>
            <a:pPr marL="274320" lvl="0" indent="-274320">
              <a:lnSpc>
                <a:spcPct val="120000"/>
              </a:lnSpc>
              <a:spcBef>
                <a:spcPts val="600"/>
              </a:spcBef>
              <a:spcAft>
                <a:spcPts val="0"/>
              </a:spcAft>
              <a:buClr>
                <a:srgbClr val="FE8637"/>
              </a:buClr>
              <a:buSzPct val="70000"/>
              <a:buFont typeface="Wingdings"/>
              <a:buChar char=""/>
            </a:pPr>
            <a:r>
              <a:rPr lang="en-GB" sz="2200" b="1" dirty="0">
                <a:solidFill>
                  <a:prstClr val="black"/>
                </a:solidFill>
                <a:latin typeface="Century Schoolbook"/>
              </a:rPr>
              <a:t>A Run-time error </a:t>
            </a:r>
            <a:r>
              <a:rPr lang="en-GB" sz="2200" dirty="0">
                <a:solidFill>
                  <a:prstClr val="black"/>
                </a:solidFill>
                <a:latin typeface="Century Schoolbook"/>
              </a:rPr>
              <a:t>is an error which takes place during the execution of a program, and usually happens because of adverse system parameters or invalid input data. </a:t>
            </a:r>
          </a:p>
          <a:p>
            <a:pPr marL="566928" lvl="1" indent="-274320">
              <a:lnSpc>
                <a:spcPct val="120000"/>
              </a:lnSpc>
              <a:spcBef>
                <a:spcPts val="600"/>
              </a:spcBef>
              <a:spcAft>
                <a:spcPts val="0"/>
              </a:spcAft>
              <a:buClr>
                <a:srgbClr val="FE8637"/>
              </a:buClr>
              <a:buSzPct val="70000"/>
              <a:buFont typeface="Wingdings"/>
              <a:buChar char=""/>
            </a:pPr>
            <a:r>
              <a:rPr lang="en-GB" sz="2200" dirty="0">
                <a:solidFill>
                  <a:prstClr val="black"/>
                </a:solidFill>
                <a:latin typeface="Century Schoolbook"/>
              </a:rPr>
              <a:t>The lack of sufficient memory to run an application or a memory conflict with another program</a:t>
            </a:r>
          </a:p>
          <a:p>
            <a:pPr marL="566928" lvl="1" indent="-274320">
              <a:lnSpc>
                <a:spcPct val="120000"/>
              </a:lnSpc>
              <a:spcBef>
                <a:spcPts val="600"/>
              </a:spcBef>
              <a:spcAft>
                <a:spcPts val="0"/>
              </a:spcAft>
              <a:buClr>
                <a:srgbClr val="FE8637"/>
              </a:buClr>
              <a:buSzPct val="70000"/>
              <a:buFont typeface="Wingdings"/>
              <a:buChar char=""/>
            </a:pPr>
            <a:r>
              <a:rPr lang="en-GB" sz="2200" dirty="0">
                <a:solidFill>
                  <a:prstClr val="black"/>
                </a:solidFill>
                <a:latin typeface="Century Schoolbook"/>
              </a:rPr>
              <a:t>Logical error is another example. Logic errors, occur when executed code does not produce the expected result. Logic errors are best handled by meticulous program debugging.</a:t>
            </a:r>
          </a:p>
        </p:txBody>
      </p:sp>
    </p:spTree>
    <p:extLst>
      <p:ext uri="{BB962C8B-B14F-4D97-AF65-F5344CB8AC3E}">
        <p14:creationId xmlns:p14="http://schemas.microsoft.com/office/powerpoint/2010/main" val="25024527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small" spc="0" dirty="0">
                <a:solidFill>
                  <a:srgbClr val="575F6D"/>
                </a:solidFill>
                <a:latin typeface="Century Schoolbook"/>
              </a:rPr>
              <a:t>Error Detection, Recovery and Reporting</a:t>
            </a:r>
            <a:endParaRPr lang="en-US" sz="3600" dirty="0"/>
          </a:p>
        </p:txBody>
      </p:sp>
      <p:sp>
        <p:nvSpPr>
          <p:cNvPr id="3" name="Content Placeholder 2"/>
          <p:cNvSpPr>
            <a:spLocks noGrp="1"/>
          </p:cNvSpPr>
          <p:nvPr>
            <p:ph idx="1"/>
          </p:nvPr>
        </p:nvSpPr>
        <p:spPr>
          <a:xfrm>
            <a:off x="1097280" y="1845734"/>
            <a:ext cx="9804083" cy="4319092"/>
          </a:xfrm>
        </p:spPr>
        <p:txBody>
          <a:bodyPr>
            <a:normAutofit lnSpcReduction="10000"/>
          </a:bodyPr>
          <a:lstStyle/>
          <a:p>
            <a:pPr marL="0" lvl="0" indent="0">
              <a:lnSpc>
                <a:spcPct val="120000"/>
              </a:lnSpc>
              <a:spcBef>
                <a:spcPts val="600"/>
              </a:spcBef>
              <a:spcAft>
                <a:spcPts val="0"/>
              </a:spcAft>
              <a:buClr>
                <a:srgbClr val="FE8637"/>
              </a:buClr>
              <a:buSzPct val="70000"/>
              <a:buNone/>
            </a:pPr>
            <a:r>
              <a:rPr lang="en-GB" dirty="0">
                <a:solidFill>
                  <a:prstClr val="black"/>
                </a:solidFill>
                <a:latin typeface="Century Schoolbook"/>
              </a:rPr>
              <a:t>Types or Sources of Error – </a:t>
            </a:r>
          </a:p>
          <a:p>
            <a:pPr marL="0" lvl="0" indent="0">
              <a:lnSpc>
                <a:spcPct val="120000"/>
              </a:lnSpc>
              <a:spcBef>
                <a:spcPts val="600"/>
              </a:spcBef>
              <a:spcAft>
                <a:spcPts val="0"/>
              </a:spcAft>
              <a:buClr>
                <a:srgbClr val="FE8637"/>
              </a:buClr>
              <a:buSzPct val="70000"/>
              <a:buNone/>
            </a:pPr>
            <a:r>
              <a:rPr lang="en-GB" dirty="0">
                <a:solidFill>
                  <a:prstClr val="black"/>
                </a:solidFill>
                <a:latin typeface="Century Schoolbook"/>
              </a:rPr>
              <a:t>There are two types of error: Run-time and Compile-time error:</a:t>
            </a:r>
          </a:p>
          <a:p>
            <a:pPr marL="274320" lvl="0" indent="-274320">
              <a:lnSpc>
                <a:spcPct val="120000"/>
              </a:lnSpc>
              <a:spcBef>
                <a:spcPts val="600"/>
              </a:spcBef>
              <a:spcAft>
                <a:spcPts val="0"/>
              </a:spcAft>
              <a:buClr>
                <a:srgbClr val="FE8637"/>
              </a:buClr>
              <a:buSzPct val="70000"/>
              <a:buFont typeface="Wingdings"/>
              <a:buChar char=""/>
            </a:pPr>
            <a:r>
              <a:rPr lang="en-GB" b="1" dirty="0">
                <a:solidFill>
                  <a:prstClr val="black"/>
                </a:solidFill>
                <a:latin typeface="Century Schoolbook"/>
              </a:rPr>
              <a:t>A Compile-time error </a:t>
            </a:r>
            <a:r>
              <a:rPr lang="en-GB" dirty="0">
                <a:solidFill>
                  <a:prstClr val="black"/>
                </a:solidFill>
                <a:latin typeface="Century Schoolbook"/>
              </a:rPr>
              <a:t>rises at compile time, before execution of the program. Syntax error or missing file reference that prevents the program from successfully compiling is the example of this.</a:t>
            </a:r>
          </a:p>
          <a:p>
            <a:pPr lvl="1">
              <a:lnSpc>
                <a:spcPct val="120000"/>
              </a:lnSpc>
              <a:spcBef>
                <a:spcPts val="600"/>
              </a:spcBef>
              <a:spcAft>
                <a:spcPts val="0"/>
              </a:spcAft>
              <a:buClr>
                <a:srgbClr val="FE8637"/>
              </a:buClr>
              <a:buSzPct val="70000"/>
              <a:buFont typeface="Wingdings" panose="05000000000000000000" pitchFamily="2" charset="2"/>
              <a:buChar char="q"/>
            </a:pPr>
            <a:r>
              <a:rPr lang="en-GB" sz="2000" dirty="0">
                <a:solidFill>
                  <a:schemeClr val="tx1"/>
                </a:solidFill>
                <a:latin typeface="Century Schoolbook"/>
                <a:ea typeface="ＭＳ Ｐゴシック" panose="020B0600070205080204" pitchFamily="34" charset="-128"/>
              </a:rPr>
              <a:t>Classification of Compile-time error –</a:t>
            </a:r>
          </a:p>
          <a:p>
            <a:pPr marL="749808" lvl="2" indent="-274320">
              <a:lnSpc>
                <a:spcPct val="120000"/>
              </a:lnSpc>
              <a:spcBef>
                <a:spcPts val="600"/>
              </a:spcBef>
              <a:spcAft>
                <a:spcPts val="0"/>
              </a:spcAft>
              <a:buClr>
                <a:srgbClr val="FE8637"/>
              </a:buClr>
              <a:buSzPct val="70000"/>
              <a:buFont typeface="Wingdings"/>
              <a:buChar char=""/>
            </a:pPr>
            <a:r>
              <a:rPr lang="en-GB" sz="1800" b="1" dirty="0">
                <a:solidFill>
                  <a:schemeClr val="tx1"/>
                </a:solidFill>
                <a:latin typeface="Century Schoolbook"/>
                <a:ea typeface="ＭＳ Ｐゴシック" panose="020B0600070205080204" pitchFamily="34" charset="-128"/>
              </a:rPr>
              <a:t>Lexical</a:t>
            </a:r>
            <a:r>
              <a:rPr lang="en-GB" sz="1800" dirty="0">
                <a:solidFill>
                  <a:schemeClr val="tx1"/>
                </a:solidFill>
                <a:latin typeface="Century Schoolbook"/>
                <a:ea typeface="ＭＳ Ｐゴシック" panose="020B0600070205080204" pitchFamily="34" charset="-128"/>
              </a:rPr>
              <a:t> : This includes misspellings of identifiers, keywords or operators</a:t>
            </a:r>
          </a:p>
          <a:p>
            <a:pPr marL="749808" lvl="2" indent="-274320">
              <a:lnSpc>
                <a:spcPct val="120000"/>
              </a:lnSpc>
              <a:spcBef>
                <a:spcPts val="600"/>
              </a:spcBef>
              <a:spcAft>
                <a:spcPts val="0"/>
              </a:spcAft>
              <a:buClr>
                <a:srgbClr val="FE8637"/>
              </a:buClr>
              <a:buSzPct val="70000"/>
              <a:buFont typeface="Wingdings"/>
              <a:buChar char=""/>
            </a:pPr>
            <a:r>
              <a:rPr lang="en-GB" sz="1800" b="1" dirty="0">
                <a:solidFill>
                  <a:schemeClr val="tx1"/>
                </a:solidFill>
                <a:latin typeface="Century Schoolbook"/>
                <a:ea typeface="ＭＳ Ｐゴシック" panose="020B0600070205080204" pitchFamily="34" charset="-128"/>
              </a:rPr>
              <a:t>Syntactical</a:t>
            </a:r>
            <a:r>
              <a:rPr lang="en-GB" sz="1800" dirty="0">
                <a:solidFill>
                  <a:schemeClr val="tx1"/>
                </a:solidFill>
                <a:latin typeface="Century Schoolbook"/>
                <a:ea typeface="ＭＳ Ｐゴシック" panose="020B0600070205080204" pitchFamily="34" charset="-128"/>
              </a:rPr>
              <a:t> : missing semicolon or unbalanced parenthesis</a:t>
            </a:r>
          </a:p>
          <a:p>
            <a:pPr marL="749808" lvl="2" indent="-274320">
              <a:lnSpc>
                <a:spcPct val="120000"/>
              </a:lnSpc>
              <a:spcBef>
                <a:spcPts val="600"/>
              </a:spcBef>
              <a:spcAft>
                <a:spcPts val="0"/>
              </a:spcAft>
              <a:buClr>
                <a:srgbClr val="FE8637"/>
              </a:buClr>
              <a:buSzPct val="70000"/>
              <a:buFont typeface="Wingdings"/>
              <a:buChar char=""/>
            </a:pPr>
            <a:r>
              <a:rPr lang="en-GB" sz="1800" b="1" dirty="0">
                <a:solidFill>
                  <a:schemeClr val="tx1"/>
                </a:solidFill>
                <a:latin typeface="Century Schoolbook"/>
                <a:ea typeface="ＭＳ Ｐゴシック" panose="020B0600070205080204" pitchFamily="34" charset="-128"/>
              </a:rPr>
              <a:t>Semantical</a:t>
            </a:r>
            <a:r>
              <a:rPr lang="en-GB" sz="1800" dirty="0">
                <a:solidFill>
                  <a:schemeClr val="tx1"/>
                </a:solidFill>
                <a:latin typeface="Century Schoolbook"/>
                <a:ea typeface="ＭＳ Ｐゴシック" panose="020B0600070205080204" pitchFamily="34" charset="-128"/>
              </a:rPr>
              <a:t> : incompatible value assignment or type mismatches between operator and operand</a:t>
            </a:r>
          </a:p>
          <a:p>
            <a:pPr marL="749808" lvl="2" indent="-274320">
              <a:lnSpc>
                <a:spcPct val="120000"/>
              </a:lnSpc>
              <a:spcBef>
                <a:spcPts val="600"/>
              </a:spcBef>
              <a:spcAft>
                <a:spcPts val="0"/>
              </a:spcAft>
              <a:buClr>
                <a:srgbClr val="FE8637"/>
              </a:buClr>
              <a:buSzPct val="70000"/>
              <a:buFont typeface="Wingdings"/>
              <a:buChar char=""/>
            </a:pPr>
            <a:r>
              <a:rPr lang="en-GB" sz="1800" b="1" dirty="0">
                <a:solidFill>
                  <a:schemeClr val="tx1"/>
                </a:solidFill>
                <a:latin typeface="Century Schoolbook"/>
                <a:ea typeface="ＭＳ Ｐゴシック" panose="020B0600070205080204" pitchFamily="34" charset="-128"/>
              </a:rPr>
              <a:t>Logical</a:t>
            </a:r>
            <a:r>
              <a:rPr lang="en-GB" sz="1800" dirty="0">
                <a:solidFill>
                  <a:schemeClr val="tx1"/>
                </a:solidFill>
                <a:latin typeface="Century Schoolbook"/>
                <a:ea typeface="ＭＳ Ｐゴシック" panose="020B0600070205080204" pitchFamily="34" charset="-128"/>
              </a:rPr>
              <a:t> : code not reachable, infinite loop.</a:t>
            </a:r>
            <a:endParaRPr lang="en-US" sz="1800" dirty="0">
              <a:solidFill>
                <a:schemeClr val="tx1"/>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3839450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small" spc="0" dirty="0">
                <a:solidFill>
                  <a:srgbClr val="575F6D"/>
                </a:solidFill>
                <a:latin typeface="Century Schoolbook"/>
              </a:rPr>
              <a:t>Reviewing the Entire Process</a:t>
            </a:r>
            <a:endParaRPr lang="en-US" sz="3600" dirty="0"/>
          </a:p>
        </p:txBody>
      </p:sp>
      <p:pic>
        <p:nvPicPr>
          <p:cNvPr id="3" name="Picture 2"/>
          <p:cNvPicPr>
            <a:picLocks noChangeAspect="1"/>
          </p:cNvPicPr>
          <p:nvPr/>
        </p:nvPicPr>
        <p:blipFill>
          <a:blip r:embed="rId3"/>
          <a:stretch>
            <a:fillRect/>
          </a:stretch>
        </p:blipFill>
        <p:spPr>
          <a:xfrm>
            <a:off x="2541316" y="1737360"/>
            <a:ext cx="6335397" cy="4806164"/>
          </a:xfrm>
          <a:prstGeom prst="rect">
            <a:avLst/>
          </a:prstGeom>
        </p:spPr>
      </p:pic>
      <p:pic>
        <p:nvPicPr>
          <p:cNvPr id="4" name="Picture 3"/>
          <p:cNvPicPr>
            <a:picLocks noChangeAspect="1"/>
          </p:cNvPicPr>
          <p:nvPr/>
        </p:nvPicPr>
        <p:blipFill>
          <a:blip r:embed="rId4"/>
          <a:stretch>
            <a:fillRect/>
          </a:stretch>
        </p:blipFill>
        <p:spPr>
          <a:xfrm>
            <a:off x="4313629" y="1807699"/>
            <a:ext cx="3424384" cy="296780"/>
          </a:xfrm>
          <a:prstGeom prst="rect">
            <a:avLst/>
          </a:prstGeom>
        </p:spPr>
      </p:pic>
      <p:pic>
        <p:nvPicPr>
          <p:cNvPr id="5" name="Picture 4"/>
          <p:cNvPicPr>
            <a:picLocks noChangeAspect="1"/>
          </p:cNvPicPr>
          <p:nvPr/>
        </p:nvPicPr>
        <p:blipFill>
          <a:blip r:embed="rId5"/>
          <a:stretch>
            <a:fillRect/>
          </a:stretch>
        </p:blipFill>
        <p:spPr>
          <a:xfrm>
            <a:off x="4594985" y="2497456"/>
            <a:ext cx="3029705" cy="279665"/>
          </a:xfrm>
          <a:prstGeom prst="rect">
            <a:avLst/>
          </a:prstGeom>
        </p:spPr>
      </p:pic>
      <p:pic>
        <p:nvPicPr>
          <p:cNvPr id="6" name="Picture 5"/>
          <p:cNvPicPr>
            <a:picLocks noChangeAspect="1"/>
          </p:cNvPicPr>
          <p:nvPr/>
        </p:nvPicPr>
        <p:blipFill>
          <a:blip r:embed="rId6"/>
          <a:stretch>
            <a:fillRect/>
          </a:stretch>
        </p:blipFill>
        <p:spPr>
          <a:xfrm>
            <a:off x="4468374" y="3200186"/>
            <a:ext cx="3421161" cy="1048289"/>
          </a:xfrm>
          <a:prstGeom prst="rect">
            <a:avLst/>
          </a:prstGeom>
        </p:spPr>
      </p:pic>
      <p:pic>
        <p:nvPicPr>
          <p:cNvPr id="7" name="Picture 6"/>
          <p:cNvPicPr>
            <a:picLocks noChangeAspect="1"/>
          </p:cNvPicPr>
          <p:nvPr/>
        </p:nvPicPr>
        <p:blipFill>
          <a:blip r:embed="rId7"/>
          <a:stretch>
            <a:fillRect/>
          </a:stretch>
        </p:blipFill>
        <p:spPr>
          <a:xfrm>
            <a:off x="4390855" y="4691774"/>
            <a:ext cx="3498680" cy="1284131"/>
          </a:xfrm>
          <a:prstGeom prst="rect">
            <a:avLst/>
          </a:prstGeom>
        </p:spPr>
      </p:pic>
      <p:pic>
        <p:nvPicPr>
          <p:cNvPr id="8" name="Picture 7"/>
          <p:cNvPicPr>
            <a:picLocks noChangeAspect="1"/>
          </p:cNvPicPr>
          <p:nvPr/>
        </p:nvPicPr>
        <p:blipFill>
          <a:blip r:embed="rId8"/>
          <a:stretch>
            <a:fillRect/>
          </a:stretch>
        </p:blipFill>
        <p:spPr>
          <a:xfrm>
            <a:off x="2569452" y="5432314"/>
            <a:ext cx="1315434" cy="841878"/>
          </a:xfrm>
          <a:prstGeom prst="rect">
            <a:avLst/>
          </a:prstGeom>
        </p:spPr>
      </p:pic>
    </p:spTree>
    <p:extLst>
      <p:ext uri="{BB962C8B-B14F-4D97-AF65-F5344CB8AC3E}">
        <p14:creationId xmlns:p14="http://schemas.microsoft.com/office/powerpoint/2010/main" val="23559518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small" spc="0" dirty="0">
                <a:solidFill>
                  <a:srgbClr val="575F6D"/>
                </a:solidFill>
                <a:latin typeface="Century Schoolbook"/>
              </a:rPr>
              <a:t>Reviewing the Entire Process</a:t>
            </a:r>
            <a:endParaRPr lang="en-US" sz="3600" dirty="0"/>
          </a:p>
        </p:txBody>
      </p:sp>
      <p:pic>
        <p:nvPicPr>
          <p:cNvPr id="4" name="Picture 3"/>
          <p:cNvPicPr>
            <a:picLocks noChangeAspect="1"/>
          </p:cNvPicPr>
          <p:nvPr/>
        </p:nvPicPr>
        <p:blipFill>
          <a:blip r:embed="rId3"/>
          <a:stretch>
            <a:fillRect/>
          </a:stretch>
        </p:blipFill>
        <p:spPr>
          <a:xfrm>
            <a:off x="2918255" y="1767642"/>
            <a:ext cx="5383916" cy="4472950"/>
          </a:xfrm>
          <a:prstGeom prst="rect">
            <a:avLst/>
          </a:prstGeom>
        </p:spPr>
      </p:pic>
      <p:pic>
        <p:nvPicPr>
          <p:cNvPr id="3" name="Picture 2"/>
          <p:cNvPicPr>
            <a:picLocks noChangeAspect="1"/>
          </p:cNvPicPr>
          <p:nvPr/>
        </p:nvPicPr>
        <p:blipFill>
          <a:blip r:embed="rId4"/>
          <a:stretch>
            <a:fillRect/>
          </a:stretch>
        </p:blipFill>
        <p:spPr>
          <a:xfrm>
            <a:off x="4494047" y="3295555"/>
            <a:ext cx="1966547" cy="884946"/>
          </a:xfrm>
          <a:prstGeom prst="rect">
            <a:avLst/>
          </a:prstGeom>
        </p:spPr>
      </p:pic>
      <p:pic>
        <p:nvPicPr>
          <p:cNvPr id="5" name="Picture 4"/>
          <p:cNvPicPr>
            <a:picLocks noChangeAspect="1"/>
          </p:cNvPicPr>
          <p:nvPr/>
        </p:nvPicPr>
        <p:blipFill>
          <a:blip r:embed="rId5"/>
          <a:stretch>
            <a:fillRect/>
          </a:stretch>
        </p:blipFill>
        <p:spPr>
          <a:xfrm>
            <a:off x="4674711" y="4557058"/>
            <a:ext cx="1533379" cy="435659"/>
          </a:xfrm>
          <a:prstGeom prst="rect">
            <a:avLst/>
          </a:prstGeom>
        </p:spPr>
      </p:pic>
      <p:pic>
        <p:nvPicPr>
          <p:cNvPr id="6" name="Picture 5"/>
          <p:cNvPicPr>
            <a:picLocks noChangeAspect="1"/>
          </p:cNvPicPr>
          <p:nvPr/>
        </p:nvPicPr>
        <p:blipFill>
          <a:blip r:embed="rId6"/>
          <a:stretch>
            <a:fillRect/>
          </a:stretch>
        </p:blipFill>
        <p:spPr>
          <a:xfrm>
            <a:off x="4759832" y="5272462"/>
            <a:ext cx="1700762" cy="1061378"/>
          </a:xfrm>
          <a:prstGeom prst="rect">
            <a:avLst/>
          </a:prstGeom>
        </p:spPr>
      </p:pic>
      <p:pic>
        <p:nvPicPr>
          <p:cNvPr id="7" name="Picture 6"/>
          <p:cNvPicPr>
            <a:picLocks noChangeAspect="1"/>
          </p:cNvPicPr>
          <p:nvPr/>
        </p:nvPicPr>
        <p:blipFill>
          <a:blip r:embed="rId7"/>
          <a:stretch>
            <a:fillRect/>
          </a:stretch>
        </p:blipFill>
        <p:spPr>
          <a:xfrm>
            <a:off x="2982349" y="2489982"/>
            <a:ext cx="967949" cy="805573"/>
          </a:xfrm>
          <a:prstGeom prst="rect">
            <a:avLst/>
          </a:prstGeom>
        </p:spPr>
      </p:pic>
    </p:spTree>
    <p:extLst>
      <p:ext uri="{BB962C8B-B14F-4D97-AF65-F5344CB8AC3E}">
        <p14:creationId xmlns:p14="http://schemas.microsoft.com/office/powerpoint/2010/main" val="35400785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small" spc="0" dirty="0">
                <a:solidFill>
                  <a:srgbClr val="575F6D"/>
                </a:solidFill>
                <a:latin typeface="Century Schoolbook"/>
              </a:rPr>
              <a:t>Compiler Construction Tools</a:t>
            </a:r>
            <a:endParaRPr lang="en-US" sz="3600" dirty="0"/>
          </a:p>
        </p:txBody>
      </p:sp>
      <p:sp>
        <p:nvSpPr>
          <p:cNvPr id="3" name="Content Placeholder 2"/>
          <p:cNvSpPr>
            <a:spLocks noGrp="1"/>
          </p:cNvSpPr>
          <p:nvPr>
            <p:ph idx="1"/>
          </p:nvPr>
        </p:nvSpPr>
        <p:spPr>
          <a:xfrm>
            <a:off x="1097280" y="1845734"/>
            <a:ext cx="10058400" cy="4319092"/>
          </a:xfrm>
        </p:spPr>
        <p:txBody>
          <a:bodyPr>
            <a:normAutofit lnSpcReduction="10000"/>
          </a:bodyPr>
          <a:lstStyle/>
          <a:p>
            <a:pPr marL="457200" lvl="0" indent="-457200">
              <a:lnSpc>
                <a:spcPct val="120000"/>
              </a:lnSpc>
              <a:spcBef>
                <a:spcPts val="600"/>
              </a:spcBef>
              <a:spcAft>
                <a:spcPts val="0"/>
              </a:spcAft>
              <a:buClr>
                <a:srgbClr val="FE8637"/>
              </a:buClr>
              <a:buSzPct val="70000"/>
              <a:buFont typeface="+mj-lt"/>
              <a:buAutoNum type="arabicParenR"/>
            </a:pPr>
            <a:r>
              <a:rPr lang="en-US" sz="2400" b="1" dirty="0">
                <a:solidFill>
                  <a:prstClr val="black"/>
                </a:solidFill>
                <a:latin typeface="Century Schoolbook"/>
              </a:rPr>
              <a:t>Parser generators: </a:t>
            </a:r>
            <a:r>
              <a:rPr lang="en-GB" sz="2400" dirty="0"/>
              <a:t>It produces syntax </a:t>
            </a:r>
            <a:r>
              <a:rPr lang="en-GB" sz="2400" dirty="0" err="1"/>
              <a:t>analyzers</a:t>
            </a:r>
            <a:r>
              <a:rPr lang="en-GB" sz="2400" dirty="0"/>
              <a:t> (parsers) from the input that is based on a grammatical description of programming language or on a context-free grammar. </a:t>
            </a:r>
            <a:endParaRPr lang="en-US" sz="2400" dirty="0">
              <a:solidFill>
                <a:prstClr val="black"/>
              </a:solidFill>
              <a:latin typeface="Century Schoolbook"/>
            </a:endParaRPr>
          </a:p>
          <a:p>
            <a:pPr marL="457200" lvl="0" indent="-457200">
              <a:lnSpc>
                <a:spcPct val="120000"/>
              </a:lnSpc>
              <a:spcBef>
                <a:spcPts val="600"/>
              </a:spcBef>
              <a:spcAft>
                <a:spcPts val="0"/>
              </a:spcAft>
              <a:buClr>
                <a:srgbClr val="FE8637"/>
              </a:buClr>
              <a:buSzPct val="70000"/>
              <a:buFont typeface="+mj-lt"/>
              <a:buAutoNum type="arabicParenR"/>
            </a:pPr>
            <a:r>
              <a:rPr lang="en-US" sz="2400" b="1" dirty="0">
                <a:solidFill>
                  <a:prstClr val="black"/>
                </a:solidFill>
                <a:latin typeface="Century Schoolbook"/>
              </a:rPr>
              <a:t>Scanner generators: </a:t>
            </a:r>
            <a:r>
              <a:rPr lang="en-GB" sz="2400" dirty="0"/>
              <a:t>It generates lexical </a:t>
            </a:r>
            <a:r>
              <a:rPr lang="en-GB" sz="2400" dirty="0" err="1"/>
              <a:t>analyzers</a:t>
            </a:r>
            <a:r>
              <a:rPr lang="en-GB" sz="2400" dirty="0"/>
              <a:t> from the input that consists of regular expression description based on tokens of a language. It generates a finite automaton to recognize the regular expression.</a:t>
            </a:r>
            <a:endParaRPr lang="en-US" sz="2400" dirty="0">
              <a:solidFill>
                <a:prstClr val="black"/>
              </a:solidFill>
              <a:latin typeface="Century Schoolbook"/>
            </a:endParaRPr>
          </a:p>
          <a:p>
            <a:pPr marL="457200" lvl="0" indent="-457200">
              <a:lnSpc>
                <a:spcPct val="120000"/>
              </a:lnSpc>
              <a:spcBef>
                <a:spcPts val="600"/>
              </a:spcBef>
              <a:spcAft>
                <a:spcPts val="0"/>
              </a:spcAft>
              <a:buClr>
                <a:srgbClr val="FE8637"/>
              </a:buClr>
              <a:buSzPct val="70000"/>
              <a:buFont typeface="+mj-lt"/>
              <a:buAutoNum type="arabicParenR"/>
            </a:pPr>
            <a:r>
              <a:rPr lang="en-US" sz="2400" b="1" dirty="0">
                <a:solidFill>
                  <a:prstClr val="black"/>
                </a:solidFill>
                <a:latin typeface="Century Schoolbook"/>
              </a:rPr>
              <a:t>Syntax-directed translation engines: </a:t>
            </a:r>
            <a:r>
              <a:rPr lang="en-GB" sz="2400" dirty="0"/>
              <a:t>It generates intermediate code with three address format from the input that consists of a parse tree. These engines have routines to traverse the parse tree and then produces the intermediate code. </a:t>
            </a:r>
            <a:endParaRPr lang="en-US" sz="2400" dirty="0">
              <a:solidFill>
                <a:prstClr val="black"/>
              </a:solidFill>
              <a:latin typeface="Century Schoolbook"/>
            </a:endParaRP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18049311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small" spc="0" dirty="0">
                <a:solidFill>
                  <a:srgbClr val="575F6D"/>
                </a:solidFill>
                <a:latin typeface="Century Schoolbook"/>
              </a:rPr>
              <a:t>Compiler Construction Tools</a:t>
            </a:r>
            <a:endParaRPr lang="en-US" sz="3600" dirty="0"/>
          </a:p>
        </p:txBody>
      </p:sp>
      <p:sp>
        <p:nvSpPr>
          <p:cNvPr id="3" name="Content Placeholder 2"/>
          <p:cNvSpPr>
            <a:spLocks noGrp="1"/>
          </p:cNvSpPr>
          <p:nvPr>
            <p:ph idx="1"/>
          </p:nvPr>
        </p:nvSpPr>
        <p:spPr>
          <a:xfrm>
            <a:off x="1097280" y="1845734"/>
            <a:ext cx="10058400" cy="4319092"/>
          </a:xfrm>
        </p:spPr>
        <p:txBody>
          <a:bodyPr>
            <a:normAutofit/>
          </a:bodyPr>
          <a:lstStyle/>
          <a:p>
            <a:pPr marL="457200" lvl="0" indent="-457200">
              <a:lnSpc>
                <a:spcPct val="120000"/>
              </a:lnSpc>
              <a:spcBef>
                <a:spcPts val="600"/>
              </a:spcBef>
              <a:spcAft>
                <a:spcPts val="0"/>
              </a:spcAft>
              <a:buClr>
                <a:srgbClr val="FE8637"/>
              </a:buClr>
              <a:buSzPct val="70000"/>
              <a:buFont typeface="+mj-lt"/>
              <a:buAutoNum type="arabicParenR" startAt="4"/>
            </a:pPr>
            <a:r>
              <a:rPr lang="en-US" sz="2400" b="1" dirty="0">
                <a:solidFill>
                  <a:prstClr val="black"/>
                </a:solidFill>
                <a:latin typeface="Century Schoolbook"/>
              </a:rPr>
              <a:t>Code-generator: </a:t>
            </a:r>
            <a:r>
              <a:rPr lang="en-GB" sz="2400" dirty="0"/>
              <a:t>It generates the machine language for a target machine.</a:t>
            </a:r>
            <a:endParaRPr lang="en-US" sz="2400" dirty="0">
              <a:solidFill>
                <a:prstClr val="black"/>
              </a:solidFill>
              <a:latin typeface="Century Schoolbook"/>
            </a:endParaRPr>
          </a:p>
          <a:p>
            <a:pPr marL="457200" lvl="0" indent="-457200">
              <a:lnSpc>
                <a:spcPct val="120000"/>
              </a:lnSpc>
              <a:spcBef>
                <a:spcPts val="600"/>
              </a:spcBef>
              <a:spcAft>
                <a:spcPts val="0"/>
              </a:spcAft>
              <a:buClr>
                <a:srgbClr val="FE8637"/>
              </a:buClr>
              <a:buSzPct val="70000"/>
              <a:buFont typeface="+mj-lt"/>
              <a:buAutoNum type="arabicParenR" startAt="4"/>
            </a:pPr>
            <a:r>
              <a:rPr lang="en-US" sz="2400" b="1" dirty="0">
                <a:solidFill>
                  <a:prstClr val="black"/>
                </a:solidFill>
                <a:latin typeface="Century Schoolbook"/>
              </a:rPr>
              <a:t>Data-flow analysis engines: </a:t>
            </a:r>
            <a:r>
              <a:rPr lang="en-US" sz="2400" dirty="0">
                <a:solidFill>
                  <a:prstClr val="black"/>
                </a:solidFill>
                <a:latin typeface="Century Schoolbook"/>
              </a:rPr>
              <a:t>A</a:t>
            </a:r>
            <a:r>
              <a:rPr lang="en-GB" sz="2400" dirty="0"/>
              <a:t> key part of the code optimization that gathers the information, that is the values that flow from one part of a program to another. </a:t>
            </a:r>
            <a:endParaRPr lang="en-US" sz="2400" dirty="0">
              <a:solidFill>
                <a:prstClr val="black"/>
              </a:solidFill>
              <a:latin typeface="Century Schoolbook"/>
            </a:endParaRPr>
          </a:p>
          <a:p>
            <a:pPr marL="457200" lvl="0" indent="-457200">
              <a:lnSpc>
                <a:spcPct val="120000"/>
              </a:lnSpc>
              <a:spcBef>
                <a:spcPts val="600"/>
              </a:spcBef>
              <a:spcAft>
                <a:spcPts val="0"/>
              </a:spcAft>
              <a:buClr>
                <a:srgbClr val="FE8637"/>
              </a:buClr>
              <a:buSzPct val="70000"/>
              <a:buFont typeface="+mj-lt"/>
              <a:buAutoNum type="arabicParenR" startAt="4"/>
            </a:pPr>
            <a:r>
              <a:rPr lang="en-US" sz="2400" b="1" dirty="0">
                <a:solidFill>
                  <a:prstClr val="black"/>
                </a:solidFill>
                <a:latin typeface="Century Schoolbook"/>
              </a:rPr>
              <a:t>Compiler-construction toolkits: </a:t>
            </a:r>
            <a:r>
              <a:rPr lang="en-GB" sz="2400" dirty="0"/>
              <a:t>It provides an integrated set of routines that aids in building compiler components or in the construction of various phases of compiler.</a:t>
            </a:r>
            <a:endParaRPr lang="en-US" sz="2400" dirty="0">
              <a:solidFill>
                <a:prstClr val="black"/>
              </a:solidFill>
              <a:latin typeface="Century Schoolbook"/>
            </a:endParaRP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17088837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Reading Materials</a:t>
            </a:r>
          </a:p>
        </p:txBody>
      </p:sp>
      <p:sp>
        <p:nvSpPr>
          <p:cNvPr id="3" name="Content Placeholder 2"/>
          <p:cNvSpPr>
            <a:spLocks noGrp="1"/>
          </p:cNvSpPr>
          <p:nvPr>
            <p:ph idx="1"/>
          </p:nvPr>
        </p:nvSpPr>
        <p:spPr/>
        <p:txBody>
          <a:bodyPr/>
          <a:lstStyle/>
          <a:p>
            <a:pPr marL="274320" lvl="0" indent="-274320">
              <a:lnSpc>
                <a:spcPct val="100000"/>
              </a:lnSpc>
              <a:spcBef>
                <a:spcPts val="600"/>
              </a:spcBef>
              <a:spcAft>
                <a:spcPts val="0"/>
              </a:spcAft>
              <a:buClr>
                <a:srgbClr val="FE8637"/>
              </a:buClr>
              <a:buSzPct val="70000"/>
              <a:buFont typeface="Wingdings"/>
              <a:buChar char=""/>
            </a:pPr>
            <a:r>
              <a:rPr lang="en-GB" sz="2400" dirty="0">
                <a:solidFill>
                  <a:schemeClr val="tx1"/>
                </a:solidFill>
                <a:latin typeface="Century Schoolbook" panose="02040604050505020304" pitchFamily="18" charset="0"/>
              </a:rPr>
              <a:t>Chapter -1 of your Text book:</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Compilers: Principles, Techniques, and Tools </a:t>
            </a:r>
          </a:p>
          <a:p>
            <a:pPr marL="274320" indent="-274320">
              <a:lnSpc>
                <a:spcPct val="100000"/>
              </a:lnSpc>
              <a:spcBef>
                <a:spcPts val="600"/>
              </a:spcBef>
              <a:spcAft>
                <a:spcPts val="0"/>
              </a:spcAft>
              <a:buClr>
                <a:srgbClr val="FE8637"/>
              </a:buClr>
              <a:buSzPct val="70000"/>
              <a:buFont typeface="Wingdings"/>
              <a:buChar char=""/>
            </a:pPr>
            <a:r>
              <a:rPr lang="en-GB" dirty="0">
                <a:hlinkClick r:id="rId2"/>
              </a:rPr>
              <a:t>https://www.geeksforgeeks.org/compiler-design-tutorials/</a:t>
            </a:r>
            <a:endParaRPr lang="en-GB" dirty="0"/>
          </a:p>
          <a:p>
            <a:pPr marL="274320" lvl="0" indent="-274320">
              <a:lnSpc>
                <a:spcPct val="100000"/>
              </a:lnSpc>
              <a:spcBef>
                <a:spcPts val="600"/>
              </a:spcBef>
              <a:spcAft>
                <a:spcPts val="0"/>
              </a:spcAft>
              <a:buClr>
                <a:srgbClr val="FE8637"/>
              </a:buClr>
              <a:buSzPct val="70000"/>
              <a:buFont typeface="Wingdings"/>
              <a:buChar char=""/>
            </a:pPr>
            <a:endParaRPr lang="en-GB" dirty="0">
              <a:hlinkClick r:id="rId2"/>
            </a:endParaRPr>
          </a:p>
          <a:p>
            <a:endParaRPr lang="en-GB" dirty="0"/>
          </a:p>
        </p:txBody>
      </p:sp>
    </p:spTree>
    <p:extLst>
      <p:ext uri="{BB962C8B-B14F-4D97-AF65-F5344CB8AC3E}">
        <p14:creationId xmlns:p14="http://schemas.microsoft.com/office/powerpoint/2010/main" val="24235079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US" sz="4800" cap="small" spc="0" dirty="0">
                <a:solidFill>
                  <a:srgbClr val="575F6D"/>
                </a:solidFill>
                <a:latin typeface="Century Schoolbook"/>
              </a:rPr>
              <a:t>The End</a:t>
            </a:r>
            <a:endParaRPr lang="en-US" sz="4800" dirty="0"/>
          </a:p>
        </p:txBody>
      </p:sp>
      <p:sp>
        <p:nvSpPr>
          <p:cNvPr id="5" name="Subtitle 4"/>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67606779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2150</TotalTime>
  <Words>3327</Words>
  <Application>Microsoft Office PowerPoint</Application>
  <PresentationFormat>Widescreen</PresentationFormat>
  <Paragraphs>353</Paragraphs>
  <Slides>46</Slides>
  <Notes>35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Adobe Caslon Pro</vt:lpstr>
      <vt:lpstr>Angsana New</vt:lpstr>
      <vt:lpstr>Arial</vt:lpstr>
      <vt:lpstr>Calibri</vt:lpstr>
      <vt:lpstr>Calibri Light</vt:lpstr>
      <vt:lpstr>Century Schoolbook</vt:lpstr>
      <vt:lpstr>Wingdings</vt:lpstr>
      <vt:lpstr>Wingdings 2</vt:lpstr>
      <vt:lpstr>Retrospect</vt:lpstr>
      <vt:lpstr>CSE-361:Compiler Design</vt:lpstr>
      <vt:lpstr>Textbook</vt:lpstr>
      <vt:lpstr>Language Processor</vt:lpstr>
      <vt:lpstr>Language Processor: Compiler </vt:lpstr>
      <vt:lpstr>Language Processor: Interpreter </vt:lpstr>
      <vt:lpstr>Compiler vs. Interpreter</vt:lpstr>
      <vt:lpstr>Hybrid Compiler</vt:lpstr>
      <vt:lpstr>Hybrid Compiler</vt:lpstr>
      <vt:lpstr>Language Processor: Assembler</vt:lpstr>
      <vt:lpstr>Other Language Processors: </vt:lpstr>
      <vt:lpstr>Compilation task is full of variety ?? </vt:lpstr>
      <vt:lpstr>Job of Compiler</vt:lpstr>
      <vt:lpstr>Why Study Compiler?</vt:lpstr>
      <vt:lpstr>Challenges of Compiler Construction</vt:lpstr>
      <vt:lpstr>Compiler and other areas</vt:lpstr>
      <vt:lpstr>Requirement</vt:lpstr>
      <vt:lpstr>Analysis-Synthesis model of compilation</vt:lpstr>
      <vt:lpstr>Phases of Compiler </vt:lpstr>
      <vt:lpstr>Compilation Steps/Phases</vt:lpstr>
      <vt:lpstr>Lexical Analysis</vt:lpstr>
      <vt:lpstr>Lexical Analysis</vt:lpstr>
      <vt:lpstr>Lexical Analysis</vt:lpstr>
      <vt:lpstr>Syntax Analysis (Parsing)</vt:lpstr>
      <vt:lpstr>Syntax Analysis: Grammars</vt:lpstr>
      <vt:lpstr>Syntax Analysis: Syntax Tree</vt:lpstr>
      <vt:lpstr>Semantic Analysis</vt:lpstr>
      <vt:lpstr>Semantic Analysis</vt:lpstr>
      <vt:lpstr>Intermediate Code Generation</vt:lpstr>
      <vt:lpstr>Intermediate Code Generation</vt:lpstr>
      <vt:lpstr>Code Optimization</vt:lpstr>
      <vt:lpstr>Code Optimization</vt:lpstr>
      <vt:lpstr>Code Generation</vt:lpstr>
      <vt:lpstr>Code Generation</vt:lpstr>
      <vt:lpstr>Symbol Table</vt:lpstr>
      <vt:lpstr>Symbol Table</vt:lpstr>
      <vt:lpstr>Symbol Table</vt:lpstr>
      <vt:lpstr>Symbol Table</vt:lpstr>
      <vt:lpstr>Error Detection, Recovery and Reporting</vt:lpstr>
      <vt:lpstr>Error Detection, Recovery and Reporting</vt:lpstr>
      <vt:lpstr>Error Detection, Recovery and Reporting</vt:lpstr>
      <vt:lpstr>Reviewing the Entire Process</vt:lpstr>
      <vt:lpstr>Reviewing the Entire Process</vt:lpstr>
      <vt:lpstr>Compiler Construction Tools</vt:lpstr>
      <vt:lpstr>Compiler Construction Tools</vt:lpstr>
      <vt:lpstr>Reading Materials</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CSE-361:Compiler Design</dc:title>
  <dc:creator>Windows User</dc:creator>
  <cp:lastModifiedBy>shiplu shiplu</cp:lastModifiedBy>
  <cp:revision>270</cp:revision>
  <dcterms:created xsi:type="dcterms:W3CDTF">2015-02-21T15:44:08Z</dcterms:created>
  <dcterms:modified xsi:type="dcterms:W3CDTF">2025-09-07T04:25:25Z</dcterms:modified>
</cp:coreProperties>
</file>