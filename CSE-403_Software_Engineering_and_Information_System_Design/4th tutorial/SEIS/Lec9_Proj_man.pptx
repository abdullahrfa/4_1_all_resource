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0" r:id="rId4"/>
    <p:sldId id="262" r:id="rId5"/>
    <p:sldId id="261" r:id="rId6"/>
    <p:sldId id="264" r:id="rId7"/>
    <p:sldId id="265" r:id="rId8"/>
    <p:sldId id="257" r:id="rId9"/>
    <p:sldId id="259" r:id="rId10"/>
    <p:sldId id="25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111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47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9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43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8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9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0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4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74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1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3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74F8E-F91F-4541-8357-E750521F8DEE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B5A77-7209-4739-AE6C-97F49F57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9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4;p14"/>
          <p:cNvSpPr txBox="1">
            <a:spLocks/>
          </p:cNvSpPr>
          <p:nvPr/>
        </p:nvSpPr>
        <p:spPr>
          <a:xfrm>
            <a:off x="2213683" y="793564"/>
            <a:ext cx="5347253" cy="6875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200" b="1" dirty="0" smtClean="0">
                <a:solidFill>
                  <a:schemeClr val="accent1"/>
                </a:solidFill>
              </a:rPr>
              <a:t>Software Project Management</a:t>
            </a:r>
            <a:endParaRPr lang="en-GB" sz="3200" b="1" dirty="0">
              <a:solidFill>
                <a:schemeClr val="accent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200DC424-002D-EDCE-C7D2-FF5072154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9558" y="1981200"/>
            <a:ext cx="8229600" cy="2895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marL="330200" indent="-330200" algn="just" eaLnBrk="1" hangingPunct="1">
              <a:spcBef>
                <a:spcPts val="500"/>
              </a:spcBef>
              <a:buClr>
                <a:srgbClr val="006633"/>
              </a:buClr>
              <a:buFont typeface="Wingdings" pitchFamily="2" charset="2"/>
              <a:buNone/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</a:tabLst>
              <a:defRPr/>
            </a:pPr>
            <a:endParaRPr lang="en-GB" sz="2000" b="1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330200" indent="-330200" algn="just" eaLnBrk="1" hangingPunct="1">
              <a:spcBef>
                <a:spcPts val="600"/>
              </a:spcBef>
              <a:buClr>
                <a:srgbClr val="006633"/>
              </a:buClr>
              <a:buFont typeface="Wingdings" pitchFamily="2" charset="2"/>
              <a:buNone/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</a:tabLst>
              <a:defRPr/>
            </a:pPr>
            <a:r>
              <a:rPr lang="en-GB" sz="2000" b="1" dirty="0">
                <a:solidFill>
                  <a:srgbClr val="000000"/>
                </a:solidFill>
                <a:latin typeface="Arial" charset="0"/>
                <a:cs typeface="Arial" charset="0"/>
              </a:rPr>
              <a:t>Recommended Books for the Slides:</a:t>
            </a:r>
          </a:p>
          <a:p>
            <a:pPr marL="457200" indent="-457200" algn="just" eaLnBrk="1" hangingPunct="1">
              <a:spcBef>
                <a:spcPts val="500"/>
              </a:spcBef>
              <a:buClr>
                <a:srgbClr val="006633"/>
              </a:buClr>
              <a:buFont typeface="Wingdings" pitchFamily="2" charset="2"/>
              <a:buAutoNum type="arabicParenR"/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</a:tabLst>
              <a:defRPr/>
            </a:pPr>
            <a:r>
              <a:rPr lang="en-GB" sz="2000" b="1" dirty="0" err="1">
                <a:solidFill>
                  <a:srgbClr val="000000"/>
                </a:solidFill>
                <a:latin typeface="Arial" charset="0"/>
                <a:cs typeface="Arial" charset="0"/>
              </a:rPr>
              <a:t>Lan</a:t>
            </a:r>
            <a:r>
              <a:rPr lang="en-GB" sz="2000" b="1" dirty="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Arial" charset="0"/>
                <a:cs typeface="Arial" charset="0"/>
              </a:rPr>
              <a:t>Sommerville</a:t>
            </a:r>
            <a:r>
              <a:rPr lang="en-GB" sz="2000" b="1" dirty="0">
                <a:solidFill>
                  <a:srgbClr val="000000"/>
                </a:solidFill>
                <a:latin typeface="Arial" charset="0"/>
                <a:cs typeface="Arial" charset="0"/>
              </a:rPr>
              <a:t>. Software Engineering, 5</a:t>
            </a:r>
            <a:r>
              <a:rPr lang="en-GB" sz="2000" b="1" baseline="30000" dirty="0">
                <a:solidFill>
                  <a:srgbClr val="000000"/>
                </a:solidFill>
                <a:latin typeface="Arial" charset="0"/>
                <a:cs typeface="Arial" charset="0"/>
              </a:rPr>
              <a:t>th</a:t>
            </a:r>
            <a:r>
              <a:rPr lang="en-GB" sz="2000" b="1" dirty="0">
                <a:solidFill>
                  <a:srgbClr val="000000"/>
                </a:solidFill>
                <a:latin typeface="Arial" charset="0"/>
                <a:cs typeface="Arial" charset="0"/>
              </a:rPr>
              <a:t>/6</a:t>
            </a:r>
            <a:r>
              <a:rPr lang="en-GB" sz="2000" b="1" baseline="30000" dirty="0">
                <a:solidFill>
                  <a:srgbClr val="000000"/>
                </a:solidFill>
                <a:latin typeface="Arial" charset="0"/>
                <a:cs typeface="Arial" charset="0"/>
              </a:rPr>
              <a:t>th</a:t>
            </a:r>
            <a:r>
              <a:rPr lang="en-GB" sz="2000" b="1" dirty="0">
                <a:solidFill>
                  <a:srgbClr val="000000"/>
                </a:solidFill>
                <a:latin typeface="Arial" charset="0"/>
                <a:cs typeface="Arial" charset="0"/>
              </a:rPr>
              <a:t>/7</a:t>
            </a:r>
            <a:r>
              <a:rPr lang="en-GB" sz="2000" b="1" baseline="30000" dirty="0">
                <a:solidFill>
                  <a:srgbClr val="000000"/>
                </a:solidFill>
                <a:latin typeface="Arial" charset="0"/>
                <a:cs typeface="Arial" charset="0"/>
              </a:rPr>
              <a:t>th</a:t>
            </a:r>
            <a:r>
              <a:rPr lang="en-GB" sz="2000" b="1" dirty="0">
                <a:solidFill>
                  <a:srgbClr val="000000"/>
                </a:solidFill>
                <a:latin typeface="Arial" charset="0"/>
                <a:cs typeface="Arial" charset="0"/>
              </a:rPr>
              <a:t>/8</a:t>
            </a:r>
            <a:r>
              <a:rPr lang="en-GB" sz="2000" b="1" baseline="30000" dirty="0">
                <a:solidFill>
                  <a:srgbClr val="000000"/>
                </a:solidFill>
                <a:latin typeface="Arial" charset="0"/>
                <a:cs typeface="Arial" charset="0"/>
              </a:rPr>
              <a:t>th</a:t>
            </a:r>
            <a:r>
              <a:rPr lang="en-GB" sz="2000" b="1" dirty="0">
                <a:solidFill>
                  <a:srgbClr val="000000"/>
                </a:solidFill>
                <a:latin typeface="Arial" charset="0"/>
                <a:cs typeface="Arial" charset="0"/>
              </a:rPr>
              <a:t>edition</a:t>
            </a:r>
          </a:p>
          <a:p>
            <a:pPr marL="457200" indent="-457200" algn="just" eaLnBrk="1" hangingPunct="1">
              <a:spcBef>
                <a:spcPts val="500"/>
              </a:spcBef>
              <a:buClr>
                <a:srgbClr val="006633"/>
              </a:buClr>
              <a:buFont typeface="Wingdings" pitchFamily="2" charset="2"/>
              <a:buAutoNum type="arabicParenR"/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</a:tabLst>
              <a:defRPr/>
            </a:pPr>
            <a:r>
              <a:rPr lang="en-GB" sz="2000" b="1" dirty="0">
                <a:solidFill>
                  <a:srgbClr val="000000"/>
                </a:solidFill>
                <a:latin typeface="Arial" charset="0"/>
                <a:cs typeface="Arial" charset="0"/>
              </a:rPr>
              <a:t>Roger S. Pressman. Software Engineering </a:t>
            </a:r>
            <a:endParaRPr lang="en-GB" sz="1200" b="1" dirty="0">
              <a:latin typeface="Arial" charset="0"/>
              <a:cs typeface="Arial" charset="0"/>
            </a:endParaRPr>
          </a:p>
          <a:p>
            <a:pPr marL="342900" indent="-342900" algn="just" eaLnBrk="1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en-US" sz="2000" b="1" dirty="0" smtClean="0">
                <a:latin typeface="Arial" charset="0"/>
                <a:cs typeface="Arial" charset="0"/>
              </a:rPr>
              <a:t> </a:t>
            </a:r>
            <a:endParaRPr lang="en-GB" sz="2000" b="1" dirty="0">
              <a:latin typeface="Arial" charset="0"/>
              <a:cs typeface="Arial" charset="0"/>
            </a:endParaRPr>
          </a:p>
          <a:p>
            <a:pPr marL="330200" indent="-330200" algn="just" eaLnBrk="1" hangingPunct="1">
              <a:spcBef>
                <a:spcPts val="500"/>
              </a:spcBef>
              <a:buClr>
                <a:srgbClr val="006633"/>
              </a:buClr>
              <a:buFont typeface="Wingdings" pitchFamily="2" charset="2"/>
              <a:buNone/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</a:tabLst>
              <a:defRPr/>
            </a:pPr>
            <a:r>
              <a:rPr lang="en-GB" sz="2000" b="1" dirty="0">
                <a:latin typeface="Arial" charset="0"/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818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/>
          </p:cNvSpPr>
          <p:nvPr/>
        </p:nvSpPr>
        <p:spPr>
          <a:xfrm>
            <a:off x="457200" y="762000"/>
            <a:ext cx="83820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Projects need to be managed because professional software engineering is always subject to organizational budget and schedule constraints. 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project manager’s job is to ensure that the software project meets and overcomes these constraints as well as delivering high-quality software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</a:t>
            </a:r>
            <a:endParaRPr lang="en-US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Bad 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management usually results in project failure: the software may be delivered late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cost 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more than originally estimated, or fail to meet the expectations of customers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Management activities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planning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scheduling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Risk management</a:t>
            </a:r>
          </a:p>
          <a:p>
            <a:pPr algn="just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84137"/>
            <a:ext cx="8229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en-US" alt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Management</a:t>
            </a:r>
            <a:endParaRPr lang="en-US" alt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72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>
          <a:xfrm>
            <a:off x="457200" y="685800"/>
            <a:ext cx="83820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84137"/>
            <a:ext cx="8229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en-US" alt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Project Management Activities</a:t>
            </a:r>
            <a:endParaRPr lang="en-US" alt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457200" y="762000"/>
            <a:ext cx="83820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Proposal writing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planning and scheduling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cost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monitoring and reviews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Managing the people: Personnel selection and evaluation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Report writing and presentations</a:t>
            </a:r>
          </a:p>
          <a:p>
            <a:pPr algn="just">
              <a:lnSpc>
                <a:spcPct val="9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12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7200" y="84137"/>
            <a:ext cx="8229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en-US" alt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Management</a:t>
            </a:r>
            <a:endParaRPr lang="en-US" alt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3"/>
          <p:cNvSpPr txBox="1">
            <a:spLocks/>
          </p:cNvSpPr>
          <p:nvPr/>
        </p:nvSpPr>
        <p:spPr>
          <a:xfrm>
            <a:off x="457200" y="762000"/>
            <a:ext cx="83820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Risk 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management is one of the most important jobs for a project manager. </a:t>
            </a:r>
            <a:endParaRPr lang="en-US" sz="2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Risk management 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involves anticipating risks that might affect the project schedule or 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quality 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of the software being developed, and then taking action to avoid these 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risks.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Risks may threaten the project, the software that is being developed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or 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organization.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 categories of risks: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risks: Risks that affect the project schedule or 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resources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Product risks: Risks that affect the quality or performance of the software 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being developed.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Business risks: Risks that affect the organization developing or procuring 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software.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endParaRPr lang="en-US" sz="2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32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>
          <a:xfrm>
            <a:off x="457200" y="762000"/>
            <a:ext cx="83820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0" y="199783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09600" y="236537"/>
            <a:ext cx="8229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en-US" alt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Planning</a:t>
            </a:r>
            <a:endParaRPr lang="en-US" alt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3"/>
          <p:cNvSpPr txBox="1">
            <a:spLocks/>
          </p:cNvSpPr>
          <p:nvPr/>
        </p:nvSpPr>
        <p:spPr>
          <a:xfrm>
            <a:off x="609600" y="914400"/>
            <a:ext cx="83820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project plan sets out the resources available to the project, the work breakdown and a schedule for carrying out the work  Most plans include the following: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Introduction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organization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Risk analysis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Hardware and software resource requirements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Work breakdown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schedule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Monitoring and reporting mechanisms	</a:t>
            </a: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endParaRPr lang="en-US" sz="2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84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09600" y="236537"/>
            <a:ext cx="8229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en-US" alt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Milestones and </a:t>
            </a:r>
            <a:r>
              <a:rPr lang="en-US" altLang="en-US" sz="2800" b="1" dirty="0" err="1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Delivarables</a:t>
            </a:r>
            <a:endParaRPr lang="en-US" alt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3"/>
          <p:cNvSpPr txBox="1">
            <a:spLocks/>
          </p:cNvSpPr>
          <p:nvPr/>
        </p:nvSpPr>
        <p:spPr>
          <a:xfrm>
            <a:off x="533400" y="885524"/>
            <a:ext cx="83820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When planning a project, you need to establish a series of milestones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US" sz="24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milestone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is a recognizable end-point of a software process activity. At each milestone, there should be a formal output, e.g., a report for management.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US" sz="24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deliverable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is a project result that is delivered to the customer. It is delivered at the end of some major phase, e.g. specification or design.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Deliverables are usually milestones, but milestones need not be deliverables.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endParaRPr lang="en-US" sz="20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endParaRPr lang="en-US" sz="2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061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09600" y="236537"/>
            <a:ext cx="8229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en-US" alt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Scheduling</a:t>
            </a:r>
            <a:endParaRPr lang="en-US" alt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3"/>
          <p:cNvSpPr txBox="1">
            <a:spLocks/>
          </p:cNvSpPr>
          <p:nvPr/>
        </p:nvSpPr>
        <p:spPr>
          <a:xfrm>
            <a:off x="609600" y="914400"/>
            <a:ext cx="83820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scheduling involves separating the total work involved in a project into separate activities and judging the time required to complete these activities. Some of the works may be done in parallel.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Bar charts and activity networks are used to illustrate the project schedule.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Bar charts 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show who is responsible for each activity and when the activity is scheduled to begin and end.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Activity networks show the dependencies between the different activities making up a project.</a:t>
            </a:r>
          </a:p>
          <a:p>
            <a:pPr marL="285750" indent="-285750" algn="just">
              <a:lnSpc>
                <a:spcPct val="90000"/>
              </a:lnSpc>
              <a:buFont typeface="Wingdings" pitchFamily="2" charset="2"/>
              <a:buChar char="§"/>
            </a:pPr>
            <a:endParaRPr lang="en-US" sz="20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742950" lvl="1" indent="-285750" algn="just">
              <a:lnSpc>
                <a:spcPct val="90000"/>
              </a:lnSpc>
              <a:buFont typeface="Wingdings" pitchFamily="2" charset="2"/>
              <a:buChar char="§"/>
            </a:pPr>
            <a:endParaRPr lang="en-US" sz="24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36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50" y="1143000"/>
            <a:ext cx="6183313" cy="494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6200" y="76201"/>
            <a:ext cx="8915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en-US" alt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Activities, their duration and activity interdependencies</a:t>
            </a:r>
            <a:endParaRPr lang="en-US" alt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81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18" y="533400"/>
            <a:ext cx="7116763" cy="496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6200" y="76201"/>
            <a:ext cx="8915400" cy="457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en-US" alt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network</a:t>
            </a:r>
            <a:endParaRPr lang="en-US" alt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66353" y="5638800"/>
            <a:ext cx="7735094" cy="9905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alt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Activities are shown in rectangles, Milestones and project deliverables are shown in rounded corners</a:t>
            </a:r>
          </a:p>
          <a:p>
            <a:pPr marL="342900" indent="-342900" algn="l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alt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Activity T9 can start when T3 and T6 are finished.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90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50" y="1025525"/>
            <a:ext cx="5802313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76200" y="76201"/>
            <a:ext cx="8915400" cy="533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en-US" alt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 chart (Gantt chart)</a:t>
            </a:r>
            <a:endParaRPr lang="en-US" alt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36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505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CSELAB3</cp:lastModifiedBy>
  <cp:revision>40</cp:revision>
  <dcterms:created xsi:type="dcterms:W3CDTF">2025-05-27T14:55:49Z</dcterms:created>
  <dcterms:modified xsi:type="dcterms:W3CDTF">2025-09-09T03:45:11Z</dcterms:modified>
</cp:coreProperties>
</file>