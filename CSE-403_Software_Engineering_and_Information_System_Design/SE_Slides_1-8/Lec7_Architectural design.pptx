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3" r:id="rId1"/>
  </p:sldMasterIdLst>
  <p:notesMasterIdLst>
    <p:notesMasterId r:id="rId17"/>
  </p:notesMasterIdLst>
  <p:sldIdLst>
    <p:sldId id="256" r:id="rId2"/>
    <p:sldId id="258" r:id="rId3"/>
    <p:sldId id="260" r:id="rId4"/>
    <p:sldId id="261" r:id="rId5"/>
    <p:sldId id="262" r:id="rId6"/>
    <p:sldId id="270" r:id="rId7"/>
    <p:sldId id="273" r:id="rId8"/>
    <p:sldId id="274" r:id="rId9"/>
    <p:sldId id="277" r:id="rId10"/>
    <p:sldId id="283" r:id="rId11"/>
    <p:sldId id="288" r:id="rId12"/>
    <p:sldId id="301" r:id="rId13"/>
    <p:sldId id="304" r:id="rId14"/>
    <p:sldId id="306" r:id="rId15"/>
    <p:sldId id="310" r:id="rId16"/>
  </p:sldIdLst>
  <p:sldSz cx="12192000" cy="6858000"/>
  <p:notesSz cx="6858000" cy="9144000"/>
  <p:embeddedFontLst>
    <p:embeddedFont>
      <p:font typeface="Calibri" pitchFamily="34" charset="0"/>
      <p:regular r:id="rId18"/>
      <p:bold r:id="rId19"/>
      <p:italic r:id="rId20"/>
      <p:boldItalic r:id="rId21"/>
    </p:embeddedFont>
    <p:embeddedFont>
      <p:font typeface="Helvetica Neue" charset="0"/>
      <p:regular r:id="rId22"/>
      <p:bold r:id="rId23"/>
      <p:italic r:id="rId24"/>
      <p:boldItalic r:id="rId25"/>
    </p:embeddedFont>
    <p:embeddedFont>
      <p:font typeface="Calibri Light" pitchFamily="34"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8181A31A-3AE0-496C-8AB0-F022BF31FDDF}">
  <a:tblStyle styleId="{8181A31A-3AE0-496C-8AB0-F022BF31FDDF}" styleName="Table_0">
    <a:wholeTbl>
      <a:tcTxStyle b="off" i="off">
        <a:font>
          <a:latin typeface="Helvetica"/>
          <a:ea typeface="Helvetica"/>
          <a:cs typeface="Helvetic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chemeClr val="accent1"/>
          </a:solidFill>
        </a:fill>
      </a:tcStyle>
    </a:wholeTbl>
    <a:band1H>
      <a:tcTxStyle/>
      <a:tcStyle>
        <a:tcBdr/>
        <a:fill>
          <a:solidFill>
            <a:schemeClr val="accent1"/>
          </a:solidFill>
        </a:fill>
      </a:tcStyle>
    </a:band1H>
    <a:band2H>
      <a:tcTxStyle/>
      <a:tcStyle>
        <a:tcBdr/>
      </a:tcStyle>
    </a:band2H>
    <a:band1V>
      <a:tcTxStyle/>
      <a:tcStyle>
        <a:tcBdr/>
        <a:fill>
          <a:solidFill>
            <a:schemeClr val="accent1"/>
          </a:solidFill>
        </a:fill>
      </a:tcStyle>
    </a:band1V>
    <a:band2V>
      <a:tcTxStyle/>
      <a:tcStyle>
        <a:tcBdr/>
      </a:tcStyle>
    </a:band2V>
    <a:lastCol>
      <a:tcTxStyle b="on" i="off">
        <a:font>
          <a:latin typeface="Helvetica"/>
          <a:ea typeface="Helvetica"/>
          <a:cs typeface="Helvetica"/>
        </a:font>
        <a:schemeClr val="lt1"/>
      </a:tcTxStyle>
      <a:tcStyle>
        <a:tcBdr/>
        <a:fill>
          <a:solidFill>
            <a:schemeClr val="accent1"/>
          </a:solidFill>
        </a:fill>
      </a:tcStyle>
    </a:lastCol>
    <a:firstCol>
      <a:tcTxStyle b="on" i="off">
        <a:font>
          <a:latin typeface="Helvetica"/>
          <a:ea typeface="Helvetica"/>
          <a:cs typeface="Helvetica"/>
        </a:font>
        <a:schemeClr val="lt1"/>
      </a:tcTxStyle>
      <a:tcStyle>
        <a:tcBdr/>
        <a:fill>
          <a:solidFill>
            <a:schemeClr val="accent1"/>
          </a:solidFill>
        </a:fill>
      </a:tcStyle>
    </a:firstCol>
    <a:lastRow>
      <a:tcTxStyle b="on" i="off">
        <a:font>
          <a:latin typeface="Helvetica"/>
          <a:ea typeface="Helvetica"/>
          <a:cs typeface="Helvetic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Helvetica"/>
          <a:ea typeface="Helvetica"/>
          <a:cs typeface="Helvetic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10"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Helvetica Neue"/>
                <a:ea typeface="Helvetica Neue"/>
                <a:cs typeface="Helvetica Neue"/>
                <a:sym typeface="Helvetica Neue"/>
              </a:defRPr>
            </a:lvl1pPr>
            <a:lvl2pPr marR="0" lvl="1"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2pPr>
            <a:lvl3pPr marR="0" lvl="2"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3pPr>
            <a:lvl4pPr marR="0" lvl="3"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4pPr>
            <a:lvl5pPr marR="0" lvl="4"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5pPr>
            <a:lvl6pPr marR="0" lvl="5"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6pPr>
            <a:lvl7pPr marR="0" lvl="6"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7pPr>
            <a:lvl8pPr marR="0" lvl="7"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8pPr>
            <a:lvl9pPr marR="0" lvl="8" algn="l" rtl="0">
              <a:spcBef>
                <a:spcPts val="0"/>
              </a:spcBef>
              <a:spcAft>
                <a:spcPts val="0"/>
              </a:spcAft>
              <a:buSzPts val="1400"/>
              <a:buNone/>
              <a:defRPr sz="1600" b="0" i="0" u="none" strike="noStrike" cap="none">
                <a:solidFill>
                  <a:schemeClr val="dk1"/>
                </a:solidFill>
                <a:latin typeface="Helvetica Neue"/>
                <a:ea typeface="Helvetica Neue"/>
                <a:cs typeface="Helvetica Neue"/>
                <a:sym typeface="Helvetica Neue"/>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a:t>
            </a:fld>
            <a:endParaRPr sz="1200" b="0" i="0" u="none" strike="noStrike" cap="none">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0384217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8" name="Google Shape;8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839E33-685D-5778-89A1-88F8F16356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09A2457F-A863-E222-CA97-B14080292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F1711C6-6053-3C2F-DA43-F207F68BCBD3}"/>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43542193-A0BD-A751-3AE5-A3BFCC8B61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702E356-D798-BE52-E76B-3297CFB745E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6863511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8550AE-9940-1231-9DDB-54076963CA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20F8F927-0026-D525-47C3-8E0C51E23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E9CCDF50-EE22-0078-8DBB-B3D44AD97C79}"/>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13F8BAF6-858B-4C58-BBC8-8F989A84F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9A31782-DA75-8AFD-C705-CFBF9C61C77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94534310"/>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248355-C3F6-D463-446E-AFB1B44FB5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04B4CA13-77AE-CF3D-B8F8-AC36F98560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3D270D93-70B3-AC7F-8D6A-6AFA11CCD83F}"/>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E13749A9-A280-3A1F-2541-8F4984E96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2BC03CD-273E-9150-3122-631F78F653C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18086354"/>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87B43C-5217-5C33-E4D3-741FE71DD4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9902F122-0FFC-082D-6830-BD0642313B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6DF3B8B9-4D84-EE00-40A5-F644B85EC6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EB102FB3-E963-6D0D-857B-33F1EBD4DDE9}"/>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6" name="Footer Placeholder 5">
            <a:extLst>
              <a:ext uri="{FF2B5EF4-FFF2-40B4-BE49-F238E27FC236}">
                <a16:creationId xmlns="" xmlns:a16="http://schemas.microsoft.com/office/drawing/2014/main" id="{95A783F2-E521-50D8-E1E7-7307ED629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E0A84DC-BDDB-5E32-6A2B-50D638673B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54938764"/>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FFEED1-1631-23B1-A071-834986E47D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52193440-E8A7-7971-2645-2FA875F2F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60A4F531-FA7E-E537-0568-F93E7BCB93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4EC93769-E0B0-AA58-183E-D1BD6940F8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EDD7A680-510A-BA75-3563-6667A950BA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83D28E43-69B8-984D-6BB9-54E9F15669B2}"/>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8" name="Footer Placeholder 7">
            <a:extLst>
              <a:ext uri="{FF2B5EF4-FFF2-40B4-BE49-F238E27FC236}">
                <a16:creationId xmlns="" xmlns:a16="http://schemas.microsoft.com/office/drawing/2014/main" id="{077CF54E-3EE4-E523-D7AD-F6E3812667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0D3A99B5-CCAE-7EED-46F0-5255AB863E9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6546602"/>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9EB95B-8601-EAC9-492F-021AA28551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151863E5-167F-2ADC-92DF-ACF23CEEDA26}"/>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4" name="Footer Placeholder 3">
            <a:extLst>
              <a:ext uri="{FF2B5EF4-FFF2-40B4-BE49-F238E27FC236}">
                <a16:creationId xmlns="" xmlns:a16="http://schemas.microsoft.com/office/drawing/2014/main" id="{AC375F21-615B-C40A-3101-701AD77188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E305CEFE-2A3E-3AEA-EEFE-69890865D2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0723167"/>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E76C8532-7FDA-0BA8-F41F-921AFE643216}"/>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3" name="Footer Placeholder 2">
            <a:extLst>
              <a:ext uri="{FF2B5EF4-FFF2-40B4-BE49-F238E27FC236}">
                <a16:creationId xmlns="" xmlns:a16="http://schemas.microsoft.com/office/drawing/2014/main" id="{CEABE652-3A0C-BF0F-4C90-778F073458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A68C9A23-325F-E081-36E1-EF8726A86E1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934348"/>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A3A5EA-962A-7F53-3551-E041B4D60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EFE39FFA-EA08-F1B7-EDAB-A81E1987B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3CF9B9B8-FA28-373A-8A94-165F5FDBA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37DAFDC-963C-31F2-8D1A-B9DBC98BEB32}"/>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6" name="Footer Placeholder 5">
            <a:extLst>
              <a:ext uri="{FF2B5EF4-FFF2-40B4-BE49-F238E27FC236}">
                <a16:creationId xmlns="" xmlns:a16="http://schemas.microsoft.com/office/drawing/2014/main" id="{16D78BCD-5175-6C35-FA21-18ADAD8C71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1287D58-DFD9-EB8E-FB0A-BC6A77046CD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67287092"/>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DB2FEC-9B19-F743-513B-D5BA122DAF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0F857933-6D54-D9DD-7CB9-9D3FEEE379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C583483C-9497-1F36-2E03-2335095F8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AC0B2846-B216-9706-5E38-1DB4E88355D1}"/>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6" name="Footer Placeholder 5">
            <a:extLst>
              <a:ext uri="{FF2B5EF4-FFF2-40B4-BE49-F238E27FC236}">
                <a16:creationId xmlns="" xmlns:a16="http://schemas.microsoft.com/office/drawing/2014/main" id="{F7BB3C3A-EAFC-A1AD-D51E-41782996B1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3E6108BD-D698-3C78-0D1F-18930BF987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616032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0180CC-B94A-551B-445F-C7BA2134E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2DC15502-15CC-77A8-F140-DFB3C011FF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81BCA2C-CCFB-FF48-7B28-6EEE2A944BCC}"/>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7F6646DC-A546-BA5F-C493-2BF17AE05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830BE6D-5E0B-D64E-AEBF-34A18DC49DA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44139674"/>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FAF7E9A-8FD9-B2F1-097D-9FB729E07E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6086AFE5-E193-ACAA-574A-21D13D736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35C3044-2E0A-3224-D7DB-AE22C80B8072}"/>
              </a:ext>
            </a:extLst>
          </p:cNvPr>
          <p:cNvSpPr>
            <a:spLocks noGrp="1"/>
          </p:cNvSpPr>
          <p:nvPr>
            <p:ph type="dt" sz="half" idx="10"/>
          </p:nvPr>
        </p:nvSpPr>
        <p:spPr/>
        <p:txBody>
          <a:body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91F615CD-636B-2D9C-7035-A68EE81C2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C0DDB75-BD5E-CDCF-E28D-6E9AB702FE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33497023"/>
      </p:ext>
    </p:extLst>
  </p:cSld>
  <p:clrMapOvr>
    <a:masterClrMapping/>
  </p:clrMapOvr>
  <p:transition spd="med">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28361E8-7998-17DE-F3E9-31F35F204B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C7DF5863-DCF4-5FBC-2E3B-002C6AE61E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0B29245-3FF1-9523-8F81-AA76DEF4C6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AA4B88-AB97-4ED3-BC61-362FEF305B50}" type="datetimeFigureOut">
              <a:rPr lang="en-US" smtClean="0"/>
              <a:t>5/13/2025</a:t>
            </a:fld>
            <a:endParaRPr lang="en-US"/>
          </a:p>
        </p:txBody>
      </p:sp>
      <p:sp>
        <p:nvSpPr>
          <p:cNvPr id="5" name="Footer Placeholder 4">
            <a:extLst>
              <a:ext uri="{FF2B5EF4-FFF2-40B4-BE49-F238E27FC236}">
                <a16:creationId xmlns="" xmlns:a16="http://schemas.microsoft.com/office/drawing/2014/main" id="{9991B0CA-3BAB-353E-A22A-C0B30900A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B0350DB7-3C22-54FF-1E4F-5A44F63974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7857710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med">
    <p:fade thruBlk="1"/>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2248258" y="2545364"/>
            <a:ext cx="10796540" cy="742949"/>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3600" b="1" dirty="0">
                <a:solidFill>
                  <a:schemeClr val="accent1"/>
                </a:solidFill>
              </a:rPr>
              <a:t>Lecture </a:t>
            </a:r>
            <a:r>
              <a:rPr lang="en-US" sz="3600" b="1" dirty="0" smtClean="0">
                <a:solidFill>
                  <a:schemeClr val="accent1"/>
                </a:solidFill>
              </a:rPr>
              <a:t>7: </a:t>
            </a:r>
            <a:r>
              <a:rPr lang="en-US" sz="3600" b="1" dirty="0">
                <a:solidFill>
                  <a:schemeClr val="accent1"/>
                </a:solidFill>
              </a:rPr>
              <a:t>Architectural Design</a:t>
            </a:r>
            <a:endParaRPr sz="3600" b="1" dirty="0">
              <a:solidFill>
                <a:schemeClr val="accent1"/>
              </a:solidFill>
            </a:endParaRPr>
          </a:p>
        </p:txBody>
      </p:sp>
      <p:sp>
        <p:nvSpPr>
          <p:cNvPr id="76" name="Google Shape;76;p1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solidFill>
                  <a:srgbClr val="FF0000"/>
                </a:solidFill>
              </a:rPr>
              <a:t>Architectural</a:t>
            </a:r>
            <a:r>
              <a:rPr lang="en-US" sz="2800" dirty="0"/>
              <a:t> design</a:t>
            </a:r>
            <a:endParaRPr sz="2800" dirty="0"/>
          </a:p>
        </p:txBody>
      </p:sp>
      <p:sp>
        <p:nvSpPr>
          <p:cNvPr id="91" name="Google Shape;91;p16"/>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Architectural design is concerned with understanding how a software system should be organized and designing the overall structure of that system.</a:t>
            </a:r>
            <a:endParaRPr sz="2400" dirty="0"/>
          </a:p>
          <a:p>
            <a:pPr marL="257175" lvl="0" indent="-257175" algn="l" rtl="0">
              <a:spcBef>
                <a:spcPts val="630"/>
              </a:spcBef>
              <a:spcAft>
                <a:spcPts val="0"/>
              </a:spcAft>
              <a:buSzPts val="1980"/>
              <a:buFont typeface="Noto Sans Symbols"/>
              <a:buChar char="▪"/>
            </a:pPr>
            <a:r>
              <a:rPr lang="en-US" sz="2400" dirty="0"/>
              <a:t>Architectural design is the critical link between design and requirements engineering, as it identifies the main structural components in a system and the relationships between them. </a:t>
            </a:r>
            <a:endParaRPr sz="2400" dirty="0"/>
          </a:p>
          <a:p>
            <a:pPr marL="257175" lvl="0" indent="-257175" algn="l" rtl="0">
              <a:spcBef>
                <a:spcPts val="630"/>
              </a:spcBef>
              <a:spcAft>
                <a:spcPts val="0"/>
              </a:spcAft>
              <a:buSzPts val="1980"/>
              <a:buFont typeface="Noto Sans Symbols"/>
              <a:buChar char="▪"/>
            </a:pPr>
            <a:r>
              <a:rPr lang="en-US" sz="2400" dirty="0"/>
              <a:t>The output of the architectural design process is an architectural model that describes how the system is organized as a set of communicating components. </a:t>
            </a:r>
            <a:endParaRPr sz="2400" dirty="0"/>
          </a:p>
          <a:p>
            <a:pPr marL="257175" lvl="0" indent="-131445" algn="l" rtl="0">
              <a:spcBef>
                <a:spcPts val="630"/>
              </a:spcBef>
              <a:spcAft>
                <a:spcPts val="0"/>
              </a:spcAft>
              <a:buSzPts val="1980"/>
              <a:buFont typeface="Noto Sans Symbols"/>
              <a:buNone/>
            </a:pPr>
            <a:endParaRPr sz="2400" dirty="0"/>
          </a:p>
        </p:txBody>
      </p:sp>
      <p:sp>
        <p:nvSpPr>
          <p:cNvPr id="92" name="Google Shape;92;p1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997527" y="117475"/>
            <a:ext cx="10796540" cy="558386"/>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t>The architecture of a </a:t>
            </a:r>
            <a:r>
              <a:rPr lang="en-US" sz="2800" dirty="0">
                <a:solidFill>
                  <a:srgbClr val="FF0000"/>
                </a:solidFill>
              </a:rPr>
              <a:t>packing</a:t>
            </a:r>
            <a:r>
              <a:rPr lang="en-US" sz="2800" dirty="0"/>
              <a:t> robot control system</a:t>
            </a:r>
            <a:endParaRPr sz="2800" dirty="0"/>
          </a:p>
        </p:txBody>
      </p:sp>
      <p:sp>
        <p:nvSpPr>
          <p:cNvPr id="108" name="Google Shape;108;p1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07" name="Google Shape;107;p1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pic>
        <p:nvPicPr>
          <p:cNvPr id="109" name="Google Shape;109;p18" descr="6"/>
          <p:cNvPicPr preferRelativeResize="0"/>
          <p:nvPr/>
        </p:nvPicPr>
        <p:blipFill rotWithShape="1">
          <a:blip r:embed="rId3">
            <a:alphaModFix/>
          </a:blip>
          <a:srcRect b="-8765"/>
          <a:stretch/>
        </p:blipFill>
        <p:spPr>
          <a:xfrm>
            <a:off x="1202635" y="675861"/>
            <a:ext cx="7406629" cy="6045616"/>
          </a:xfrm>
          <a:prstGeom prst="rect">
            <a:avLst/>
          </a:prstGeom>
          <a:noFill/>
          <a:ln>
            <a:noFill/>
          </a:ln>
        </p:spPr>
      </p:pic>
    </p:spTree>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9"/>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sz="2800" dirty="0"/>
              <a:t>Architectural </a:t>
            </a:r>
            <a:r>
              <a:rPr lang="en-US" sz="2800" dirty="0">
                <a:solidFill>
                  <a:schemeClr val="tx1"/>
                </a:solidFill>
              </a:rPr>
              <a:t>abstraction</a:t>
            </a:r>
            <a:endParaRPr sz="2800" dirty="0">
              <a:solidFill>
                <a:schemeClr val="tx1"/>
              </a:solidFill>
            </a:endParaRPr>
          </a:p>
        </p:txBody>
      </p:sp>
      <p:sp>
        <p:nvSpPr>
          <p:cNvPr id="115" name="Google Shape;115;p19"/>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solidFill>
                  <a:srgbClr val="000000"/>
                </a:solidFill>
              </a:rPr>
              <a:t>Architecture in the small is concerned with the architecture of individual programs. At this level, we are concerned with the way that an individual program is decomposed into components.  </a:t>
            </a:r>
            <a:endParaRPr sz="2400" dirty="0">
              <a:solidFill>
                <a:srgbClr val="000000"/>
              </a:solidFill>
            </a:endParaRPr>
          </a:p>
          <a:p>
            <a:pPr marL="257175" lvl="0" indent="-257175" algn="l" rtl="0">
              <a:spcBef>
                <a:spcPts val="630"/>
              </a:spcBef>
              <a:spcAft>
                <a:spcPts val="0"/>
              </a:spcAft>
              <a:buSzPts val="1980"/>
              <a:buFont typeface="Noto Sans Symbols"/>
              <a:buChar char="▪"/>
            </a:pPr>
            <a:r>
              <a:rPr lang="en-US" sz="2400" dirty="0">
                <a:solidFill>
                  <a:srgbClr val="000000"/>
                </a:solidFill>
              </a:rPr>
              <a:t>Architecture in the large is concerned with the architecture of complex enterprise systems that include other systems, programs, and program components. These enterprise systems are distributed over different computers, which may be owned and managed by different companies.  </a:t>
            </a:r>
            <a:endParaRPr sz="2400" dirty="0"/>
          </a:p>
        </p:txBody>
      </p:sp>
      <p:sp>
        <p:nvSpPr>
          <p:cNvPr id="117" name="Google Shape;117;p1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16" name="Google Shape;116;p1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solidFill>
                  <a:srgbClr val="FF0000"/>
                </a:solidFill>
              </a:rPr>
              <a:t>Advantages</a:t>
            </a:r>
            <a:r>
              <a:rPr lang="en-US" dirty="0"/>
              <a:t> of explicit architecture</a:t>
            </a:r>
            <a:endParaRPr dirty="0"/>
          </a:p>
        </p:txBody>
      </p:sp>
      <p:sp>
        <p:nvSpPr>
          <p:cNvPr id="123" name="Google Shape;123;p20"/>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lnSpc>
                <a:spcPct val="90000"/>
              </a:lnSpc>
              <a:spcBef>
                <a:spcPts val="0"/>
              </a:spcBef>
              <a:spcAft>
                <a:spcPts val="0"/>
              </a:spcAft>
              <a:buSzPts val="1980"/>
              <a:buChar char="▪"/>
            </a:pPr>
            <a:r>
              <a:rPr lang="en-US" sz="2400" dirty="0"/>
              <a:t>Stakeholder communication</a:t>
            </a:r>
            <a:endParaRPr sz="2400" dirty="0"/>
          </a:p>
          <a:p>
            <a:pPr marL="557213" lvl="1" indent="-214312" algn="l" rtl="0">
              <a:lnSpc>
                <a:spcPct val="90000"/>
              </a:lnSpc>
              <a:spcBef>
                <a:spcPts val="630"/>
              </a:spcBef>
              <a:spcAft>
                <a:spcPts val="0"/>
              </a:spcAft>
              <a:buSzPts val="1980"/>
              <a:buChar char="•"/>
            </a:pPr>
            <a:r>
              <a:rPr lang="en-US" sz="2400" dirty="0"/>
              <a:t>Architecture may be used as a focus of discussion by system stakeholders.</a:t>
            </a:r>
            <a:endParaRPr sz="2400" dirty="0"/>
          </a:p>
          <a:p>
            <a:pPr marL="257175" lvl="0" indent="-257175" algn="l" rtl="0">
              <a:lnSpc>
                <a:spcPct val="90000"/>
              </a:lnSpc>
              <a:spcBef>
                <a:spcPts val="630"/>
              </a:spcBef>
              <a:spcAft>
                <a:spcPts val="0"/>
              </a:spcAft>
              <a:buSzPts val="1980"/>
              <a:buChar char="▪"/>
            </a:pPr>
            <a:r>
              <a:rPr lang="en-US" sz="2400" dirty="0"/>
              <a:t>System analysis</a:t>
            </a:r>
            <a:endParaRPr sz="2400" dirty="0"/>
          </a:p>
          <a:p>
            <a:pPr marL="557213" lvl="1" indent="-214312" algn="l" rtl="0">
              <a:lnSpc>
                <a:spcPct val="90000"/>
              </a:lnSpc>
              <a:spcBef>
                <a:spcPts val="630"/>
              </a:spcBef>
              <a:spcAft>
                <a:spcPts val="0"/>
              </a:spcAft>
              <a:buSzPts val="1980"/>
              <a:buChar char="•"/>
            </a:pPr>
            <a:r>
              <a:rPr lang="en-US" sz="2400" dirty="0"/>
              <a:t>Means that analysis of whether the system can meet its non-functional requirements is possible.</a:t>
            </a:r>
            <a:endParaRPr sz="2400" dirty="0"/>
          </a:p>
          <a:p>
            <a:pPr marL="257175" lvl="0" indent="-257175" algn="l" rtl="0">
              <a:lnSpc>
                <a:spcPct val="90000"/>
              </a:lnSpc>
              <a:spcBef>
                <a:spcPts val="630"/>
              </a:spcBef>
              <a:spcAft>
                <a:spcPts val="0"/>
              </a:spcAft>
              <a:buSzPts val="1980"/>
              <a:buChar char="▪"/>
            </a:pPr>
            <a:r>
              <a:rPr lang="en-US" sz="2400" dirty="0"/>
              <a:t>Large-scale reuse</a:t>
            </a:r>
            <a:endParaRPr sz="2400" dirty="0"/>
          </a:p>
          <a:p>
            <a:pPr marL="557213" lvl="1" indent="-214312" algn="l" rtl="0">
              <a:lnSpc>
                <a:spcPct val="90000"/>
              </a:lnSpc>
              <a:spcBef>
                <a:spcPts val="630"/>
              </a:spcBef>
              <a:spcAft>
                <a:spcPts val="0"/>
              </a:spcAft>
              <a:buSzPts val="1980"/>
              <a:buChar char="•"/>
            </a:pPr>
            <a:r>
              <a:rPr lang="en-US" sz="2400" dirty="0"/>
              <a:t>The architecture may be reusable across a range of systems</a:t>
            </a:r>
            <a:endParaRPr sz="2400" dirty="0"/>
          </a:p>
          <a:p>
            <a:pPr marL="557213" lvl="1" indent="-214312" algn="l" rtl="0">
              <a:lnSpc>
                <a:spcPct val="90000"/>
              </a:lnSpc>
              <a:spcBef>
                <a:spcPts val="630"/>
              </a:spcBef>
              <a:spcAft>
                <a:spcPts val="0"/>
              </a:spcAft>
              <a:buSzPts val="1980"/>
              <a:buChar char="•"/>
            </a:pPr>
            <a:r>
              <a:rPr lang="en-US" sz="2400" dirty="0"/>
              <a:t>Product-line architectures may be developed.</a:t>
            </a:r>
            <a:endParaRPr sz="2400" dirty="0"/>
          </a:p>
        </p:txBody>
      </p:sp>
      <p:sp>
        <p:nvSpPr>
          <p:cNvPr id="125" name="Google Shape;125;p20"/>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24" name="Google Shape;124;p20"/>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8"/>
          <p:cNvSpPr txBox="1">
            <a:spLocks noGrp="1"/>
          </p:cNvSpPr>
          <p:nvPr>
            <p:ph type="title"/>
          </p:nvPr>
        </p:nvSpPr>
        <p:spPr>
          <a:xfrm>
            <a:off x="818147" y="306389"/>
            <a:ext cx="9392653" cy="48874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Architecture and system </a:t>
            </a:r>
            <a:r>
              <a:rPr lang="en-US" dirty="0">
                <a:solidFill>
                  <a:srgbClr val="FF0000"/>
                </a:solidFill>
              </a:rPr>
              <a:t>characteristics</a:t>
            </a:r>
            <a:endParaRPr dirty="0">
              <a:solidFill>
                <a:srgbClr val="FF0000"/>
              </a:solidFill>
            </a:endParaRPr>
          </a:p>
        </p:txBody>
      </p:sp>
      <p:sp>
        <p:nvSpPr>
          <p:cNvPr id="186" name="Google Shape;186;p28"/>
          <p:cNvSpPr txBox="1">
            <a:spLocks noGrp="1"/>
          </p:cNvSpPr>
          <p:nvPr>
            <p:ph idx="1"/>
          </p:nvPr>
        </p:nvSpPr>
        <p:spPr>
          <a:xfrm>
            <a:off x="934277" y="1073427"/>
            <a:ext cx="10207487" cy="5039138"/>
          </a:xfrm>
          <a:prstGeom prst="rect">
            <a:avLst/>
          </a:prstGeom>
          <a:noFill/>
          <a:ln>
            <a:noFill/>
          </a:ln>
        </p:spPr>
        <p:txBody>
          <a:bodyPr spcFirstLastPara="1" wrap="square" lIns="91425" tIns="45700" rIns="91425" bIns="45700" anchor="t" anchorCtr="0">
            <a:noAutofit/>
          </a:bodyPr>
          <a:lstStyle/>
          <a:p>
            <a:pPr marL="257175" lvl="0" indent="-257175" algn="l" rtl="0">
              <a:lnSpc>
                <a:spcPct val="90000"/>
              </a:lnSpc>
              <a:spcBef>
                <a:spcPts val="0"/>
              </a:spcBef>
              <a:spcAft>
                <a:spcPts val="0"/>
              </a:spcAft>
              <a:buSzPts val="2640"/>
              <a:buChar char="▪"/>
            </a:pPr>
            <a:r>
              <a:rPr lang="en-US" sz="2400" dirty="0"/>
              <a:t>Performance</a:t>
            </a:r>
            <a:endParaRPr dirty="0"/>
          </a:p>
          <a:p>
            <a:pPr marL="557213" lvl="1" indent="-214312" algn="l" rtl="0">
              <a:lnSpc>
                <a:spcPct val="90000"/>
              </a:lnSpc>
              <a:spcBef>
                <a:spcPts val="700"/>
              </a:spcBef>
              <a:spcAft>
                <a:spcPts val="0"/>
              </a:spcAft>
              <a:buSzPts val="2200"/>
              <a:buChar char="•"/>
            </a:pPr>
            <a:r>
              <a:rPr lang="en-US" sz="2000" dirty="0" err="1"/>
              <a:t>Localise</a:t>
            </a:r>
            <a:r>
              <a:rPr lang="en-US" sz="2000" dirty="0"/>
              <a:t> critical operations and </a:t>
            </a:r>
            <a:r>
              <a:rPr lang="en-US" sz="2000" dirty="0" err="1"/>
              <a:t>minimise</a:t>
            </a:r>
            <a:r>
              <a:rPr lang="en-US" sz="2000" dirty="0"/>
              <a:t> communications. Use large rather than fine-grain components.</a:t>
            </a:r>
            <a:endParaRPr dirty="0"/>
          </a:p>
          <a:p>
            <a:pPr marL="257175" lvl="0" indent="-257175" algn="l" rtl="0">
              <a:lnSpc>
                <a:spcPct val="90000"/>
              </a:lnSpc>
              <a:spcBef>
                <a:spcPts val="840"/>
              </a:spcBef>
              <a:spcAft>
                <a:spcPts val="0"/>
              </a:spcAft>
              <a:buSzPts val="2640"/>
              <a:buChar char="▪"/>
            </a:pPr>
            <a:r>
              <a:rPr lang="en-US" sz="2400" dirty="0"/>
              <a:t>Security</a:t>
            </a:r>
            <a:endParaRPr dirty="0"/>
          </a:p>
          <a:p>
            <a:pPr marL="557213" lvl="1" indent="-214312" algn="l" rtl="0">
              <a:lnSpc>
                <a:spcPct val="90000"/>
              </a:lnSpc>
              <a:spcBef>
                <a:spcPts val="700"/>
              </a:spcBef>
              <a:spcAft>
                <a:spcPts val="0"/>
              </a:spcAft>
              <a:buSzPts val="2200"/>
              <a:buChar char="•"/>
            </a:pPr>
            <a:r>
              <a:rPr lang="en-US" sz="2000" dirty="0"/>
              <a:t>Use a layered architecture with critical assets in the inner layers.</a:t>
            </a:r>
            <a:endParaRPr dirty="0"/>
          </a:p>
          <a:p>
            <a:pPr marL="257175" lvl="0" indent="-257175" algn="l" rtl="0">
              <a:lnSpc>
                <a:spcPct val="90000"/>
              </a:lnSpc>
              <a:spcBef>
                <a:spcPts val="840"/>
              </a:spcBef>
              <a:spcAft>
                <a:spcPts val="0"/>
              </a:spcAft>
              <a:buSzPts val="2640"/>
              <a:buChar char="▪"/>
            </a:pPr>
            <a:r>
              <a:rPr lang="en-US" sz="2400" dirty="0"/>
              <a:t>Safety</a:t>
            </a:r>
            <a:endParaRPr dirty="0"/>
          </a:p>
          <a:p>
            <a:pPr marL="557213" lvl="1" indent="-214312" algn="l" rtl="0">
              <a:lnSpc>
                <a:spcPct val="90000"/>
              </a:lnSpc>
              <a:spcBef>
                <a:spcPts val="700"/>
              </a:spcBef>
              <a:spcAft>
                <a:spcPts val="0"/>
              </a:spcAft>
              <a:buSzPts val="2200"/>
              <a:buChar char="•"/>
            </a:pPr>
            <a:r>
              <a:rPr lang="en-US" sz="2000" dirty="0" err="1"/>
              <a:t>Localise</a:t>
            </a:r>
            <a:r>
              <a:rPr lang="en-US" sz="2000" dirty="0"/>
              <a:t> safety-critical features in a small number of sub-systems.</a:t>
            </a:r>
            <a:endParaRPr dirty="0"/>
          </a:p>
          <a:p>
            <a:pPr marL="257175" lvl="0" indent="-257175" algn="l" rtl="0">
              <a:lnSpc>
                <a:spcPct val="90000"/>
              </a:lnSpc>
              <a:spcBef>
                <a:spcPts val="840"/>
              </a:spcBef>
              <a:spcAft>
                <a:spcPts val="0"/>
              </a:spcAft>
              <a:buSzPts val="2640"/>
              <a:buChar char="▪"/>
            </a:pPr>
            <a:r>
              <a:rPr lang="en-US" sz="2400" dirty="0"/>
              <a:t>Availability</a:t>
            </a:r>
            <a:endParaRPr dirty="0"/>
          </a:p>
          <a:p>
            <a:pPr marL="557213" lvl="1" indent="-214312" algn="l" rtl="0">
              <a:lnSpc>
                <a:spcPct val="90000"/>
              </a:lnSpc>
              <a:spcBef>
                <a:spcPts val="700"/>
              </a:spcBef>
              <a:spcAft>
                <a:spcPts val="0"/>
              </a:spcAft>
              <a:buSzPts val="2200"/>
              <a:buChar char="•"/>
            </a:pPr>
            <a:r>
              <a:rPr lang="en-US" sz="2000" dirty="0"/>
              <a:t>Include redundant components and mechanisms for fault tolerance.</a:t>
            </a:r>
            <a:endParaRPr dirty="0"/>
          </a:p>
          <a:p>
            <a:pPr marL="257175" lvl="0" indent="-257175" algn="l" rtl="0">
              <a:lnSpc>
                <a:spcPct val="90000"/>
              </a:lnSpc>
              <a:spcBef>
                <a:spcPts val="840"/>
              </a:spcBef>
              <a:spcAft>
                <a:spcPts val="0"/>
              </a:spcAft>
              <a:buSzPts val="2640"/>
              <a:buChar char="▪"/>
            </a:pPr>
            <a:r>
              <a:rPr lang="en-US" sz="2400" dirty="0"/>
              <a:t>Maintainability</a:t>
            </a:r>
            <a:endParaRPr dirty="0"/>
          </a:p>
          <a:p>
            <a:pPr marL="557213" lvl="1" indent="-214312" algn="l" rtl="0">
              <a:lnSpc>
                <a:spcPct val="90000"/>
              </a:lnSpc>
              <a:spcBef>
                <a:spcPts val="700"/>
              </a:spcBef>
              <a:spcAft>
                <a:spcPts val="0"/>
              </a:spcAft>
              <a:buSzPts val="2200"/>
              <a:buChar char="•"/>
            </a:pPr>
            <a:r>
              <a:rPr lang="en-US" sz="2000" dirty="0"/>
              <a:t>Use fine-grain, replaceable components.</a:t>
            </a:r>
            <a:endParaRPr dirty="0"/>
          </a:p>
        </p:txBody>
      </p:sp>
      <p:sp>
        <p:nvSpPr>
          <p:cNvPr id="188" name="Google Shape;188;p2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187" name="Google Shape;187;p2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Architectural views</a:t>
            </a:r>
            <a:endParaRPr/>
          </a:p>
        </p:txBody>
      </p:sp>
      <p:sp>
        <p:nvSpPr>
          <p:cNvPr id="210" name="Google Shape;210;p31"/>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09" name="Google Shape;209;p3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pic>
        <p:nvPicPr>
          <p:cNvPr id="211" name="Google Shape;211;p31" descr="6.3 Architectural views.eps"/>
          <p:cNvPicPr preferRelativeResize="0"/>
          <p:nvPr/>
        </p:nvPicPr>
        <p:blipFill rotWithShape="1">
          <a:blip r:embed="rId3">
            <a:alphaModFix/>
          </a:blip>
          <a:srcRect/>
          <a:stretch/>
        </p:blipFill>
        <p:spPr>
          <a:xfrm>
            <a:off x="3448384" y="1877595"/>
            <a:ext cx="5375755" cy="4044616"/>
          </a:xfrm>
          <a:prstGeom prst="rect">
            <a:avLst/>
          </a:prstGeom>
          <a:noFill/>
          <a:ln>
            <a:noFill/>
          </a:ln>
        </p:spPr>
      </p:pic>
    </p:spTree>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2"/>
          <p:cNvSpPr txBox="1">
            <a:spLocks noGrp="1"/>
          </p:cNvSpPr>
          <p:nvPr>
            <p:ph type="title"/>
          </p:nvPr>
        </p:nvSpPr>
        <p:spPr>
          <a:xfrm>
            <a:off x="838200" y="365125"/>
            <a:ext cx="10515600" cy="62627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smtClean="0"/>
              <a:t>Model </a:t>
            </a:r>
            <a:r>
              <a:rPr lang="en-US" dirty="0"/>
              <a:t>of software architecture</a:t>
            </a:r>
            <a:endParaRPr dirty="0"/>
          </a:p>
        </p:txBody>
      </p:sp>
      <p:sp>
        <p:nvSpPr>
          <p:cNvPr id="217" name="Google Shape;217;p32"/>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dirty="0"/>
              <a:t>A logical view, which shows the key abstractions in the system as objects or object classes. </a:t>
            </a:r>
            <a:endParaRPr dirty="0"/>
          </a:p>
          <a:p>
            <a:pPr marL="257175" lvl="0" indent="-257175" algn="l" rtl="0">
              <a:spcBef>
                <a:spcPts val="630"/>
              </a:spcBef>
              <a:spcAft>
                <a:spcPts val="0"/>
              </a:spcAft>
              <a:buSzPts val="1980"/>
              <a:buFont typeface="Noto Sans Symbols"/>
              <a:buChar char="▪"/>
            </a:pPr>
            <a:r>
              <a:rPr lang="en-US" dirty="0"/>
              <a:t>A process view, which shows how, at run-time, the system is composed of interacting processes. </a:t>
            </a:r>
            <a:endParaRPr dirty="0"/>
          </a:p>
          <a:p>
            <a:pPr marL="257175" lvl="0" indent="-257175" algn="l" rtl="0">
              <a:spcBef>
                <a:spcPts val="630"/>
              </a:spcBef>
              <a:spcAft>
                <a:spcPts val="0"/>
              </a:spcAft>
              <a:buSzPts val="1980"/>
              <a:buFont typeface="Noto Sans Symbols"/>
              <a:buChar char="▪"/>
            </a:pPr>
            <a:r>
              <a:rPr lang="en-US" dirty="0"/>
              <a:t>A development view, which shows how the software is decomposed for development.</a:t>
            </a:r>
            <a:endParaRPr dirty="0"/>
          </a:p>
          <a:p>
            <a:pPr marL="257175" lvl="0" indent="-257175" algn="l" rtl="0">
              <a:spcBef>
                <a:spcPts val="630"/>
              </a:spcBef>
              <a:spcAft>
                <a:spcPts val="0"/>
              </a:spcAft>
              <a:buSzPts val="1980"/>
              <a:buFont typeface="Noto Sans Symbols"/>
              <a:buChar char="▪"/>
            </a:pPr>
            <a:r>
              <a:rPr lang="en-US" dirty="0"/>
              <a:t>A physical view, which shows the system hardware and how software components are distributed across the processors in the system.</a:t>
            </a:r>
            <a:endParaRPr dirty="0"/>
          </a:p>
          <a:p>
            <a:pPr marL="257175" lvl="0" indent="-257175" algn="l" rtl="0">
              <a:spcBef>
                <a:spcPts val="630"/>
              </a:spcBef>
              <a:spcAft>
                <a:spcPts val="0"/>
              </a:spcAft>
              <a:buSzPts val="1980"/>
              <a:buFont typeface="Noto Sans Symbols"/>
              <a:buChar char="▪"/>
            </a:pPr>
            <a:r>
              <a:rPr lang="en-US" dirty="0"/>
              <a:t>Related using use cases or scenarios (+1) </a:t>
            </a:r>
            <a:endParaRPr dirty="0"/>
          </a:p>
          <a:p>
            <a:pPr marL="257175" lvl="0" indent="-131445" algn="l" rtl="0">
              <a:spcBef>
                <a:spcPts val="630"/>
              </a:spcBef>
              <a:spcAft>
                <a:spcPts val="0"/>
              </a:spcAft>
              <a:buSzPts val="1980"/>
              <a:buFont typeface="Noto Sans Symbols"/>
              <a:buNone/>
            </a:pPr>
            <a:endParaRPr dirty="0"/>
          </a:p>
        </p:txBody>
      </p:sp>
      <p:sp>
        <p:nvSpPr>
          <p:cNvPr id="219" name="Google Shape;219;p3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18" name="Google Shape;218;p3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Architectural </a:t>
            </a:r>
            <a:r>
              <a:rPr lang="en-US" dirty="0">
                <a:solidFill>
                  <a:srgbClr val="FF0000"/>
                </a:solidFill>
              </a:rPr>
              <a:t>patterns</a:t>
            </a:r>
            <a:endParaRPr dirty="0">
              <a:solidFill>
                <a:srgbClr val="FF0000"/>
              </a:solidFill>
            </a:endParaRPr>
          </a:p>
        </p:txBody>
      </p:sp>
      <p:sp>
        <p:nvSpPr>
          <p:cNvPr id="241" name="Google Shape;241;p35"/>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Patterns are a means of representing, sharing and reusing knowledge.</a:t>
            </a:r>
            <a:endParaRPr sz="2400" dirty="0"/>
          </a:p>
          <a:p>
            <a:pPr marL="257175" lvl="0" indent="-257175" algn="l" rtl="0">
              <a:spcBef>
                <a:spcPts val="630"/>
              </a:spcBef>
              <a:spcAft>
                <a:spcPts val="0"/>
              </a:spcAft>
              <a:buSzPts val="1980"/>
              <a:buFont typeface="Noto Sans Symbols"/>
              <a:buChar char="▪"/>
            </a:pPr>
            <a:r>
              <a:rPr lang="en-US" sz="2400" dirty="0"/>
              <a:t>An architectural pattern is a stylized description of good design practice, which has been tried and tested in different environments.</a:t>
            </a:r>
            <a:endParaRPr sz="2400" dirty="0"/>
          </a:p>
          <a:p>
            <a:pPr marL="257175" lvl="0" indent="-257175" algn="l" rtl="0">
              <a:spcBef>
                <a:spcPts val="630"/>
              </a:spcBef>
              <a:spcAft>
                <a:spcPts val="0"/>
              </a:spcAft>
              <a:buSzPts val="1980"/>
              <a:buFont typeface="Noto Sans Symbols"/>
              <a:buChar char="▪"/>
            </a:pPr>
            <a:r>
              <a:rPr lang="en-US" sz="2400" dirty="0"/>
              <a:t>Patterns should include information about when they are and when the are not useful.</a:t>
            </a:r>
            <a:endParaRPr sz="2400" dirty="0"/>
          </a:p>
          <a:p>
            <a:pPr marL="257175" lvl="0" indent="-257175" algn="l" rtl="0">
              <a:spcBef>
                <a:spcPts val="630"/>
              </a:spcBef>
              <a:spcAft>
                <a:spcPts val="0"/>
              </a:spcAft>
              <a:buSzPts val="1980"/>
              <a:buFont typeface="Noto Sans Symbols"/>
              <a:buChar char="▪"/>
            </a:pPr>
            <a:r>
              <a:rPr lang="en-US" sz="2400" dirty="0"/>
              <a:t>Patterns may be represented using tabular and graphical descriptions.</a:t>
            </a:r>
            <a:endParaRPr sz="2400" dirty="0"/>
          </a:p>
          <a:p>
            <a:pPr marL="257175" lvl="0" indent="-257175" algn="l" rtl="0">
              <a:spcBef>
                <a:spcPts val="630"/>
              </a:spcBef>
              <a:spcAft>
                <a:spcPts val="0"/>
              </a:spcAft>
              <a:buSzPts val="1980"/>
              <a:buNone/>
            </a:pPr>
            <a:endParaRPr dirty="0"/>
          </a:p>
        </p:txBody>
      </p:sp>
      <p:sp>
        <p:nvSpPr>
          <p:cNvPr id="243" name="Google Shape;243;p35"/>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42" name="Google Shape;242;p35"/>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title"/>
          </p:nvPr>
        </p:nvSpPr>
        <p:spPr>
          <a:xfrm>
            <a:off x="838200" y="365125"/>
            <a:ext cx="10515600" cy="85728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A generic layered architecture </a:t>
            </a:r>
            <a:endParaRPr dirty="0"/>
          </a:p>
        </p:txBody>
      </p:sp>
      <p:pic>
        <p:nvPicPr>
          <p:cNvPr id="289" name="Google Shape;289;p41" descr="6.6 LayeredArch.eps"/>
          <p:cNvPicPr preferRelativeResize="0">
            <a:picLocks noGrp="1"/>
          </p:cNvPicPr>
          <p:nvPr>
            <p:ph idx="1"/>
          </p:nvPr>
        </p:nvPicPr>
        <p:blipFill rotWithShape="1">
          <a:blip r:embed="rId3">
            <a:alphaModFix/>
          </a:blip>
          <a:srcRect l="-16082" r="-16082"/>
          <a:stretch/>
        </p:blipFill>
        <p:spPr>
          <a:xfrm>
            <a:off x="2264945" y="1600201"/>
            <a:ext cx="7271456" cy="3999021"/>
          </a:xfrm>
          <a:prstGeom prst="rect">
            <a:avLst/>
          </a:prstGeom>
          <a:noFill/>
          <a:ln>
            <a:noFill/>
          </a:ln>
        </p:spPr>
      </p:pic>
      <p:sp>
        <p:nvSpPr>
          <p:cNvPr id="291" name="Google Shape;291;p41"/>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90" name="Google Shape;290;p41"/>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6"/>
          <p:cNvSpPr txBox="1">
            <a:spLocks noGrp="1"/>
          </p:cNvSpPr>
          <p:nvPr>
            <p:ph type="title"/>
          </p:nvPr>
        </p:nvSpPr>
        <p:spPr>
          <a:prstGeom prst="rect">
            <a:avLst/>
          </a:prstGeom>
          <a:noFill/>
          <a:ln>
            <a:noFill/>
          </a:ln>
        </p:spPr>
        <p:txBody>
          <a:bodyPr spcFirstLastPara="1" wrap="square" lIns="90475" tIns="44450" rIns="90475" bIns="44450" anchor="b" anchorCtr="0">
            <a:noAutofit/>
          </a:bodyPr>
          <a:lstStyle/>
          <a:p>
            <a:pPr marL="0" lvl="0" indent="0" algn="l" rtl="0">
              <a:spcBef>
                <a:spcPts val="0"/>
              </a:spcBef>
              <a:spcAft>
                <a:spcPts val="0"/>
              </a:spcAft>
              <a:buNone/>
            </a:pPr>
            <a:r>
              <a:rPr lang="en-US"/>
              <a:t>Client-server architecture</a:t>
            </a:r>
            <a:endParaRPr/>
          </a:p>
        </p:txBody>
      </p:sp>
      <p:sp>
        <p:nvSpPr>
          <p:cNvPr id="329" name="Google Shape;329;p46"/>
          <p:cNvSpPr txBox="1">
            <a:spLocks noGrp="1"/>
          </p:cNvSpPr>
          <p:nvPr>
            <p:ph idx="1"/>
          </p:nvPr>
        </p:nvSpPr>
        <p:spPr>
          <a:prstGeom prst="rect">
            <a:avLst/>
          </a:prstGeom>
          <a:noFill/>
          <a:ln>
            <a:noFill/>
          </a:ln>
        </p:spPr>
        <p:txBody>
          <a:bodyPr spcFirstLastPara="1" wrap="square" lIns="90475" tIns="44450" rIns="90475" bIns="44450" anchor="t" anchorCtr="0">
            <a:noAutofit/>
          </a:bodyPr>
          <a:lstStyle/>
          <a:p>
            <a:pPr marL="257175" lvl="0" indent="-257175" algn="l" rtl="0">
              <a:lnSpc>
                <a:spcPct val="90000"/>
              </a:lnSpc>
              <a:spcBef>
                <a:spcPts val="0"/>
              </a:spcBef>
              <a:spcAft>
                <a:spcPts val="0"/>
              </a:spcAft>
              <a:buSzPts val="1980"/>
              <a:buChar char="▪"/>
            </a:pPr>
            <a:r>
              <a:rPr lang="en-US"/>
              <a:t>Distributed system model which shows how data and processing is distributed across a range of components.</a:t>
            </a:r>
            <a:endParaRPr/>
          </a:p>
          <a:p>
            <a:pPr marL="557213" lvl="1" indent="-214312" algn="l" rtl="0">
              <a:lnSpc>
                <a:spcPct val="90000"/>
              </a:lnSpc>
              <a:spcBef>
                <a:spcPts val="630"/>
              </a:spcBef>
              <a:spcAft>
                <a:spcPts val="0"/>
              </a:spcAft>
              <a:buSzPts val="1980"/>
              <a:buChar char="•"/>
            </a:pPr>
            <a:r>
              <a:rPr lang="en-US"/>
              <a:t>Can be implemented on a single computer.</a:t>
            </a:r>
            <a:endParaRPr/>
          </a:p>
          <a:p>
            <a:pPr marL="257175" lvl="0" indent="-257175" algn="l" rtl="0">
              <a:lnSpc>
                <a:spcPct val="90000"/>
              </a:lnSpc>
              <a:spcBef>
                <a:spcPts val="630"/>
              </a:spcBef>
              <a:spcAft>
                <a:spcPts val="0"/>
              </a:spcAft>
              <a:buSzPts val="1980"/>
              <a:buChar char="▪"/>
            </a:pPr>
            <a:r>
              <a:rPr lang="en-US"/>
              <a:t>Set of stand-alone servers which provide specific services such as printing, data management, etc.</a:t>
            </a:r>
            <a:endParaRPr/>
          </a:p>
          <a:p>
            <a:pPr marL="257175" lvl="0" indent="-257175" algn="l" rtl="0">
              <a:lnSpc>
                <a:spcPct val="90000"/>
              </a:lnSpc>
              <a:spcBef>
                <a:spcPts val="630"/>
              </a:spcBef>
              <a:spcAft>
                <a:spcPts val="0"/>
              </a:spcAft>
              <a:buSzPts val="1980"/>
              <a:buChar char="▪"/>
            </a:pPr>
            <a:r>
              <a:rPr lang="en-US"/>
              <a:t>Set of clients which call on these services.</a:t>
            </a:r>
            <a:endParaRPr/>
          </a:p>
          <a:p>
            <a:pPr marL="257175" lvl="0" indent="-257175" algn="l" rtl="0">
              <a:lnSpc>
                <a:spcPct val="90000"/>
              </a:lnSpc>
              <a:spcBef>
                <a:spcPts val="630"/>
              </a:spcBef>
              <a:spcAft>
                <a:spcPts val="0"/>
              </a:spcAft>
              <a:buSzPts val="1980"/>
              <a:buChar char="▪"/>
            </a:pPr>
            <a:r>
              <a:rPr lang="en-US"/>
              <a:t>Network which allows clients to access servers.</a:t>
            </a:r>
            <a:endParaRPr/>
          </a:p>
        </p:txBody>
      </p:sp>
      <p:sp>
        <p:nvSpPr>
          <p:cNvPr id="331" name="Google Shape;331;p46"/>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30" name="Google Shape;330;p46"/>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9"/>
          <p:cNvSpPr txBox="1">
            <a:spLocks noGrp="1"/>
          </p:cNvSpPr>
          <p:nvPr>
            <p:ph type="title"/>
          </p:nvPr>
        </p:nvSpPr>
        <p:spPr>
          <a:xfrm>
            <a:off x="997527" y="117475"/>
            <a:ext cx="10796540" cy="54844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The software architecture of an </a:t>
            </a:r>
            <a:r>
              <a:rPr lang="en-US" dirty="0">
                <a:solidFill>
                  <a:srgbClr val="FF0000"/>
                </a:solidFill>
              </a:rPr>
              <a:t>ATM</a:t>
            </a:r>
            <a:r>
              <a:rPr lang="en-US" dirty="0"/>
              <a:t> system </a:t>
            </a:r>
            <a:endParaRPr dirty="0"/>
          </a:p>
        </p:txBody>
      </p:sp>
      <p:pic>
        <p:nvPicPr>
          <p:cNvPr id="433" name="Google Shape;433;p59" descr="6.15 ATMSystemArch.eps"/>
          <p:cNvPicPr preferRelativeResize="0">
            <a:picLocks noGrp="1"/>
          </p:cNvPicPr>
          <p:nvPr>
            <p:ph idx="1"/>
          </p:nvPr>
        </p:nvPicPr>
        <p:blipFill rotWithShape="1">
          <a:blip r:embed="rId3">
            <a:alphaModFix/>
          </a:blip>
          <a:srcRect t="-13074" b="-13074"/>
          <a:stretch/>
        </p:blipFill>
        <p:spPr>
          <a:xfrm>
            <a:off x="997528" y="665922"/>
            <a:ext cx="9726794" cy="5734878"/>
          </a:xfrm>
          <a:prstGeom prst="rect">
            <a:avLst/>
          </a:prstGeom>
          <a:noFill/>
          <a:ln>
            <a:noFill/>
          </a:ln>
        </p:spPr>
      </p:pic>
      <p:sp>
        <p:nvSpPr>
          <p:cNvPr id="435" name="Google Shape;435;p59"/>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34" name="Google Shape;434;p59"/>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62"/>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The architecture of the </a:t>
            </a:r>
            <a:r>
              <a:rPr lang="en-US" dirty="0" err="1"/>
              <a:t>Mentcare</a:t>
            </a:r>
            <a:r>
              <a:rPr lang="en-US" dirty="0"/>
              <a:t> system</a:t>
            </a:r>
            <a:endParaRPr dirty="0"/>
          </a:p>
        </p:txBody>
      </p:sp>
      <p:pic>
        <p:nvPicPr>
          <p:cNvPr id="457" name="Google Shape;457;p62" descr="6.17 MHC-PMSArch.eps"/>
          <p:cNvPicPr preferRelativeResize="0">
            <a:picLocks noGrp="1"/>
          </p:cNvPicPr>
          <p:nvPr>
            <p:ph idx="1"/>
          </p:nvPr>
        </p:nvPicPr>
        <p:blipFill rotWithShape="1">
          <a:blip r:embed="rId3">
            <a:alphaModFix/>
          </a:blip>
          <a:srcRect l="-14940" r="-14939"/>
          <a:stretch/>
        </p:blipFill>
        <p:spPr>
          <a:xfrm>
            <a:off x="2318992" y="1600201"/>
            <a:ext cx="7137553" cy="3925379"/>
          </a:xfrm>
          <a:prstGeom prst="rect">
            <a:avLst/>
          </a:prstGeom>
          <a:noFill/>
          <a:ln>
            <a:noFill/>
          </a:ln>
        </p:spPr>
      </p:pic>
      <p:sp>
        <p:nvSpPr>
          <p:cNvPr id="459" name="Google Shape;459;p62"/>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58" name="Google Shape;458;p62"/>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transition spd="med">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4"/>
          <p:cNvSpPr txBox="1">
            <a:spLocks noGrp="1"/>
          </p:cNvSpPr>
          <p:nvPr>
            <p:ph type="title"/>
          </p:nvPr>
        </p:nvSpPr>
        <p:spPr>
          <a:xfrm>
            <a:off x="1286285" y="829744"/>
            <a:ext cx="10796540" cy="35960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solidFill>
                  <a:srgbClr val="FF0000"/>
                </a:solidFill>
              </a:rPr>
              <a:t>Server</a:t>
            </a:r>
            <a:r>
              <a:rPr lang="en-US" dirty="0"/>
              <a:t> implementation</a:t>
            </a:r>
            <a:endParaRPr dirty="0"/>
          </a:p>
        </p:txBody>
      </p:sp>
      <p:sp>
        <p:nvSpPr>
          <p:cNvPr id="473" name="Google Shape;473;p64"/>
          <p:cNvSpPr txBox="1">
            <a:spLocks noGrp="1"/>
          </p:cNvSpPr>
          <p:nvPr>
            <p:ph idx="1"/>
          </p:nvPr>
        </p:nvSpPr>
        <p:spPr>
          <a:xfrm>
            <a:off x="504346" y="1463041"/>
            <a:ext cx="10796539" cy="4534536"/>
          </a:xfrm>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sz="2400" dirty="0"/>
              <a:t>These systems are often implemented as multi-tier client server/architectures</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web server </a:t>
            </a:r>
            <a:r>
              <a:rPr lang="en-US" sz="2400" dirty="0"/>
              <a:t>is responsible for all user communications, with the user interface implemented using a web browser;</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application server </a:t>
            </a:r>
            <a:r>
              <a:rPr lang="en-US" sz="2400" dirty="0"/>
              <a:t>is responsible for implementing application-specific logic as well as information storage and retrieval requests; </a:t>
            </a:r>
            <a:endParaRPr sz="2400" dirty="0"/>
          </a:p>
          <a:p>
            <a:pPr marL="557213" lvl="1" indent="-214312" algn="l" rtl="0">
              <a:spcBef>
                <a:spcPts val="630"/>
              </a:spcBef>
              <a:spcAft>
                <a:spcPts val="0"/>
              </a:spcAft>
              <a:buSzPts val="1980"/>
              <a:buChar char="•"/>
            </a:pPr>
            <a:r>
              <a:rPr lang="en-US" sz="2400" dirty="0"/>
              <a:t>The </a:t>
            </a:r>
            <a:r>
              <a:rPr lang="en-US" sz="2400" dirty="0">
                <a:solidFill>
                  <a:srgbClr val="FF0000"/>
                </a:solidFill>
              </a:rPr>
              <a:t>database server </a:t>
            </a:r>
            <a:r>
              <a:rPr lang="en-US" sz="2400" dirty="0"/>
              <a:t>moves information to and from the database and handles transaction management. </a:t>
            </a:r>
            <a:endParaRPr sz="2400" dirty="0"/>
          </a:p>
          <a:p>
            <a:pPr marL="257175" lvl="0" indent="-131445" algn="l" rtl="0">
              <a:spcBef>
                <a:spcPts val="630"/>
              </a:spcBef>
              <a:spcAft>
                <a:spcPts val="0"/>
              </a:spcAft>
              <a:buSzPts val="1980"/>
              <a:buFont typeface="Noto Sans Symbols"/>
              <a:buNone/>
            </a:pPr>
            <a:endParaRPr dirty="0"/>
          </a:p>
        </p:txBody>
      </p:sp>
      <p:sp>
        <p:nvSpPr>
          <p:cNvPr id="475" name="Google Shape;475;p64"/>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474" name="Google Shape;474;p64"/>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transition spd="med">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8"/>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Compiler components</a:t>
            </a:r>
            <a:endParaRPr/>
          </a:p>
        </p:txBody>
      </p:sp>
      <p:sp>
        <p:nvSpPr>
          <p:cNvPr id="505" name="Google Shape;505;p68"/>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257175" lvl="0" indent="-257175" algn="l" rtl="0">
              <a:spcBef>
                <a:spcPts val="0"/>
              </a:spcBef>
              <a:spcAft>
                <a:spcPts val="0"/>
              </a:spcAft>
              <a:buSzPts val="1980"/>
              <a:buFont typeface="Noto Sans Symbols"/>
              <a:buChar char="▪"/>
            </a:pPr>
            <a:r>
              <a:rPr lang="en-US"/>
              <a:t>A semantic analyzer that uses information from the syntax tree and the symbol table to check the semantic correctness of the input language text. </a:t>
            </a:r>
            <a:endParaRPr/>
          </a:p>
          <a:p>
            <a:pPr marL="257175" lvl="0" indent="-257175" algn="l" rtl="0">
              <a:spcBef>
                <a:spcPts val="630"/>
              </a:spcBef>
              <a:spcAft>
                <a:spcPts val="0"/>
              </a:spcAft>
              <a:buSzPts val="1980"/>
              <a:buFont typeface="Noto Sans Symbols"/>
              <a:buChar char="▪"/>
            </a:pPr>
            <a:r>
              <a:rPr lang="en-US"/>
              <a:t>A code generator that ‘walks’ the syntax tree and generates abstract machine code.</a:t>
            </a:r>
            <a:endParaRPr/>
          </a:p>
          <a:p>
            <a:pPr marL="257175" lvl="0" indent="-131445" algn="l" rtl="0">
              <a:spcBef>
                <a:spcPts val="630"/>
              </a:spcBef>
              <a:spcAft>
                <a:spcPts val="0"/>
              </a:spcAft>
              <a:buSzPts val="1980"/>
              <a:buFont typeface="Noto Sans Symbols"/>
              <a:buNone/>
            </a:pPr>
            <a:endParaRPr/>
          </a:p>
        </p:txBody>
      </p:sp>
      <p:sp>
        <p:nvSpPr>
          <p:cNvPr id="507" name="Google Shape;507;p68"/>
          <p:cNvSpPr txBox="1">
            <a:spLocks noGrp="1"/>
          </p:cNvSpPr>
          <p:nvPr>
            <p:ph type="ftr" sz="quarter" idx="11"/>
          </p:nvPr>
        </p:nvSpPr>
        <p:spPr>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506" name="Google Shape;506;p68"/>
          <p:cNvSpPr txBox="1">
            <a:spLocks noGrp="1"/>
          </p:cNvSpPr>
          <p:nvPr>
            <p:ph type="sldNum" sz="quarter" idx="12"/>
          </p:nvPr>
        </p:nvSpPr>
        <p:spPr>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transition spd="med">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TotalTime>
  <Words>630</Words>
  <Application>Microsoft Office PowerPoint</Application>
  <PresentationFormat>Custom</PresentationFormat>
  <Paragraphs>72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Helvetica Neue</vt:lpstr>
      <vt:lpstr>Noto Sans Symbols</vt:lpstr>
      <vt:lpstr>Calibri Light</vt:lpstr>
      <vt:lpstr>Office Theme</vt:lpstr>
      <vt:lpstr>Lecture 7: Architectural Design</vt:lpstr>
      <vt:lpstr>Architectural design</vt:lpstr>
      <vt:lpstr>The architecture of a packing robot control system</vt:lpstr>
      <vt:lpstr>Architectural abstraction</vt:lpstr>
      <vt:lpstr>Advantages of explicit architecture</vt:lpstr>
      <vt:lpstr>Architecture and system characteristics</vt:lpstr>
      <vt:lpstr>Architectural views</vt:lpstr>
      <vt:lpstr>Model of software architecture</vt:lpstr>
      <vt:lpstr>Architectural patterns</vt:lpstr>
      <vt:lpstr>A generic layered architecture </vt:lpstr>
      <vt:lpstr>Client-server architecture</vt:lpstr>
      <vt:lpstr>The software architecture of an ATM system </vt:lpstr>
      <vt:lpstr>The architecture of the Mentcare system</vt:lpstr>
      <vt:lpstr>Server implementation</vt:lpstr>
      <vt:lpstr>Compiler components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Architectural Design</dc:title>
  <cp:lastModifiedBy>USER</cp:lastModifiedBy>
  <cp:revision>13</cp:revision>
  <dcterms:modified xsi:type="dcterms:W3CDTF">2025-05-13T04:50:55Z</dcterms:modified>
</cp:coreProperties>
</file>